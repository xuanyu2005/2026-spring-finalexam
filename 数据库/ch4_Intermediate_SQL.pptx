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56"/>
  </p:handoutMasterIdLst>
  <p:sldIdLst>
    <p:sldId id="256" r:id="rId3"/>
    <p:sldId id="257" r:id="rId5"/>
    <p:sldId id="258" r:id="rId6"/>
    <p:sldId id="259" r:id="rId7"/>
    <p:sldId id="260" r:id="rId8"/>
    <p:sldId id="261" r:id="rId9"/>
    <p:sldId id="319" r:id="rId10"/>
    <p:sldId id="320" r:id="rId11"/>
    <p:sldId id="324" r:id="rId12"/>
    <p:sldId id="325" r:id="rId13"/>
    <p:sldId id="326" r:id="rId14"/>
    <p:sldId id="267" r:id="rId15"/>
    <p:sldId id="268" r:id="rId16"/>
    <p:sldId id="321" r:id="rId17"/>
    <p:sldId id="269" r:id="rId18"/>
    <p:sldId id="322" r:id="rId19"/>
    <p:sldId id="327" r:id="rId20"/>
    <p:sldId id="328" r:id="rId21"/>
    <p:sldId id="329" r:id="rId22"/>
    <p:sldId id="330" r:id="rId23"/>
    <p:sldId id="272" r:id="rId24"/>
    <p:sldId id="273" r:id="rId25"/>
    <p:sldId id="333" r:id="rId26"/>
    <p:sldId id="334" r:id="rId27"/>
    <p:sldId id="335" r:id="rId28"/>
    <p:sldId id="336" r:id="rId29"/>
    <p:sldId id="338" r:id="rId30"/>
    <p:sldId id="337" r:id="rId31"/>
    <p:sldId id="318" r:id="rId32"/>
    <p:sldId id="308" r:id="rId33"/>
    <p:sldId id="277" r:id="rId34"/>
    <p:sldId id="278" r:id="rId35"/>
    <p:sldId id="279" r:id="rId36"/>
    <p:sldId id="281" r:id="rId37"/>
    <p:sldId id="283" r:id="rId38"/>
    <p:sldId id="286" r:id="rId39"/>
    <p:sldId id="309" r:id="rId40"/>
    <p:sldId id="310" r:id="rId41"/>
    <p:sldId id="305" r:id="rId42"/>
    <p:sldId id="311" r:id="rId43"/>
    <p:sldId id="306" r:id="rId44"/>
    <p:sldId id="312" r:id="rId45"/>
    <p:sldId id="307" r:id="rId46"/>
    <p:sldId id="291" r:id="rId47"/>
    <p:sldId id="292" r:id="rId48"/>
    <p:sldId id="323" r:id="rId49"/>
    <p:sldId id="331" r:id="rId50"/>
    <p:sldId id="332" r:id="rId51"/>
    <p:sldId id="313" r:id="rId52"/>
    <p:sldId id="314" r:id="rId53"/>
    <p:sldId id="315" r:id="rId54"/>
    <p:sldId id="295" r:id="rId55"/>
  </p:sldIdLst>
  <p:sldSz cx="9144000" cy="6858000" type="screen4x3"/>
  <p:notesSz cx="6997700" cy="9283700"/>
  <p:custShowLst>
    <p:custShow name="Custom Show 1" id="0">
      <p:sldLst>
        <p:sld r:id="rId6"/>
        <p:sld r:id="rId34"/>
        <p:sld r:id="rId9"/>
        <p:sld r:id="rId39"/>
        <p:sld r:id="rId53"/>
        <p:sld r:id="rId36"/>
        <p:sld r:id="rId36"/>
        <p:sld r:id="rId41"/>
        <p:sld r:id="rId52"/>
        <p:sld r:id="rId19"/>
        <p:sld r:id="rId18"/>
        <p:sld r:id="rId43"/>
        <p:sld r:id="rId45"/>
        <p:sld r:id="rId19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66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8" autoAdjust="0"/>
    <p:restoredTop sz="94690" autoAdjust="0"/>
  </p:normalViewPr>
  <p:slideViewPr>
    <p:cSldViewPr snapToGrid="0" showGuides="1">
      <p:cViewPr varScale="1">
        <p:scale>
          <a:sx n="99" d="100"/>
          <a:sy n="99" d="100"/>
        </p:scale>
        <p:origin x="591" y="36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algn="r" defTabSz="930275">
              <a:defRPr sz="1200"/>
            </a:lvl1pPr>
          </a:lstStyle>
          <a:p>
            <a:pPr>
              <a:defRPr/>
            </a:pPr>
            <a:fld id="{B02DEB47-F974-4251-BB70-3BA4286BFAE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algn="r" defTabSz="930275">
              <a:defRPr sz="1200"/>
            </a:lvl1pPr>
          </a:lstStyle>
          <a:p>
            <a:pPr>
              <a:defRPr/>
            </a:pPr>
            <a:fld id="{F5936C93-8F75-4ADB-A978-47734443EF0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E7B37B-154B-488F-A10D-AB9517486268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158274-4A70-496F-AE9C-DA954BEC429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1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922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22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530E142-6BCF-49B2-9333-FE14CE040AD7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339081-2DA0-41C9-99EF-B6572678190D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8829373-7468-4C9F-B73F-AEE23E14BDA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168E9A0-F4BF-4AFF-88FB-7B00B839D8D0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283C31A-C17A-45BA-BEC7-092C40F0E3BE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7DF4689-B4AD-4F2B-B2DB-AB2B7826A74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DDAE6A-57B8-4CC9-BAD4-8D910379CD7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D2F999-CFF7-44CD-AA32-609F8CDF1C7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55710-8DF7-48E5-B83E-E6697FB2382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C090A0-BC02-4023-9FCA-200669CEAE4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C5D0A29-ADAF-457B-82B6-85F86088CF66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C47A32-4C27-4370-B141-37B4C7BA0AB6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387B54-5D47-452D-A01D-D1BBBD5EF325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F4B8B8A-8F78-4FEE-979A-4F6C597501A5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F42996-3D05-41CF-97CF-58CC31E99A4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84A306-FC28-4B94-B43F-E0C2BAB81267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68DB1E2-C5B7-4D6D-A4C9-B0D57D902D55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5B7D9E-F776-4E38-8BFD-EDBC2F40955C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74B88E-ACDE-4C97-A88D-0E691C52F43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B08036A-9F2B-4CF1-8D46-7C7DBDD7E41C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E76720C-61A5-4FD8-9368-B55FCB2C3A4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88887B-C007-474A-BB42-6650AFD0D11A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31C83C0-0932-4154-B6EA-71E8CB63A4EE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33F0B8-31B2-4270-9525-46238ACBAFDF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472525-AAF8-48E3-BA9E-895E77A359DE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EBEB11E-831A-432F-8D13-F69A7296BC2E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B642BE9-ABE4-48BD-8D7A-FE6E6DCEC3E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8317EE3-FFBE-46C3-9083-D90B68826C55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0A01C3-ECEA-4084-889C-28D3FD6E916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0E6231-ADA1-45E7-9277-01E455470142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8FDD0E-9398-418A-BADC-5339E7B3349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4E83C8-9631-45C4-A08C-5D04E4C4D740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2018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Gray_Number"/>
          <p:cNvSpPr>
            <a:spLocks noChangeArrowheads="1"/>
          </p:cNvSpPr>
          <p:nvPr/>
        </p:nvSpPr>
        <p:spPr bwMode="gray">
          <a:xfrm>
            <a:off x="3505200" y="952500"/>
            <a:ext cx="20574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r>
              <a:rPr lang="zh-CN" altLang="en-US" sz="27700">
                <a:solidFill>
                  <a:srgbClr val="CCCC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7700">
              <a:solidFill>
                <a:srgbClr val="CCCC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itle_Gray_Number"/>
          <p:cNvSpPr>
            <a:spLocks noChangeArrowheads="1"/>
          </p:cNvSpPr>
          <p:nvPr/>
        </p:nvSpPr>
        <p:spPr bwMode="gray">
          <a:xfrm>
            <a:off x="939800" y="952500"/>
            <a:ext cx="73025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r>
              <a:rPr lang="en-US" altLang="zh-CN" sz="27700">
                <a:solidFill>
                  <a:srgbClr val="CCCC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</a:t>
            </a:r>
            <a:endParaRPr lang="en-US" altLang="zh-CN" sz="27700">
              <a:solidFill>
                <a:srgbClr val="CCCC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Default_Title"/>
          <p:cNvSpPr txBox="1">
            <a:spLocks noChangeArrowheads="1"/>
          </p:cNvSpPr>
          <p:nvPr/>
        </p:nvSpPr>
        <p:spPr bwMode="auto">
          <a:xfrm>
            <a:off x="2343150" y="5410200"/>
            <a:ext cx="46291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anose="02010600030101010101" pitchFamily="2" charset="-122"/>
              </a:rPr>
              <a:t>Dr. CHEN Jian</a:t>
            </a:r>
            <a:endParaRPr lang="en-US" altLang="zh-CN" sz="2000" dirty="0">
              <a:solidFill>
                <a:srgbClr val="000000"/>
              </a:solidFill>
              <a:latin typeface="Garamond" pitchFamily="18" charset="0"/>
              <a:ea typeface="宋体" panose="02010600030101010101" pitchFamily="2" charset="-122"/>
            </a:endParaRPr>
          </a:p>
          <a:p>
            <a:pPr algn="ctr" eaLnBrk="1" hangingPunct="1">
              <a:defRPr/>
            </a:pPr>
            <a:r>
              <a:rPr lang="en-US" altLang="zh-CN" sz="2000">
                <a:solidFill>
                  <a:srgbClr val="000000"/>
                </a:solidFill>
                <a:latin typeface="Garamond" pitchFamily="18" charset="0"/>
                <a:ea typeface="宋体" panose="02010600030101010101" pitchFamily="2" charset="-122"/>
              </a:rPr>
              <a:t>Professor</a:t>
            </a:r>
            <a:endParaRPr lang="en-US" altLang="zh-CN" sz="2000" dirty="0">
              <a:solidFill>
                <a:srgbClr val="000000"/>
              </a:solidFill>
              <a:latin typeface="Garamond" pitchFamily="18" charset="0"/>
              <a:ea typeface="宋体" panose="02010600030101010101" pitchFamily="2" charset="-122"/>
            </a:endParaRPr>
          </a:p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anose="02010600030101010101" pitchFamily="2" charset="-122"/>
              </a:rPr>
              <a:t>ellachen@scut.edu.cn</a:t>
            </a:r>
            <a:endParaRPr lang="en-US" altLang="zh-CN" sz="2000" dirty="0">
              <a:solidFill>
                <a:srgbClr val="000000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sp>
        <p:nvSpPr>
          <p:cNvPr id="6" name="Slide_Copyright"/>
          <p:cNvSpPr>
            <a:spLocks noChangeArrowheads="1"/>
          </p:cNvSpPr>
          <p:nvPr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">
              <a:lnSpc>
                <a:spcPct val="110000"/>
              </a:lnSpc>
              <a:defRPr/>
            </a:pPr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华南理工大学 软件学院</a:t>
            </a: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Picture 1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" name="Default_Title"/>
          <p:cNvSpPr>
            <a:spLocks noGrp="1" noChangeArrowheads="1"/>
          </p:cNvSpPr>
          <p:nvPr>
            <p:ph type="ctrTitle"/>
          </p:nvPr>
        </p:nvSpPr>
        <p:spPr>
          <a:xfrm>
            <a:off x="914400" y="2667000"/>
            <a:ext cx="7315200" cy="685800"/>
          </a:xfrm>
        </p:spPr>
        <p:txBody>
          <a:bodyPr/>
          <a:lstStyle>
            <a:lvl1pPr algn="ctr">
              <a:spcBef>
                <a:spcPct val="0"/>
              </a:spcBef>
              <a:defRPr sz="4000">
                <a:latin typeface="Garamond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Cover-6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92238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9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27" name="Text Box 5"/>
          <p:cNvSpPr txBox="1">
            <a:spLocks noChangeArrowheads="1"/>
          </p:cNvSpPr>
          <p:nvPr/>
        </p:nvSpPr>
        <p:spPr bwMode="auto">
          <a:xfrm>
            <a:off x="0" y="6613525"/>
            <a:ext cx="446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 dirty="0">
                <a:solidFill>
                  <a:schemeClr val="tx2"/>
                </a:solidFill>
                <a:ea typeface="宋体" panose="02010600030101010101" pitchFamily="2" charset="-122"/>
              </a:rPr>
              <a:t>4.</a:t>
            </a:r>
            <a:fld id="{6C4371D4-368E-4526-874D-371EC759E69D}" type="slidenum">
              <a:rPr lang="en-US" altLang="zh-CN" sz="1000" b="1" smtClean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10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7475"/>
            <a:ext cx="861695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1029" name="Slide_Page_Number"/>
          <p:cNvSpPr>
            <a:spLocks noChangeArrowheads="1"/>
          </p:cNvSpPr>
          <p:nvPr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Slide_Copyright"/>
          <p:cNvSpPr>
            <a:spLocks noChangeArrowheads="1"/>
          </p:cNvSpPr>
          <p:nvPr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">
              <a:lnSpc>
                <a:spcPct val="110000"/>
              </a:lnSpc>
              <a:defRPr/>
            </a:pPr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华南理工大学 软件学院</a:t>
            </a: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Slide_Page_Number"/>
          <p:cNvSpPr>
            <a:spLocks noChangeArrowheads="1"/>
          </p:cNvSpPr>
          <p:nvPr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2" name="Picture 12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4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600">
          <a:solidFill>
            <a:schemeClr val="tx1"/>
          </a:solidFill>
          <a:latin typeface="+mn-lt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Chapter 4: Intermediate SQL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737"/>
    </mc:Choice>
    <mc:Fallback>
      <p:transition spd="slow" advTm="157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Chapter 4:  Intermediate SQL</a:t>
            </a: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09625" y="1104900"/>
            <a:ext cx="7413625" cy="4732338"/>
          </a:xfrm>
        </p:spPr>
        <p:txBody>
          <a:bodyPr lIns="90488" tIns="44450" rIns="90488" bIns="44450">
            <a:normAutofit/>
          </a:bodyPr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Join  Expressions</a:t>
            </a:r>
            <a:endParaRPr lang="en-US" altLang="zh-CN" sz="4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Views</a:t>
            </a:r>
            <a:endParaRPr lang="en-US" altLang="zh-CN" sz="4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Transactions</a:t>
            </a:r>
            <a:endParaRPr lang="en-US" altLang="zh-CN" sz="4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Integrity Constraints</a:t>
            </a:r>
            <a:endParaRPr lang="en-US" altLang="zh-CN" sz="4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SQL Data Types and Schemas</a:t>
            </a:r>
            <a:endParaRPr lang="en-US" altLang="zh-CN" sz="4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Authorization</a:t>
            </a:r>
            <a:endParaRPr lang="en-US" altLang="zh-CN" sz="40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59817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Joined Relations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Join operations</a:t>
            </a:r>
            <a:r>
              <a:rPr lang="en-US" altLang="zh-CN" sz="2400">
                <a:ea typeface="宋体" panose="02010600030101010101" pitchFamily="2" charset="-122"/>
              </a:rPr>
              <a:t> take two relations and return as a result another relation.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 join operation is a Cartesian product which requires that tuples in the two relations match (under some condition).  It also specifies the attributes that are present in the result of the join 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The join operations are typically used as subquery expressions in the </a:t>
            </a:r>
            <a:r>
              <a:rPr lang="en-US" altLang="zh-CN" sz="2400" b="1">
                <a:ea typeface="宋体" panose="02010600030101010101" pitchFamily="2" charset="-122"/>
              </a:rPr>
              <a:t>from </a:t>
            </a:r>
            <a:r>
              <a:rPr lang="en-US" altLang="zh-CN" sz="2400">
                <a:ea typeface="宋体" panose="02010600030101010101" pitchFamily="2" charset="-122"/>
              </a:rPr>
              <a:t>clause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56"/>
    </mc:Choice>
    <mc:Fallback>
      <p:transition spd="slow" advTm="3185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Join operations – Example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31888"/>
            <a:ext cx="8610600" cy="461962"/>
          </a:xfrm>
        </p:spPr>
        <p:txBody>
          <a:bodyPr/>
          <a:lstStyle/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Relation </a:t>
            </a:r>
            <a:r>
              <a:rPr lang="en-US" altLang="zh-CN" sz="2000" i="1">
                <a:ea typeface="宋体" panose="02010600030101010101" pitchFamily="2" charset="-122"/>
              </a:rPr>
              <a:t>course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304800" y="2938463"/>
            <a:ext cx="70294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CN" sz="2000"/>
              <a:t>Relation </a:t>
            </a:r>
            <a:r>
              <a:rPr lang="en-US" altLang="zh-CN" sz="2000" i="1"/>
              <a:t>prereq</a:t>
            </a:r>
            <a:endParaRPr lang="en-US" altLang="zh-CN" sz="1800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304800" y="4999038"/>
            <a:ext cx="8291513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zh-CN" sz="2000"/>
              <a:t>   Observe that </a:t>
            </a:r>
            <a:endParaRPr lang="en-US" altLang="zh-CN" sz="2000"/>
          </a:p>
          <a:p>
            <a:pPr>
              <a:buSzTx/>
              <a:buFont typeface="Monotype Sorts" pitchFamily="2" charset="2"/>
              <a:buNone/>
            </a:pPr>
            <a:r>
              <a:rPr lang="en-US" altLang="zh-CN" sz="2000"/>
              <a:t>         </a:t>
            </a:r>
            <a:r>
              <a:rPr lang="en-US" altLang="zh-CN" sz="1800"/>
              <a:t> </a:t>
            </a:r>
            <a:r>
              <a:rPr lang="en-US" altLang="zh-CN" sz="2000"/>
              <a:t>prereq information</a:t>
            </a:r>
            <a:r>
              <a:rPr lang="en-US" altLang="zh-CN" sz="1800"/>
              <a:t> </a:t>
            </a:r>
            <a:r>
              <a:rPr lang="en-US" altLang="zh-CN" sz="2000"/>
              <a:t>is missing for CS-315 and</a:t>
            </a:r>
            <a:r>
              <a:rPr lang="en-US" altLang="zh-CN" sz="1800"/>
              <a:t> </a:t>
            </a:r>
            <a:endParaRPr lang="en-US" altLang="zh-CN" sz="2000"/>
          </a:p>
          <a:p>
            <a:pPr>
              <a:buSzTx/>
              <a:buFont typeface="Monotype Sorts" pitchFamily="2" charset="2"/>
              <a:buNone/>
            </a:pPr>
            <a:r>
              <a:rPr lang="en-US" altLang="zh-CN" sz="2000"/>
              <a:t>          course</a:t>
            </a:r>
            <a:r>
              <a:rPr lang="en-US" altLang="zh-CN" sz="1800"/>
              <a:t> </a:t>
            </a:r>
            <a:r>
              <a:rPr lang="en-US" altLang="zh-CN" sz="2000"/>
              <a:t>information</a:t>
            </a:r>
            <a:r>
              <a:rPr lang="en-US" altLang="zh-CN" sz="1800"/>
              <a:t> </a:t>
            </a:r>
            <a:r>
              <a:rPr lang="en-US" altLang="zh-CN" sz="2000"/>
              <a:t>is missing  for  CS-347</a:t>
            </a:r>
            <a:endParaRPr lang="en-US" altLang="zh-CN" sz="2000"/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635125"/>
            <a:ext cx="4329112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3508375"/>
            <a:ext cx="2598738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Outer Join</a:t>
            </a: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An extension of the join operation that avoids loss of information.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Computes the join and then adds tuples form one relation that does not match tuples in the other relation to the result of the join. 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Uses </a:t>
            </a:r>
            <a:r>
              <a:rPr lang="en-US" altLang="zh-CN" i="1">
                <a:ea typeface="宋体" panose="02010600030101010101" pitchFamily="2" charset="-122"/>
              </a:rPr>
              <a:t>null</a:t>
            </a:r>
            <a:r>
              <a:rPr lang="en-US" altLang="zh-CN">
                <a:ea typeface="宋体" panose="02010600030101010101" pitchFamily="2" charset="-122"/>
              </a:rPr>
              <a:t> values.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012"/>
    </mc:Choice>
    <mc:Fallback>
      <p:transition spd="slow" advTm="3901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Left Outer Join</a:t>
            </a:r>
            <a:endParaRPr lang="en-US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58813" y="884238"/>
            <a:ext cx="79898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35000"/>
              </a:spcBef>
              <a:buClr>
                <a:schemeClr val="tx2"/>
              </a:buClr>
              <a:buSzPct val="90000"/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select</a:t>
            </a:r>
            <a:r>
              <a:rPr kumimoji="1" lang="en-US" altLang="zh-CN" sz="2400" i="1" dirty="0">
                <a:solidFill>
                  <a:srgbClr val="0066CC"/>
                </a:solidFill>
              </a:rPr>
              <a:t> </a:t>
            </a:r>
            <a:r>
              <a:rPr kumimoji="1" lang="en-US" altLang="zh-CN" sz="2400" i="1" dirty="0"/>
              <a:t>*  </a:t>
            </a:r>
            <a:br>
              <a:rPr kumimoji="1" lang="en-US" altLang="zh-CN" sz="2400" i="1" dirty="0"/>
            </a:b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from</a:t>
            </a:r>
            <a:r>
              <a:rPr kumimoji="1" lang="en-US" altLang="zh-CN" sz="2400" i="1" dirty="0"/>
              <a:t> course</a:t>
            </a:r>
            <a:r>
              <a:rPr kumimoji="1" lang="en-US" altLang="zh-CN" sz="2400" dirty="0"/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natural left outer join </a:t>
            </a:r>
            <a:r>
              <a:rPr kumimoji="1" lang="en-US" altLang="zh-CN" sz="2400" i="1" dirty="0" err="1"/>
              <a:t>prereq</a:t>
            </a:r>
            <a:endParaRPr kumimoji="1" lang="en-US" altLang="zh-CN" sz="2400" dirty="0"/>
          </a:p>
        </p:txBody>
      </p:sp>
      <p:pic>
        <p:nvPicPr>
          <p:cNvPr id="1638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2032000"/>
            <a:ext cx="4329113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0" y="2032000"/>
            <a:ext cx="2206625" cy="117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4102100"/>
            <a:ext cx="5956300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 bwMode="auto">
          <a:xfrm>
            <a:off x="873125" y="2374900"/>
            <a:ext cx="1708150" cy="3074988"/>
            <a:chOff x="873125" y="2200275"/>
            <a:chExt cx="1708149" cy="3250405"/>
          </a:xfrm>
        </p:grpSpPr>
        <p:sp>
          <p:nvSpPr>
            <p:cNvPr id="16395" name="圆角矩形 3"/>
            <p:cNvSpPr>
              <a:spLocks noChangeArrowheads="1"/>
            </p:cNvSpPr>
            <p:nvPr/>
          </p:nvSpPr>
          <p:spPr bwMode="auto">
            <a:xfrm>
              <a:off x="873125" y="2200275"/>
              <a:ext cx="1003300" cy="862013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  <p:sp>
          <p:nvSpPr>
            <p:cNvPr id="16396" name="圆角矩形 15"/>
            <p:cNvSpPr>
              <a:spLocks noChangeArrowheads="1"/>
            </p:cNvSpPr>
            <p:nvPr/>
          </p:nvSpPr>
          <p:spPr bwMode="auto">
            <a:xfrm>
              <a:off x="1460499" y="4495800"/>
              <a:ext cx="1120775" cy="954880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  <p:cxnSp>
          <p:nvCxnSpPr>
            <p:cNvPr id="16397" name="直接连接符 5"/>
            <p:cNvCxnSpPr>
              <a:cxnSpLocks noChangeShapeType="1"/>
              <a:stCxn id="16395" idx="2"/>
              <a:endCxn id="16396" idx="0"/>
            </p:cNvCxnSpPr>
            <p:nvPr/>
          </p:nvCxnSpPr>
          <p:spPr bwMode="auto">
            <a:xfrm>
              <a:off x="1374775" y="3062288"/>
              <a:ext cx="646112" cy="1433512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圆角矩形 19"/>
          <p:cNvSpPr>
            <a:spLocks noChangeArrowheads="1"/>
          </p:cNvSpPr>
          <p:nvPr/>
        </p:nvSpPr>
        <p:spPr bwMode="auto">
          <a:xfrm>
            <a:off x="6334125" y="5086350"/>
            <a:ext cx="781050" cy="36353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/>
          </a:p>
        </p:txBody>
      </p:sp>
      <p:sp>
        <p:nvSpPr>
          <p:cNvPr id="16393" name="矩形 7"/>
          <p:cNvSpPr>
            <a:spLocks noChangeArrowheads="1"/>
          </p:cNvSpPr>
          <p:nvPr/>
        </p:nvSpPr>
        <p:spPr bwMode="auto">
          <a:xfrm>
            <a:off x="2581275" y="3241675"/>
            <a:ext cx="800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course</a:t>
            </a:r>
            <a:endParaRPr kumimoji="0" lang="zh-CN" altLang="en-US" sz="1600"/>
          </a:p>
        </p:txBody>
      </p:sp>
      <p:sp>
        <p:nvSpPr>
          <p:cNvPr id="16394" name="矩形 16"/>
          <p:cNvSpPr>
            <a:spLocks noChangeArrowheads="1"/>
          </p:cNvSpPr>
          <p:nvPr/>
        </p:nvSpPr>
        <p:spPr bwMode="auto">
          <a:xfrm>
            <a:off x="6638925" y="3222625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prereq</a:t>
            </a:r>
            <a:endParaRPr kumimoji="0"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4033838"/>
            <a:ext cx="6257925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Right </a:t>
            </a:r>
            <a:r>
              <a:rPr lang="en-US" dirty="0"/>
              <a:t>Outer Join</a:t>
            </a:r>
            <a:endParaRPr lang="en-US" dirty="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58813" y="884238"/>
            <a:ext cx="79898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35000"/>
              </a:spcBef>
              <a:buClr>
                <a:schemeClr val="tx2"/>
              </a:buClr>
              <a:buSzPct val="90000"/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select</a:t>
            </a:r>
            <a:r>
              <a:rPr kumimoji="1" lang="en-US" altLang="zh-CN" sz="2400" i="1" dirty="0">
                <a:solidFill>
                  <a:srgbClr val="0066CC"/>
                </a:solidFill>
              </a:rPr>
              <a:t> </a:t>
            </a:r>
            <a:r>
              <a:rPr kumimoji="1" lang="en-US" altLang="zh-CN" sz="2400" i="1" dirty="0"/>
              <a:t>*  </a:t>
            </a:r>
            <a:br>
              <a:rPr kumimoji="1" lang="en-US" altLang="zh-CN" sz="2400" i="1" dirty="0"/>
            </a:b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from</a:t>
            </a:r>
            <a:r>
              <a:rPr kumimoji="1" lang="en-US" altLang="zh-CN" sz="2400" i="1" dirty="0"/>
              <a:t> course</a:t>
            </a:r>
            <a:r>
              <a:rPr kumimoji="1" lang="en-US" altLang="zh-CN" sz="2400" dirty="0"/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natural right outer join </a:t>
            </a:r>
            <a:r>
              <a:rPr kumimoji="1" lang="en-US" altLang="zh-CN" sz="2400" i="1" dirty="0" err="1"/>
              <a:t>prereq</a:t>
            </a:r>
            <a:endParaRPr kumimoji="1" lang="en-US" altLang="zh-CN" sz="2400" dirty="0"/>
          </a:p>
        </p:txBody>
      </p:sp>
      <p:pic>
        <p:nvPicPr>
          <p:cNvPr id="1843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2032000"/>
            <a:ext cx="4329113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0" y="2032000"/>
            <a:ext cx="2206625" cy="117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 bwMode="auto">
          <a:xfrm>
            <a:off x="1460500" y="2368550"/>
            <a:ext cx="5413375" cy="3081338"/>
            <a:chOff x="1460499" y="2368549"/>
            <a:chExt cx="5413376" cy="3082131"/>
          </a:xfrm>
        </p:grpSpPr>
        <p:sp>
          <p:nvSpPr>
            <p:cNvPr id="18443" name="圆角矩形 3"/>
            <p:cNvSpPr>
              <a:spLocks noChangeArrowheads="1"/>
            </p:cNvSpPr>
            <p:nvPr/>
          </p:nvSpPr>
          <p:spPr bwMode="auto">
            <a:xfrm>
              <a:off x="5870575" y="2368549"/>
              <a:ext cx="1003300" cy="862013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  <p:sp>
          <p:nvSpPr>
            <p:cNvPr id="18444" name="圆角矩形 15"/>
            <p:cNvSpPr>
              <a:spLocks noChangeArrowheads="1"/>
            </p:cNvSpPr>
            <p:nvPr/>
          </p:nvSpPr>
          <p:spPr bwMode="auto">
            <a:xfrm>
              <a:off x="1460499" y="4495800"/>
              <a:ext cx="1120775" cy="954880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  <p:cxnSp>
          <p:nvCxnSpPr>
            <p:cNvPr id="18445" name="直接连接符 5"/>
            <p:cNvCxnSpPr>
              <a:cxnSpLocks noChangeShapeType="1"/>
              <a:stCxn id="18443" idx="2"/>
              <a:endCxn id="18444" idx="0"/>
            </p:cNvCxnSpPr>
            <p:nvPr/>
          </p:nvCxnSpPr>
          <p:spPr bwMode="auto">
            <a:xfrm flipH="1">
              <a:off x="2020887" y="3230562"/>
              <a:ext cx="4351338" cy="1265238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圆角矩形 19"/>
          <p:cNvSpPr>
            <a:spLocks noChangeArrowheads="1"/>
          </p:cNvSpPr>
          <p:nvPr/>
        </p:nvSpPr>
        <p:spPr bwMode="auto">
          <a:xfrm>
            <a:off x="2581275" y="5064125"/>
            <a:ext cx="3981450" cy="36353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/>
          </a:p>
        </p:txBody>
      </p:sp>
      <p:sp>
        <p:nvSpPr>
          <p:cNvPr id="18441" name="矩形 7"/>
          <p:cNvSpPr>
            <a:spLocks noChangeArrowheads="1"/>
          </p:cNvSpPr>
          <p:nvPr/>
        </p:nvSpPr>
        <p:spPr bwMode="auto">
          <a:xfrm>
            <a:off x="2581275" y="3241675"/>
            <a:ext cx="800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course</a:t>
            </a:r>
            <a:endParaRPr kumimoji="0" lang="zh-CN" altLang="en-US" sz="1600"/>
          </a:p>
        </p:txBody>
      </p:sp>
      <p:sp>
        <p:nvSpPr>
          <p:cNvPr id="18442" name="矩形 16"/>
          <p:cNvSpPr>
            <a:spLocks noChangeArrowheads="1"/>
          </p:cNvSpPr>
          <p:nvPr/>
        </p:nvSpPr>
        <p:spPr bwMode="auto">
          <a:xfrm>
            <a:off x="6638925" y="3222625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prereq</a:t>
            </a:r>
            <a:endParaRPr kumimoji="0"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4083050"/>
            <a:ext cx="5859463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Full </a:t>
            </a:r>
            <a:r>
              <a:rPr lang="en-US" dirty="0"/>
              <a:t>Outer Join</a:t>
            </a:r>
            <a:endParaRPr lang="en-US" dirty="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58813" y="884238"/>
            <a:ext cx="79898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35000"/>
              </a:spcBef>
              <a:buClr>
                <a:schemeClr val="tx2"/>
              </a:buClr>
              <a:buSzPct val="90000"/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select</a:t>
            </a:r>
            <a:r>
              <a:rPr kumimoji="1" lang="en-US" altLang="zh-CN" sz="2400" i="1" dirty="0">
                <a:solidFill>
                  <a:srgbClr val="0066CC"/>
                </a:solidFill>
              </a:rPr>
              <a:t> </a:t>
            </a:r>
            <a:r>
              <a:rPr kumimoji="1" lang="en-US" altLang="zh-CN" sz="2400" i="1" dirty="0"/>
              <a:t>*  </a:t>
            </a:r>
            <a:br>
              <a:rPr kumimoji="1" lang="en-US" altLang="zh-CN" sz="2400" i="1" dirty="0"/>
            </a:b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from</a:t>
            </a:r>
            <a:r>
              <a:rPr kumimoji="1" lang="en-US" altLang="zh-CN" sz="2400" i="1" dirty="0"/>
              <a:t> course</a:t>
            </a:r>
            <a:r>
              <a:rPr kumimoji="1" lang="en-US" altLang="zh-CN" sz="2400" dirty="0"/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natural full outer join </a:t>
            </a:r>
            <a:r>
              <a:rPr kumimoji="1" lang="en-US" altLang="zh-CN" sz="2400" i="1" dirty="0" err="1"/>
              <a:t>prereq</a:t>
            </a:r>
            <a:endParaRPr kumimoji="1" lang="en-US" altLang="zh-CN" sz="2400" dirty="0"/>
          </a:p>
        </p:txBody>
      </p:sp>
      <p:pic>
        <p:nvPicPr>
          <p:cNvPr id="2048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2032000"/>
            <a:ext cx="4329113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0" y="2032000"/>
            <a:ext cx="2206625" cy="117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 bwMode="auto">
          <a:xfrm>
            <a:off x="873125" y="2368550"/>
            <a:ext cx="6000750" cy="3241675"/>
            <a:chOff x="873125" y="2368549"/>
            <a:chExt cx="6000750" cy="3241675"/>
          </a:xfrm>
        </p:grpSpPr>
        <p:sp>
          <p:nvSpPr>
            <p:cNvPr id="20492" name="圆角矩形 3"/>
            <p:cNvSpPr>
              <a:spLocks noChangeArrowheads="1"/>
            </p:cNvSpPr>
            <p:nvPr/>
          </p:nvSpPr>
          <p:spPr bwMode="auto">
            <a:xfrm>
              <a:off x="5870575" y="2368549"/>
              <a:ext cx="1003300" cy="862013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  <p:sp>
          <p:nvSpPr>
            <p:cNvPr id="20493" name="圆角矩形 15"/>
            <p:cNvSpPr>
              <a:spLocks noChangeArrowheads="1"/>
            </p:cNvSpPr>
            <p:nvPr/>
          </p:nvSpPr>
          <p:spPr bwMode="auto">
            <a:xfrm>
              <a:off x="1460499" y="4495799"/>
              <a:ext cx="1120775" cy="1114425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  <p:cxnSp>
          <p:nvCxnSpPr>
            <p:cNvPr id="20494" name="直接连接符 5"/>
            <p:cNvCxnSpPr>
              <a:cxnSpLocks noChangeShapeType="1"/>
              <a:stCxn id="20492" idx="2"/>
              <a:endCxn id="20493" idx="0"/>
            </p:cNvCxnSpPr>
            <p:nvPr/>
          </p:nvCxnSpPr>
          <p:spPr bwMode="auto">
            <a:xfrm flipH="1">
              <a:off x="2020887" y="3230562"/>
              <a:ext cx="4351338" cy="1265237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495" name="圆角矩形 34"/>
            <p:cNvSpPr>
              <a:spLocks noChangeArrowheads="1"/>
            </p:cNvSpPr>
            <p:nvPr/>
          </p:nvSpPr>
          <p:spPr bwMode="auto">
            <a:xfrm>
              <a:off x="873125" y="2376350"/>
              <a:ext cx="1003300" cy="862013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/>
            </a:p>
          </p:txBody>
        </p:sp>
        <p:cxnSp>
          <p:nvCxnSpPr>
            <p:cNvPr id="20496" name="直接连接符 35"/>
            <p:cNvCxnSpPr>
              <a:cxnSpLocks noChangeShapeType="1"/>
              <a:stCxn id="20495" idx="2"/>
              <a:endCxn id="20493" idx="0"/>
            </p:cNvCxnSpPr>
            <p:nvPr/>
          </p:nvCxnSpPr>
          <p:spPr bwMode="auto">
            <a:xfrm>
              <a:off x="1374775" y="3238363"/>
              <a:ext cx="646112" cy="1257436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圆角矩形 19"/>
          <p:cNvSpPr>
            <a:spLocks noChangeArrowheads="1"/>
          </p:cNvSpPr>
          <p:nvPr/>
        </p:nvSpPr>
        <p:spPr bwMode="auto">
          <a:xfrm>
            <a:off x="2457450" y="5260975"/>
            <a:ext cx="3792538" cy="36512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/>
          </a:p>
        </p:txBody>
      </p:sp>
      <p:sp>
        <p:nvSpPr>
          <p:cNvPr id="20489" name="矩形 7"/>
          <p:cNvSpPr>
            <a:spLocks noChangeArrowheads="1"/>
          </p:cNvSpPr>
          <p:nvPr/>
        </p:nvSpPr>
        <p:spPr bwMode="auto">
          <a:xfrm>
            <a:off x="2581275" y="3241675"/>
            <a:ext cx="800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course</a:t>
            </a:r>
            <a:endParaRPr kumimoji="0" lang="zh-CN" altLang="en-US" sz="1600"/>
          </a:p>
        </p:txBody>
      </p:sp>
      <p:sp>
        <p:nvSpPr>
          <p:cNvPr id="20490" name="矩形 16"/>
          <p:cNvSpPr>
            <a:spLocks noChangeArrowheads="1"/>
          </p:cNvSpPr>
          <p:nvPr/>
        </p:nvSpPr>
        <p:spPr bwMode="auto">
          <a:xfrm>
            <a:off x="6638925" y="3222625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prereq</a:t>
            </a:r>
            <a:endParaRPr kumimoji="0" lang="zh-CN" altLang="en-US" sz="1600"/>
          </a:p>
        </p:txBody>
      </p:sp>
      <p:sp>
        <p:nvSpPr>
          <p:cNvPr id="39" name="圆角矩形 38"/>
          <p:cNvSpPr>
            <a:spLocks noChangeArrowheads="1"/>
          </p:cNvSpPr>
          <p:nvPr/>
        </p:nvSpPr>
        <p:spPr bwMode="auto">
          <a:xfrm>
            <a:off x="6183313" y="4986338"/>
            <a:ext cx="781050" cy="36353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Joined Relations</a:t>
            </a: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Join operations</a:t>
            </a:r>
            <a:r>
              <a:rPr lang="en-US" altLang="zh-CN" sz="2000">
                <a:ea typeface="宋体" panose="02010600030101010101" pitchFamily="2" charset="-122"/>
              </a:rPr>
              <a:t> take two relations and return as a result another relation.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These additional operations are typically used as subquery expressions in the </a:t>
            </a:r>
            <a:r>
              <a:rPr lang="en-US" altLang="zh-CN" sz="2000" b="1">
                <a:ea typeface="宋体" panose="02010600030101010101" pitchFamily="2" charset="-122"/>
              </a:rPr>
              <a:t>from </a:t>
            </a:r>
            <a:r>
              <a:rPr lang="en-US" altLang="zh-CN" sz="2000">
                <a:ea typeface="宋体" panose="02010600030101010101" pitchFamily="2" charset="-122"/>
              </a:rPr>
              <a:t>clause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Join condition</a:t>
            </a:r>
            <a:r>
              <a:rPr lang="en-US" altLang="zh-CN" sz="2000">
                <a:ea typeface="宋体" panose="02010600030101010101" pitchFamily="2" charset="-122"/>
              </a:rPr>
              <a:t> – defines which tuples in the two relations match, and what attributes are present in the result of the join.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Join type</a:t>
            </a:r>
            <a:r>
              <a:rPr lang="en-US" altLang="zh-CN" sz="2000">
                <a:ea typeface="宋体" panose="02010600030101010101" pitchFamily="2" charset="-122"/>
              </a:rPr>
              <a:t> – defines how tuples in each relation that do not match any tuple in the other relation (based on the join condition) are treated.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" t="32004" r="375" b="31503"/>
          <a:stretch>
            <a:fillRect/>
          </a:stretch>
        </p:blipFill>
        <p:spPr bwMode="auto">
          <a:xfrm>
            <a:off x="992188" y="4116388"/>
            <a:ext cx="7083425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 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inner join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prereq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on</a:t>
            </a:r>
            <a:b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course.course_id = prereq.course_id</a:t>
            </a:r>
            <a:endParaRPr lang="en-US" altLang="zh-CN" i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28600" y="3327400"/>
            <a:ext cx="7910513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zh-CN" sz="2000"/>
              <a:t>What is the difference between the above, and a natural join? </a:t>
            </a:r>
            <a:endParaRPr lang="en-US" altLang="zh-CN" sz="2000"/>
          </a:p>
          <a:p>
            <a:pPr>
              <a:buSzTx/>
            </a:pPr>
            <a:r>
              <a:rPr lang="en-US" altLang="zh-CN" sz="2000" i="1">
                <a:solidFill>
                  <a:srgbClr val="0000FF"/>
                </a:solidFill>
              </a:rPr>
              <a:t>course </a:t>
            </a:r>
            <a:r>
              <a:rPr lang="en-US" altLang="zh-CN" sz="2000" b="1">
                <a:solidFill>
                  <a:srgbClr val="0000FF"/>
                </a:solidFill>
              </a:rPr>
              <a:t>left outer join</a:t>
            </a:r>
            <a:r>
              <a:rPr lang="en-US" altLang="zh-CN" sz="2000" i="1">
                <a:solidFill>
                  <a:srgbClr val="0000FF"/>
                </a:solidFill>
              </a:rPr>
              <a:t> prereq </a:t>
            </a:r>
            <a:r>
              <a:rPr lang="en-US" altLang="zh-CN" sz="2000" b="1">
                <a:solidFill>
                  <a:srgbClr val="0000FF"/>
                </a:solidFill>
              </a:rPr>
              <a:t>on</a:t>
            </a:r>
            <a:br>
              <a:rPr lang="en-US" altLang="zh-CN" sz="2000" i="1">
                <a:solidFill>
                  <a:srgbClr val="0000FF"/>
                </a:solidFill>
              </a:rPr>
            </a:br>
            <a:r>
              <a:rPr lang="en-US" altLang="zh-CN" sz="2000" i="1">
                <a:solidFill>
                  <a:srgbClr val="0000FF"/>
                </a:solidFill>
              </a:rPr>
              <a:t>course.course_id = prereq.course_id</a:t>
            </a:r>
            <a:endParaRPr lang="en-US" altLang="zh-CN" sz="1800" i="1">
              <a:solidFill>
                <a:srgbClr val="0000FF"/>
              </a:solidFill>
            </a:endParaRPr>
          </a:p>
          <a:p>
            <a:pPr>
              <a:buSzTx/>
            </a:pPr>
            <a:endParaRPr lang="en-US" altLang="zh-CN" sz="1800" i="1"/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1927225"/>
            <a:ext cx="7475537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4610100"/>
            <a:ext cx="76200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9" t="4582" r="6110" b="71706"/>
          <a:stretch>
            <a:fillRect/>
          </a:stretch>
        </p:blipFill>
        <p:spPr bwMode="auto">
          <a:xfrm>
            <a:off x="5553075" y="2003425"/>
            <a:ext cx="113982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9" t="4582" r="6110" b="71706"/>
          <a:stretch>
            <a:fillRect/>
          </a:stretch>
        </p:blipFill>
        <p:spPr bwMode="auto">
          <a:xfrm>
            <a:off x="5662613" y="4662488"/>
            <a:ext cx="113982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42900" y="1143000"/>
            <a:ext cx="68008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zh-CN" sz="2400" i="1">
                <a:solidFill>
                  <a:srgbClr val="0000FF"/>
                </a:solidFill>
              </a:rPr>
              <a:t>course</a:t>
            </a:r>
            <a:r>
              <a:rPr lang="en-US" altLang="zh-CN" sz="2400" b="1">
                <a:solidFill>
                  <a:srgbClr val="0000FF"/>
                </a:solidFill>
              </a:rPr>
              <a:t> natural right outer join </a:t>
            </a:r>
            <a:r>
              <a:rPr lang="en-US" altLang="zh-CN" sz="2400" i="1">
                <a:solidFill>
                  <a:srgbClr val="0000FF"/>
                </a:solidFill>
              </a:rPr>
              <a:t>prereq</a:t>
            </a:r>
            <a:endParaRPr lang="en-US" altLang="zh-CN" sz="2400" b="1">
              <a:solidFill>
                <a:srgbClr val="0000FF"/>
              </a:solidFill>
            </a:endParaRP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" y="1708150"/>
            <a:ext cx="6929438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390525" y="3459163"/>
            <a:ext cx="81327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</a:pPr>
            <a:r>
              <a:rPr lang="en-US" altLang="zh-CN" sz="2400" i="1"/>
              <a:t>   </a:t>
            </a:r>
            <a:r>
              <a:rPr lang="en-US" altLang="zh-CN" sz="2400" i="1">
                <a:solidFill>
                  <a:srgbClr val="0000FF"/>
                </a:solidFill>
              </a:rPr>
              <a:t>course</a:t>
            </a:r>
            <a:r>
              <a:rPr lang="en-US" altLang="zh-CN" sz="2400" b="1">
                <a:solidFill>
                  <a:srgbClr val="0000FF"/>
                </a:solidFill>
              </a:rPr>
              <a:t> full outer join </a:t>
            </a:r>
            <a:r>
              <a:rPr lang="en-US" altLang="zh-CN" sz="2400" i="1">
                <a:solidFill>
                  <a:srgbClr val="0000FF"/>
                </a:solidFill>
              </a:rPr>
              <a:t>prereq </a:t>
            </a:r>
            <a:r>
              <a:rPr lang="en-US" altLang="zh-CN" sz="2400" b="1">
                <a:solidFill>
                  <a:srgbClr val="0000FF"/>
                </a:solidFill>
              </a:rPr>
              <a:t>using </a:t>
            </a:r>
            <a:r>
              <a:rPr lang="en-US" altLang="zh-CN" sz="2400">
                <a:solidFill>
                  <a:srgbClr val="0000FF"/>
                </a:solidFill>
              </a:rPr>
              <a:t>(</a:t>
            </a:r>
            <a:r>
              <a:rPr lang="en-US" altLang="zh-CN" sz="2400" i="1">
                <a:solidFill>
                  <a:srgbClr val="0000FF"/>
                </a:solidFill>
              </a:rPr>
              <a:t>course_id</a:t>
            </a:r>
            <a:r>
              <a:rPr lang="en-US" altLang="zh-CN" sz="2400">
                <a:solidFill>
                  <a:srgbClr val="0000FF"/>
                </a:solidFill>
              </a:rPr>
              <a:t>)</a:t>
            </a:r>
            <a:endParaRPr lang="en-US" altLang="zh-CN" sz="2400">
              <a:solidFill>
                <a:srgbClr val="0000FF"/>
              </a:solidFill>
            </a:endParaRPr>
          </a:p>
        </p:txBody>
      </p:sp>
      <p:pic>
        <p:nvPicPr>
          <p:cNvPr id="2663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" y="4164013"/>
            <a:ext cx="6765925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9" t="4582" r="6110" b="71706"/>
          <a:stretch>
            <a:fillRect/>
          </a:stretch>
        </p:blipFill>
        <p:spPr bwMode="auto">
          <a:xfrm>
            <a:off x="6480175" y="1762125"/>
            <a:ext cx="122872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9" t="4582" r="6110" b="71706"/>
          <a:stretch>
            <a:fillRect/>
          </a:stretch>
        </p:blipFill>
        <p:spPr bwMode="auto">
          <a:xfrm>
            <a:off x="6381750" y="4229100"/>
            <a:ext cx="11334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Views</a:t>
            </a: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320484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In some cases, it is not desirable for all users to see the entire logical model (that is, all the actual relations stored in the database.)</a:t>
            </a:r>
            <a:endParaRPr lang="en-US" altLang="zh-CN" sz="2200">
              <a:ea typeface="宋体" panose="02010600030101010101" pitchFamily="2" charset="-122"/>
            </a:endParaRPr>
          </a:p>
          <a:p>
            <a:pPr eaLnBrk="1" hangingPunct="1">
              <a:tabLst>
                <a:tab pos="320484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Consider a person who needs to know an instructors name and department, but not the salary.  This person should see a relation described, in SQL, by </a:t>
            </a:r>
            <a:br>
              <a:rPr lang="en-US" altLang="zh-CN" sz="2200">
                <a:ea typeface="宋体" panose="02010600030101010101" pitchFamily="2" charset="-122"/>
              </a:rPr>
            </a:br>
            <a:r>
              <a:rPr lang="en-US" altLang="zh-CN" sz="2200">
                <a:ea typeface="宋体" panose="02010600030101010101" pitchFamily="2" charset="-122"/>
              </a:rPr>
              <a:t>		</a:t>
            </a:r>
            <a:br>
              <a:rPr kumimoji="0" lang="en-US" altLang="zh-CN" sz="2200" b="1">
                <a:ea typeface="宋体" panose="02010600030101010101" pitchFamily="2" charset="-122"/>
              </a:rPr>
            </a:br>
            <a:r>
              <a:rPr kumimoji="0" lang="en-US" altLang="zh-CN" sz="2200" b="1">
                <a:solidFill>
                  <a:srgbClr val="0000FF"/>
                </a:solidFill>
                <a:ea typeface="宋体" panose="02010600030101010101" pitchFamily="2" charset="-122"/>
              </a:rPr>
              <a:t>             select </a:t>
            </a:r>
            <a:r>
              <a:rPr kumimoji="0"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kumimoji="0"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kumimoji="0"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br>
              <a:rPr kumimoji="0"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kumimoji="0"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             </a:t>
            </a:r>
            <a:r>
              <a:rPr kumimoji="0" lang="en-US" altLang="zh-CN" sz="22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kumimoji="0" lang="en-US" altLang="zh-CN" sz="2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3204845" algn="ctr"/>
              </a:tabLst>
            </a:pPr>
            <a:endParaRPr lang="en-US" altLang="zh-CN" sz="22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tabLst>
                <a:tab pos="320484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A 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view</a:t>
            </a:r>
            <a:r>
              <a:rPr lang="en-US" altLang="zh-CN" sz="2200">
                <a:ea typeface="宋体" panose="02010600030101010101" pitchFamily="2" charset="-122"/>
              </a:rPr>
              <a:t> provides a mechanism to hide certain data from the view of certain users. </a:t>
            </a:r>
            <a:endParaRPr lang="en-US" altLang="zh-CN" sz="2200">
              <a:ea typeface="宋体" panose="02010600030101010101" pitchFamily="2" charset="-122"/>
            </a:endParaRPr>
          </a:p>
          <a:p>
            <a:pPr eaLnBrk="1" hangingPunct="1">
              <a:tabLst>
                <a:tab pos="320484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Any relation that is not of the conceptual model but is made visible to a user as a “virtual relation” is called a </a:t>
            </a:r>
            <a:r>
              <a:rPr lang="en-US" altLang="zh-CN" sz="2200" b="1">
                <a:solidFill>
                  <a:srgbClr val="000099"/>
                </a:solidFill>
                <a:ea typeface="宋体" panose="02010600030101010101" pitchFamily="2" charset="-122"/>
              </a:rPr>
              <a:t>view</a:t>
            </a:r>
            <a:r>
              <a:rPr lang="en-US" altLang="zh-CN" sz="2200">
                <a:ea typeface="宋体" panose="02010600030101010101" pitchFamily="2" charset="-122"/>
              </a:rPr>
              <a:t>.</a:t>
            </a:r>
            <a:endParaRPr lang="en-US" altLang="zh-CN" sz="22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View Definition</a:t>
            </a: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343217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A view is defined using the </a:t>
            </a:r>
            <a:r>
              <a:rPr lang="en-US" altLang="zh-CN" sz="2200" b="1">
                <a:ea typeface="宋体" panose="02010600030101010101" pitchFamily="2" charset="-122"/>
              </a:rPr>
              <a:t>create view </a:t>
            </a:r>
            <a:r>
              <a:rPr lang="en-US" altLang="zh-CN" sz="2200">
                <a:ea typeface="宋体" panose="02010600030101010101" pitchFamily="2" charset="-122"/>
              </a:rPr>
              <a:t>statement which has the form</a:t>
            </a:r>
            <a:endParaRPr lang="en-US" altLang="zh-CN" sz="2200">
              <a:ea typeface="宋体" panose="02010600030101010101" pitchFamily="2" charset="-122"/>
            </a:endParaRPr>
          </a:p>
          <a:p>
            <a:pPr eaLnBrk="1" hangingPunct="1">
              <a:lnSpc>
                <a:spcPct val="40000"/>
              </a:lnSpc>
              <a:tabLst>
                <a:tab pos="3432175" algn="ctr"/>
              </a:tabLst>
            </a:pPr>
            <a:endParaRPr lang="en-US" altLang="zh-CN" sz="2200">
              <a:ea typeface="宋体" panose="02010600030101010101" pitchFamily="2" charset="-122"/>
            </a:endParaRPr>
          </a:p>
          <a:p>
            <a:pPr eaLnBrk="1" hangingPunct="1">
              <a:lnSpc>
                <a:spcPct val="40000"/>
              </a:lnSpc>
              <a:buFont typeface="Monotype Sorts" pitchFamily="2" charset="2"/>
              <a:buNone/>
              <a:tabLst>
                <a:tab pos="343217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		</a:t>
            </a:r>
            <a:r>
              <a:rPr lang="en-US" altLang="zh-CN" sz="2200" b="1">
                <a:solidFill>
                  <a:srgbClr val="0000FF"/>
                </a:solidFill>
                <a:ea typeface="宋体" panose="02010600030101010101" pitchFamily="2" charset="-122"/>
              </a:rPr>
              <a:t>create view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v </a:t>
            </a:r>
            <a:r>
              <a:rPr lang="en-US" altLang="zh-CN" sz="2200" b="1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&lt; </a:t>
            </a: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query expression &gt;</a:t>
            </a:r>
            <a:endParaRPr lang="en-US" altLang="zh-CN" sz="2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20000"/>
              </a:lnSpc>
              <a:buFont typeface="Monotype Sorts" pitchFamily="2" charset="2"/>
              <a:buNone/>
              <a:tabLst>
                <a:tab pos="3432175" algn="ctr"/>
              </a:tabLst>
            </a:pPr>
            <a:endParaRPr lang="en-US" altLang="zh-CN" sz="22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343217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	where &lt;query expression&gt; is any legal SQL expression.  The view name is represented by </a:t>
            </a:r>
            <a:r>
              <a:rPr lang="en-US" altLang="zh-CN" sz="2200" i="1">
                <a:ea typeface="宋体" panose="02010600030101010101" pitchFamily="2" charset="-122"/>
              </a:rPr>
              <a:t>v.</a:t>
            </a:r>
            <a:endParaRPr lang="en-US" altLang="zh-CN" sz="2200">
              <a:ea typeface="宋体" panose="02010600030101010101" pitchFamily="2" charset="-122"/>
            </a:endParaRPr>
          </a:p>
          <a:p>
            <a:pPr eaLnBrk="1" hangingPunct="1">
              <a:tabLst>
                <a:tab pos="343217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Once a view is defined, the view name can be used to refer to the virtual relation that the view generates.</a:t>
            </a:r>
            <a:endParaRPr lang="en-US" altLang="zh-CN" sz="2200">
              <a:ea typeface="宋体" panose="02010600030101010101" pitchFamily="2" charset="-122"/>
            </a:endParaRPr>
          </a:p>
          <a:p>
            <a:pPr eaLnBrk="1" hangingPunct="1">
              <a:tabLst>
                <a:tab pos="343217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View definition is not the same as creating a new relation by evaluating the query expression  </a:t>
            </a:r>
            <a:endParaRPr lang="en-US" altLang="zh-CN" sz="2200">
              <a:ea typeface="宋体" panose="02010600030101010101" pitchFamily="2" charset="-122"/>
            </a:endParaRPr>
          </a:p>
          <a:p>
            <a:pPr lvl="1" eaLnBrk="1" hangingPunct="1">
              <a:tabLst>
                <a:tab pos="3432175" algn="ctr"/>
              </a:tabLst>
            </a:pPr>
            <a:r>
              <a:rPr lang="en-US" altLang="zh-CN" sz="2200">
                <a:ea typeface="宋体" panose="02010600030101010101" pitchFamily="2" charset="-122"/>
              </a:rPr>
              <a:t>Rather, a view definition causes the saving of an expression; the expression is substituted into queries using the view.</a:t>
            </a:r>
            <a:endParaRPr lang="en-US" altLang="zh-CN" sz="22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2028825" y="3702050"/>
            <a:ext cx="5391150" cy="2174875"/>
            <a:chOff x="3004" y="2338"/>
            <a:chExt cx="2688" cy="1059"/>
          </a:xfrm>
        </p:grpSpPr>
        <p:grpSp>
          <p:nvGrpSpPr>
            <p:cNvPr id="32786" name="Group 4"/>
            <p:cNvGrpSpPr/>
            <p:nvPr/>
          </p:nvGrpSpPr>
          <p:grpSpPr bwMode="auto">
            <a:xfrm>
              <a:off x="3004" y="2386"/>
              <a:ext cx="1479" cy="1011"/>
              <a:chOff x="1440" y="1344"/>
              <a:chExt cx="1479" cy="1011"/>
            </a:xfrm>
          </p:grpSpPr>
          <p:sp>
            <p:nvSpPr>
              <p:cNvPr id="32796" name="Text Box 5"/>
              <p:cNvSpPr txBox="1">
                <a:spLocks noChangeArrowheads="1"/>
              </p:cNvSpPr>
              <p:nvPr/>
            </p:nvSpPr>
            <p:spPr bwMode="auto">
              <a:xfrm>
                <a:off x="1504" y="1344"/>
                <a:ext cx="704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latin typeface="Arial Unicode MS" pitchFamily="34" charset="-122"/>
                    <a:ea typeface="Arial Unicode MS" pitchFamily="34" charset="-122"/>
                  </a:rPr>
                  <a:t>Base table 1</a:t>
                </a:r>
                <a:endParaRPr kumimoji="0" lang="en-US" altLang="zh-CN" sz="1600" b="1">
                  <a:latin typeface="Arial Unicode MS" pitchFamily="34" charset="-122"/>
                  <a:ea typeface="Arial Unicode MS" pitchFamily="34" charset="-122"/>
                </a:endParaRPr>
              </a:p>
            </p:txBody>
          </p:sp>
          <p:grpSp>
            <p:nvGrpSpPr>
              <p:cNvPr id="32797" name="Group 6"/>
              <p:cNvGrpSpPr/>
              <p:nvPr/>
            </p:nvGrpSpPr>
            <p:grpSpPr bwMode="auto">
              <a:xfrm>
                <a:off x="1440" y="1584"/>
                <a:ext cx="1477" cy="771"/>
                <a:chOff x="2289" y="5782"/>
                <a:chExt cx="2100" cy="1162"/>
              </a:xfrm>
            </p:grpSpPr>
            <p:sp>
              <p:nvSpPr>
                <p:cNvPr id="6966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289" y="5782"/>
                  <a:ext cx="2100" cy="116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chemeClr val="tx2"/>
                    </a:buClr>
                    <a:buSzPct val="90000"/>
                    <a:buFont typeface="Monotype Sort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hlink"/>
                    </a:buClr>
                    <a:buSzPct val="80000"/>
                    <a:buFont typeface="Monotype Sort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rgbClr val="33CC33"/>
                    </a:buClr>
                    <a:buSzPct val="75000"/>
                    <a:buFont typeface="Webdings" panose="05030102010509060703" pitchFamily="18" charset="2"/>
                    <a:buChar char="4"/>
                    <a:defRPr kumimoji="1" sz="2000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hlink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Char char="»"/>
                    <a:defRPr kumimoji="1" sz="1600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Char char="»"/>
                    <a:defRPr kumimoji="1" sz="1600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Char char="»"/>
                    <a:defRPr kumimoji="1" sz="1600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Char char="»"/>
                    <a:defRPr kumimoji="1" sz="1600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Char char="»"/>
                    <a:defRPr kumimoji="1" sz="1600">
                      <a:solidFill>
                        <a:schemeClr val="tx1"/>
                      </a:solidFill>
                      <a:latin typeface="Helvetica" panose="020B0604020202020204" pitchFamily="34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kumimoji="0" lang="zh-CN" altLang="en-US" sz="105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32801" name="Line 8"/>
                <p:cNvSpPr>
                  <a:spLocks noChangeShapeType="1"/>
                </p:cNvSpPr>
                <p:nvPr/>
              </p:nvSpPr>
              <p:spPr bwMode="auto">
                <a:xfrm>
                  <a:off x="2289" y="5948"/>
                  <a:ext cx="21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02" name="Line 9"/>
                <p:cNvSpPr>
                  <a:spLocks noChangeShapeType="1"/>
                </p:cNvSpPr>
                <p:nvPr/>
              </p:nvSpPr>
              <p:spPr bwMode="auto">
                <a:xfrm>
                  <a:off x="2289" y="6114"/>
                  <a:ext cx="21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03" name="Line 10"/>
                <p:cNvSpPr>
                  <a:spLocks noChangeShapeType="1"/>
                </p:cNvSpPr>
                <p:nvPr/>
              </p:nvSpPr>
              <p:spPr bwMode="auto">
                <a:xfrm>
                  <a:off x="2289" y="6280"/>
                  <a:ext cx="21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04" name="Line 11"/>
                <p:cNvSpPr>
                  <a:spLocks noChangeShapeType="1"/>
                </p:cNvSpPr>
                <p:nvPr/>
              </p:nvSpPr>
              <p:spPr bwMode="auto">
                <a:xfrm>
                  <a:off x="2289" y="6446"/>
                  <a:ext cx="21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05" name="Line 12"/>
                <p:cNvSpPr>
                  <a:spLocks noChangeShapeType="1"/>
                </p:cNvSpPr>
                <p:nvPr/>
              </p:nvSpPr>
              <p:spPr bwMode="auto">
                <a:xfrm>
                  <a:off x="2289" y="6612"/>
                  <a:ext cx="21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06" name="Line 13"/>
                <p:cNvSpPr>
                  <a:spLocks noChangeShapeType="1"/>
                </p:cNvSpPr>
                <p:nvPr/>
              </p:nvSpPr>
              <p:spPr bwMode="auto">
                <a:xfrm>
                  <a:off x="2814" y="5782"/>
                  <a:ext cx="0" cy="11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07" name="Line 14"/>
                <p:cNvSpPr>
                  <a:spLocks noChangeShapeType="1"/>
                </p:cNvSpPr>
                <p:nvPr/>
              </p:nvSpPr>
              <p:spPr bwMode="auto">
                <a:xfrm>
                  <a:off x="3339" y="5782"/>
                  <a:ext cx="0" cy="11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08" name="Line 15"/>
                <p:cNvSpPr>
                  <a:spLocks noChangeShapeType="1"/>
                </p:cNvSpPr>
                <p:nvPr/>
              </p:nvSpPr>
              <p:spPr bwMode="auto">
                <a:xfrm>
                  <a:off x="4074" y="5782"/>
                  <a:ext cx="0" cy="11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9664" name="Text Box 16" descr="深色上对角线"/>
              <p:cNvSpPr txBox="1">
                <a:spLocks noChangeArrowheads="1"/>
              </p:cNvSpPr>
              <p:nvPr/>
            </p:nvSpPr>
            <p:spPr bwMode="auto">
              <a:xfrm>
                <a:off x="1440" y="1584"/>
                <a:ext cx="369" cy="771"/>
              </a:xfrm>
              <a:prstGeom prst="rect">
                <a:avLst/>
              </a:prstGeom>
              <a:pattFill prst="dkUpDiag">
                <a:fgClr>
                  <a:srgbClr val="FF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kumimoji="0" lang="zh-CN" altLang="en-US" sz="105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69665" name="Text Box 17" descr="深色上对角线"/>
              <p:cNvSpPr txBox="1">
                <a:spLocks noChangeArrowheads="1"/>
              </p:cNvSpPr>
              <p:nvPr/>
            </p:nvSpPr>
            <p:spPr bwMode="auto">
              <a:xfrm>
                <a:off x="2699" y="1584"/>
                <a:ext cx="221" cy="771"/>
              </a:xfrm>
              <a:prstGeom prst="rect">
                <a:avLst/>
              </a:prstGeom>
              <a:pattFill prst="dkUpDiag">
                <a:fgClr>
                  <a:srgbClr val="FF00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kumimoji="0" lang="zh-CN" altLang="en-US" sz="105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p:grpSp>
        <p:grpSp>
          <p:nvGrpSpPr>
            <p:cNvPr id="32787" name="Group 18"/>
            <p:cNvGrpSpPr/>
            <p:nvPr/>
          </p:nvGrpSpPr>
          <p:grpSpPr bwMode="auto">
            <a:xfrm>
              <a:off x="4732" y="2338"/>
              <a:ext cx="960" cy="949"/>
              <a:chOff x="3360" y="1296"/>
              <a:chExt cx="960" cy="949"/>
            </a:xfrm>
          </p:grpSpPr>
          <p:sp>
            <p:nvSpPr>
              <p:cNvPr id="32788" name="Text Box 19"/>
              <p:cNvSpPr txBox="1">
                <a:spLocks noChangeArrowheads="1"/>
              </p:cNvSpPr>
              <p:nvPr/>
            </p:nvSpPr>
            <p:spPr bwMode="auto">
              <a:xfrm>
                <a:off x="3376" y="1296"/>
                <a:ext cx="704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latin typeface="Arial Unicode MS" pitchFamily="34" charset="-122"/>
                    <a:ea typeface="Arial Unicode MS" pitchFamily="34" charset="-122"/>
                  </a:rPr>
                  <a:t>Base table 2</a:t>
                </a:r>
                <a:endParaRPr kumimoji="0" lang="en-US" altLang="zh-CN" sz="1600" b="1">
                  <a:latin typeface="Arial Unicode MS" pitchFamily="34" charset="-122"/>
                  <a:ea typeface="Arial Unicode MS" pitchFamily="34" charset="-122"/>
                </a:endParaRPr>
              </a:p>
            </p:txBody>
          </p:sp>
          <p:sp>
            <p:nvSpPr>
              <p:cNvPr id="69655" name="Text Box 20"/>
              <p:cNvSpPr txBox="1">
                <a:spLocks noChangeArrowheads="1"/>
              </p:cNvSpPr>
              <p:nvPr/>
            </p:nvSpPr>
            <p:spPr bwMode="auto">
              <a:xfrm>
                <a:off x="3360" y="1584"/>
                <a:ext cx="960" cy="66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kumimoji="0" lang="zh-CN" altLang="en-US" sz="105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32790" name="Line 21"/>
              <p:cNvSpPr>
                <a:spLocks noChangeShapeType="1"/>
              </p:cNvSpPr>
              <p:nvPr/>
            </p:nvSpPr>
            <p:spPr bwMode="auto">
              <a:xfrm>
                <a:off x="3360" y="1694"/>
                <a:ext cx="960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1" name="Line 22"/>
              <p:cNvSpPr>
                <a:spLocks noChangeShapeType="1"/>
              </p:cNvSpPr>
              <p:nvPr/>
            </p:nvSpPr>
            <p:spPr bwMode="auto">
              <a:xfrm>
                <a:off x="3360" y="1803"/>
                <a:ext cx="960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2" name="Line 23"/>
              <p:cNvSpPr>
                <a:spLocks noChangeShapeType="1"/>
              </p:cNvSpPr>
              <p:nvPr/>
            </p:nvSpPr>
            <p:spPr bwMode="auto">
              <a:xfrm>
                <a:off x="3360" y="1914"/>
                <a:ext cx="96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3" name="Line 24"/>
              <p:cNvSpPr>
                <a:spLocks noChangeShapeType="1"/>
              </p:cNvSpPr>
              <p:nvPr/>
            </p:nvSpPr>
            <p:spPr bwMode="auto">
              <a:xfrm>
                <a:off x="3360" y="2024"/>
                <a:ext cx="96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Line 25"/>
              <p:cNvSpPr>
                <a:spLocks noChangeShapeType="1"/>
              </p:cNvSpPr>
              <p:nvPr/>
            </p:nvSpPr>
            <p:spPr bwMode="auto">
              <a:xfrm>
                <a:off x="3729" y="1584"/>
                <a:ext cx="1" cy="66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61" name="Text Box 26" descr="深色下对角线"/>
              <p:cNvSpPr txBox="1">
                <a:spLocks noChangeArrowheads="1"/>
              </p:cNvSpPr>
              <p:nvPr/>
            </p:nvSpPr>
            <p:spPr bwMode="auto">
              <a:xfrm>
                <a:off x="3360" y="1584"/>
                <a:ext cx="369" cy="661"/>
              </a:xfrm>
              <a:prstGeom prst="rect">
                <a:avLst/>
              </a:prstGeom>
              <a:pattFill prst="dkDnDiag">
                <a:fgClr>
                  <a:srgbClr val="0000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kumimoji="0" lang="zh-CN" altLang="en-US" sz="105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p:grpSp>
      </p:grpSp>
      <p:grpSp>
        <p:nvGrpSpPr>
          <p:cNvPr id="6" name="Group 27"/>
          <p:cNvGrpSpPr/>
          <p:nvPr/>
        </p:nvGrpSpPr>
        <p:grpSpPr bwMode="auto">
          <a:xfrm>
            <a:off x="2395538" y="642938"/>
            <a:ext cx="3468687" cy="3768725"/>
            <a:chOff x="3319" y="754"/>
            <a:chExt cx="1900" cy="1835"/>
          </a:xfrm>
        </p:grpSpPr>
        <p:sp>
          <p:nvSpPr>
            <p:cNvPr id="32772" name="Line 28"/>
            <p:cNvSpPr>
              <a:spLocks noChangeShapeType="1"/>
            </p:cNvSpPr>
            <p:nvPr/>
          </p:nvSpPr>
          <p:spPr bwMode="auto">
            <a:xfrm flipV="1">
              <a:off x="3319" y="1092"/>
              <a:ext cx="952" cy="149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3" name="Line 29"/>
            <p:cNvSpPr>
              <a:spLocks noChangeShapeType="1"/>
            </p:cNvSpPr>
            <p:nvPr/>
          </p:nvSpPr>
          <p:spPr bwMode="auto">
            <a:xfrm flipH="1" flipV="1">
              <a:off x="4540" y="1090"/>
              <a:ext cx="78" cy="148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4" name="Line 30"/>
            <p:cNvSpPr>
              <a:spLocks noChangeShapeType="1"/>
            </p:cNvSpPr>
            <p:nvPr/>
          </p:nvSpPr>
          <p:spPr bwMode="auto">
            <a:xfrm flipH="1" flipV="1">
              <a:off x="4780" y="1079"/>
              <a:ext cx="439" cy="14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75" name="Group 31"/>
            <p:cNvGrpSpPr/>
            <p:nvPr/>
          </p:nvGrpSpPr>
          <p:grpSpPr bwMode="auto">
            <a:xfrm>
              <a:off x="3436" y="754"/>
              <a:ext cx="1699" cy="331"/>
              <a:chOff x="1883" y="2795"/>
              <a:chExt cx="1699" cy="331"/>
            </a:xfrm>
          </p:grpSpPr>
          <p:sp>
            <p:nvSpPr>
              <p:cNvPr id="69643" name="Text Box 32"/>
              <p:cNvSpPr txBox="1">
                <a:spLocks noChangeArrowheads="1"/>
              </p:cNvSpPr>
              <p:nvPr/>
            </p:nvSpPr>
            <p:spPr bwMode="auto">
              <a:xfrm>
                <a:off x="2548" y="2795"/>
                <a:ext cx="1034" cy="33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kumimoji="0" lang="zh-CN" altLang="en-US" sz="105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32778" name="Line 33"/>
              <p:cNvSpPr>
                <a:spLocks noChangeShapeType="1"/>
              </p:cNvSpPr>
              <p:nvPr/>
            </p:nvSpPr>
            <p:spPr bwMode="auto">
              <a:xfrm>
                <a:off x="2548" y="2905"/>
                <a:ext cx="1034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9" name="Line 34"/>
              <p:cNvSpPr>
                <a:spLocks noChangeShapeType="1"/>
              </p:cNvSpPr>
              <p:nvPr/>
            </p:nvSpPr>
            <p:spPr bwMode="auto">
              <a:xfrm>
                <a:off x="2548" y="3016"/>
                <a:ext cx="103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0" name="Line 35"/>
              <p:cNvSpPr>
                <a:spLocks noChangeShapeType="1"/>
              </p:cNvSpPr>
              <p:nvPr/>
            </p:nvSpPr>
            <p:spPr bwMode="auto">
              <a:xfrm>
                <a:off x="2917" y="2795"/>
                <a:ext cx="1" cy="3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1" name="Line 36"/>
              <p:cNvSpPr>
                <a:spLocks noChangeShapeType="1"/>
              </p:cNvSpPr>
              <p:nvPr/>
            </p:nvSpPr>
            <p:spPr bwMode="auto">
              <a:xfrm>
                <a:off x="3138" y="2795"/>
                <a:ext cx="2" cy="3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48" name="Text Box 37" descr="深色上对角线"/>
              <p:cNvSpPr txBox="1">
                <a:spLocks noChangeArrowheads="1"/>
              </p:cNvSpPr>
              <p:nvPr/>
            </p:nvSpPr>
            <p:spPr bwMode="auto">
              <a:xfrm>
                <a:off x="2545" y="2795"/>
                <a:ext cx="370" cy="331"/>
              </a:xfrm>
              <a:prstGeom prst="rect">
                <a:avLst/>
              </a:prstGeom>
              <a:pattFill prst="dkUpDiag">
                <a:fgClr>
                  <a:srgbClr val="FF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kumimoji="0" lang="zh-CN" altLang="en-US" sz="105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69649" name="Text Box 38" descr="深色上对角线"/>
              <p:cNvSpPr txBox="1">
                <a:spLocks noChangeArrowheads="1"/>
              </p:cNvSpPr>
              <p:nvPr/>
            </p:nvSpPr>
            <p:spPr bwMode="auto">
              <a:xfrm>
                <a:off x="2917" y="2795"/>
                <a:ext cx="221" cy="331"/>
              </a:xfrm>
              <a:prstGeom prst="rect">
                <a:avLst/>
              </a:prstGeom>
              <a:pattFill prst="dkUpDiag">
                <a:fgClr>
                  <a:srgbClr val="FF00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kumimoji="0" lang="zh-CN" altLang="en-US" sz="105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69650" name="Text Box 39" descr="深色下对角线"/>
              <p:cNvSpPr txBox="1">
                <a:spLocks noChangeArrowheads="1"/>
              </p:cNvSpPr>
              <p:nvPr/>
            </p:nvSpPr>
            <p:spPr bwMode="auto">
              <a:xfrm>
                <a:off x="3138" y="2795"/>
                <a:ext cx="443" cy="331"/>
              </a:xfrm>
              <a:prstGeom prst="rect">
                <a:avLst/>
              </a:prstGeom>
              <a:pattFill prst="dkDnDiag">
                <a:fgClr>
                  <a:srgbClr val="0000FF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kumimoji="0" lang="zh-CN" altLang="en-US" sz="105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32785" name="Text Box 40"/>
              <p:cNvSpPr txBox="1">
                <a:spLocks noChangeArrowheads="1"/>
              </p:cNvSpPr>
              <p:nvPr/>
            </p:nvSpPr>
            <p:spPr bwMode="auto">
              <a:xfrm>
                <a:off x="1883" y="2795"/>
                <a:ext cx="591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tx2"/>
                  </a:buClr>
                  <a:buSzPct val="90000"/>
                  <a:buFont typeface="Monotype Sorts" pitchFamily="2" charset="2"/>
                  <a:buChar char="n"/>
                  <a:defRPr kumimoji="1" sz="28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hlink"/>
                  </a:buClr>
                  <a:buSzPct val="80000"/>
                  <a:buFont typeface="Monotype Sorts" pitchFamily="2" charset="2"/>
                  <a:buChar char="l"/>
                  <a:defRPr kumimoji="1" sz="24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33CC33"/>
                  </a:buClr>
                  <a:buSzPct val="75000"/>
                  <a:buFont typeface="Webdings" panose="05030102010509060703" pitchFamily="18" charset="2"/>
                  <a:buChar char="4"/>
                  <a:defRPr kumimoji="1" sz="20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Char char="»"/>
                  <a:defRPr kumimoji="1" sz="1600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latin typeface="Arial Unicode MS" pitchFamily="34" charset="-122"/>
                    <a:ea typeface="Arial Unicode MS" pitchFamily="34" charset="-122"/>
                  </a:rPr>
                  <a:t>View</a:t>
                </a:r>
                <a:endParaRPr kumimoji="0" lang="en-US" altLang="zh-CN" sz="2000" b="1">
                  <a:latin typeface="Arial Unicode MS" pitchFamily="34" charset="-122"/>
                  <a:ea typeface="Arial Unicode MS" pitchFamily="34" charset="-122"/>
                </a:endParaRPr>
              </a:p>
            </p:txBody>
          </p:sp>
        </p:grpSp>
        <p:sp>
          <p:nvSpPr>
            <p:cNvPr id="32776" name="Rectangle 41"/>
            <p:cNvSpPr>
              <a:spLocks noChangeArrowheads="1"/>
            </p:cNvSpPr>
            <p:nvPr/>
          </p:nvSpPr>
          <p:spPr bwMode="auto">
            <a:xfrm>
              <a:off x="4108" y="754"/>
              <a:ext cx="1025" cy="336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Arial Unicode MS" pitchFamily="34" charset="-122"/>
                <a:ea typeface="Arial Unicode MS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2595563"/>
            <a:ext cx="1882775" cy="117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Example Views</a:t>
            </a: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542925" y="1106488"/>
            <a:ext cx="8250238" cy="1798637"/>
          </a:xfrm>
        </p:spPr>
        <p:txBody>
          <a:bodyPr/>
          <a:lstStyle/>
          <a:p>
            <a:pPr eaLnBrk="1" hangingPunct="1">
              <a:spcBef>
                <a:spcPts val="600"/>
              </a:spcBef>
              <a:tabLst>
                <a:tab pos="1369695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A view of instructors without their salary</a:t>
            </a:r>
            <a:endParaRPr lang="en-US" altLang="zh-CN" sz="2400">
              <a:ea typeface="宋体" panose="02010600030101010101" pitchFamily="2" charset="-122"/>
            </a:endParaRPr>
          </a:p>
          <a:p>
            <a:pPr marL="400050" lvl="1" indent="0" eaLnBrk="1" hangingPunct="1">
              <a:spcBef>
                <a:spcPts val="600"/>
              </a:spcBef>
              <a:buFont typeface="Monotype Sorts" pitchFamily="2" charset="2"/>
              <a:buNone/>
              <a:tabLst>
                <a:tab pos="1369695" algn="l"/>
              </a:tabLst>
            </a:pP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kumimoji="0"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create view </a:t>
            </a:r>
            <a:r>
              <a:rPr kumimoji="0"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faculty </a:t>
            </a:r>
            <a:r>
              <a:rPr kumimoji="0"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as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b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kumimoji="0"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kumimoji="0"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kumimoji="0"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br>
              <a:rPr kumimoji="0"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kumimoji="0"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kumimoji="0"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69863"/>
            <a:ext cx="2438400" cy="397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1813" y="4252913"/>
            <a:ext cx="6602412" cy="17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spcBef>
                <a:spcPts val="600"/>
              </a:spcBef>
              <a:tabLst>
                <a:tab pos="1369695" algn="l"/>
              </a:tabLst>
              <a:defRPr/>
            </a:pPr>
            <a:r>
              <a:rPr lang="en-US" altLang="zh-CN" sz="2400" kern="0" dirty="0"/>
              <a:t>Find all instructors in the Biology department</a:t>
            </a:r>
            <a:endParaRPr lang="en-US" altLang="zh-CN" sz="2400" kern="0" dirty="0"/>
          </a:p>
          <a:p>
            <a:pPr marL="0" indent="0">
              <a:spcBef>
                <a:spcPts val="600"/>
              </a:spcBef>
              <a:buFont typeface="Monotype Sorts" pitchFamily="2" charset="2"/>
              <a:buNone/>
              <a:tabLst>
                <a:tab pos="1369695" algn="l"/>
              </a:tabLst>
              <a:defRPr/>
            </a:pPr>
            <a:r>
              <a:rPr lang="en-US" altLang="zh-CN" sz="2400" kern="0" dirty="0">
                <a:solidFill>
                  <a:srgbClr val="0000FF"/>
                </a:solidFill>
              </a:rPr>
              <a:t>	</a:t>
            </a:r>
            <a:r>
              <a:rPr lang="en-US" altLang="zh-CN" sz="2400" b="1" kern="0" dirty="0">
                <a:solidFill>
                  <a:srgbClr val="0000FF"/>
                </a:solidFill>
              </a:rPr>
              <a:t>select </a:t>
            </a:r>
            <a:r>
              <a:rPr lang="en-US" altLang="zh-CN" sz="2400" i="1" kern="0" dirty="0">
                <a:solidFill>
                  <a:srgbClr val="0000FF"/>
                </a:solidFill>
              </a:rPr>
              <a:t>name</a:t>
            </a:r>
            <a:br>
              <a:rPr lang="en-US" altLang="zh-CN" sz="2400" i="1" kern="0" dirty="0">
                <a:solidFill>
                  <a:srgbClr val="0000FF"/>
                </a:solidFill>
              </a:rPr>
            </a:br>
            <a:r>
              <a:rPr lang="en-US" altLang="zh-CN" sz="2400" i="1" kern="0" dirty="0">
                <a:solidFill>
                  <a:srgbClr val="0000FF"/>
                </a:solidFill>
              </a:rPr>
              <a:t> 	</a:t>
            </a:r>
            <a:r>
              <a:rPr lang="en-US" altLang="zh-CN" sz="2400" b="1" kern="0" dirty="0">
                <a:solidFill>
                  <a:srgbClr val="0000FF"/>
                </a:solidFill>
              </a:rPr>
              <a:t>from </a:t>
            </a:r>
            <a:r>
              <a:rPr lang="en-US" altLang="zh-CN" sz="2400" i="1" kern="0" dirty="0">
                <a:solidFill>
                  <a:srgbClr val="0000FF"/>
                </a:solidFill>
              </a:rPr>
              <a:t>faculty</a:t>
            </a:r>
            <a:br>
              <a:rPr lang="en-US" altLang="zh-CN" sz="2400" i="1" kern="0" dirty="0">
                <a:solidFill>
                  <a:srgbClr val="0000FF"/>
                </a:solidFill>
              </a:rPr>
            </a:br>
            <a:r>
              <a:rPr lang="en-US" altLang="zh-CN" sz="2400" i="1" kern="0" dirty="0">
                <a:solidFill>
                  <a:srgbClr val="0000FF"/>
                </a:solidFill>
              </a:rPr>
              <a:t> 	</a:t>
            </a:r>
            <a:r>
              <a:rPr lang="en-US" altLang="zh-CN" sz="2400" b="1" kern="0" dirty="0">
                <a:solidFill>
                  <a:srgbClr val="0000FF"/>
                </a:solidFill>
              </a:rPr>
              <a:t>where </a:t>
            </a:r>
            <a:r>
              <a:rPr lang="en-US" altLang="zh-CN" sz="2400" i="1" kern="0" dirty="0" err="1">
                <a:solidFill>
                  <a:srgbClr val="0000FF"/>
                </a:solidFill>
              </a:rPr>
              <a:t>dept_name</a:t>
            </a:r>
            <a:r>
              <a:rPr lang="en-US" altLang="zh-CN" sz="2400" i="1" kern="0" dirty="0">
                <a:solidFill>
                  <a:srgbClr val="0000FF"/>
                </a:solidFill>
              </a:rPr>
              <a:t> = </a:t>
            </a:r>
            <a:r>
              <a:rPr lang="en-US" altLang="zh-CN" sz="2400" kern="0" dirty="0">
                <a:solidFill>
                  <a:srgbClr val="0000FF"/>
                </a:solidFill>
              </a:rPr>
              <a:t>'Biology'</a:t>
            </a:r>
            <a:endParaRPr lang="en-US" altLang="zh-CN" sz="2400" kern="0" dirty="0"/>
          </a:p>
          <a:p>
            <a:pPr>
              <a:spcBef>
                <a:spcPts val="600"/>
              </a:spcBef>
              <a:tabLst>
                <a:tab pos="1369695" algn="l"/>
              </a:tabLst>
              <a:defRPr/>
            </a:pPr>
            <a:endParaRPr lang="en-US" altLang="zh-CN" sz="2400" kern="0" dirty="0"/>
          </a:p>
          <a:p>
            <a:pPr>
              <a:spcBef>
                <a:spcPts val="600"/>
              </a:spcBef>
              <a:tabLst>
                <a:tab pos="1369695" algn="l"/>
              </a:tabLst>
              <a:defRPr/>
            </a:pPr>
            <a:endParaRPr lang="en-US" altLang="zh-CN" sz="2400" kern="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838" y="5214938"/>
            <a:ext cx="77152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Example Views</a:t>
            </a: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spcBef>
                <a:spcPts val="600"/>
              </a:spcBef>
              <a:tabLst>
                <a:tab pos="1369695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Create a view of department salary totals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ts val="600"/>
              </a:spcBef>
              <a:buFont typeface="Monotype Sorts" pitchFamily="2" charset="2"/>
              <a:buNone/>
              <a:tabLst>
                <a:tab pos="1369695" algn="l"/>
              </a:tabLst>
            </a:pP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create view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departments_total_salary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as</a:t>
            </a:r>
            <a:b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       select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sum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) as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total_salary</a:t>
            </a:r>
            <a:b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group by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0" y="3067050"/>
            <a:ext cx="2409825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Views Defined Using Other Views</a:t>
            </a: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create view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physics_fall_2009</a:t>
            </a:r>
            <a:r>
              <a:rPr lang="en-US" altLang="zh-CN" sz="2000" i="1">
                <a:ea typeface="宋体" panose="02010600030101010101" pitchFamily="2" charset="-122"/>
              </a:rPr>
              <a:t> </a:t>
            </a:r>
            <a:r>
              <a:rPr lang="en-US" altLang="zh-CN" sz="2000" b="1">
                <a:ea typeface="宋体" panose="02010600030101010101" pitchFamily="2" charset="-122"/>
              </a:rPr>
              <a:t>as</a:t>
            </a:r>
            <a:br>
              <a:rPr lang="en-US" altLang="zh-CN" sz="2000" b="1">
                <a:ea typeface="宋体" panose="02010600030101010101" pitchFamily="2" charset="-122"/>
              </a:rPr>
            </a:br>
            <a:r>
              <a:rPr lang="en-US" altLang="zh-CN" sz="2000" b="1">
                <a:ea typeface="宋体" panose="02010600030101010101" pitchFamily="2" charset="-122"/>
              </a:rPr>
              <a:t>   select </a:t>
            </a:r>
            <a:r>
              <a:rPr lang="en-US" altLang="zh-CN" sz="2000" i="1">
                <a:ea typeface="宋体" panose="02010600030101010101" pitchFamily="2" charset="-122"/>
              </a:rPr>
              <a:t>course</a:t>
            </a:r>
            <a:r>
              <a:rPr lang="en-US" altLang="zh-CN" sz="2000">
                <a:ea typeface="宋体" panose="02010600030101010101" pitchFamily="2" charset="-122"/>
              </a:rPr>
              <a:t>.</a:t>
            </a:r>
            <a:r>
              <a:rPr lang="en-US" altLang="zh-CN" sz="2000" i="1">
                <a:ea typeface="宋体" panose="02010600030101010101" pitchFamily="2" charset="-122"/>
              </a:rPr>
              <a:t>course_id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 sz="2000" i="1">
                <a:ea typeface="宋体" panose="02010600030101010101" pitchFamily="2" charset="-122"/>
              </a:rPr>
              <a:t>sec_id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 sz="2000" i="1">
                <a:ea typeface="宋体" panose="02010600030101010101" pitchFamily="2" charset="-122"/>
              </a:rPr>
              <a:t>building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 sz="2000" i="1">
                <a:ea typeface="宋体" panose="02010600030101010101" pitchFamily="2" charset="-122"/>
              </a:rPr>
              <a:t>room_number</a:t>
            </a:r>
            <a:br>
              <a:rPr lang="en-US" altLang="zh-CN" sz="2000" i="1">
                <a:ea typeface="宋体" panose="02010600030101010101" pitchFamily="2" charset="-122"/>
              </a:rPr>
            </a:br>
            <a:r>
              <a:rPr lang="en-US" altLang="zh-CN" sz="2000" i="1">
                <a:ea typeface="宋体" panose="02010600030101010101" pitchFamily="2" charset="-122"/>
              </a:rPr>
              <a:t>   </a:t>
            </a:r>
            <a:r>
              <a:rPr lang="en-US" altLang="zh-CN" sz="2000" b="1"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ea typeface="宋体" panose="02010600030101010101" pitchFamily="2" charset="-122"/>
              </a:rPr>
              <a:t>course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 sz="2000" i="1">
                <a:ea typeface="宋体" panose="02010600030101010101" pitchFamily="2" charset="-122"/>
              </a:rPr>
              <a:t>section</a:t>
            </a:r>
            <a:br>
              <a:rPr lang="en-US" altLang="zh-CN" sz="2000" i="1">
                <a:ea typeface="宋体" panose="02010600030101010101" pitchFamily="2" charset="-122"/>
              </a:rPr>
            </a:br>
            <a:r>
              <a:rPr lang="en-US" altLang="zh-CN" sz="2000" i="1">
                <a:ea typeface="宋体" panose="02010600030101010101" pitchFamily="2" charset="-122"/>
              </a:rPr>
              <a:t>   </a:t>
            </a:r>
            <a:r>
              <a:rPr lang="en-US" altLang="zh-CN" sz="2000" b="1">
                <a:ea typeface="宋体" panose="02010600030101010101" pitchFamily="2" charset="-122"/>
              </a:rPr>
              <a:t>where </a:t>
            </a:r>
            <a:r>
              <a:rPr lang="en-US" altLang="zh-CN" sz="2000" i="1">
                <a:ea typeface="宋体" panose="02010600030101010101" pitchFamily="2" charset="-122"/>
              </a:rPr>
              <a:t>course</a:t>
            </a:r>
            <a:r>
              <a:rPr lang="en-US" altLang="zh-CN" sz="2000">
                <a:ea typeface="宋体" panose="02010600030101010101" pitchFamily="2" charset="-122"/>
              </a:rPr>
              <a:t>.</a:t>
            </a:r>
            <a:r>
              <a:rPr lang="en-US" altLang="zh-CN" sz="2000" i="1">
                <a:ea typeface="宋体" panose="02010600030101010101" pitchFamily="2" charset="-122"/>
              </a:rPr>
              <a:t>course_id </a:t>
            </a:r>
            <a:r>
              <a:rPr lang="en-US" altLang="zh-CN" sz="2000">
                <a:ea typeface="宋体" panose="02010600030101010101" pitchFamily="2" charset="-122"/>
              </a:rPr>
              <a:t>= </a:t>
            </a:r>
            <a:r>
              <a:rPr lang="en-US" altLang="zh-CN" sz="2000" i="1">
                <a:ea typeface="宋体" panose="02010600030101010101" pitchFamily="2" charset="-122"/>
              </a:rPr>
              <a:t>section</a:t>
            </a:r>
            <a:r>
              <a:rPr lang="en-US" altLang="zh-CN" sz="2000">
                <a:ea typeface="宋体" panose="02010600030101010101" pitchFamily="2" charset="-122"/>
              </a:rPr>
              <a:t>.</a:t>
            </a:r>
            <a:r>
              <a:rPr lang="en-US" altLang="zh-CN" sz="2000" i="1">
                <a:ea typeface="宋体" panose="02010600030101010101" pitchFamily="2" charset="-122"/>
              </a:rPr>
              <a:t>course_id</a:t>
            </a:r>
            <a:br>
              <a:rPr lang="en-US" altLang="zh-CN" sz="2000" i="1">
                <a:ea typeface="宋体" panose="02010600030101010101" pitchFamily="2" charset="-122"/>
              </a:rPr>
            </a:br>
            <a:r>
              <a:rPr lang="en-US" altLang="zh-CN" sz="2000" i="1">
                <a:ea typeface="宋体" panose="02010600030101010101" pitchFamily="2" charset="-122"/>
              </a:rPr>
              <a:t>              </a:t>
            </a:r>
            <a:r>
              <a:rPr lang="en-US" altLang="zh-CN" sz="2000" b="1">
                <a:ea typeface="宋体" panose="02010600030101010101" pitchFamily="2" charset="-122"/>
              </a:rPr>
              <a:t>and </a:t>
            </a:r>
            <a:r>
              <a:rPr lang="en-US" altLang="zh-CN" sz="2000" i="1">
                <a:ea typeface="宋体" panose="02010600030101010101" pitchFamily="2" charset="-122"/>
              </a:rPr>
              <a:t>course</a:t>
            </a:r>
            <a:r>
              <a:rPr lang="en-US" altLang="zh-CN" sz="2000">
                <a:ea typeface="宋体" panose="02010600030101010101" pitchFamily="2" charset="-122"/>
              </a:rPr>
              <a:t>.</a:t>
            </a:r>
            <a:r>
              <a:rPr lang="en-US" altLang="zh-CN" sz="2000" i="1">
                <a:ea typeface="宋体" panose="02010600030101010101" pitchFamily="2" charset="-122"/>
              </a:rPr>
              <a:t>dept_name </a:t>
            </a:r>
            <a:r>
              <a:rPr lang="en-US" altLang="zh-CN" sz="2000">
                <a:ea typeface="宋体" panose="02010600030101010101" pitchFamily="2" charset="-122"/>
              </a:rPr>
              <a:t>= ’Physics’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              </a:t>
            </a:r>
            <a:r>
              <a:rPr lang="en-US" altLang="zh-CN" sz="2000" b="1">
                <a:ea typeface="宋体" panose="02010600030101010101" pitchFamily="2" charset="-122"/>
              </a:rPr>
              <a:t>and </a:t>
            </a:r>
            <a:r>
              <a:rPr lang="en-US" altLang="zh-CN" sz="2000" i="1">
                <a:ea typeface="宋体" panose="02010600030101010101" pitchFamily="2" charset="-122"/>
              </a:rPr>
              <a:t>section</a:t>
            </a:r>
            <a:r>
              <a:rPr lang="en-US" altLang="zh-CN" sz="2000">
                <a:ea typeface="宋体" panose="02010600030101010101" pitchFamily="2" charset="-122"/>
              </a:rPr>
              <a:t>.</a:t>
            </a:r>
            <a:r>
              <a:rPr lang="en-US" altLang="zh-CN" sz="2000" i="1">
                <a:ea typeface="宋体" panose="02010600030101010101" pitchFamily="2" charset="-122"/>
              </a:rPr>
              <a:t>semester </a:t>
            </a:r>
            <a:r>
              <a:rPr lang="en-US" altLang="zh-CN" sz="2000">
                <a:ea typeface="宋体" panose="02010600030101010101" pitchFamily="2" charset="-122"/>
              </a:rPr>
              <a:t>= ’Fall’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              </a:t>
            </a:r>
            <a:r>
              <a:rPr lang="en-US" altLang="zh-CN" sz="2000" b="1">
                <a:ea typeface="宋体" panose="02010600030101010101" pitchFamily="2" charset="-122"/>
              </a:rPr>
              <a:t>and </a:t>
            </a:r>
            <a:r>
              <a:rPr lang="en-US" altLang="zh-CN" sz="2000" i="1">
                <a:ea typeface="宋体" panose="02010600030101010101" pitchFamily="2" charset="-122"/>
              </a:rPr>
              <a:t>section</a:t>
            </a:r>
            <a:r>
              <a:rPr lang="en-US" altLang="zh-CN" sz="2000">
                <a:ea typeface="宋体" panose="02010600030101010101" pitchFamily="2" charset="-122"/>
              </a:rPr>
              <a:t>.</a:t>
            </a:r>
            <a:r>
              <a:rPr lang="en-US" altLang="zh-CN" sz="2000" i="1">
                <a:ea typeface="宋体" panose="02010600030101010101" pitchFamily="2" charset="-122"/>
              </a:rPr>
              <a:t>year </a:t>
            </a:r>
            <a:r>
              <a:rPr lang="en-US" altLang="zh-CN" sz="2000">
                <a:ea typeface="宋体" panose="02010600030101010101" pitchFamily="2" charset="-122"/>
              </a:rPr>
              <a:t>= ’2009’;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endParaRPr lang="en-US" altLang="zh-CN" sz="2000" b="1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create view 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</a:rPr>
              <a:t>physics_fall_2009_watson</a:t>
            </a:r>
            <a:r>
              <a:rPr lang="en-US" altLang="zh-CN" sz="2000" i="1">
                <a:ea typeface="宋体" panose="02010600030101010101" pitchFamily="2" charset="-122"/>
              </a:rPr>
              <a:t> </a:t>
            </a:r>
            <a:r>
              <a:rPr lang="en-US" altLang="zh-CN" sz="2000" b="1">
                <a:ea typeface="宋体" panose="02010600030101010101" pitchFamily="2" charset="-122"/>
              </a:rPr>
              <a:t>as</a:t>
            </a:r>
            <a:br>
              <a:rPr lang="en-US" altLang="zh-CN" sz="2000" b="1">
                <a:ea typeface="宋体" panose="02010600030101010101" pitchFamily="2" charset="-122"/>
              </a:rPr>
            </a:br>
            <a:r>
              <a:rPr lang="en-US" altLang="zh-CN" sz="2000" b="1">
                <a:ea typeface="宋体" panose="02010600030101010101" pitchFamily="2" charset="-122"/>
              </a:rPr>
              <a:t>    select </a:t>
            </a:r>
            <a:r>
              <a:rPr lang="en-US" altLang="zh-CN" sz="2000" i="1">
                <a:ea typeface="宋体" panose="02010600030101010101" pitchFamily="2" charset="-122"/>
              </a:rPr>
              <a:t>course_id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 sz="2000" i="1">
                <a:ea typeface="宋体" panose="02010600030101010101" pitchFamily="2" charset="-122"/>
              </a:rPr>
              <a:t>room_number</a:t>
            </a:r>
            <a:br>
              <a:rPr lang="en-US" altLang="zh-CN" sz="2000" i="1">
                <a:ea typeface="宋体" panose="02010600030101010101" pitchFamily="2" charset="-122"/>
              </a:rPr>
            </a:br>
            <a:r>
              <a:rPr lang="en-US" altLang="zh-CN" sz="2000" i="1">
                <a:ea typeface="宋体" panose="02010600030101010101" pitchFamily="2" charset="-122"/>
              </a:rPr>
              <a:t>    </a:t>
            </a:r>
            <a:r>
              <a:rPr lang="en-US" altLang="zh-CN" sz="2000" b="1"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physics_fall_2009</a:t>
            </a:r>
            <a:br>
              <a:rPr lang="en-US" altLang="zh-CN" sz="2000" i="1">
                <a:ea typeface="宋体" panose="02010600030101010101" pitchFamily="2" charset="-122"/>
              </a:rPr>
            </a:br>
            <a:r>
              <a:rPr lang="en-US" altLang="zh-CN" sz="2000" i="1">
                <a:ea typeface="宋体" panose="02010600030101010101" pitchFamily="2" charset="-122"/>
              </a:rPr>
              <a:t>    </a:t>
            </a:r>
            <a:r>
              <a:rPr lang="en-US" altLang="zh-CN" sz="2000" b="1">
                <a:ea typeface="宋体" panose="02010600030101010101" pitchFamily="2" charset="-122"/>
              </a:rPr>
              <a:t>where </a:t>
            </a:r>
            <a:r>
              <a:rPr lang="en-US" altLang="zh-CN" sz="2000" i="1">
                <a:ea typeface="宋体" panose="02010600030101010101" pitchFamily="2" charset="-122"/>
              </a:rPr>
              <a:t>building</a:t>
            </a:r>
            <a:r>
              <a:rPr lang="en-US" altLang="zh-CN" sz="2000">
                <a:ea typeface="宋体" panose="02010600030101010101" pitchFamily="2" charset="-122"/>
              </a:rPr>
              <a:t>= ’Watson’;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850" y="1755775"/>
            <a:ext cx="2354263" cy="202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3948113"/>
            <a:ext cx="2347913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View Expansion</a:t>
            </a: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Expand use of a view in a query/another view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577850" y="2125663"/>
            <a:ext cx="7551738" cy="386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</a:rPr>
              <a:t>create view </a:t>
            </a:r>
            <a:r>
              <a:rPr kumimoji="0" lang="en-US" altLang="zh-CN" sz="2000" i="1">
                <a:solidFill>
                  <a:srgbClr val="0000FF"/>
                </a:solidFill>
              </a:rPr>
              <a:t>physics_fall_2009_watson </a:t>
            </a:r>
            <a:r>
              <a:rPr kumimoji="0" lang="en-US" altLang="zh-CN" sz="2000" b="1">
                <a:solidFill>
                  <a:srgbClr val="0000FF"/>
                </a:solidFill>
              </a:rPr>
              <a:t>as</a:t>
            </a:r>
            <a:endParaRPr kumimoji="0" lang="en-US" altLang="zh-CN" sz="2000" b="1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0000FF"/>
                </a:solidFill>
              </a:rPr>
              <a:t>	(</a:t>
            </a:r>
            <a:r>
              <a:rPr kumimoji="0" lang="en-US" altLang="zh-CN" sz="2000" b="1">
                <a:solidFill>
                  <a:srgbClr val="0000FF"/>
                </a:solidFill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</a:rPr>
              <a:t>course_id</a:t>
            </a:r>
            <a:r>
              <a:rPr kumimoji="0" lang="en-US" altLang="zh-CN" sz="2000">
                <a:solidFill>
                  <a:srgbClr val="0000FF"/>
                </a:solidFill>
              </a:rPr>
              <a:t>, </a:t>
            </a:r>
            <a:r>
              <a:rPr kumimoji="0" lang="en-US" altLang="zh-CN" sz="2000" i="1">
                <a:solidFill>
                  <a:srgbClr val="0000FF"/>
                </a:solidFill>
              </a:rPr>
              <a:t>room_number</a:t>
            </a:r>
            <a:endParaRPr kumimoji="0" lang="en-US" altLang="zh-CN" sz="2000" i="1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</a:rPr>
              <a:t>	from </a:t>
            </a:r>
            <a:r>
              <a:rPr kumimoji="0" lang="en-US" altLang="zh-CN" sz="2000">
                <a:solidFill>
                  <a:srgbClr val="0000FF"/>
                </a:solidFill>
              </a:rPr>
              <a:t>(	</a:t>
            </a:r>
            <a:r>
              <a:rPr kumimoji="0" lang="en-US" altLang="zh-CN" sz="2000" b="1">
                <a:solidFill>
                  <a:srgbClr val="0000FF"/>
                </a:solidFill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</a:rPr>
              <a:t>course</a:t>
            </a:r>
            <a:r>
              <a:rPr kumimoji="0" lang="en-US" altLang="zh-CN" sz="2000">
                <a:solidFill>
                  <a:srgbClr val="0000FF"/>
                </a:solidFill>
              </a:rPr>
              <a:t>.</a:t>
            </a:r>
            <a:r>
              <a:rPr kumimoji="0" lang="en-US" altLang="zh-CN" sz="2000" i="1">
                <a:solidFill>
                  <a:srgbClr val="0000FF"/>
                </a:solidFill>
              </a:rPr>
              <a:t>course_id</a:t>
            </a:r>
            <a:r>
              <a:rPr kumimoji="0" lang="en-US" altLang="zh-CN" sz="2000">
                <a:solidFill>
                  <a:srgbClr val="0000FF"/>
                </a:solidFill>
              </a:rPr>
              <a:t>, </a:t>
            </a:r>
            <a:r>
              <a:rPr kumimoji="0" lang="en-US" altLang="zh-CN" sz="2000" i="1">
                <a:solidFill>
                  <a:srgbClr val="0000FF"/>
                </a:solidFill>
              </a:rPr>
              <a:t>building</a:t>
            </a:r>
            <a:r>
              <a:rPr kumimoji="0" lang="en-US" altLang="zh-CN" sz="2000">
                <a:solidFill>
                  <a:srgbClr val="0000FF"/>
                </a:solidFill>
              </a:rPr>
              <a:t>, </a:t>
            </a:r>
            <a:r>
              <a:rPr kumimoji="0" lang="en-US" altLang="zh-CN" sz="2000" i="1">
                <a:solidFill>
                  <a:srgbClr val="0000FF"/>
                </a:solidFill>
              </a:rPr>
              <a:t>room_number</a:t>
            </a:r>
            <a:endParaRPr kumimoji="0" lang="en-US" altLang="zh-CN" sz="2000" i="1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</a:rPr>
              <a:t>          		from </a:t>
            </a:r>
            <a:r>
              <a:rPr kumimoji="0" lang="en-US" altLang="zh-CN" sz="2000" i="1">
                <a:solidFill>
                  <a:srgbClr val="0000FF"/>
                </a:solidFill>
              </a:rPr>
              <a:t>course</a:t>
            </a:r>
            <a:r>
              <a:rPr kumimoji="0" lang="en-US" altLang="zh-CN" sz="2000">
                <a:solidFill>
                  <a:srgbClr val="0000FF"/>
                </a:solidFill>
              </a:rPr>
              <a:t>, </a:t>
            </a:r>
            <a:r>
              <a:rPr kumimoji="0" lang="en-US" altLang="zh-CN" sz="2000" i="1">
                <a:solidFill>
                  <a:srgbClr val="0000FF"/>
                </a:solidFill>
              </a:rPr>
              <a:t>section</a:t>
            </a:r>
            <a:endParaRPr kumimoji="0" lang="en-US" altLang="zh-CN" sz="2000" i="1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</a:rPr>
              <a:t>          		where </a:t>
            </a:r>
            <a:r>
              <a:rPr kumimoji="0" lang="en-US" altLang="zh-CN" sz="2000" i="1">
                <a:solidFill>
                  <a:srgbClr val="0000FF"/>
                </a:solidFill>
              </a:rPr>
              <a:t>course</a:t>
            </a:r>
            <a:r>
              <a:rPr kumimoji="0" lang="en-US" altLang="zh-CN" sz="2000">
                <a:solidFill>
                  <a:srgbClr val="0000FF"/>
                </a:solidFill>
              </a:rPr>
              <a:t>.</a:t>
            </a:r>
            <a:r>
              <a:rPr kumimoji="0" lang="en-US" altLang="zh-CN" sz="2000" i="1">
                <a:solidFill>
                  <a:srgbClr val="0000FF"/>
                </a:solidFill>
              </a:rPr>
              <a:t>course_id </a:t>
            </a:r>
            <a:r>
              <a:rPr kumimoji="0" lang="en-US" altLang="zh-CN" sz="2000">
                <a:solidFill>
                  <a:srgbClr val="0000FF"/>
                </a:solidFill>
              </a:rPr>
              <a:t>= </a:t>
            </a:r>
            <a:r>
              <a:rPr kumimoji="0" lang="en-US" altLang="zh-CN" sz="2000" i="1">
                <a:solidFill>
                  <a:srgbClr val="0000FF"/>
                </a:solidFill>
              </a:rPr>
              <a:t>section</a:t>
            </a:r>
            <a:r>
              <a:rPr kumimoji="0" lang="en-US" altLang="zh-CN" sz="2000">
                <a:solidFill>
                  <a:srgbClr val="0000FF"/>
                </a:solidFill>
              </a:rPr>
              <a:t>.</a:t>
            </a:r>
            <a:r>
              <a:rPr kumimoji="0" lang="en-US" altLang="zh-CN" sz="2000" i="1">
                <a:solidFill>
                  <a:srgbClr val="0000FF"/>
                </a:solidFill>
              </a:rPr>
              <a:t>course_id</a:t>
            </a:r>
            <a:endParaRPr kumimoji="0" lang="en-US" altLang="zh-CN" sz="2000" i="1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</a:rPr>
              <a:t>              		 and </a:t>
            </a:r>
            <a:r>
              <a:rPr kumimoji="0" lang="en-US" altLang="zh-CN" sz="2000" i="1">
                <a:solidFill>
                  <a:srgbClr val="0000FF"/>
                </a:solidFill>
              </a:rPr>
              <a:t>course</a:t>
            </a:r>
            <a:r>
              <a:rPr kumimoji="0" lang="en-US" altLang="zh-CN" sz="2000">
                <a:solidFill>
                  <a:srgbClr val="0000FF"/>
                </a:solidFill>
              </a:rPr>
              <a:t>.</a:t>
            </a:r>
            <a:r>
              <a:rPr kumimoji="0" lang="en-US" altLang="zh-CN" sz="2000" i="1">
                <a:solidFill>
                  <a:srgbClr val="0000FF"/>
                </a:solidFill>
              </a:rPr>
              <a:t>dept_name </a:t>
            </a:r>
            <a:r>
              <a:rPr kumimoji="0" lang="en-US" altLang="zh-CN" sz="2000">
                <a:solidFill>
                  <a:srgbClr val="0000FF"/>
                </a:solidFill>
              </a:rPr>
              <a:t>= ’Physics’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</a:rPr>
              <a:t>              		 and </a:t>
            </a:r>
            <a:r>
              <a:rPr kumimoji="0" lang="en-US" altLang="zh-CN" sz="2000" i="1">
                <a:solidFill>
                  <a:srgbClr val="0000FF"/>
                </a:solidFill>
              </a:rPr>
              <a:t>section</a:t>
            </a:r>
            <a:r>
              <a:rPr kumimoji="0" lang="en-US" altLang="zh-CN" sz="2000">
                <a:solidFill>
                  <a:srgbClr val="0000FF"/>
                </a:solidFill>
              </a:rPr>
              <a:t>.</a:t>
            </a:r>
            <a:r>
              <a:rPr kumimoji="0" lang="en-US" altLang="zh-CN" sz="2000" i="1">
                <a:solidFill>
                  <a:srgbClr val="0000FF"/>
                </a:solidFill>
              </a:rPr>
              <a:t>semester </a:t>
            </a:r>
            <a:r>
              <a:rPr kumimoji="0" lang="en-US" altLang="zh-CN" sz="2000">
                <a:solidFill>
                  <a:srgbClr val="0000FF"/>
                </a:solidFill>
              </a:rPr>
              <a:t>= ’Fall’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</a:rPr>
              <a:t>              		 and </a:t>
            </a:r>
            <a:r>
              <a:rPr kumimoji="0" lang="en-US" altLang="zh-CN" sz="2000" i="1">
                <a:solidFill>
                  <a:srgbClr val="0000FF"/>
                </a:solidFill>
              </a:rPr>
              <a:t>section</a:t>
            </a:r>
            <a:r>
              <a:rPr kumimoji="0" lang="en-US" altLang="zh-CN" sz="2000">
                <a:solidFill>
                  <a:srgbClr val="0000FF"/>
                </a:solidFill>
              </a:rPr>
              <a:t>.</a:t>
            </a:r>
            <a:r>
              <a:rPr kumimoji="0" lang="en-US" altLang="zh-CN" sz="2000" i="1">
                <a:solidFill>
                  <a:srgbClr val="0000FF"/>
                </a:solidFill>
              </a:rPr>
              <a:t>year </a:t>
            </a:r>
            <a:r>
              <a:rPr kumimoji="0" lang="en-US" altLang="zh-CN" sz="2000">
                <a:solidFill>
                  <a:srgbClr val="0000FF"/>
                </a:solidFill>
              </a:rPr>
              <a:t>= ’2009’)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</a:rPr>
              <a:t>	where </a:t>
            </a:r>
            <a:r>
              <a:rPr kumimoji="0" lang="en-US" altLang="zh-CN" sz="2000" i="1">
                <a:solidFill>
                  <a:srgbClr val="0000FF"/>
                </a:solidFill>
              </a:rPr>
              <a:t>building</a:t>
            </a:r>
            <a:r>
              <a:rPr kumimoji="0" lang="en-US" altLang="zh-CN" sz="2000">
                <a:solidFill>
                  <a:srgbClr val="0000FF"/>
                </a:solidFill>
              </a:rPr>
              <a:t>= ’Watson’;)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endParaRPr kumimoji="0" lang="en-US" altLang="zh-CN" sz="2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Views Defined Using Other Views</a:t>
            </a: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One view may be used in the expression defining another view 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A view relation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1</a:t>
            </a:r>
            <a:r>
              <a:rPr lang="en-US" altLang="zh-CN" sz="2400">
                <a:ea typeface="宋体" panose="02010600030101010101" pitchFamily="2" charset="-122"/>
              </a:rPr>
              <a:t> is said to </a:t>
            </a:r>
            <a:r>
              <a:rPr lang="en-US" altLang="zh-CN" sz="2400" i="1">
                <a:solidFill>
                  <a:srgbClr val="000099"/>
                </a:solidFill>
                <a:ea typeface="宋体" panose="02010600030101010101" pitchFamily="2" charset="-122"/>
              </a:rPr>
              <a:t>depend directly</a:t>
            </a:r>
            <a:r>
              <a:rPr lang="en-US" altLang="zh-CN" sz="2400" i="1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on a view relation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i="1" baseline="-25000">
                <a:ea typeface="宋体" panose="02010600030101010101" pitchFamily="2" charset="-122"/>
              </a:rPr>
              <a:t>2</a:t>
            </a:r>
            <a:r>
              <a:rPr lang="en-US" altLang="zh-CN" sz="2400" i="1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 if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2</a:t>
            </a:r>
            <a:r>
              <a:rPr lang="en-US" altLang="zh-CN" sz="2400">
                <a:ea typeface="宋体" panose="02010600030101010101" pitchFamily="2" charset="-122"/>
              </a:rPr>
              <a:t> is used in the expression defining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1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A view relation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1</a:t>
            </a:r>
            <a:r>
              <a:rPr lang="en-US" altLang="zh-CN" sz="2400">
                <a:ea typeface="宋体" panose="02010600030101010101" pitchFamily="2" charset="-122"/>
              </a:rPr>
              <a:t> is said to </a:t>
            </a:r>
            <a:r>
              <a:rPr lang="en-US" altLang="zh-CN" sz="2400" i="1">
                <a:solidFill>
                  <a:srgbClr val="000099"/>
                </a:solidFill>
                <a:ea typeface="宋体" panose="02010600030101010101" pitchFamily="2" charset="-122"/>
              </a:rPr>
              <a:t>depend on</a:t>
            </a:r>
            <a:r>
              <a:rPr lang="en-US" altLang="zh-CN" sz="2400">
                <a:ea typeface="宋体" panose="02010600030101010101" pitchFamily="2" charset="-122"/>
              </a:rPr>
              <a:t> view relation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i="1" baseline="-25000">
                <a:ea typeface="宋体" panose="02010600030101010101" pitchFamily="2" charset="-122"/>
              </a:rPr>
              <a:t>2</a:t>
            </a:r>
            <a:r>
              <a:rPr lang="en-US" altLang="zh-CN" sz="2400" i="1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if either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1 </a:t>
            </a:r>
            <a:r>
              <a:rPr lang="en-US" altLang="zh-CN" sz="2400">
                <a:ea typeface="宋体" panose="02010600030101010101" pitchFamily="2" charset="-122"/>
              </a:rPr>
              <a:t>depends directly to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2 </a:t>
            </a:r>
            <a:r>
              <a:rPr lang="en-US" altLang="zh-CN" sz="2400">
                <a:ea typeface="宋体" panose="02010600030101010101" pitchFamily="2" charset="-122"/>
              </a:rPr>
              <a:t> or there is a path of dependencies from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1</a:t>
            </a:r>
            <a:r>
              <a:rPr lang="en-US" altLang="zh-CN" sz="2400">
                <a:ea typeface="宋体" panose="02010600030101010101" pitchFamily="2" charset="-122"/>
              </a:rPr>
              <a:t> to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2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A view relation </a:t>
            </a:r>
            <a:r>
              <a:rPr lang="en-US" altLang="zh-CN" sz="2400" i="1">
                <a:ea typeface="宋体" panose="02010600030101010101" pitchFamily="2" charset="-122"/>
              </a:rPr>
              <a:t>v</a:t>
            </a:r>
            <a:r>
              <a:rPr lang="en-US" altLang="zh-CN" sz="2400">
                <a:ea typeface="宋体" panose="02010600030101010101" pitchFamily="2" charset="-122"/>
              </a:rPr>
              <a:t> is said to be </a:t>
            </a:r>
            <a:r>
              <a:rPr lang="en-US" altLang="zh-CN" sz="2400" i="1">
                <a:solidFill>
                  <a:srgbClr val="000099"/>
                </a:solidFill>
                <a:ea typeface="宋体" panose="02010600030101010101" pitchFamily="2" charset="-122"/>
              </a:rPr>
              <a:t>recursive</a:t>
            </a:r>
            <a:r>
              <a:rPr lang="en-US" altLang="zh-CN" sz="2400" i="1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 if it depends on itself.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View Expansion</a:t>
            </a: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68072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A way to define the meaning of views defined in terms of other views.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tabLst>
                <a:tab pos="68072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Let view </a:t>
            </a:r>
            <a:r>
              <a:rPr lang="en-US" altLang="zh-CN" sz="2000" i="1">
                <a:ea typeface="宋体" panose="02010600030101010101" pitchFamily="2" charset="-122"/>
              </a:rPr>
              <a:t>v</a:t>
            </a:r>
            <a:r>
              <a:rPr lang="en-US" altLang="zh-CN" sz="21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 be defined by an expression </a:t>
            </a:r>
            <a:r>
              <a:rPr lang="en-US" altLang="zh-CN" sz="2000" i="1">
                <a:ea typeface="宋体" panose="02010600030101010101" pitchFamily="2" charset="-122"/>
              </a:rPr>
              <a:t>e</a:t>
            </a:r>
            <a:r>
              <a:rPr lang="en-US" altLang="zh-CN" sz="21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 that may itself contain uses of view relations.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tabLst>
                <a:tab pos="68072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View expansion of an expression repeats the following replacement step: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680720" algn="l"/>
              </a:tabLst>
            </a:pPr>
            <a:r>
              <a:rPr lang="en-US" altLang="zh-CN">
                <a:ea typeface="宋体" panose="02010600030101010101" pitchFamily="2" charset="-122"/>
              </a:rPr>
              <a:t>	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repeat</a:t>
            </a:r>
            <a:b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Find any view relation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100" i="1" baseline="-25000">
                <a:solidFill>
                  <a:srgbClr val="0000FF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in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1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		Replace the view relation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100" i="1" baseline="-25000">
                <a:solidFill>
                  <a:srgbClr val="0000FF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by the expression defining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solidFill>
                  <a:srgbClr val="0000FF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1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until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no more view relations are present in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1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endParaRPr lang="en-US" altLang="zh-CN" sz="19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68072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As long as the view definitions are not recursive, this loop will terminate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Update of a View</a:t>
            </a: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085850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Add a new tuple to </a:t>
            </a:r>
            <a:r>
              <a:rPr lang="en-US" altLang="zh-CN" sz="2400" i="1">
                <a:ea typeface="宋体" panose="02010600030101010101" pitchFamily="2" charset="-122"/>
              </a:rPr>
              <a:t>faculty </a:t>
            </a:r>
            <a:r>
              <a:rPr lang="en-US" altLang="zh-CN" sz="2400">
                <a:ea typeface="宋体" panose="02010600030101010101" pitchFamily="2" charset="-122"/>
              </a:rPr>
              <a:t>view which we defined earlier</a:t>
            </a:r>
            <a:endParaRPr lang="en-US" altLang="zh-CN" sz="2400" b="1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085850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	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insert into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faculty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values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('30765', 'Green', 'Music');</a:t>
            </a:r>
            <a:endParaRPr lang="en-US" altLang="zh-CN" sz="24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085850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	This insertion must be represented by the insertion of the tuple</a:t>
            </a:r>
            <a:endParaRPr lang="en-US" altLang="zh-CN" sz="2400" b="1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085850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			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('30765', 'Green', 'Music', null)</a:t>
            </a:r>
            <a:endParaRPr lang="en-US" altLang="zh-CN" sz="24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085850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	into the </a:t>
            </a:r>
            <a:r>
              <a:rPr lang="en-US" altLang="zh-CN" sz="2400" i="1">
                <a:ea typeface="宋体" panose="02010600030101010101" pitchFamily="2" charset="-122"/>
              </a:rPr>
              <a:t>instructor</a:t>
            </a:r>
            <a:r>
              <a:rPr lang="en-US" altLang="zh-CN" sz="2400">
                <a:ea typeface="宋体" panose="02010600030101010101" pitchFamily="2" charset="-122"/>
              </a:rPr>
              <a:t> relation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Some Updates cannot be Translated Uniquely</a:t>
            </a:r>
            <a:endParaRPr lang="en-US" sz="280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view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departments_total_salary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as</a:t>
            </a:r>
            <a:b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select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sum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 as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total_salary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group by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insert into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departments_total_salary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values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(‘Biology', 111000);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spcBef>
                <a:spcPts val="1200"/>
              </a:spcBef>
            </a:pPr>
            <a:r>
              <a:rPr lang="en-US" altLang="zh-CN">
                <a:ea typeface="宋体" panose="02010600030101010101" pitchFamily="2" charset="-122"/>
              </a:rPr>
              <a:t>How it works?</a:t>
            </a:r>
            <a:endParaRPr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000">
                <a:ea typeface="宋体" panose="02010600030101010101" pitchFamily="2" charset="-122"/>
              </a:rPr>
              <a:t>Most SQL implementations allow updates only on simple views 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>
                <a:ea typeface="宋体" panose="02010600030101010101" pitchFamily="2" charset="-122"/>
              </a:rPr>
              <a:t>The </a:t>
            </a:r>
            <a:r>
              <a:rPr lang="en-US" altLang="zh-CN" sz="2000" b="1">
                <a:ea typeface="宋体" panose="02010600030101010101" pitchFamily="2" charset="-122"/>
              </a:rPr>
              <a:t>from </a:t>
            </a:r>
            <a:r>
              <a:rPr lang="en-US" altLang="zh-CN" sz="2000">
                <a:ea typeface="宋体" panose="02010600030101010101" pitchFamily="2" charset="-122"/>
              </a:rPr>
              <a:t>clause has only one database relation.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>
                <a:ea typeface="宋体" panose="02010600030101010101" pitchFamily="2" charset="-122"/>
              </a:rPr>
              <a:t>The </a:t>
            </a:r>
            <a:r>
              <a:rPr lang="en-US" altLang="zh-CN" sz="2000" b="1">
                <a:ea typeface="宋体" panose="02010600030101010101" pitchFamily="2" charset="-122"/>
              </a:rPr>
              <a:t>select </a:t>
            </a:r>
            <a:r>
              <a:rPr lang="en-US" altLang="zh-CN" sz="2000">
                <a:ea typeface="宋体" panose="02010600030101010101" pitchFamily="2" charset="-122"/>
              </a:rPr>
              <a:t>clause contains only attribute names of the relation, and does not have any expressions, aggregates, or </a:t>
            </a:r>
            <a:r>
              <a:rPr lang="en-US" altLang="zh-CN" sz="2000" b="1">
                <a:ea typeface="宋体" panose="02010600030101010101" pitchFamily="2" charset="-122"/>
              </a:rPr>
              <a:t>distinct </a:t>
            </a:r>
            <a:r>
              <a:rPr lang="en-US" altLang="zh-CN" sz="2000">
                <a:ea typeface="宋体" panose="02010600030101010101" pitchFamily="2" charset="-122"/>
              </a:rPr>
              <a:t>specification.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>
                <a:ea typeface="宋体" panose="02010600030101010101" pitchFamily="2" charset="-122"/>
              </a:rPr>
              <a:t>Any attribute not listed in the </a:t>
            </a:r>
            <a:r>
              <a:rPr lang="en-US" altLang="zh-CN" sz="2000" b="1">
                <a:ea typeface="宋体" panose="02010600030101010101" pitchFamily="2" charset="-122"/>
              </a:rPr>
              <a:t>select </a:t>
            </a:r>
            <a:r>
              <a:rPr lang="en-US" altLang="zh-CN" sz="2000">
                <a:ea typeface="宋体" panose="02010600030101010101" pitchFamily="2" charset="-122"/>
              </a:rPr>
              <a:t>clause can be set to null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>
                <a:ea typeface="宋体" panose="02010600030101010101" pitchFamily="2" charset="-122"/>
              </a:rPr>
              <a:t>The query does not have a </a:t>
            </a:r>
            <a:r>
              <a:rPr lang="en-US" altLang="zh-CN" sz="2000" b="1">
                <a:ea typeface="宋体" panose="02010600030101010101" pitchFamily="2" charset="-122"/>
              </a:rPr>
              <a:t>group </a:t>
            </a:r>
            <a:r>
              <a:rPr lang="en-US" altLang="zh-CN" sz="2000">
                <a:ea typeface="宋体" panose="02010600030101010101" pitchFamily="2" charset="-122"/>
              </a:rPr>
              <a:t>by or </a:t>
            </a:r>
            <a:r>
              <a:rPr lang="en-US" altLang="zh-CN" sz="2000" b="1">
                <a:ea typeface="宋体" panose="02010600030101010101" pitchFamily="2" charset="-122"/>
              </a:rPr>
              <a:t>having </a:t>
            </a:r>
            <a:r>
              <a:rPr lang="en-US" altLang="zh-CN" sz="2000">
                <a:ea typeface="宋体" panose="02010600030101010101" pitchFamily="2" charset="-122"/>
              </a:rPr>
              <a:t>clause.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为什么需要视图（视图的优点）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核心作用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1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：控制数据访问权限，保障数据安全</a:t>
            </a:r>
            <a:endParaRPr lang="zh-CN" altLang="en-US" b="1" i="0" dirty="0">
              <a:solidFill>
                <a:srgbClr val="000000"/>
              </a:solidFill>
              <a:effectLst/>
              <a:latin typeface="Inter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数据库中常存在敏感数据（如用户身份证号、员工薪资、客户联系方式），但不同角色（如普通员工、管理员、外部合作方）对数据的访问需求不同。视图是实现 “精细化权限控制” 的核心工具，避免直接暴露基础表的全部数据。</a:t>
            </a:r>
            <a:endParaRPr lang="zh-CN" altLang="en-US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FF0000"/>
                </a:solidFill>
              </a:rPr>
              <a:t>场景示例：某公司的 “员工表” 包含员工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>
                <a:solidFill>
                  <a:srgbClr val="FF0000"/>
                </a:solidFill>
              </a:rPr>
              <a:t>、姓名、部门、薪资、身份证号</a:t>
            </a:r>
            <a:r>
              <a:rPr lang="en-US" altLang="zh-CN" dirty="0">
                <a:solidFill>
                  <a:srgbClr val="FF0000"/>
                </a:solidFill>
              </a:rPr>
              <a:t>5 </a:t>
            </a:r>
            <a:r>
              <a:rPr lang="zh-CN" altLang="en-US" dirty="0">
                <a:solidFill>
                  <a:srgbClr val="FF0000"/>
                </a:solidFill>
              </a:rPr>
              <a:t>个字段。</a:t>
            </a:r>
            <a:endParaRPr lang="zh-CN" altLang="en-US" dirty="0">
              <a:solidFill>
                <a:srgbClr val="FF0000"/>
              </a:solidFill>
            </a:endParaRP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给部门主管的权限：需查看本部门员工的</a:t>
            </a:r>
            <a:r>
              <a:rPr lang="en-US" altLang="zh-CN" dirty="0"/>
              <a:t>ID</a:t>
            </a:r>
            <a:r>
              <a:rPr lang="zh-CN" altLang="en-US" dirty="0"/>
              <a:t>、姓名、部门，但不能看薪资、身份证号；</a:t>
            </a:r>
            <a:endParaRPr lang="zh-CN" altLang="en-US" dirty="0"/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给 </a:t>
            </a:r>
            <a:r>
              <a:rPr lang="en-US" altLang="zh-CN" dirty="0"/>
              <a:t>HR </a:t>
            </a:r>
            <a:r>
              <a:rPr lang="zh-CN" altLang="en-US" dirty="0"/>
              <a:t>的权限：需查看所有员工的完整信息（含薪资、身份证号）。</a:t>
            </a:r>
            <a:endParaRPr lang="zh-CN" altLang="en-US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FF0000"/>
                </a:solidFill>
              </a:rPr>
              <a:t>解决方案：创建两个视图</a:t>
            </a:r>
            <a:endParaRPr lang="en-US" altLang="zh-CN" dirty="0"/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给部门主管的 “部门员工视图”：仅包含</a:t>
            </a:r>
            <a:r>
              <a:rPr lang="en-US" altLang="zh-CN" dirty="0"/>
              <a:t>ID</a:t>
            </a:r>
            <a:r>
              <a:rPr lang="zh-CN" altLang="en-US" dirty="0"/>
              <a:t>、姓名、部门字段，且通过</a:t>
            </a:r>
            <a:r>
              <a:rPr lang="en-US" altLang="zh-CN" dirty="0"/>
              <a:t>WHERE </a:t>
            </a:r>
            <a:r>
              <a:rPr lang="zh-CN" altLang="en-US" dirty="0"/>
              <a:t>部门</a:t>
            </a:r>
            <a:r>
              <a:rPr lang="en-US" altLang="zh-CN" dirty="0"/>
              <a:t>=</a:t>
            </a:r>
            <a:r>
              <a:rPr lang="zh-CN" altLang="en-US" dirty="0"/>
              <a:t>当前主管所在部门过滤数据；</a:t>
            </a:r>
            <a:endParaRPr lang="zh-CN" altLang="en-US" dirty="0"/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给 </a:t>
            </a:r>
            <a:r>
              <a:rPr lang="en-US" altLang="zh-CN" dirty="0"/>
              <a:t>HR </a:t>
            </a:r>
            <a:r>
              <a:rPr lang="zh-CN" altLang="en-US" dirty="0"/>
              <a:t>的 “完整员工视图”：包含全部字段。</a:t>
            </a:r>
            <a:endParaRPr lang="zh-CN" altLang="en-US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FF0000"/>
                </a:solidFill>
              </a:rPr>
              <a:t>效果</a:t>
            </a:r>
            <a:r>
              <a:rPr lang="zh-CN" altLang="en-US" dirty="0"/>
              <a:t>：主管只能通过视图看到授权范围内的数据，无法接触敏感信息，从逻辑层阻断了数据泄露风险，无需修改基础表结构或单独维护多份数据。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为什么需要视图（视图的优点）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200" b="1" i="0" dirty="0">
                <a:solidFill>
                  <a:srgbClr val="000000"/>
                </a:solidFill>
                <a:effectLst/>
                <a:latin typeface="Inter"/>
              </a:rPr>
              <a:t>核心作用 </a:t>
            </a:r>
            <a:r>
              <a:rPr lang="en-US" altLang="zh-CN" sz="2200" b="1" i="0" dirty="0">
                <a:solidFill>
                  <a:srgbClr val="000000"/>
                </a:solidFill>
                <a:effectLst/>
                <a:latin typeface="Inter"/>
              </a:rPr>
              <a:t>2</a:t>
            </a:r>
            <a:r>
              <a:rPr lang="zh-CN" altLang="en-US" sz="2200" b="1" i="0" dirty="0">
                <a:solidFill>
                  <a:srgbClr val="000000"/>
                </a:solidFill>
                <a:effectLst/>
                <a:latin typeface="Inter"/>
              </a:rPr>
              <a:t>：简化复杂查询，降低操作门槛</a:t>
            </a:r>
            <a:endParaRPr lang="zh-CN" altLang="en-US" sz="2200" b="1" i="0" dirty="0">
              <a:solidFill>
                <a:srgbClr val="000000"/>
              </a:solidFill>
              <a:effectLst/>
              <a:latin typeface="Inter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/>
              <a:t>实际业务中，频繁用到的查询可能涉及多表关联、复杂过滤、聚合计算（如 “查询近 </a:t>
            </a:r>
            <a:r>
              <a:rPr lang="en-US" altLang="zh-CN" sz="1800" dirty="0"/>
              <a:t>3 </a:t>
            </a:r>
            <a:r>
              <a:rPr lang="zh-CN" altLang="en-US" sz="1800" dirty="0"/>
              <a:t>个月各门店的销售额排名” 需关联 “门店表、订单表、商品表”，并计算总和、排序）。若每次操作都重复写长 </a:t>
            </a:r>
            <a:r>
              <a:rPr lang="en-US" altLang="zh-CN" sz="1800" dirty="0"/>
              <a:t>SQL</a:t>
            </a:r>
            <a:r>
              <a:rPr lang="zh-CN" altLang="en-US" sz="1800" dirty="0"/>
              <a:t>，不仅效率低，还易出错。视图可将复杂查询 “固化” 为虚拟表，后续使用时直接调用视图名，无需重复编写底层逻辑。</a:t>
            </a:r>
            <a:endParaRPr lang="zh-CN" altLang="en-US" sz="18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FF0000"/>
                </a:solidFill>
              </a:rPr>
              <a:t>场景示例：电商平台需频繁统计 “每个用户的近 </a:t>
            </a:r>
            <a:r>
              <a:rPr lang="en-US" altLang="zh-CN" sz="1800" dirty="0">
                <a:solidFill>
                  <a:srgbClr val="FF0000"/>
                </a:solidFill>
              </a:rPr>
              <a:t>1 </a:t>
            </a:r>
            <a:r>
              <a:rPr lang="zh-CN" altLang="en-US" sz="1800" dirty="0">
                <a:solidFill>
                  <a:srgbClr val="FF0000"/>
                </a:solidFill>
              </a:rPr>
              <a:t>年订单数、总消费金额”，原始 </a:t>
            </a:r>
            <a:r>
              <a:rPr lang="en-US" altLang="zh-CN" sz="1800" dirty="0">
                <a:solidFill>
                  <a:srgbClr val="FF0000"/>
                </a:solidFill>
              </a:rPr>
              <a:t>SQL </a:t>
            </a:r>
            <a:r>
              <a:rPr lang="zh-CN" altLang="en-US" sz="1800" dirty="0">
                <a:solidFill>
                  <a:srgbClr val="FF0000"/>
                </a:solidFill>
              </a:rPr>
              <a:t>需关联用户表和订单表，并使用</a:t>
            </a:r>
            <a:r>
              <a:rPr lang="en-US" altLang="zh-CN" sz="1800" dirty="0">
                <a:solidFill>
                  <a:srgbClr val="FF0000"/>
                </a:solidFill>
              </a:rPr>
              <a:t>COUNT()</a:t>
            </a:r>
            <a:r>
              <a:rPr lang="zh-CN" altLang="en-US" sz="1800" dirty="0">
                <a:solidFill>
                  <a:srgbClr val="FF0000"/>
                </a:solidFill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</a:rPr>
              <a:t>SUM()</a:t>
            </a:r>
            <a:r>
              <a:rPr lang="zh-CN" altLang="en-US" sz="1800" dirty="0">
                <a:solidFill>
                  <a:srgbClr val="FF0000"/>
                </a:solidFill>
              </a:rPr>
              <a:t>聚合函数，且过滤订单时间</a:t>
            </a:r>
            <a:r>
              <a:rPr lang="en-US" altLang="zh-CN" sz="1800" dirty="0">
                <a:solidFill>
                  <a:srgbClr val="FF0000"/>
                </a:solidFill>
              </a:rPr>
              <a:t>&gt;=DATE_SUB(NOW(),INTERVAL 1 YEAR)</a:t>
            </a:r>
            <a:r>
              <a:rPr lang="zh-CN" altLang="en-US" sz="1800" dirty="0">
                <a:solidFill>
                  <a:srgbClr val="FF0000"/>
                </a:solidFill>
              </a:rPr>
              <a:t>。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FF0000"/>
                </a:solidFill>
              </a:rPr>
              <a:t>解决方案</a:t>
            </a:r>
            <a:r>
              <a:rPr lang="zh-CN" altLang="en-US" sz="1800" dirty="0"/>
              <a:t>：创建 “</a:t>
            </a:r>
            <a:r>
              <a:rPr lang="zh-CN" altLang="en-US" sz="1800" dirty="0">
                <a:solidFill>
                  <a:srgbClr val="FF0000"/>
                </a:solidFill>
              </a:rPr>
              <a:t>用户消费统计视图</a:t>
            </a:r>
            <a:r>
              <a:rPr lang="zh-CN" altLang="en-US" sz="1800" dirty="0"/>
              <a:t>”，将上述复杂 </a:t>
            </a:r>
            <a:r>
              <a:rPr lang="en-US" altLang="zh-CN" sz="1800" dirty="0"/>
              <a:t>SQL </a:t>
            </a:r>
            <a:r>
              <a:rPr lang="zh-CN" altLang="en-US" sz="1800" dirty="0"/>
              <a:t>定义为视图。</a:t>
            </a:r>
            <a:endParaRPr lang="zh-CN" altLang="en-US" sz="18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FF0000"/>
                </a:solidFill>
              </a:rPr>
              <a:t>效果</a:t>
            </a:r>
            <a:r>
              <a:rPr lang="zh-CN" altLang="en-US" sz="1800" dirty="0"/>
              <a:t>：各部门（如运营、财务）只需执行</a:t>
            </a:r>
            <a:r>
              <a:rPr lang="en-US" altLang="zh-CN" sz="1800" dirty="0"/>
              <a:t>SELECT * FROM </a:t>
            </a:r>
            <a:r>
              <a:rPr lang="zh-CN" altLang="en-US" sz="1800" dirty="0">
                <a:solidFill>
                  <a:srgbClr val="FF0000"/>
                </a:solidFill>
              </a:rPr>
              <a:t>用户消费统计视图 </a:t>
            </a:r>
            <a:r>
              <a:rPr lang="en-US" altLang="zh-CN" sz="1800" dirty="0"/>
              <a:t>WHERE </a:t>
            </a:r>
            <a:r>
              <a:rPr lang="zh-CN" altLang="en-US" sz="1800" dirty="0"/>
              <a:t>用户</a:t>
            </a:r>
            <a:r>
              <a:rPr lang="en-US" altLang="zh-CN" sz="1800" dirty="0"/>
              <a:t>ID=xxx</a:t>
            </a:r>
            <a:r>
              <a:rPr lang="zh-CN" altLang="en-US" sz="1800" dirty="0"/>
              <a:t>，即可快速获取数据，无需理解多表关联逻辑，降低了非技术人员的操作门槛，也避免了重复编写 </a:t>
            </a:r>
            <a:r>
              <a:rPr lang="en-US" altLang="zh-CN" sz="1800" dirty="0"/>
              <a:t>SQL </a:t>
            </a:r>
            <a:r>
              <a:rPr lang="zh-CN" altLang="en-US" sz="1800" dirty="0"/>
              <a:t>的错误。</a:t>
            </a:r>
            <a:endParaRPr lang="zh-CN" altLang="en-US" sz="1800" dirty="0"/>
          </a:p>
        </p:txBody>
      </p:sp>
      <p:sp>
        <p:nvSpPr>
          <p:cNvPr id="6" name="文本框 5"/>
          <p:cNvSpPr txBox="1"/>
          <p:nvPr/>
        </p:nvSpPr>
        <p:spPr>
          <a:xfrm>
            <a:off x="2964581" y="5827230"/>
            <a:ext cx="8280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门店表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129238" y="5827230"/>
            <a:ext cx="8280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订单表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305124" y="5827230"/>
            <a:ext cx="8280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商品表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569945" y="5129135"/>
            <a:ext cx="408592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用户消费统计视图（含聚合函数，统计数据）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4" name="直接箭头连接符 13"/>
          <p:cNvCxnSpPr>
            <a:stCxn id="6" idx="0"/>
            <a:endCxn id="12" idx="2"/>
          </p:cNvCxnSpPr>
          <p:nvPr/>
        </p:nvCxnSpPr>
        <p:spPr bwMode="auto">
          <a:xfrm flipV="1">
            <a:off x="3378581" y="5467689"/>
            <a:ext cx="1234326" cy="35954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接箭头连接符 15"/>
          <p:cNvCxnSpPr>
            <a:stCxn id="8" idx="0"/>
            <a:endCxn id="12" idx="2"/>
          </p:cNvCxnSpPr>
          <p:nvPr/>
        </p:nvCxnSpPr>
        <p:spPr bwMode="auto">
          <a:xfrm flipV="1">
            <a:off x="4543238" y="5467689"/>
            <a:ext cx="69669" cy="35954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直接箭头连接符 17"/>
          <p:cNvCxnSpPr>
            <a:stCxn id="10" idx="0"/>
            <a:endCxn id="12" idx="2"/>
          </p:cNvCxnSpPr>
          <p:nvPr/>
        </p:nvCxnSpPr>
        <p:spPr bwMode="auto">
          <a:xfrm flipH="1" flipV="1">
            <a:off x="4612907" y="5467689"/>
            <a:ext cx="1106217" cy="35954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为什么需要视图（视图的优点）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Inter"/>
              </a:rPr>
              <a:t>核心作用 </a:t>
            </a:r>
            <a:r>
              <a:rPr lang="en-US" altLang="zh-CN" sz="2400" b="1" dirty="0">
                <a:solidFill>
                  <a:srgbClr val="000000"/>
                </a:solidFill>
                <a:latin typeface="Inter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Inter"/>
              </a:rPr>
              <a:t>：实现 “逻辑数据独立”，隔离基础表变更</a:t>
            </a:r>
            <a:endParaRPr lang="zh-CN" altLang="en-US" sz="2400" b="1" dirty="0">
              <a:solidFill>
                <a:srgbClr val="000000"/>
              </a:solidFill>
              <a:latin typeface="Inter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100" dirty="0"/>
              <a:t>数据库的基础表结构可能因业务需求调整（如新增字段、修改字段名、拆分表），若应用程序直接依赖基础表，每次结构变更都需修改所有关联的 </a:t>
            </a:r>
            <a:r>
              <a:rPr lang="en-US" altLang="zh-CN" sz="2100" dirty="0"/>
              <a:t>SQL </a:t>
            </a:r>
            <a:r>
              <a:rPr lang="zh-CN" altLang="en-US" sz="2100" dirty="0"/>
              <a:t>语句（如报表、接口、前端查询），成本极高。视图可作为 “中间层”，隔离基础表与应用程序的直接关联 </a:t>
            </a:r>
            <a:r>
              <a:rPr lang="en-US" altLang="zh-CN" sz="2100" dirty="0"/>
              <a:t>—— </a:t>
            </a:r>
            <a:r>
              <a:rPr lang="zh-CN" altLang="en-US" sz="2100" dirty="0"/>
              <a:t>即使基础表结构变更，只需修改视图的定义语句，应用程序调用视图的方式无需改变，实现 “逻辑数据独立”。</a:t>
            </a:r>
            <a:endParaRPr lang="zh-CN" altLang="en-US" sz="2100" dirty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FF0000"/>
                </a:solidFill>
              </a:rPr>
              <a:t>场景示例：某系统的 “客户表” 原本包含客户</a:t>
            </a:r>
            <a:r>
              <a:rPr lang="en-US" altLang="zh-CN" sz="2100" dirty="0">
                <a:solidFill>
                  <a:srgbClr val="FF0000"/>
                </a:solidFill>
              </a:rPr>
              <a:t>ID</a:t>
            </a:r>
            <a:r>
              <a:rPr lang="zh-CN" altLang="en-US" sz="2100" dirty="0">
                <a:solidFill>
                  <a:srgbClr val="FF0000"/>
                </a:solidFill>
              </a:rPr>
              <a:t>、姓名、电话，后因业务需求，将 “电话” 拆分为手机号、固话两个字段。</a:t>
            </a:r>
            <a:r>
              <a:rPr lang="zh-CN" altLang="en-US" sz="2100" dirty="0"/>
              <a:t>若之前有 </a:t>
            </a:r>
            <a:r>
              <a:rPr lang="en-US" altLang="zh-CN" sz="2100" dirty="0"/>
              <a:t>100 </a:t>
            </a:r>
            <a:r>
              <a:rPr lang="zh-CN" altLang="en-US" sz="2100" dirty="0"/>
              <a:t>个报表直接查询客户表</a:t>
            </a:r>
            <a:r>
              <a:rPr lang="en-US" altLang="zh-CN" sz="2100" dirty="0"/>
              <a:t>.</a:t>
            </a:r>
            <a:r>
              <a:rPr lang="zh-CN" altLang="en-US" sz="2100" dirty="0"/>
              <a:t>电话，现在需全部修改为客户表</a:t>
            </a:r>
            <a:r>
              <a:rPr lang="en-US" altLang="zh-CN" sz="2100" dirty="0"/>
              <a:t>.</a:t>
            </a:r>
            <a:r>
              <a:rPr lang="zh-CN" altLang="en-US" sz="2100" dirty="0"/>
              <a:t>手机号，成本极高。</a:t>
            </a:r>
            <a:endParaRPr lang="zh-CN" altLang="en-US" sz="2100" dirty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FF0000"/>
                </a:solidFill>
              </a:rPr>
              <a:t>解决方案</a:t>
            </a:r>
            <a:r>
              <a:rPr lang="zh-CN" altLang="en-US" sz="2100" dirty="0"/>
              <a:t>：提前创建 “</a:t>
            </a:r>
            <a:r>
              <a:rPr lang="zh-CN" altLang="en-US" sz="2100" dirty="0">
                <a:solidFill>
                  <a:srgbClr val="FF0000"/>
                </a:solidFill>
              </a:rPr>
              <a:t>客户信息视图</a:t>
            </a:r>
            <a:r>
              <a:rPr lang="zh-CN" altLang="en-US" sz="2100" dirty="0"/>
              <a:t>”，包含客户</a:t>
            </a:r>
            <a:r>
              <a:rPr lang="en-US" altLang="zh-CN" sz="2100" dirty="0"/>
              <a:t>ID</a:t>
            </a:r>
            <a:r>
              <a:rPr lang="zh-CN" altLang="en-US" sz="2100" dirty="0"/>
              <a:t>、姓名、电话（由手机号</a:t>
            </a:r>
            <a:r>
              <a:rPr lang="en-US" altLang="zh-CN" sz="2100" dirty="0"/>
              <a:t>+</a:t>
            </a:r>
            <a:r>
              <a:rPr lang="zh-CN" altLang="en-US" sz="2100" dirty="0"/>
              <a:t>固话拼接而成）。</a:t>
            </a:r>
            <a:endParaRPr lang="zh-CN" altLang="en-US" sz="2100" dirty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FF0000"/>
                </a:solidFill>
              </a:rPr>
              <a:t>效果</a:t>
            </a:r>
            <a:r>
              <a:rPr lang="zh-CN" altLang="en-US" sz="2100" dirty="0"/>
              <a:t>：基础表拆分字段后，只需修改视图的电话字段定义（如</a:t>
            </a:r>
            <a:r>
              <a:rPr lang="en-US" altLang="zh-CN" sz="2100" dirty="0"/>
              <a:t>CONCAT(</a:t>
            </a:r>
            <a:r>
              <a:rPr lang="zh-CN" altLang="en-US" sz="2100" dirty="0"/>
              <a:t>手机号</a:t>
            </a:r>
            <a:r>
              <a:rPr lang="en-US" altLang="zh-CN" sz="2100" dirty="0"/>
              <a:t>, ' / ', </a:t>
            </a:r>
            <a:r>
              <a:rPr lang="zh-CN" altLang="en-US" sz="2100" dirty="0"/>
              <a:t>固话</a:t>
            </a:r>
            <a:r>
              <a:rPr lang="en-US" altLang="zh-CN" sz="2100" dirty="0"/>
              <a:t>) AS </a:t>
            </a:r>
            <a:r>
              <a:rPr lang="zh-CN" altLang="en-US" sz="2100" dirty="0"/>
              <a:t>电话），所有报表仍可通过视图查询电话字段，无需修改报表逻辑，大幅降低变更成本。</a:t>
            </a:r>
            <a:endParaRPr lang="zh-CN" alt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为什么需要视图（视图的优点）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200" b="1" i="0" dirty="0">
                <a:solidFill>
                  <a:srgbClr val="000000"/>
                </a:solidFill>
                <a:effectLst/>
                <a:latin typeface="Inter"/>
              </a:rPr>
              <a:t>核心作用 </a:t>
            </a:r>
            <a:r>
              <a:rPr lang="en-US" altLang="zh-CN" sz="2200" b="1" i="0" dirty="0">
                <a:solidFill>
                  <a:srgbClr val="000000"/>
                </a:solidFill>
                <a:effectLst/>
                <a:latin typeface="Inter"/>
              </a:rPr>
              <a:t>4</a:t>
            </a:r>
            <a:r>
              <a:rPr lang="zh-CN" altLang="en-US" sz="2200" b="1" i="0" dirty="0">
                <a:solidFill>
                  <a:srgbClr val="000000"/>
                </a:solidFill>
                <a:effectLst/>
                <a:latin typeface="Inter"/>
              </a:rPr>
              <a:t>：聚合分散数据，适配多业务场景</a:t>
            </a:r>
            <a:endParaRPr lang="zh-CN" altLang="en-US" sz="2200" b="1" i="0" dirty="0">
              <a:solidFill>
                <a:srgbClr val="000000"/>
              </a:solidFill>
              <a:effectLst/>
              <a:latin typeface="Inter"/>
            </a:endParaRPr>
          </a:p>
          <a:p>
            <a:pPr lvl="1"/>
            <a:r>
              <a:rPr lang="zh-CN" altLang="en-US" sz="1600" b="0" i="0" dirty="0">
                <a:effectLst/>
                <a:latin typeface="Inter"/>
              </a:rPr>
              <a:t>实际业务中，同一业务对象的关键信息常因 “数据分类管理” 需求，分散在多张基础表中（客户订单信息可能与 “客户表”“订单主表”“订单明细表”“商品表”相关），但业务人员（如客服、财务）需要的是 “关联整合后的完整信息”（如 “某客户某笔订单的商品明细、下单时间、应付金额”）。此时视图可将多表分散数据 “一键聚合为虚拟表”，直接匹配业务查询需求，无需每次手动写复杂的多表关联 </a:t>
            </a:r>
            <a:r>
              <a:rPr lang="en-US" altLang="zh-CN" sz="1600" b="0" i="0" dirty="0">
                <a:effectLst/>
                <a:latin typeface="Inter"/>
              </a:rPr>
              <a:t>SQL</a:t>
            </a:r>
            <a:r>
              <a:rPr lang="zh-CN" altLang="en-US" sz="1600" b="0" i="0" dirty="0">
                <a:effectLst/>
                <a:latin typeface="Inter"/>
              </a:rPr>
              <a:t>。 </a:t>
            </a:r>
            <a:endParaRPr lang="en-US" altLang="zh-CN" sz="1600" dirty="0"/>
          </a:p>
          <a:p>
            <a:pPr lvl="1"/>
            <a:r>
              <a:rPr lang="zh-CN" altLang="en-US" sz="1600" dirty="0">
                <a:solidFill>
                  <a:srgbClr val="FF0000"/>
                </a:solidFill>
              </a:rPr>
              <a:t>场景示例：</a:t>
            </a:r>
            <a:r>
              <a:rPr lang="zh-CN" altLang="en-US" sz="1600" b="0" i="0" dirty="0">
                <a:effectLst/>
                <a:latin typeface="Inter"/>
              </a:rPr>
              <a:t>某电商平台的数据库中，与 “订单” 相关的核心数据分散在 </a:t>
            </a:r>
            <a:r>
              <a:rPr lang="en-US" altLang="zh-CN" sz="1600" b="0" i="0" dirty="0">
                <a:effectLst/>
                <a:latin typeface="Inter"/>
              </a:rPr>
              <a:t>4 </a:t>
            </a:r>
            <a:r>
              <a:rPr lang="zh-CN" altLang="en-US" sz="1600" b="0" i="0" dirty="0">
                <a:effectLst/>
                <a:latin typeface="Inter"/>
              </a:rPr>
              <a:t>张基础表中，当客户致电客服询问 “我上周下的订单里买了什么商品？什么时候下的单？总共花了多少钱？” 时，客服需要的是 “整合后的完整信息”</a:t>
            </a:r>
            <a:r>
              <a:rPr lang="en-US" altLang="zh-CN" sz="1600" b="0" i="0" dirty="0">
                <a:effectLst/>
                <a:latin typeface="Inter"/>
              </a:rPr>
              <a:t>—— </a:t>
            </a:r>
            <a:r>
              <a:rPr lang="zh-CN" altLang="en-US" sz="1600" b="0" i="0" dirty="0">
                <a:effectLst/>
                <a:latin typeface="Inter"/>
              </a:rPr>
              <a:t>包括客户姓名、订单 </a:t>
            </a:r>
            <a:r>
              <a:rPr lang="en-US" altLang="zh-CN" sz="1600" b="0" i="0" dirty="0">
                <a:effectLst/>
                <a:latin typeface="Inter"/>
              </a:rPr>
              <a:t>ID</a:t>
            </a:r>
            <a:r>
              <a:rPr lang="zh-CN" altLang="en-US" sz="1600" b="0" i="0" dirty="0">
                <a:effectLst/>
                <a:latin typeface="Inter"/>
              </a:rPr>
              <a:t>、下单时间、应付总金额、商品名称、购买数量、商品单价。</a:t>
            </a:r>
            <a:endParaRPr lang="en-US" altLang="zh-CN" sz="1600" b="0" i="0" dirty="0">
              <a:effectLst/>
              <a:latin typeface="Inter"/>
            </a:endParaRPr>
          </a:p>
          <a:p>
            <a:pPr lvl="1"/>
            <a:r>
              <a:rPr lang="zh-CN" altLang="en-US" sz="1600" dirty="0">
                <a:solidFill>
                  <a:srgbClr val="FF0000"/>
                </a:solidFill>
              </a:rPr>
              <a:t>解决方案</a:t>
            </a:r>
            <a:r>
              <a:rPr lang="zh-CN" altLang="en-US" sz="1600" dirty="0"/>
              <a:t>：</a:t>
            </a:r>
            <a:r>
              <a:rPr lang="zh-CN" altLang="en-US" sz="1600" b="0" i="0" dirty="0">
                <a:effectLst/>
                <a:latin typeface="Inter"/>
              </a:rPr>
              <a:t>提前将上述 </a:t>
            </a:r>
            <a:r>
              <a:rPr lang="en-US" altLang="zh-CN" sz="1600" b="0" i="0" dirty="0">
                <a:effectLst/>
                <a:latin typeface="Inter"/>
              </a:rPr>
              <a:t>4 </a:t>
            </a:r>
            <a:r>
              <a:rPr lang="zh-CN" altLang="en-US" sz="1600" b="0" i="0" dirty="0">
                <a:effectLst/>
                <a:latin typeface="Inter"/>
              </a:rPr>
              <a:t>表关联的逻辑封装为视图</a:t>
            </a:r>
            <a:endParaRPr lang="en-US" altLang="zh-CN" sz="1600" b="0" i="0" dirty="0">
              <a:effectLst/>
              <a:latin typeface="Inter"/>
            </a:endParaRPr>
          </a:p>
          <a:p>
            <a:pPr lvl="1"/>
            <a:endParaRPr lang="en-US" altLang="zh-CN" sz="1600" dirty="0">
              <a:latin typeface="Inter"/>
            </a:endParaRPr>
          </a:p>
          <a:p>
            <a:pPr lvl="1"/>
            <a:endParaRPr lang="en-US" altLang="zh-CN" sz="1600" b="0" i="0" dirty="0">
              <a:effectLst/>
              <a:latin typeface="Inter"/>
            </a:endParaRPr>
          </a:p>
          <a:p>
            <a:pPr lvl="1"/>
            <a:endParaRPr lang="en-US" altLang="zh-CN" sz="1600" b="0" i="0" dirty="0">
              <a:effectLst/>
              <a:latin typeface="Inter"/>
            </a:endParaRPr>
          </a:p>
          <a:p>
            <a:pPr lvl="1"/>
            <a:r>
              <a:rPr lang="zh-CN" altLang="en-US" sz="1600" dirty="0">
                <a:solidFill>
                  <a:srgbClr val="FF0000"/>
                </a:solidFill>
              </a:rPr>
              <a:t>效果</a:t>
            </a:r>
            <a:r>
              <a:rPr lang="zh-CN" altLang="en-US" sz="1600" dirty="0"/>
              <a:t>：</a:t>
            </a:r>
            <a:r>
              <a:rPr lang="zh-CN" altLang="en-US" sz="1600" b="0" i="0" dirty="0">
                <a:effectLst/>
                <a:latin typeface="Inter"/>
              </a:rPr>
              <a:t>客服后续查询时，只需执行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Inter"/>
              </a:rPr>
              <a:t>简单的单表查询 </a:t>
            </a:r>
            <a:r>
              <a:rPr lang="en-US" altLang="zh-CN" sz="1600" b="1" i="0" dirty="0">
                <a:solidFill>
                  <a:srgbClr val="000000"/>
                </a:solidFill>
                <a:effectLst/>
                <a:latin typeface="Inter"/>
              </a:rPr>
              <a:t>SQL</a:t>
            </a:r>
            <a:r>
              <a:rPr lang="zh-CN" altLang="en-US" sz="1600" b="0" i="0" dirty="0">
                <a:effectLst/>
                <a:latin typeface="Inter"/>
              </a:rPr>
              <a:t>，即可快速获取整合后的完整订单详情，无需理解底层多表关联逻辑。同时，财务部门核算 “某客户的年度消费明细”、运营部门分析 “某商品的购买客户画像” 时，也可直接复用该视图，无需重复开发关联逻辑，实现 “一份视图，多业务复用”，大幅提升跨部门协作效率。</a:t>
            </a:r>
            <a:endParaRPr lang="en-US" altLang="zh-CN" sz="1600" dirty="0">
              <a:latin typeface="Inter"/>
            </a:endParaRPr>
          </a:p>
          <a:p>
            <a:pPr marL="457200" lvl="1" indent="0">
              <a:buNone/>
            </a:pPr>
            <a:endParaRPr lang="zh-CN" altLang="en-US" sz="900" dirty="0"/>
          </a:p>
        </p:txBody>
      </p:sp>
      <p:sp>
        <p:nvSpPr>
          <p:cNvPr id="6" name="文本框 5"/>
          <p:cNvSpPr txBox="1"/>
          <p:nvPr/>
        </p:nvSpPr>
        <p:spPr>
          <a:xfrm>
            <a:off x="2247900" y="4082370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altLang="zh-CN" sz="1100" dirty="0">
                <a:solidFill>
                  <a:srgbClr val="FF0000"/>
                </a:solidFill>
              </a:rPr>
              <a:t>CREATE VIEW </a:t>
            </a:r>
            <a:r>
              <a:rPr lang="zh-CN" altLang="en-US" sz="1100" dirty="0">
                <a:solidFill>
                  <a:srgbClr val="FF0000"/>
                </a:solidFill>
              </a:rPr>
              <a:t>订单详情聚合视图 </a:t>
            </a:r>
            <a:r>
              <a:rPr lang="en-US" altLang="zh-CN" sz="1100" dirty="0">
                <a:solidFill>
                  <a:srgbClr val="FF0000"/>
                </a:solidFill>
              </a:rPr>
              <a:t>AS</a:t>
            </a:r>
            <a:endParaRPr lang="en-US" altLang="zh-CN" sz="11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1100" dirty="0">
                <a:solidFill>
                  <a:srgbClr val="FF0000"/>
                </a:solidFill>
              </a:rPr>
              <a:t>SELECT  ……</a:t>
            </a:r>
            <a:endParaRPr lang="en-US" altLang="zh-CN" sz="11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1100" dirty="0">
                <a:solidFill>
                  <a:srgbClr val="FF0000"/>
                </a:solidFill>
              </a:rPr>
              <a:t>FROM  </a:t>
            </a:r>
            <a:r>
              <a:rPr lang="zh-CN" altLang="en-US" sz="1100" dirty="0">
                <a:solidFill>
                  <a:srgbClr val="FF0000"/>
                </a:solidFill>
              </a:rPr>
              <a:t>客户表 </a:t>
            </a:r>
            <a:r>
              <a:rPr lang="en-US" altLang="zh-CN" sz="1100" dirty="0">
                <a:solidFill>
                  <a:srgbClr val="FF0000"/>
                </a:solidFill>
              </a:rPr>
              <a:t>u</a:t>
            </a:r>
            <a:endParaRPr lang="en-US" altLang="zh-CN" sz="11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1100" dirty="0">
                <a:solidFill>
                  <a:srgbClr val="FF0000"/>
                </a:solidFill>
              </a:rPr>
              <a:t>JOIN </a:t>
            </a:r>
            <a:r>
              <a:rPr lang="zh-CN" altLang="en-US" sz="1100" dirty="0">
                <a:solidFill>
                  <a:srgbClr val="FF0000"/>
                </a:solidFill>
              </a:rPr>
              <a:t>订单主表 </a:t>
            </a:r>
            <a:r>
              <a:rPr lang="en-US" altLang="zh-CN" sz="1100" dirty="0">
                <a:solidFill>
                  <a:srgbClr val="FF0000"/>
                </a:solidFill>
              </a:rPr>
              <a:t>om ON u.</a:t>
            </a:r>
            <a:r>
              <a:rPr lang="zh-CN" altLang="en-US" sz="1100" dirty="0">
                <a:solidFill>
                  <a:srgbClr val="FF0000"/>
                </a:solidFill>
              </a:rPr>
              <a:t>客户</a:t>
            </a:r>
            <a:r>
              <a:rPr lang="en-US" altLang="zh-CN" sz="1100" dirty="0">
                <a:solidFill>
                  <a:srgbClr val="FF0000"/>
                </a:solidFill>
              </a:rPr>
              <a:t>ID = </a:t>
            </a:r>
            <a:r>
              <a:rPr lang="en-US" altLang="zh-CN" sz="1100" dirty="0" err="1">
                <a:solidFill>
                  <a:srgbClr val="FF0000"/>
                </a:solidFill>
              </a:rPr>
              <a:t>om.</a:t>
            </a:r>
            <a:r>
              <a:rPr lang="zh-CN" altLang="en-US" sz="1100" dirty="0">
                <a:solidFill>
                  <a:srgbClr val="FF0000"/>
                </a:solidFill>
              </a:rPr>
              <a:t>客户</a:t>
            </a:r>
            <a:r>
              <a:rPr lang="en-US" altLang="zh-CN" sz="1100" dirty="0">
                <a:solidFill>
                  <a:srgbClr val="FF0000"/>
                </a:solidFill>
              </a:rPr>
              <a:t>ID</a:t>
            </a:r>
            <a:endParaRPr lang="en-US" altLang="zh-CN" sz="11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1100" dirty="0">
                <a:solidFill>
                  <a:srgbClr val="FF0000"/>
                </a:solidFill>
              </a:rPr>
              <a:t>JOIN </a:t>
            </a:r>
            <a:r>
              <a:rPr lang="zh-CN" altLang="en-US" sz="1100" dirty="0">
                <a:solidFill>
                  <a:srgbClr val="FF0000"/>
                </a:solidFill>
              </a:rPr>
              <a:t>订单明细表 </a:t>
            </a:r>
            <a:r>
              <a:rPr lang="en-US" altLang="zh-CN" sz="1100" dirty="0">
                <a:solidFill>
                  <a:srgbClr val="FF0000"/>
                </a:solidFill>
              </a:rPr>
              <a:t>od ON </a:t>
            </a:r>
            <a:r>
              <a:rPr lang="en-US" altLang="zh-CN" sz="1100" dirty="0" err="1">
                <a:solidFill>
                  <a:srgbClr val="FF0000"/>
                </a:solidFill>
              </a:rPr>
              <a:t>om.</a:t>
            </a:r>
            <a:r>
              <a:rPr lang="zh-CN" altLang="en-US" sz="1100" dirty="0">
                <a:solidFill>
                  <a:srgbClr val="FF0000"/>
                </a:solidFill>
              </a:rPr>
              <a:t>订单</a:t>
            </a:r>
            <a:r>
              <a:rPr lang="en-US" altLang="zh-CN" sz="1100" dirty="0">
                <a:solidFill>
                  <a:srgbClr val="FF0000"/>
                </a:solidFill>
              </a:rPr>
              <a:t>ID = od.</a:t>
            </a:r>
            <a:r>
              <a:rPr lang="zh-CN" altLang="en-US" sz="1100" dirty="0">
                <a:solidFill>
                  <a:srgbClr val="FF0000"/>
                </a:solidFill>
              </a:rPr>
              <a:t>订单</a:t>
            </a:r>
            <a:r>
              <a:rPr lang="en-US" altLang="zh-CN" sz="1100" dirty="0">
                <a:solidFill>
                  <a:srgbClr val="FF0000"/>
                </a:solidFill>
              </a:rPr>
              <a:t>ID</a:t>
            </a:r>
            <a:endParaRPr lang="en-US" altLang="zh-CN" sz="11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1100" dirty="0">
                <a:solidFill>
                  <a:srgbClr val="FF0000"/>
                </a:solidFill>
              </a:rPr>
              <a:t>JOIN </a:t>
            </a:r>
            <a:r>
              <a:rPr lang="zh-CN" altLang="en-US" sz="1100" dirty="0">
                <a:solidFill>
                  <a:srgbClr val="FF0000"/>
                </a:solidFill>
              </a:rPr>
              <a:t>商品表 </a:t>
            </a:r>
            <a:r>
              <a:rPr lang="en-US" altLang="zh-CN" sz="1100" dirty="0">
                <a:solidFill>
                  <a:srgbClr val="FF0000"/>
                </a:solidFill>
              </a:rPr>
              <a:t>p ON od.</a:t>
            </a:r>
            <a:r>
              <a:rPr lang="zh-CN" altLang="en-US" sz="1100" dirty="0">
                <a:solidFill>
                  <a:srgbClr val="FF0000"/>
                </a:solidFill>
              </a:rPr>
              <a:t>商品</a:t>
            </a:r>
            <a:r>
              <a:rPr lang="en-US" altLang="zh-CN" sz="1100" dirty="0">
                <a:solidFill>
                  <a:srgbClr val="FF0000"/>
                </a:solidFill>
              </a:rPr>
              <a:t>ID = p.</a:t>
            </a:r>
            <a:r>
              <a:rPr lang="zh-CN" altLang="en-US" sz="1100" dirty="0">
                <a:solidFill>
                  <a:srgbClr val="FF0000"/>
                </a:solidFill>
              </a:rPr>
              <a:t>商品</a:t>
            </a:r>
            <a:r>
              <a:rPr lang="en-US" altLang="zh-CN" sz="1100" dirty="0">
                <a:solidFill>
                  <a:srgbClr val="FF0000"/>
                </a:solidFill>
              </a:rPr>
              <a:t>ID;</a:t>
            </a:r>
            <a:endParaRPr lang="en-US" altLang="zh-CN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为什么需要视图（视图的优点）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sz="2400" b="1" i="0" dirty="0">
                <a:solidFill>
                  <a:srgbClr val="000000"/>
                </a:solidFill>
                <a:effectLst/>
                <a:latin typeface="Inter"/>
              </a:rPr>
              <a:t>核心作用 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latin typeface="Inter"/>
              </a:rPr>
              <a:t>5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Inter"/>
              </a:rPr>
              <a:t>：支持 “数据脱敏”，满足合规要求</a:t>
            </a:r>
            <a:endParaRPr lang="zh-CN" altLang="en-US" sz="2400" b="1" i="0" dirty="0">
              <a:solidFill>
                <a:srgbClr val="000000"/>
              </a:solidFill>
              <a:effectLst/>
              <a:latin typeface="Inter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100" dirty="0"/>
              <a:t>在数据共享场景（如对外提供数据、跨部门协作）中，需对敏感数据进行 “脱敏处理”（如隐藏身份证号的中间 </a:t>
            </a:r>
            <a:r>
              <a:rPr lang="en-US" altLang="zh-CN" sz="2100" dirty="0"/>
              <a:t>6 </a:t>
            </a:r>
            <a:r>
              <a:rPr lang="zh-CN" altLang="en-US" sz="2100" dirty="0"/>
              <a:t>位、将手机号显示为 “</a:t>
            </a:r>
            <a:r>
              <a:rPr lang="en-US" altLang="zh-CN" sz="2100" dirty="0"/>
              <a:t>138****5678”</a:t>
            </a:r>
            <a:r>
              <a:rPr lang="zh-CN" altLang="en-US" sz="2100" dirty="0"/>
              <a:t>），避免原始敏感数据泄露，同时满足</a:t>
            </a:r>
            <a:r>
              <a:rPr lang="en-US" altLang="zh-CN" sz="2100" dirty="0"/>
              <a:t>《</a:t>
            </a:r>
            <a:r>
              <a:rPr lang="zh-CN" altLang="en-US" sz="2100" dirty="0"/>
              <a:t>数据安全法</a:t>
            </a:r>
            <a:r>
              <a:rPr lang="en-US" altLang="zh-CN" sz="2100" dirty="0"/>
              <a:t>》《</a:t>
            </a:r>
            <a:r>
              <a:rPr lang="zh-CN" altLang="en-US" sz="2100" dirty="0"/>
              <a:t>个人信息保护法</a:t>
            </a:r>
            <a:r>
              <a:rPr lang="en-US" altLang="zh-CN" sz="2100" dirty="0"/>
              <a:t>》</a:t>
            </a:r>
            <a:r>
              <a:rPr lang="zh-CN" altLang="en-US" sz="2100" dirty="0"/>
              <a:t>等合规要求。视图可在定义时直接对敏感字段进行脱敏处理，输出的虚拟表中仅包含脱敏后的数据，不影响基础表的原始数据。</a:t>
            </a:r>
            <a:endParaRPr lang="zh-CN" altLang="en-US" sz="2100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100" dirty="0">
                <a:solidFill>
                  <a:srgbClr val="FF0000"/>
                </a:solidFill>
              </a:rPr>
              <a:t>场景示例：某银行需向合作的征信公司提供 “客户基本信息”，但需隐藏客户的身份证号（原始格式：</a:t>
            </a:r>
            <a:r>
              <a:rPr lang="en-US" altLang="zh-CN" sz="2100" dirty="0">
                <a:solidFill>
                  <a:srgbClr val="FF0000"/>
                </a:solidFill>
              </a:rPr>
              <a:t>110101199001011234</a:t>
            </a:r>
            <a:r>
              <a:rPr lang="zh-CN" altLang="en-US" sz="2100" dirty="0">
                <a:solidFill>
                  <a:srgbClr val="FF0000"/>
                </a:solidFill>
              </a:rPr>
              <a:t>）和手机号（原始格式：</a:t>
            </a:r>
            <a:r>
              <a:rPr lang="en-US" altLang="zh-CN" sz="2100" dirty="0">
                <a:solidFill>
                  <a:srgbClr val="FF0000"/>
                </a:solidFill>
              </a:rPr>
              <a:t>13812345678</a:t>
            </a:r>
            <a:r>
              <a:rPr lang="zh-CN" altLang="en-US" sz="2100" dirty="0">
                <a:solidFill>
                  <a:srgbClr val="FF0000"/>
                </a:solidFill>
              </a:rPr>
              <a:t>）</a:t>
            </a:r>
            <a:r>
              <a:rPr lang="zh-CN" altLang="en-US" sz="2100" dirty="0"/>
              <a:t>。</a:t>
            </a:r>
            <a:endParaRPr lang="zh-CN" altLang="en-US" sz="2100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100" dirty="0">
                <a:solidFill>
                  <a:srgbClr val="FF0000"/>
                </a:solidFill>
              </a:rPr>
              <a:t>解决方案</a:t>
            </a:r>
            <a:r>
              <a:rPr lang="zh-CN" altLang="en-US" sz="2100" dirty="0"/>
              <a:t>：创建 “客户脱敏视图”，通过函数处理敏感字段：</a:t>
            </a:r>
            <a:endParaRPr lang="zh-CN" altLang="en-US" sz="2100" dirty="0"/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700" dirty="0"/>
              <a:t>身份证号：</a:t>
            </a:r>
            <a:r>
              <a:rPr lang="en-US" altLang="zh-CN" sz="1700" dirty="0"/>
              <a:t>CONCAT(LEFT(</a:t>
            </a:r>
            <a:r>
              <a:rPr lang="zh-CN" altLang="en-US" sz="1700" dirty="0"/>
              <a:t>身份证号</a:t>
            </a:r>
            <a:r>
              <a:rPr lang="en-US" altLang="zh-CN" sz="1700" dirty="0"/>
              <a:t>,6), '******', RIGHT(</a:t>
            </a:r>
            <a:r>
              <a:rPr lang="zh-CN" altLang="en-US" sz="1700" dirty="0"/>
              <a:t>身份证号</a:t>
            </a:r>
            <a:r>
              <a:rPr lang="en-US" altLang="zh-CN" sz="1700" dirty="0"/>
              <a:t>,4)) AS </a:t>
            </a:r>
            <a:r>
              <a:rPr lang="zh-CN" altLang="en-US" sz="1700" dirty="0"/>
              <a:t>身份证号（结果：</a:t>
            </a:r>
            <a:r>
              <a:rPr lang="en-US" altLang="zh-CN" sz="1700" dirty="0"/>
              <a:t>110101******1234</a:t>
            </a:r>
            <a:r>
              <a:rPr lang="zh-CN" altLang="en-US" sz="1700" dirty="0"/>
              <a:t>）；</a:t>
            </a:r>
            <a:endParaRPr lang="zh-CN" altLang="en-US" sz="1700" dirty="0"/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700" dirty="0"/>
              <a:t>手机号：</a:t>
            </a:r>
            <a:r>
              <a:rPr lang="en-US" altLang="zh-CN" sz="1700" dirty="0"/>
              <a:t>CONCAT(LEFT(</a:t>
            </a:r>
            <a:r>
              <a:rPr lang="zh-CN" altLang="en-US" sz="1700" dirty="0"/>
              <a:t>手机号</a:t>
            </a:r>
            <a:r>
              <a:rPr lang="en-US" altLang="zh-CN" sz="1700" dirty="0"/>
              <a:t>,3), '****', RIGHT(</a:t>
            </a:r>
            <a:r>
              <a:rPr lang="zh-CN" altLang="en-US" sz="1700" dirty="0"/>
              <a:t>手机号</a:t>
            </a:r>
            <a:r>
              <a:rPr lang="en-US" altLang="zh-CN" sz="1700" dirty="0"/>
              <a:t>,4)) AS </a:t>
            </a:r>
            <a:r>
              <a:rPr lang="zh-CN" altLang="en-US" sz="1700" dirty="0"/>
              <a:t>手机号（结果：</a:t>
            </a:r>
            <a:r>
              <a:rPr lang="en-US" altLang="zh-CN" sz="1700" dirty="0"/>
              <a:t>138****5678</a:t>
            </a:r>
            <a:r>
              <a:rPr lang="zh-CN" altLang="en-US" sz="1700" dirty="0"/>
              <a:t>）。</a:t>
            </a:r>
            <a:endParaRPr lang="zh-CN" altLang="en-US" sz="1700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100" dirty="0">
                <a:solidFill>
                  <a:srgbClr val="FF0000"/>
                </a:solidFill>
              </a:rPr>
              <a:t>效果</a:t>
            </a:r>
            <a:r>
              <a:rPr lang="zh-CN" altLang="en-US" sz="2100" dirty="0"/>
              <a:t>：征信公司仅能通过视图获取脱敏数据，无法接触原始敏感信息，既满足业务需求，又符合合规要求。</a:t>
            </a:r>
            <a:endParaRPr lang="zh-CN" alt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为什么需要视图（视图的优点）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200" b="1" i="0" dirty="0">
                <a:solidFill>
                  <a:srgbClr val="000000"/>
                </a:solidFill>
                <a:effectLst/>
                <a:latin typeface="Inter"/>
              </a:rPr>
              <a:t>核心作用 </a:t>
            </a:r>
            <a:r>
              <a:rPr lang="en-US" altLang="zh-CN" sz="2200" b="1" i="0" dirty="0">
                <a:solidFill>
                  <a:srgbClr val="000000"/>
                </a:solidFill>
                <a:effectLst/>
                <a:latin typeface="Inter"/>
              </a:rPr>
              <a:t>6</a:t>
            </a:r>
            <a:r>
              <a:rPr lang="zh-CN" altLang="en-US" sz="2200" b="1" i="0" dirty="0">
                <a:solidFill>
                  <a:srgbClr val="000000"/>
                </a:solidFill>
                <a:effectLst/>
                <a:latin typeface="Inter"/>
              </a:rPr>
              <a:t>：辅助数据校验，确保数据一致性</a:t>
            </a:r>
            <a:endParaRPr lang="zh-CN" altLang="en-US" sz="2200" b="1" i="0" dirty="0">
              <a:solidFill>
                <a:srgbClr val="000000"/>
              </a:solidFill>
              <a:effectLst/>
              <a:latin typeface="Inter"/>
            </a:endParaRPr>
          </a:p>
          <a:p>
            <a:pPr lvl="1"/>
            <a:r>
              <a:rPr lang="zh-CN" altLang="en-US" sz="1900" dirty="0"/>
              <a:t>视图可结合</a:t>
            </a:r>
            <a:r>
              <a:rPr lang="en-US" altLang="zh-CN" sz="1900" dirty="0"/>
              <a:t>CHECK</a:t>
            </a:r>
            <a:r>
              <a:rPr lang="zh-CN" altLang="en-US" sz="1900" dirty="0"/>
              <a:t>约束或</a:t>
            </a:r>
            <a:r>
              <a:rPr lang="en-US" altLang="zh-CN" sz="1900" dirty="0"/>
              <a:t>WHERE</a:t>
            </a:r>
            <a:r>
              <a:rPr lang="zh-CN" altLang="en-US" sz="1900" dirty="0"/>
              <a:t>条件，对数据进行 “逻辑校验”，确保通过视图操作（如插入、更新数据）时，数据符合业务规则，避免非法数据进入基础表（注：部分数据库支持 “可更新视图”，即通过视图修改基础表数据）。</a:t>
            </a:r>
            <a:endParaRPr lang="zh-CN" altLang="en-US" sz="1900" dirty="0"/>
          </a:p>
          <a:p>
            <a:pPr lvl="1"/>
            <a:r>
              <a:rPr lang="zh-CN" altLang="en-US" sz="1900" dirty="0">
                <a:solidFill>
                  <a:srgbClr val="FF0000"/>
                </a:solidFill>
              </a:rPr>
              <a:t>场景示例：某电商的 “订单表” 中，订单状态字段只能是 “待付款、已付款、已发货、已完成、已取消”</a:t>
            </a:r>
            <a:r>
              <a:rPr lang="en-US" altLang="zh-CN" sz="1900" dirty="0">
                <a:solidFill>
                  <a:srgbClr val="FF0000"/>
                </a:solidFill>
              </a:rPr>
              <a:t>5 </a:t>
            </a:r>
            <a:r>
              <a:rPr lang="zh-CN" altLang="en-US" sz="1900" dirty="0">
                <a:solidFill>
                  <a:srgbClr val="FF0000"/>
                </a:solidFill>
              </a:rPr>
              <a:t>种状态，若允许直接修改基础表，可能误输入 “待发货”（非法值）</a:t>
            </a:r>
            <a:r>
              <a:rPr lang="zh-CN" altLang="en-US" sz="1900" dirty="0"/>
              <a:t>。</a:t>
            </a:r>
            <a:endParaRPr lang="zh-CN" altLang="en-US" sz="1900" dirty="0"/>
          </a:p>
          <a:p>
            <a:pPr lvl="1"/>
            <a:r>
              <a:rPr lang="zh-CN" altLang="en-US" sz="1900" dirty="0">
                <a:solidFill>
                  <a:srgbClr val="FF0000"/>
                </a:solidFill>
              </a:rPr>
              <a:t>解决方案</a:t>
            </a:r>
            <a:r>
              <a:rPr lang="zh-CN" altLang="en-US" sz="1900" dirty="0"/>
              <a:t>：创建 “可更新的订单视图”，并添加</a:t>
            </a:r>
            <a:r>
              <a:rPr lang="en-US" altLang="zh-CN" sz="1900" dirty="0"/>
              <a:t>WHERE </a:t>
            </a:r>
            <a:r>
              <a:rPr lang="zh-CN" altLang="en-US" sz="1900" dirty="0"/>
              <a:t>订单状态 </a:t>
            </a:r>
            <a:r>
              <a:rPr lang="en-US" altLang="zh-CN" sz="1900" dirty="0"/>
              <a:t>IN ('</a:t>
            </a:r>
            <a:r>
              <a:rPr lang="zh-CN" altLang="en-US" sz="1900" dirty="0"/>
              <a:t>待付款</a:t>
            </a:r>
            <a:r>
              <a:rPr lang="en-US" altLang="zh-CN" sz="1900" dirty="0"/>
              <a:t>','</a:t>
            </a:r>
            <a:r>
              <a:rPr lang="zh-CN" altLang="en-US" sz="1900" dirty="0"/>
              <a:t>已付款</a:t>
            </a:r>
            <a:r>
              <a:rPr lang="en-US" altLang="zh-CN" sz="1900" dirty="0"/>
              <a:t>','</a:t>
            </a:r>
            <a:r>
              <a:rPr lang="zh-CN" altLang="en-US" sz="1900" dirty="0"/>
              <a:t>已发货</a:t>
            </a:r>
            <a:r>
              <a:rPr lang="en-US" altLang="zh-CN" sz="1900" dirty="0"/>
              <a:t>','</a:t>
            </a:r>
            <a:r>
              <a:rPr lang="zh-CN" altLang="en-US" sz="1900" dirty="0"/>
              <a:t>已完成</a:t>
            </a:r>
            <a:r>
              <a:rPr lang="en-US" altLang="zh-CN" sz="1900" dirty="0"/>
              <a:t>','</a:t>
            </a:r>
            <a:r>
              <a:rPr lang="zh-CN" altLang="en-US" sz="1900" dirty="0"/>
              <a:t>已取消</a:t>
            </a:r>
            <a:r>
              <a:rPr lang="en-US" altLang="zh-CN" sz="1900" dirty="0"/>
              <a:t>')</a:t>
            </a:r>
            <a:r>
              <a:rPr lang="zh-CN" altLang="en-US" sz="1900" dirty="0"/>
              <a:t>约束。</a:t>
            </a:r>
            <a:endParaRPr lang="zh-CN" altLang="en-US" sz="1900" dirty="0"/>
          </a:p>
          <a:p>
            <a:pPr lvl="1"/>
            <a:r>
              <a:rPr lang="zh-CN" altLang="en-US" sz="1900" dirty="0">
                <a:solidFill>
                  <a:srgbClr val="FF0000"/>
                </a:solidFill>
              </a:rPr>
              <a:t>效果</a:t>
            </a:r>
            <a:r>
              <a:rPr lang="zh-CN" altLang="en-US" sz="1900" dirty="0"/>
              <a:t>：用户通过视图更新订单状态时，若输入非法值（如 “待发货”），数据库会直接拒绝操作，确保订单状态字段的数据一致性，减少数据错误。</a:t>
            </a:r>
            <a:endParaRPr lang="zh-CN" alt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effectLst/>
                <a:ea typeface="宋体" panose="02010600030101010101" pitchFamily="2" charset="-122"/>
              </a:rPr>
              <a:t>Materialized Views</a:t>
            </a:r>
            <a:endParaRPr lang="en-US" altLang="zh-CN">
              <a:effectLst/>
              <a:ea typeface="宋体" panose="02010600030101010101" pitchFamily="2" charset="-122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Materializing a view</a:t>
            </a:r>
            <a:r>
              <a:rPr lang="en-US" altLang="zh-CN" sz="2400">
                <a:ea typeface="宋体" panose="02010600030101010101" pitchFamily="2" charset="-122"/>
              </a:rPr>
              <a:t>: create a physical table containing all the tuples in the result of the query defining the view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If relations used in the query are updated, the materialized view result becomes out of date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Need to </a:t>
            </a:r>
            <a:r>
              <a:rPr lang="en-US" altLang="zh-CN" b="1">
                <a:solidFill>
                  <a:srgbClr val="000099"/>
                </a:solidFill>
                <a:ea typeface="宋体" panose="02010600030101010101" pitchFamily="2" charset="-122"/>
              </a:rPr>
              <a:t>maintain</a:t>
            </a:r>
            <a:r>
              <a:rPr lang="en-US" altLang="zh-CN">
                <a:ea typeface="宋体" panose="02010600030101010101" pitchFamily="2" charset="-122"/>
              </a:rPr>
              <a:t> the view, by updating the view whenever the underlying relations are updated.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934328"/>
            <a:ext cx="5621154" cy="2204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657" y="3870996"/>
            <a:ext cx="3248525" cy="222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effectLst/>
                <a:ea typeface="宋体" panose="02010600030101010101" pitchFamily="2" charset="-122"/>
              </a:rPr>
              <a:t>Transactions</a:t>
            </a:r>
            <a:endParaRPr lang="en-US" altLang="zh-CN">
              <a:effectLst/>
              <a:ea typeface="宋体" panose="02010600030101010101" pitchFamily="2" charset="-122"/>
            </a:endParaRPr>
          </a:p>
        </p:txBody>
      </p:sp>
      <p:sp>
        <p:nvSpPr>
          <p:cNvPr id="4915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Unit of work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Atomic transaction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either fully executed or rolled back as if it never occurred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Isolation from concurrent transactions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Transactions begin implicitly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Ended by </a:t>
            </a:r>
            <a:r>
              <a:rPr lang="en-US" altLang="zh-CN" sz="2000" b="1" dirty="0">
                <a:ea typeface="宋体" panose="02010600030101010101" pitchFamily="2" charset="-122"/>
              </a:rPr>
              <a:t>commit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ea typeface="宋体" panose="02010600030101010101" pitchFamily="2" charset="-122"/>
              </a:rPr>
              <a:t>work</a:t>
            </a:r>
            <a:r>
              <a:rPr lang="en-US" altLang="zh-CN" sz="2000" dirty="0">
                <a:ea typeface="宋体" panose="02010600030101010101" pitchFamily="2" charset="-122"/>
              </a:rPr>
              <a:t> or </a:t>
            </a:r>
            <a:r>
              <a:rPr lang="en-US" altLang="zh-CN" sz="2000" b="1" dirty="0">
                <a:ea typeface="宋体" panose="02010600030101010101" pitchFamily="2" charset="-122"/>
              </a:rPr>
              <a:t>rollback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ea typeface="宋体" panose="02010600030101010101" pitchFamily="2" charset="-122"/>
              </a:rPr>
              <a:t>work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But default on most databases: each SQL statement commits automatically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Can turn off auto commit for a session (e.g. using API)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In SQL:1999, can use:  </a:t>
            </a:r>
            <a:r>
              <a:rPr lang="en-US" altLang="zh-CN" sz="2000" b="1" dirty="0">
                <a:ea typeface="宋体" panose="02010600030101010101" pitchFamily="2" charset="-122"/>
              </a:rPr>
              <a:t>begin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ea typeface="宋体" panose="02010600030101010101" pitchFamily="2" charset="-122"/>
              </a:rPr>
              <a:t>atomic</a:t>
            </a:r>
            <a:r>
              <a:rPr lang="en-US" altLang="zh-CN" sz="2000" dirty="0">
                <a:ea typeface="宋体" panose="02010600030101010101" pitchFamily="2" charset="-122"/>
              </a:rPr>
              <a:t>  ….  </a:t>
            </a:r>
            <a:r>
              <a:rPr lang="en-US" altLang="zh-CN" sz="2000" b="1" dirty="0">
                <a:ea typeface="宋体" panose="02010600030101010101" pitchFamily="2" charset="-122"/>
              </a:rPr>
              <a:t>end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Not supported on most databases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320"/>
    </mc:Choice>
    <mc:Fallback>
      <p:transition spd="slow" advTm="8532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Integrity Constraints</a:t>
            </a: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Integrity constraints guard against accidental damage to the database, by ensuring that authorized changes to the database do not result in a loss of data consistency.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 checking account must have a balance greater than $10,000.00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 salary of a bank employee must be at least $4.00 an hour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 customer must have a (non-null) phone number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 Integrity Constraints on a Single Relation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b="1">
                <a:ea typeface="宋体" panose="02010600030101010101" pitchFamily="2" charset="-122"/>
              </a:rPr>
              <a:t>not null</a:t>
            </a:r>
            <a:endParaRPr lang="en-US" altLang="zh-CN" sz="2400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ea typeface="宋体" panose="02010600030101010101" pitchFamily="2" charset="-122"/>
              </a:rPr>
              <a:t>primary key</a:t>
            </a:r>
            <a:endParaRPr lang="en-US" altLang="zh-CN" sz="2400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ea typeface="宋体" panose="02010600030101010101" pitchFamily="2" charset="-122"/>
              </a:rPr>
              <a:t>unique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ea typeface="宋体" panose="02010600030101010101" pitchFamily="2" charset="-122"/>
              </a:rPr>
              <a:t>check </a:t>
            </a:r>
            <a:r>
              <a:rPr lang="en-US" altLang="zh-CN" sz="2400">
                <a:ea typeface="宋体" panose="02010600030101010101" pitchFamily="2" charset="-122"/>
              </a:rPr>
              <a:t>(P), where P is a predicate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  <a:buFont typeface="Monotype Sorts" pitchFamily="2" charset="2"/>
              <a:buNone/>
            </a:pPr>
            <a:endParaRPr lang="zh-CN" altLang="zh-CN" sz="20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Not Null and Unique Constraints </a:t>
            </a:r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0"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not null</a:t>
            </a:r>
            <a:endParaRPr kumimoji="0" lang="en-US" altLang="zh-CN" sz="20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kumimoji="0" lang="en-US" altLang="zh-CN">
                <a:ea typeface="宋体" panose="02010600030101010101" pitchFamily="2" charset="-122"/>
              </a:rPr>
              <a:t>Declare </a:t>
            </a:r>
            <a:r>
              <a:rPr kumimoji="0" lang="en-US" altLang="zh-CN" i="1">
                <a:ea typeface="宋体" panose="02010600030101010101" pitchFamily="2" charset="-122"/>
              </a:rPr>
              <a:t>name</a:t>
            </a:r>
            <a:r>
              <a:rPr kumimoji="0" lang="en-US" altLang="zh-CN">
                <a:ea typeface="宋体" panose="02010600030101010101" pitchFamily="2" charset="-122"/>
              </a:rPr>
              <a:t> and </a:t>
            </a:r>
            <a:r>
              <a:rPr kumimoji="0" lang="en-US" altLang="zh-CN" i="1">
                <a:ea typeface="宋体" panose="02010600030101010101" pitchFamily="2" charset="-122"/>
              </a:rPr>
              <a:t>budget</a:t>
            </a:r>
            <a:r>
              <a:rPr kumimoji="0" lang="en-US" altLang="zh-CN">
                <a:ea typeface="宋体" panose="02010600030101010101" pitchFamily="2" charset="-122"/>
              </a:rPr>
              <a:t> to be </a:t>
            </a:r>
            <a:r>
              <a:rPr lang="en-US" altLang="zh-CN" b="1">
                <a:ea typeface="宋体" panose="02010600030101010101" pitchFamily="2" charset="-122"/>
              </a:rPr>
              <a:t>not null</a:t>
            </a:r>
            <a:endParaRPr lang="en-US" altLang="zh-CN" sz="2000" b="1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kumimoji="0" lang="en-US" altLang="zh-CN" i="1">
                <a:ea typeface="宋体" panose="02010600030101010101" pitchFamily="2" charset="-122"/>
              </a:rPr>
              <a:t>		name </a:t>
            </a:r>
            <a:r>
              <a:rPr kumimoji="0" lang="en-US" altLang="zh-CN" b="1">
                <a:ea typeface="宋体" panose="02010600030101010101" pitchFamily="2" charset="-122"/>
              </a:rPr>
              <a:t>varchar</a:t>
            </a:r>
            <a:r>
              <a:rPr kumimoji="0" lang="en-US" altLang="zh-CN">
                <a:ea typeface="宋体" panose="02010600030101010101" pitchFamily="2" charset="-122"/>
              </a:rPr>
              <a:t>(20) </a:t>
            </a:r>
            <a:r>
              <a:rPr kumimoji="0" lang="en-US" altLang="zh-CN" b="1">
                <a:ea typeface="宋体" panose="02010600030101010101" pitchFamily="2" charset="-122"/>
              </a:rPr>
              <a:t>not null</a:t>
            </a:r>
            <a:br>
              <a:rPr kumimoji="0" lang="en-US" altLang="zh-CN" b="1">
                <a:ea typeface="宋体" panose="02010600030101010101" pitchFamily="2" charset="-122"/>
              </a:rPr>
            </a:br>
            <a:r>
              <a:rPr kumimoji="0" lang="en-US" altLang="zh-CN" b="1">
                <a:ea typeface="宋体" panose="02010600030101010101" pitchFamily="2" charset="-122"/>
              </a:rPr>
              <a:t>	</a:t>
            </a:r>
            <a:r>
              <a:rPr kumimoji="0" lang="en-US" altLang="zh-CN" i="1">
                <a:ea typeface="宋体" panose="02010600030101010101" pitchFamily="2" charset="-122"/>
              </a:rPr>
              <a:t>budget </a:t>
            </a:r>
            <a:r>
              <a:rPr kumimoji="0" lang="en-US" altLang="zh-CN" b="1">
                <a:ea typeface="宋体" panose="02010600030101010101" pitchFamily="2" charset="-122"/>
              </a:rPr>
              <a:t>numeric</a:t>
            </a:r>
            <a:r>
              <a:rPr kumimoji="0" lang="en-US" altLang="zh-CN">
                <a:ea typeface="宋体" panose="02010600030101010101" pitchFamily="2" charset="-122"/>
              </a:rPr>
              <a:t>(12,2) </a:t>
            </a:r>
            <a:r>
              <a:rPr kumimoji="0" lang="en-US" altLang="zh-CN" b="1">
                <a:ea typeface="宋体" panose="02010600030101010101" pitchFamily="2" charset="-122"/>
              </a:rPr>
              <a:t>not null</a:t>
            </a:r>
            <a:endParaRPr kumimoji="0" lang="en-US" altLang="zh-CN" sz="2000" b="1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unique</a:t>
            </a:r>
            <a:r>
              <a:rPr kumimoji="0"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( </a:t>
            </a:r>
            <a:r>
              <a:rPr kumimoji="0"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32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kumimoji="0"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baseline="-2500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kumimoji="0"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, …, </a:t>
            </a:r>
            <a:r>
              <a:rPr kumimoji="0"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baseline="-25000">
                <a:solidFill>
                  <a:srgbClr val="0000FF"/>
                </a:solidFill>
                <a:ea typeface="宋体" panose="02010600030101010101" pitchFamily="2" charset="-122"/>
              </a:rPr>
              <a:t>m</a:t>
            </a:r>
            <a:r>
              <a:rPr kumimoji="0"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kumimoji="0"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kumimoji="0" lang="en-US" altLang="zh-CN">
                <a:ea typeface="宋体" panose="02010600030101010101" pitchFamily="2" charset="-122"/>
              </a:rPr>
              <a:t>The unique specification states that the attributes </a:t>
            </a:r>
            <a:r>
              <a:rPr kumimoji="0" lang="en-US" altLang="zh-CN" i="1">
                <a:ea typeface="宋体" panose="02010600030101010101" pitchFamily="2" charset="-122"/>
              </a:rPr>
              <a:t>A</a:t>
            </a:r>
            <a:r>
              <a:rPr kumimoji="0" lang="en-US" altLang="zh-CN">
                <a:ea typeface="宋体" panose="02010600030101010101" pitchFamily="2" charset="-122"/>
              </a:rPr>
              <a:t>1, </a:t>
            </a:r>
            <a:r>
              <a:rPr kumimoji="0" lang="en-US" altLang="zh-CN" i="1">
                <a:ea typeface="宋体" panose="02010600030101010101" pitchFamily="2" charset="-122"/>
              </a:rPr>
              <a:t>A</a:t>
            </a:r>
            <a:r>
              <a:rPr kumimoji="0" lang="en-US" altLang="zh-CN">
                <a:ea typeface="宋体" panose="02010600030101010101" pitchFamily="2" charset="-122"/>
              </a:rPr>
              <a:t>2, … </a:t>
            </a:r>
            <a:r>
              <a:rPr kumimoji="0" lang="en-US" altLang="zh-CN" i="1">
                <a:ea typeface="宋体" panose="02010600030101010101" pitchFamily="2" charset="-122"/>
              </a:rPr>
              <a:t>A</a:t>
            </a:r>
            <a:r>
              <a:rPr kumimoji="0" lang="en-US" altLang="zh-CN">
                <a:ea typeface="宋体" panose="02010600030101010101" pitchFamily="2" charset="-122"/>
              </a:rPr>
              <a:t>m</a:t>
            </a:r>
            <a:br>
              <a:rPr kumimoji="0" lang="en-US" altLang="zh-CN">
                <a:ea typeface="宋体" panose="02010600030101010101" pitchFamily="2" charset="-122"/>
              </a:rPr>
            </a:br>
            <a:r>
              <a:rPr kumimoji="0" lang="en-US" altLang="zh-CN">
                <a:ea typeface="宋体" panose="02010600030101010101" pitchFamily="2" charset="-122"/>
              </a:rPr>
              <a:t>form a candidate key.</a:t>
            </a:r>
            <a:endParaRPr kumimoji="0" lang="en-US" altLang="zh-CN" sz="2000">
              <a:ea typeface="宋体" panose="02010600030101010101" pitchFamily="2" charset="-122"/>
            </a:endParaRPr>
          </a:p>
          <a:p>
            <a:pPr lvl="1" eaLnBrk="1" hangingPunct="1"/>
            <a:r>
              <a:rPr kumimoji="0" lang="en-US" altLang="zh-CN">
                <a:ea typeface="宋体" panose="02010600030101010101" pitchFamily="2" charset="-122"/>
              </a:rPr>
              <a:t>Candidate keys are permitted to be null (in contrast to primary keys).</a:t>
            </a:r>
            <a:endParaRPr kumimoji="0" lang="en-US" altLang="zh-CN" sz="2000">
              <a:ea typeface="宋体" panose="02010600030101010101" pitchFamily="2" charset="-122"/>
            </a:endParaRPr>
          </a:p>
          <a:p>
            <a:pPr eaLnBrk="1" hangingPunct="1"/>
            <a:endParaRPr kumimoji="0" lang="en-US" altLang="zh-CN" sz="2000">
              <a:ea typeface="宋体" panose="02010600030101010101" pitchFamily="2" charset="-122"/>
            </a:endParaRPr>
          </a:p>
          <a:p>
            <a:pPr eaLnBrk="1" hangingPunct="1"/>
            <a:endParaRPr lang="en-US" altLang="zh-CN" sz="2000" b="1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  <a:buFont typeface="Monotype Sorts" pitchFamily="2" charset="2"/>
              <a:buNone/>
            </a:pPr>
            <a:endParaRPr lang="zh-CN" altLang="zh-CN" sz="2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The check clause</a:t>
            </a:r>
            <a:endParaRPr 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581025"/>
          </a:xfrm>
        </p:spPr>
        <p:txBody>
          <a:bodyPr/>
          <a:lstStyle/>
          <a:p>
            <a:pPr eaLnBrk="1" hangingPunct="1"/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check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(P)       </a:t>
            </a:r>
            <a:r>
              <a:rPr lang="en-US" altLang="zh-CN" sz="2400">
                <a:ea typeface="宋体" panose="02010600030101010101" pitchFamily="2" charset="-122"/>
              </a:rPr>
              <a:t>where P is a predicate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228600" y="1647825"/>
            <a:ext cx="8439150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tabLst>
                <a:tab pos="1428750" algn="l"/>
                <a:tab pos="1711325" algn="l"/>
                <a:tab pos="3319145" algn="l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tabLst>
                <a:tab pos="1428750" algn="l"/>
                <a:tab pos="1711325" algn="l"/>
                <a:tab pos="3319145" algn="l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1428750" algn="l"/>
                <a:tab pos="1711325" algn="l"/>
                <a:tab pos="3319145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tabLst>
                <a:tab pos="1428750" algn="l"/>
                <a:tab pos="1711325" algn="l"/>
                <a:tab pos="3319145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000"/>
              <a:t>Example:  ensure that semester is one of fall, winter, spring or summer:</a:t>
            </a:r>
            <a:endParaRPr kumimoji="0" lang="en-US" altLang="zh-CN" sz="2000"/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b="1">
                <a:solidFill>
                  <a:srgbClr val="0000FF"/>
                </a:solidFill>
              </a:rPr>
              <a:t>create table </a:t>
            </a:r>
            <a:r>
              <a:rPr kumimoji="0" lang="en-US" altLang="zh-CN" i="1">
                <a:solidFill>
                  <a:srgbClr val="0000FF"/>
                </a:solidFill>
              </a:rPr>
              <a:t>section </a:t>
            </a:r>
            <a:r>
              <a:rPr kumimoji="0" lang="en-US" altLang="zh-CN">
                <a:solidFill>
                  <a:srgbClr val="0000FF"/>
                </a:solidFill>
              </a:rPr>
              <a:t>(</a:t>
            </a:r>
            <a:endParaRPr kumimoji="0" lang="en-US" altLang="zh-CN" i="1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FF"/>
                </a:solidFill>
              </a:rPr>
              <a:t>    </a:t>
            </a:r>
            <a:r>
              <a:rPr kumimoji="0" lang="en-US" altLang="zh-CN" i="1">
                <a:solidFill>
                  <a:srgbClr val="0000FF"/>
                </a:solidFill>
              </a:rPr>
              <a:t>course_id </a:t>
            </a:r>
            <a:r>
              <a:rPr kumimoji="0" lang="en-US" altLang="zh-CN" b="1">
                <a:solidFill>
                  <a:srgbClr val="0000FF"/>
                </a:solidFill>
              </a:rPr>
              <a:t>varchar </a:t>
            </a:r>
            <a:r>
              <a:rPr kumimoji="0" lang="en-US" altLang="zh-CN">
                <a:solidFill>
                  <a:srgbClr val="0000FF"/>
                </a:solidFill>
              </a:rPr>
              <a:t>(8),</a:t>
            </a:r>
            <a:endParaRPr kumimoji="0" lang="en-US" altLang="zh-CN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i="1">
                <a:solidFill>
                  <a:srgbClr val="0000FF"/>
                </a:solidFill>
              </a:rPr>
              <a:t>    sec_id </a:t>
            </a:r>
            <a:r>
              <a:rPr kumimoji="0" lang="en-US" altLang="zh-CN" b="1">
                <a:solidFill>
                  <a:srgbClr val="0000FF"/>
                </a:solidFill>
              </a:rPr>
              <a:t>varchar </a:t>
            </a:r>
            <a:r>
              <a:rPr kumimoji="0" lang="en-US" altLang="zh-CN">
                <a:solidFill>
                  <a:srgbClr val="0000FF"/>
                </a:solidFill>
              </a:rPr>
              <a:t>(8),</a:t>
            </a:r>
            <a:endParaRPr kumimoji="0" lang="en-US" altLang="zh-CN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i="1">
                <a:solidFill>
                  <a:srgbClr val="0000FF"/>
                </a:solidFill>
              </a:rPr>
              <a:t>    semester </a:t>
            </a:r>
            <a:r>
              <a:rPr kumimoji="0" lang="en-US" altLang="zh-CN" b="1">
                <a:solidFill>
                  <a:srgbClr val="0000FF"/>
                </a:solidFill>
              </a:rPr>
              <a:t>varchar </a:t>
            </a:r>
            <a:r>
              <a:rPr kumimoji="0" lang="en-US" altLang="zh-CN">
                <a:solidFill>
                  <a:srgbClr val="0000FF"/>
                </a:solidFill>
              </a:rPr>
              <a:t>(6),</a:t>
            </a:r>
            <a:endParaRPr kumimoji="0" lang="en-US" altLang="zh-CN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i="1">
                <a:solidFill>
                  <a:srgbClr val="0000FF"/>
                </a:solidFill>
              </a:rPr>
              <a:t>    year </a:t>
            </a:r>
            <a:r>
              <a:rPr kumimoji="0" lang="en-US" altLang="zh-CN" b="1">
                <a:solidFill>
                  <a:srgbClr val="0000FF"/>
                </a:solidFill>
              </a:rPr>
              <a:t>numeric </a:t>
            </a:r>
            <a:r>
              <a:rPr kumimoji="0" lang="en-US" altLang="zh-CN">
                <a:solidFill>
                  <a:srgbClr val="0000FF"/>
                </a:solidFill>
              </a:rPr>
              <a:t>(4,0),</a:t>
            </a:r>
            <a:endParaRPr kumimoji="0" lang="en-US" altLang="zh-CN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i="1">
                <a:solidFill>
                  <a:srgbClr val="0000FF"/>
                </a:solidFill>
              </a:rPr>
              <a:t>    building </a:t>
            </a:r>
            <a:r>
              <a:rPr kumimoji="0" lang="en-US" altLang="zh-CN" b="1">
                <a:solidFill>
                  <a:srgbClr val="0000FF"/>
                </a:solidFill>
              </a:rPr>
              <a:t>varchar </a:t>
            </a:r>
            <a:r>
              <a:rPr kumimoji="0" lang="en-US" altLang="zh-CN">
                <a:solidFill>
                  <a:srgbClr val="0000FF"/>
                </a:solidFill>
              </a:rPr>
              <a:t>(15),</a:t>
            </a:r>
            <a:endParaRPr kumimoji="0" lang="en-US" altLang="zh-CN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i="1">
                <a:solidFill>
                  <a:srgbClr val="0000FF"/>
                </a:solidFill>
              </a:rPr>
              <a:t>    room_number </a:t>
            </a:r>
            <a:r>
              <a:rPr kumimoji="0" lang="en-US" altLang="zh-CN" b="1">
                <a:solidFill>
                  <a:srgbClr val="0000FF"/>
                </a:solidFill>
              </a:rPr>
              <a:t>varchar </a:t>
            </a:r>
            <a:r>
              <a:rPr kumimoji="0" lang="en-US" altLang="zh-CN">
                <a:solidFill>
                  <a:srgbClr val="0000FF"/>
                </a:solidFill>
              </a:rPr>
              <a:t>(7),</a:t>
            </a:r>
            <a:endParaRPr kumimoji="0" lang="en-US" altLang="zh-CN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i="1">
                <a:solidFill>
                  <a:srgbClr val="0000FF"/>
                </a:solidFill>
              </a:rPr>
              <a:t>    time slot id </a:t>
            </a:r>
            <a:r>
              <a:rPr kumimoji="0" lang="en-US" altLang="zh-CN" b="1">
                <a:solidFill>
                  <a:srgbClr val="0000FF"/>
                </a:solidFill>
              </a:rPr>
              <a:t>varchar </a:t>
            </a:r>
            <a:r>
              <a:rPr kumimoji="0" lang="en-US" altLang="zh-CN">
                <a:solidFill>
                  <a:srgbClr val="0000FF"/>
                </a:solidFill>
              </a:rPr>
              <a:t>(4), </a:t>
            </a:r>
            <a:endParaRPr kumimoji="0" lang="en-US" altLang="zh-CN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b="1">
                <a:solidFill>
                  <a:srgbClr val="0000FF"/>
                </a:solidFill>
              </a:rPr>
              <a:t>    primary key </a:t>
            </a:r>
            <a:r>
              <a:rPr kumimoji="0" lang="en-US" altLang="zh-CN">
                <a:solidFill>
                  <a:srgbClr val="0000FF"/>
                </a:solidFill>
              </a:rPr>
              <a:t>(</a:t>
            </a:r>
            <a:r>
              <a:rPr kumimoji="0" lang="en-US" altLang="zh-CN" i="1">
                <a:solidFill>
                  <a:srgbClr val="0000FF"/>
                </a:solidFill>
              </a:rPr>
              <a:t>course_id</a:t>
            </a:r>
            <a:r>
              <a:rPr kumimoji="0" lang="en-US" altLang="zh-CN">
                <a:solidFill>
                  <a:srgbClr val="0000FF"/>
                </a:solidFill>
              </a:rPr>
              <a:t>, </a:t>
            </a:r>
            <a:r>
              <a:rPr kumimoji="0" lang="en-US" altLang="zh-CN" i="1">
                <a:solidFill>
                  <a:srgbClr val="0000FF"/>
                </a:solidFill>
              </a:rPr>
              <a:t>sec_id</a:t>
            </a:r>
            <a:r>
              <a:rPr kumimoji="0" lang="en-US" altLang="zh-CN">
                <a:solidFill>
                  <a:srgbClr val="0000FF"/>
                </a:solidFill>
              </a:rPr>
              <a:t>, </a:t>
            </a:r>
            <a:r>
              <a:rPr kumimoji="0" lang="en-US" altLang="zh-CN" i="1">
                <a:solidFill>
                  <a:srgbClr val="0000FF"/>
                </a:solidFill>
              </a:rPr>
              <a:t>semester</a:t>
            </a:r>
            <a:r>
              <a:rPr kumimoji="0" lang="en-US" altLang="zh-CN">
                <a:solidFill>
                  <a:srgbClr val="0000FF"/>
                </a:solidFill>
              </a:rPr>
              <a:t>, </a:t>
            </a:r>
            <a:r>
              <a:rPr kumimoji="0" lang="en-US" altLang="zh-CN" i="1">
                <a:solidFill>
                  <a:srgbClr val="0000FF"/>
                </a:solidFill>
              </a:rPr>
              <a:t>year</a:t>
            </a:r>
            <a:r>
              <a:rPr kumimoji="0" lang="en-US" altLang="zh-CN">
                <a:solidFill>
                  <a:srgbClr val="0000FF"/>
                </a:solidFill>
              </a:rPr>
              <a:t>),</a:t>
            </a:r>
            <a:endParaRPr kumimoji="0" lang="en-US" altLang="zh-CN">
              <a:solidFill>
                <a:srgbClr val="0000FF"/>
              </a:solidFill>
            </a:endParaRPr>
          </a:p>
          <a:p>
            <a:pPr lvl="2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b="1">
                <a:solidFill>
                  <a:srgbClr val="0000FF"/>
                </a:solidFill>
              </a:rPr>
              <a:t>    check </a:t>
            </a:r>
            <a:r>
              <a:rPr kumimoji="0" lang="en-US" altLang="zh-CN">
                <a:solidFill>
                  <a:srgbClr val="0000FF"/>
                </a:solidFill>
              </a:rPr>
              <a:t>(</a:t>
            </a:r>
            <a:r>
              <a:rPr kumimoji="0" lang="en-US" altLang="zh-CN" i="1">
                <a:solidFill>
                  <a:srgbClr val="0000FF"/>
                </a:solidFill>
              </a:rPr>
              <a:t>semester </a:t>
            </a:r>
            <a:r>
              <a:rPr kumimoji="0" lang="en-US" altLang="zh-CN" b="1">
                <a:solidFill>
                  <a:srgbClr val="0000FF"/>
                </a:solidFill>
              </a:rPr>
              <a:t>in </a:t>
            </a:r>
            <a:r>
              <a:rPr kumimoji="0" lang="en-US" altLang="zh-CN">
                <a:solidFill>
                  <a:srgbClr val="0000FF"/>
                </a:solidFill>
              </a:rPr>
              <a:t>('Fall', 'Winter', 'Spring', 'Summer'))</a:t>
            </a:r>
            <a:br>
              <a:rPr kumimoji="0" lang="en-US" altLang="zh-CN">
                <a:solidFill>
                  <a:srgbClr val="0000FF"/>
                </a:solidFill>
              </a:rPr>
            </a:br>
            <a:r>
              <a:rPr kumimoji="0" lang="en-US" altLang="zh-CN">
                <a:solidFill>
                  <a:srgbClr val="0000FF"/>
                </a:solidFill>
              </a:rPr>
              <a:t>);</a:t>
            </a:r>
            <a:endParaRPr kumimoji="0" lang="en-US" altLang="zh-CN">
              <a:solidFill>
                <a:srgbClr val="0000FF"/>
              </a:solidFill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37931725" indent="-37474525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  <a:buFont typeface="Monotype Sorts" pitchFamily="2" charset="2"/>
              <a:buNone/>
            </a:pPr>
            <a:endParaRPr lang="zh-CN" altLang="zh-CN" sz="20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Referential Integrity</a:t>
            </a: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Ensures that a value that appears in one relation for a given set of attributes also appears for a certain set of attributes in another relation.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>
                <a:ea typeface="宋体" panose="02010600030101010101" pitchFamily="2" charset="-122"/>
              </a:rPr>
              <a:t>Example:  If “Biology” is a department name appearing in one of the tuples in the </a:t>
            </a:r>
            <a:r>
              <a:rPr lang="en-US" altLang="zh-CN" i="1">
                <a:ea typeface="宋体" panose="02010600030101010101" pitchFamily="2" charset="-122"/>
              </a:rPr>
              <a:t>instructor</a:t>
            </a:r>
            <a:r>
              <a:rPr lang="en-US" altLang="zh-CN">
                <a:ea typeface="宋体" panose="02010600030101010101" pitchFamily="2" charset="-122"/>
              </a:rPr>
              <a:t> relation, then there exists a tuple in the </a:t>
            </a:r>
            <a:r>
              <a:rPr lang="en-US" altLang="zh-CN" i="1">
                <a:ea typeface="宋体" panose="02010600030101010101" pitchFamily="2" charset="-122"/>
              </a:rPr>
              <a:t>department</a:t>
            </a:r>
            <a:r>
              <a:rPr lang="en-US" altLang="zh-CN">
                <a:ea typeface="宋体" panose="02010600030101010101" pitchFamily="2" charset="-122"/>
              </a:rPr>
              <a:t> relation for “Biology”.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Let A be a set of attributes.  Let R and S be two relations that contain attributes A and where A is the primary key of S. A is said to be a  </a:t>
            </a: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foreign key</a:t>
            </a:r>
            <a:r>
              <a:rPr lang="en-US" altLang="zh-CN" sz="2400">
                <a:ea typeface="宋体" panose="02010600030101010101" pitchFamily="2" charset="-122"/>
              </a:rPr>
              <a:t> of R if for any values of A appearing in R these values also appear in S.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Cascading Actions in Referential Integrity</a:t>
            </a:r>
            <a:endParaRPr lang="en-US" sz="280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2172970" algn="l"/>
              </a:tabLst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table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 (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 course_id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(5)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primary key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title    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dept_name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(20)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references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2172970" algn="l"/>
              </a:tabLst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table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…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foreign key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references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    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on delete cascade</a:t>
            </a:r>
            <a:b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         on update cascade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. . . 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217297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alternative actions to cascade: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set null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set default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2172970" algn="l"/>
              </a:tabLst>
            </a:pPr>
            <a:endParaRPr lang="en-US" altLang="zh-CN" sz="2000" i="1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2172970" algn="l"/>
              </a:tabLst>
            </a:pPr>
            <a:endParaRPr lang="en-US" altLang="zh-CN" i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/>
              <a:t>Integrity Constraint Violation During Transactions</a:t>
            </a:r>
            <a:endParaRPr lang="en-US" sz="280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E.g.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table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person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(10),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name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(40),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mother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(10),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father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(10),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primary key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ID,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foreign key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father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references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person,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foreign key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mother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references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person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How to insert a tuple without causing constraint violation ?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insert father and mother of a person before inserting person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OR, set father and mother to null initially, update after inserting all persons (not possible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if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father and mother attributes declared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to be </a:t>
            </a:r>
            <a:r>
              <a:rPr lang="en-US" altLang="zh-CN" sz="2000" b="1">
                <a:ea typeface="宋体" panose="02010600030101010101" pitchFamily="2" charset="-122"/>
              </a:rPr>
              <a:t>not null</a:t>
            </a:r>
            <a:r>
              <a:rPr lang="en-US" altLang="zh-CN" sz="2000">
                <a:ea typeface="宋体" panose="02010600030101010101" pitchFamily="2" charset="-122"/>
              </a:rPr>
              <a:t>) 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OR defer constraint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checking (next slide)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Complex Check Clauses</a:t>
            </a:r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CN" sz="1900" b="1" dirty="0">
                <a:ea typeface="宋体" panose="02010600030101010101" pitchFamily="2" charset="-122"/>
              </a:rPr>
              <a:t>check </a:t>
            </a:r>
            <a:r>
              <a:rPr lang="en-US" altLang="zh-CN" sz="1900" dirty="0">
                <a:ea typeface="宋体" panose="02010600030101010101" pitchFamily="2" charset="-122"/>
              </a:rPr>
              <a:t>(</a:t>
            </a:r>
            <a:r>
              <a:rPr lang="en-US" altLang="zh-CN" sz="1900" i="1" dirty="0" err="1">
                <a:ea typeface="宋体" panose="02010600030101010101" pitchFamily="2" charset="-122"/>
              </a:rPr>
              <a:t>time_slot_id</a:t>
            </a:r>
            <a:r>
              <a:rPr lang="en-US" altLang="zh-CN" sz="1900" i="1" dirty="0">
                <a:ea typeface="宋体" panose="02010600030101010101" pitchFamily="2" charset="-122"/>
              </a:rPr>
              <a:t> </a:t>
            </a:r>
            <a:r>
              <a:rPr lang="en-US" altLang="zh-CN" sz="1900" b="1" dirty="0">
                <a:ea typeface="宋体" panose="02010600030101010101" pitchFamily="2" charset="-122"/>
              </a:rPr>
              <a:t>in </a:t>
            </a:r>
            <a:r>
              <a:rPr lang="en-US" altLang="zh-CN" sz="1900" dirty="0">
                <a:ea typeface="宋体" panose="02010600030101010101" pitchFamily="2" charset="-122"/>
              </a:rPr>
              <a:t>(</a:t>
            </a:r>
            <a:r>
              <a:rPr lang="en-US" altLang="zh-CN" sz="1900" b="1" dirty="0">
                <a:ea typeface="宋体" panose="02010600030101010101" pitchFamily="2" charset="-122"/>
              </a:rPr>
              <a:t>select </a:t>
            </a:r>
            <a:r>
              <a:rPr lang="en-US" altLang="zh-CN" sz="1900" i="1" dirty="0" err="1">
                <a:ea typeface="宋体" panose="02010600030101010101" pitchFamily="2" charset="-122"/>
              </a:rPr>
              <a:t>time_slot_id</a:t>
            </a:r>
            <a:r>
              <a:rPr lang="en-US" altLang="zh-CN" sz="1900" i="1" dirty="0">
                <a:ea typeface="宋体" panose="02010600030101010101" pitchFamily="2" charset="-122"/>
              </a:rPr>
              <a:t> </a:t>
            </a:r>
            <a:r>
              <a:rPr lang="en-US" altLang="zh-CN" sz="1900" b="1" dirty="0">
                <a:ea typeface="宋体" panose="02010600030101010101" pitchFamily="2" charset="-122"/>
              </a:rPr>
              <a:t>from </a:t>
            </a:r>
            <a:r>
              <a:rPr lang="en-US" altLang="zh-CN" sz="1900" i="1" dirty="0" err="1">
                <a:ea typeface="宋体" panose="02010600030101010101" pitchFamily="2" charset="-122"/>
              </a:rPr>
              <a:t>time_slot</a:t>
            </a:r>
            <a:r>
              <a:rPr lang="en-US" altLang="zh-CN" sz="1900" dirty="0">
                <a:ea typeface="宋体" panose="02010600030101010101" pitchFamily="2" charset="-122"/>
              </a:rPr>
              <a:t>))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1900" dirty="0">
                <a:ea typeface="宋体" panose="02010600030101010101" pitchFamily="2" charset="-122"/>
              </a:rPr>
              <a:t>why not use a foreign key here?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1900" dirty="0">
                <a:ea typeface="宋体" panose="02010600030101010101" pitchFamily="2" charset="-122"/>
              </a:rPr>
              <a:t>Because </a:t>
            </a:r>
            <a:r>
              <a:rPr lang="en-US" altLang="zh-CN" sz="1900" i="1" dirty="0" err="1">
                <a:ea typeface="宋体" panose="02010600030101010101" pitchFamily="2" charset="-122"/>
              </a:rPr>
              <a:t>time_slot_id</a:t>
            </a:r>
            <a:r>
              <a:rPr lang="en-US" altLang="zh-CN" sz="1900" i="1" dirty="0">
                <a:ea typeface="宋体" panose="02010600030101010101" pitchFamily="2" charset="-122"/>
              </a:rPr>
              <a:t> </a:t>
            </a:r>
            <a:r>
              <a:rPr lang="en-US" altLang="zh-CN" sz="1900" dirty="0">
                <a:ea typeface="宋体" panose="02010600030101010101" pitchFamily="2" charset="-122"/>
              </a:rPr>
              <a:t>is not a primary key of </a:t>
            </a:r>
            <a:r>
              <a:rPr lang="en-US" altLang="zh-CN" sz="1900" i="1" dirty="0">
                <a:ea typeface="宋体" panose="02010600030101010101" pitchFamily="2" charset="-122"/>
              </a:rPr>
              <a:t>timeslot</a:t>
            </a:r>
            <a:endParaRPr lang="en-US" altLang="zh-CN" sz="2200" i="1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1900" dirty="0">
                <a:ea typeface="宋体" panose="02010600030101010101" pitchFamily="2" charset="-122"/>
              </a:rPr>
              <a:t>Every section has at least one instructor teaching the section.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1900" dirty="0">
                <a:ea typeface="宋体" panose="02010600030101010101" pitchFamily="2" charset="-122"/>
              </a:rPr>
              <a:t>how to write this?-subquery is needed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1900" dirty="0">
                <a:solidFill>
                  <a:schemeClr val="tx2"/>
                </a:solidFill>
                <a:ea typeface="宋体" panose="02010600030101010101" pitchFamily="2" charset="-122"/>
              </a:rPr>
              <a:t>Unfortunately:  subquery in check clause not supported by pretty much any database</a:t>
            </a:r>
            <a:endParaRPr lang="en-US" altLang="zh-CN" sz="19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300" dirty="0">
                <a:ea typeface="宋体" panose="02010600030101010101" pitchFamily="2" charset="-122"/>
              </a:rPr>
              <a:t>Alternative: triggers (later)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1900" b="1" dirty="0">
                <a:ea typeface="宋体" panose="02010600030101010101" pitchFamily="2" charset="-122"/>
              </a:rPr>
              <a:t>create assertion </a:t>
            </a:r>
            <a:r>
              <a:rPr lang="en-US" altLang="zh-CN" sz="1900" dirty="0">
                <a:ea typeface="宋体" panose="02010600030101010101" pitchFamily="2" charset="-122"/>
              </a:rPr>
              <a:t>&lt;assertion-name&gt; </a:t>
            </a:r>
            <a:r>
              <a:rPr lang="en-US" altLang="zh-CN" sz="1900" b="1" dirty="0">
                <a:ea typeface="宋体" panose="02010600030101010101" pitchFamily="2" charset="-122"/>
              </a:rPr>
              <a:t>check </a:t>
            </a:r>
            <a:r>
              <a:rPr lang="en-US" altLang="zh-CN" sz="1900" dirty="0">
                <a:ea typeface="宋体" panose="02010600030101010101" pitchFamily="2" charset="-122"/>
              </a:rPr>
              <a:t>&lt;predicate&gt;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  <a:buFont typeface="Monotype Sorts" pitchFamily="2" charset="2"/>
              <a:buNone/>
            </a:pP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create assertion </a:t>
            </a:r>
            <a:r>
              <a:rPr lang="en-US" altLang="zh-CN" sz="1900" i="1" dirty="0" err="1">
                <a:solidFill>
                  <a:srgbClr val="0000CC"/>
                </a:solidFill>
                <a:ea typeface="宋体" panose="02010600030101010101" pitchFamily="2" charset="-122"/>
              </a:rPr>
              <a:t>credits_earned_constraint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check</a:t>
            </a:r>
            <a:b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   (not exists (select 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 from 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student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  <a:b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   	          where </a:t>
            </a:r>
            <a:r>
              <a:rPr lang="en-US" altLang="zh-CN" sz="1900" i="1" dirty="0" err="1">
                <a:solidFill>
                  <a:srgbClr val="0000CC"/>
                </a:solidFill>
                <a:ea typeface="宋体" panose="02010600030101010101" pitchFamily="2" charset="-122"/>
              </a:rPr>
              <a:t>tot_cred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 &lt;&gt; (select sum(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credits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			        	from 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takes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 natural join 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course</a:t>
            </a:r>
            <a:b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				where 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student.ID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takes.ID</a:t>
            </a:r>
            <a:b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</a:b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				and 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grade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 is not null and </a:t>
            </a:r>
            <a:r>
              <a:rPr lang="en-US" altLang="zh-CN" sz="1900" i="1" dirty="0">
                <a:solidFill>
                  <a:srgbClr val="0000CC"/>
                </a:solidFill>
                <a:ea typeface="宋体" panose="02010600030101010101" pitchFamily="2" charset="-122"/>
              </a:rPr>
              <a:t>grade</a:t>
            </a:r>
            <a:r>
              <a:rPr lang="en-US" altLang="zh-CN" sz="1900" b="1" dirty="0">
                <a:solidFill>
                  <a:srgbClr val="0000CC"/>
                </a:solidFill>
                <a:ea typeface="宋体" panose="02010600030101010101" pitchFamily="2" charset="-122"/>
              </a:rPr>
              <a:t>&lt;&gt; ‘F’)</a:t>
            </a:r>
            <a:endParaRPr lang="en-US" altLang="zh-CN" sz="26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Built-in Data Types in SQL </a:t>
            </a:r>
            <a:endParaRPr lang="en-US" sz="280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250950" algn="l"/>
              </a:tabLst>
            </a:pP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date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000">
                <a:ea typeface="宋体" panose="02010600030101010101" pitchFamily="2" charset="-122"/>
              </a:rPr>
              <a:t>  Dates, containing a (4 digit) year, month and date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tabLst>
                <a:tab pos="125095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Example:  </a:t>
            </a:r>
            <a:r>
              <a:rPr lang="en-US" altLang="zh-CN" sz="2000" b="1">
                <a:ea typeface="宋体" panose="02010600030101010101" pitchFamily="2" charset="-122"/>
              </a:rPr>
              <a:t>date</a:t>
            </a:r>
            <a:r>
              <a:rPr lang="en-US" altLang="zh-CN" sz="2000">
                <a:ea typeface="宋体" panose="02010600030101010101" pitchFamily="2" charset="-122"/>
              </a:rPr>
              <a:t> '2005-7-27'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tabLst>
                <a:tab pos="1250950" algn="l"/>
              </a:tabLst>
            </a:pP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time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000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 Time of day, in hours, minutes and seconds.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tabLst>
                <a:tab pos="125095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Example: </a:t>
            </a:r>
            <a:r>
              <a:rPr lang="en-US" altLang="zh-CN" sz="2000" b="1">
                <a:ea typeface="宋体" panose="02010600030101010101" pitchFamily="2" charset="-122"/>
              </a:rPr>
              <a:t> time</a:t>
            </a:r>
            <a:r>
              <a:rPr lang="en-US" altLang="zh-CN" sz="2000">
                <a:ea typeface="宋体" panose="02010600030101010101" pitchFamily="2" charset="-122"/>
              </a:rPr>
              <a:t> '09:00:30'        </a:t>
            </a:r>
            <a:r>
              <a:rPr lang="en-US" altLang="zh-CN" sz="2000" b="1">
                <a:ea typeface="宋体" panose="02010600030101010101" pitchFamily="2" charset="-122"/>
              </a:rPr>
              <a:t> time</a:t>
            </a:r>
            <a:r>
              <a:rPr lang="en-US" altLang="zh-CN" sz="2000">
                <a:ea typeface="宋体" panose="02010600030101010101" pitchFamily="2" charset="-122"/>
              </a:rPr>
              <a:t> '09:00:30.75'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tabLst>
                <a:tab pos="1250950" algn="l"/>
              </a:tabLst>
            </a:pP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timestamp</a:t>
            </a:r>
            <a:r>
              <a:rPr lang="en-US" altLang="zh-CN" sz="2000">
                <a:ea typeface="宋体" panose="02010600030101010101" pitchFamily="2" charset="-122"/>
              </a:rPr>
              <a:t>: date plus time of day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tabLst>
                <a:tab pos="125095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Example:  </a:t>
            </a:r>
            <a:r>
              <a:rPr lang="en-US" altLang="zh-CN" sz="2000" b="1">
                <a:ea typeface="宋体" panose="02010600030101010101" pitchFamily="2" charset="-122"/>
              </a:rPr>
              <a:t>timestamp</a:t>
            </a:r>
            <a:r>
              <a:rPr lang="en-US" altLang="zh-CN" sz="2000">
                <a:ea typeface="宋体" panose="02010600030101010101" pitchFamily="2" charset="-122"/>
              </a:rPr>
              <a:t>  '2005-7-27 09:00:30.75'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tabLst>
                <a:tab pos="1250950" algn="l"/>
              </a:tabLst>
            </a:pP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interval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000">
                <a:ea typeface="宋体" panose="02010600030101010101" pitchFamily="2" charset="-122"/>
              </a:rPr>
              <a:t>  period of time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tabLst>
                <a:tab pos="125095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Example:   interval  '1' day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tabLst>
                <a:tab pos="125095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Subtracting a date/time/timestamp value from another gives an interval value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tabLst>
                <a:tab pos="1250950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Interval values can be added to date/time/timestamp values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094"/>
    </mc:Choice>
    <mc:Fallback>
      <p:transition spd="slow" advTm="108094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table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student	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ID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(5),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name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(20)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not null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tot_cred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numeric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(3,0)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default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0,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primary key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))</a:t>
            </a: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index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studentID_index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on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student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Indices are data structures used to speed up access to records with specified values for index attributes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e.g.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* </a:t>
            </a:r>
            <a:b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from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student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ID =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'12345'</a:t>
            </a: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can be executed by using the index to find the required record, without looking at all records of </a:t>
            </a:r>
            <a:r>
              <a:rPr lang="en-US" altLang="zh-CN" sz="2000" i="1">
                <a:ea typeface="宋体" panose="02010600030101010101" pitchFamily="2" charset="-122"/>
              </a:rPr>
              <a:t>student</a:t>
            </a:r>
            <a:endParaRPr lang="en-US" altLang="zh-CN" sz="2000" i="1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000" i="1">
                <a:ea typeface="宋体" panose="02010600030101010101" pitchFamily="2" charset="-122"/>
              </a:rPr>
              <a:t>More on indices in Chapter 11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User-Defined Types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146175" algn="l"/>
                <a:tab pos="1890395" algn="l"/>
              </a:tabLst>
            </a:pP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create type</a:t>
            </a:r>
            <a:r>
              <a:rPr lang="en-US" altLang="zh-CN" sz="24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construct in SQL creates user-defined type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146175" algn="l"/>
                <a:tab pos="1890395" algn="l"/>
              </a:tabLst>
            </a:pPr>
            <a:endParaRPr lang="en-US" altLang="zh-CN" sz="2400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  <a:tabLst>
                <a:tab pos="1146175" algn="l"/>
                <a:tab pos="1890395" algn="l"/>
              </a:tabLst>
            </a:pPr>
            <a:r>
              <a:rPr lang="en-US" altLang="zh-CN" b="1">
                <a:ea typeface="宋体" panose="02010600030101010101" pitchFamily="2" charset="-122"/>
              </a:rPr>
              <a:t>		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create type </a:t>
            </a: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Dollars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 as numeric (12,2) final </a:t>
            </a:r>
            <a:b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</a:b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1146175" algn="l"/>
                <a:tab pos="1890395" algn="l"/>
              </a:tabLst>
            </a:pP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create table </a:t>
            </a: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b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varchar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(20),</a:t>
            </a:r>
            <a:b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building 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varchar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(15),</a:t>
            </a:r>
            <a:b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budget Dollars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Domains</a:t>
            </a: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create domain</a:t>
            </a:r>
            <a:r>
              <a:rPr lang="en-US" altLang="zh-CN" sz="2400">
                <a:ea typeface="宋体" panose="02010600030101010101" pitchFamily="2" charset="-122"/>
              </a:rPr>
              <a:t> construct in SQL-92 creates user-defined domain types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  <a:buFont typeface="Monotype Sorts" pitchFamily="2" charset="2"/>
              <a:buNone/>
            </a:pP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create domain </a:t>
            </a: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person_name 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char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(20) 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not null</a:t>
            </a:r>
            <a:endParaRPr lang="en-US" altLang="zh-CN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  <a:buFont typeface="Monotype Sorts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Types and domains are similar.  Domains can have constraints, such as </a:t>
            </a:r>
            <a:r>
              <a:rPr lang="en-US" altLang="zh-CN" sz="2400" b="1">
                <a:ea typeface="宋体" panose="02010600030101010101" pitchFamily="2" charset="-122"/>
              </a:rPr>
              <a:t>not null</a:t>
            </a:r>
            <a:r>
              <a:rPr lang="en-US" altLang="zh-CN" sz="2400">
                <a:ea typeface="宋体" panose="02010600030101010101" pitchFamily="2" charset="-122"/>
              </a:rPr>
              <a:t>, specified on them.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create domain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degree_level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(10)</a:t>
            </a:r>
            <a:b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constraint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degree_level_test</a:t>
            </a:r>
            <a:b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check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value in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('Bachelors', 'Masters', 'Doctorate'));</a:t>
            </a:r>
            <a:endParaRPr lang="en-US" altLang="zh-CN" sz="24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Large-Object Types</a:t>
            </a:r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Large objects (photos, videos, CAD files, etc.) are stored as a </a:t>
            </a:r>
            <a:r>
              <a:rPr lang="en-US" altLang="zh-CN" sz="2400" i="1">
                <a:ea typeface="宋体" panose="02010600030101010101" pitchFamily="2" charset="-122"/>
              </a:rPr>
              <a:t>large object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b="1">
                <a:solidFill>
                  <a:srgbClr val="000099"/>
                </a:solidFill>
                <a:ea typeface="宋体" panose="02010600030101010101" pitchFamily="2" charset="-122"/>
              </a:rPr>
              <a:t>blob</a:t>
            </a:r>
            <a:r>
              <a:rPr lang="en-US" altLang="zh-CN">
                <a:ea typeface="宋体" panose="02010600030101010101" pitchFamily="2" charset="-122"/>
              </a:rPr>
              <a:t>: binary large object -- object is a large collection of uninterpreted binary data (whose interpretation is left to an application outside of the database system)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b="1">
                <a:solidFill>
                  <a:srgbClr val="000099"/>
                </a:solidFill>
                <a:ea typeface="宋体" panose="02010600030101010101" pitchFamily="2" charset="-122"/>
              </a:rPr>
              <a:t>clob</a:t>
            </a:r>
            <a:r>
              <a:rPr lang="en-US" altLang="zh-CN">
                <a:ea typeface="宋体" panose="02010600030101010101" pitchFamily="2" charset="-122"/>
              </a:rPr>
              <a:t>: character large object -- object is a large collection of character data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When a query returns a large object, a pointer is returned rather than the large object itself.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346"/>
    </mc:Choice>
    <mc:Fallback>
      <p:transition spd="slow" advTm="30346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Authorization</a:t>
            </a: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Forms of authorization on parts of  the database: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Read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- allows reading, but not modification of data.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Insert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- allows insertion of new data, but not modification of existing data.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Update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- allows modification, but not deletion of data.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Delete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- allows deletion of data.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Forms of authorization to modify the database schema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Index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- allows creation and deletion of indices.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Resources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- allows creation of new relations.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Alteration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- allows addition or deletion of attributes in a relation.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Drop</a:t>
            </a:r>
            <a: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- allows deletion of relations.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050"/>
    </mc:Choice>
    <mc:Fallback>
      <p:transition spd="slow" advTm="6505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Authorization Specification in SQL</a:t>
            </a: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The </a:t>
            </a: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grant</a:t>
            </a:r>
            <a:r>
              <a:rPr lang="en-US" altLang="zh-CN" sz="2000">
                <a:ea typeface="宋体" panose="02010600030101010101" pitchFamily="2" charset="-122"/>
              </a:rPr>
              <a:t> statement is used to confer authorization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		</a:t>
            </a:r>
            <a:r>
              <a:rPr lang="en-US" altLang="zh-CN" sz="2000" b="1">
                <a:ea typeface="宋体" panose="02010600030101010101" pitchFamily="2" charset="-122"/>
              </a:rPr>
              <a:t>grant</a:t>
            </a:r>
            <a:r>
              <a:rPr lang="en-US" altLang="zh-CN" sz="2000">
                <a:ea typeface="宋体" panose="02010600030101010101" pitchFamily="2" charset="-122"/>
              </a:rPr>
              <a:t> &lt;privilege list&gt;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		</a:t>
            </a:r>
            <a:r>
              <a:rPr lang="en-US" altLang="zh-CN" sz="2000" b="1">
                <a:ea typeface="宋体" panose="02010600030101010101" pitchFamily="2" charset="-122"/>
              </a:rPr>
              <a:t>on </a:t>
            </a:r>
            <a:r>
              <a:rPr lang="en-US" altLang="zh-CN" sz="2000">
                <a:ea typeface="宋体" panose="02010600030101010101" pitchFamily="2" charset="-122"/>
              </a:rPr>
              <a:t>&lt;relation name or view name&gt; </a:t>
            </a:r>
            <a:r>
              <a:rPr lang="en-US" altLang="zh-CN" sz="2000" b="1">
                <a:ea typeface="宋体" panose="02010600030101010101" pitchFamily="2" charset="-122"/>
              </a:rPr>
              <a:t>to</a:t>
            </a:r>
            <a:r>
              <a:rPr lang="en-US" altLang="zh-CN" sz="2000">
                <a:ea typeface="宋体" panose="02010600030101010101" pitchFamily="2" charset="-122"/>
              </a:rPr>
              <a:t> &lt;user list&gt;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&lt;user list&gt; is: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a user-id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>
                <a:ea typeface="宋体" panose="02010600030101010101" pitchFamily="2" charset="-122"/>
              </a:rPr>
              <a:t>public</a:t>
            </a:r>
            <a:r>
              <a:rPr lang="en-US" altLang="zh-CN" sz="2000">
                <a:ea typeface="宋体" panose="02010600030101010101" pitchFamily="2" charset="-122"/>
              </a:rPr>
              <a:t>, which allows all valid users the privilege granted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A role (more on this later)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Granting a privilege on a view does not imply granting any privileges on the underlying relations.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The grantor of the privilege must already hold the privilege on the specified item (or be the database administrator).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Figure 4.03</a:t>
            </a:r>
            <a:endParaRPr lang="en-US"/>
          </a:p>
        </p:txBody>
      </p:sp>
      <p:pic>
        <p:nvPicPr>
          <p:cNvPr id="7680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63" y="984250"/>
            <a:ext cx="5156200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Privileges in SQL</a:t>
            </a:r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select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  <a:r>
              <a:rPr lang="en-US" altLang="zh-CN" sz="2400">
                <a:ea typeface="宋体" panose="02010600030101010101" pitchFamily="2" charset="-122"/>
              </a:rPr>
              <a:t> allows read access to relation,or the ability to query using the view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Example: grant users </a:t>
            </a:r>
            <a:r>
              <a:rPr lang="en-US" altLang="zh-CN" i="1">
                <a:ea typeface="宋体" panose="02010600030101010101" pitchFamily="2" charset="-122"/>
              </a:rPr>
              <a:t>U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 i="1">
                <a:ea typeface="宋体" panose="02010600030101010101" pitchFamily="2" charset="-122"/>
              </a:rPr>
              <a:t>U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, and </a:t>
            </a:r>
            <a:r>
              <a:rPr lang="en-US" altLang="zh-CN" i="1">
                <a:ea typeface="宋体" panose="02010600030101010101" pitchFamily="2" charset="-122"/>
              </a:rPr>
              <a:t>U</a:t>
            </a:r>
            <a:r>
              <a:rPr lang="en-US" altLang="zh-CN" baseline="-25000">
                <a:ea typeface="宋体" panose="02010600030101010101" pitchFamily="2" charset="-122"/>
              </a:rPr>
              <a:t>3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</a:rPr>
              <a:t>select</a:t>
            </a:r>
            <a:r>
              <a:rPr lang="en-US" altLang="zh-CN">
                <a:ea typeface="宋体" panose="02010600030101010101" pitchFamily="2" charset="-122"/>
              </a:rPr>
              <a:t> authorization on the </a:t>
            </a:r>
            <a:r>
              <a:rPr lang="en-US" altLang="zh-CN" i="1">
                <a:ea typeface="宋体" panose="02010600030101010101" pitchFamily="2" charset="-122"/>
              </a:rPr>
              <a:t>instructor </a:t>
            </a:r>
            <a:r>
              <a:rPr lang="en-US" altLang="zh-CN">
                <a:ea typeface="宋体" panose="02010600030101010101" pitchFamily="2" charset="-122"/>
              </a:rPr>
              <a:t>relation: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			</a:t>
            </a:r>
            <a:r>
              <a:rPr lang="en-US" altLang="zh-CN" sz="2400" b="1">
                <a:ea typeface="宋体" panose="02010600030101010101" pitchFamily="2" charset="-122"/>
              </a:rPr>
              <a:t>grant select on </a:t>
            </a:r>
            <a:r>
              <a:rPr lang="en-US" altLang="zh-CN" sz="2400" i="1">
                <a:ea typeface="宋体" panose="02010600030101010101" pitchFamily="2" charset="-122"/>
              </a:rPr>
              <a:t>instructor </a:t>
            </a:r>
            <a:r>
              <a:rPr lang="en-US" altLang="zh-CN" sz="2400" b="1">
                <a:ea typeface="宋体" panose="02010600030101010101" pitchFamily="2" charset="-122"/>
              </a:rPr>
              <a:t>to </a:t>
            </a:r>
            <a:r>
              <a:rPr lang="en-US" altLang="zh-CN" sz="2400" i="1">
                <a:ea typeface="宋体" panose="02010600030101010101" pitchFamily="2" charset="-122"/>
              </a:rPr>
              <a:t>U</a:t>
            </a:r>
            <a:r>
              <a:rPr lang="en-US" altLang="zh-CN" sz="2400" baseline="-25000">
                <a:ea typeface="宋体" panose="02010600030101010101" pitchFamily="2" charset="-122"/>
              </a:rPr>
              <a:t>1</a:t>
            </a:r>
            <a:r>
              <a:rPr lang="en-US" altLang="zh-CN" sz="2400" i="1">
                <a:ea typeface="宋体" panose="02010600030101010101" pitchFamily="2" charset="-122"/>
              </a:rPr>
              <a:t>, U</a:t>
            </a:r>
            <a:r>
              <a:rPr lang="en-US" altLang="zh-CN" sz="2400" baseline="-25000">
                <a:ea typeface="宋体" panose="02010600030101010101" pitchFamily="2" charset="-122"/>
              </a:rPr>
              <a:t>2</a:t>
            </a:r>
            <a:r>
              <a:rPr lang="en-US" altLang="zh-CN" sz="2400" i="1">
                <a:ea typeface="宋体" panose="02010600030101010101" pitchFamily="2" charset="-122"/>
              </a:rPr>
              <a:t>, U</a:t>
            </a:r>
            <a:r>
              <a:rPr lang="en-US" altLang="zh-CN" sz="2400" baseline="-25000">
                <a:ea typeface="宋体" panose="02010600030101010101" pitchFamily="2" charset="-122"/>
              </a:rPr>
              <a:t>3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insert</a:t>
            </a:r>
            <a:r>
              <a:rPr lang="en-US" altLang="zh-CN" sz="2400">
                <a:ea typeface="宋体" panose="02010600030101010101" pitchFamily="2" charset="-122"/>
              </a:rPr>
              <a:t>: the ability to insert tuples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update</a:t>
            </a:r>
            <a:r>
              <a:rPr lang="en-US" altLang="zh-CN" sz="2400">
                <a:ea typeface="宋体" panose="02010600030101010101" pitchFamily="2" charset="-122"/>
              </a:rPr>
              <a:t>: the ability  to update using the SQL update statement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delete</a:t>
            </a:r>
            <a:r>
              <a:rPr lang="en-US" altLang="zh-CN" sz="2400">
                <a:ea typeface="宋体" panose="02010600030101010101" pitchFamily="2" charset="-122"/>
              </a:rPr>
              <a:t>: the ability to delete tuples.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all</a:t>
            </a:r>
            <a:r>
              <a:rPr lang="en-US" altLang="zh-CN" sz="24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privileges</a:t>
            </a:r>
            <a:r>
              <a:rPr lang="en-US" altLang="zh-CN" sz="2400">
                <a:ea typeface="宋体" panose="02010600030101010101" pitchFamily="2" charset="-122"/>
              </a:rPr>
              <a:t>: used as a short form for all the allowable privileges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826"/>
    </mc:Choice>
    <mc:Fallback>
      <p:transition spd="slow" advTm="41826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Revoking Authorization in SQL</a:t>
            </a: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The </a:t>
            </a: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revoke</a:t>
            </a:r>
            <a:r>
              <a:rPr lang="en-US" altLang="zh-CN" sz="2000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statement is used to revoke authorization.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000" b="1">
                <a:ea typeface="宋体" panose="02010600030101010101" pitchFamily="2" charset="-122"/>
              </a:rPr>
              <a:t>revoke </a:t>
            </a:r>
            <a:r>
              <a:rPr lang="en-US" altLang="zh-CN" sz="2000">
                <a:ea typeface="宋体" panose="02010600030101010101" pitchFamily="2" charset="-122"/>
              </a:rPr>
              <a:t>&lt;privilege list&gt;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000" b="1">
                <a:ea typeface="宋体" panose="02010600030101010101" pitchFamily="2" charset="-122"/>
              </a:rPr>
              <a:t>on </a:t>
            </a:r>
            <a:r>
              <a:rPr lang="en-US" altLang="zh-CN" sz="2000">
                <a:ea typeface="宋体" panose="02010600030101010101" pitchFamily="2" charset="-122"/>
              </a:rPr>
              <a:t>&lt;relation name or view name&gt; </a:t>
            </a:r>
            <a:r>
              <a:rPr lang="en-US" altLang="zh-CN" sz="2000" b="1">
                <a:ea typeface="宋体" panose="02010600030101010101" pitchFamily="2" charset="-122"/>
              </a:rPr>
              <a:t>from </a:t>
            </a:r>
            <a:r>
              <a:rPr lang="en-US" altLang="zh-CN" sz="2000">
                <a:ea typeface="宋体" panose="02010600030101010101" pitchFamily="2" charset="-122"/>
              </a:rPr>
              <a:t>&lt;user list&gt;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Example: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000" b="1">
                <a:ea typeface="宋体" panose="02010600030101010101" pitchFamily="2" charset="-122"/>
              </a:rPr>
              <a:t>revoke select on </a:t>
            </a:r>
            <a:r>
              <a:rPr lang="en-US" altLang="zh-CN" sz="2000" i="1">
                <a:ea typeface="宋体" panose="02010600030101010101" pitchFamily="2" charset="-122"/>
              </a:rPr>
              <a:t>branch  </a:t>
            </a:r>
            <a:r>
              <a:rPr lang="en-US" altLang="zh-CN" sz="2000" b="1"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ea typeface="宋体" panose="02010600030101010101" pitchFamily="2" charset="-122"/>
              </a:rPr>
              <a:t>U</a:t>
            </a:r>
            <a:r>
              <a:rPr lang="en-US" altLang="zh-CN" sz="2000" i="1" baseline="-25000">
                <a:ea typeface="宋体" panose="02010600030101010101" pitchFamily="2" charset="-122"/>
              </a:rPr>
              <a:t>1</a:t>
            </a:r>
            <a:r>
              <a:rPr lang="en-US" altLang="zh-CN" sz="2000" i="1">
                <a:ea typeface="宋体" panose="02010600030101010101" pitchFamily="2" charset="-122"/>
              </a:rPr>
              <a:t>, U</a:t>
            </a:r>
            <a:r>
              <a:rPr lang="en-US" altLang="zh-CN" sz="2000" i="1" baseline="-25000">
                <a:ea typeface="宋体" panose="02010600030101010101" pitchFamily="2" charset="-122"/>
              </a:rPr>
              <a:t>2</a:t>
            </a:r>
            <a:r>
              <a:rPr lang="en-US" altLang="zh-CN" sz="2000" i="1">
                <a:ea typeface="宋体" panose="02010600030101010101" pitchFamily="2" charset="-122"/>
              </a:rPr>
              <a:t>, U</a:t>
            </a:r>
            <a:r>
              <a:rPr lang="en-US" altLang="zh-CN" sz="2000" i="1" baseline="-25000">
                <a:ea typeface="宋体" panose="02010600030101010101" pitchFamily="2" charset="-122"/>
              </a:rPr>
              <a:t>3</a:t>
            </a:r>
            <a:endParaRPr lang="en-US" altLang="zh-CN" i="1" baseline="-25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&lt;privilege-list&gt; may be </a:t>
            </a:r>
            <a:r>
              <a:rPr lang="en-US" altLang="zh-CN" sz="2000" b="1">
                <a:ea typeface="宋体" panose="02010600030101010101" pitchFamily="2" charset="-122"/>
              </a:rPr>
              <a:t>all </a:t>
            </a:r>
            <a:r>
              <a:rPr lang="en-US" altLang="zh-CN" sz="2000">
                <a:ea typeface="宋体" panose="02010600030101010101" pitchFamily="2" charset="-122"/>
              </a:rPr>
              <a:t>to revoke all privileges the revokee may hold.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If &lt;revokee-list&gt; includes </a:t>
            </a:r>
            <a:r>
              <a:rPr lang="en-US" altLang="zh-CN" sz="2000" b="1">
                <a:ea typeface="宋体" panose="02010600030101010101" pitchFamily="2" charset="-122"/>
              </a:rPr>
              <a:t>public, </a:t>
            </a:r>
            <a:r>
              <a:rPr lang="en-US" altLang="zh-CN" sz="2000">
                <a:ea typeface="宋体" panose="02010600030101010101" pitchFamily="2" charset="-122"/>
              </a:rPr>
              <a:t>all users lose the privilege except those granted it explicitly.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If the same privilege was granted twice to the same user by different grantees, the user may retain the privilege after the revocation.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All privileges that depend on the privilege being revoked are also revoked.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Roles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947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/>
              <a:t>Specify the authorizations that every instructor is to be given, and to identify separately which database users are instructors</a:t>
            </a:r>
            <a:endParaRPr lang="en-US" altLang="zh-CN" sz="2400" dirty="0"/>
          </a:p>
          <a:p>
            <a:pPr>
              <a:spcBef>
                <a:spcPts val="600"/>
              </a:spcBef>
            </a:pPr>
            <a:r>
              <a:rPr lang="en-US" altLang="zh-CN" sz="2400" dirty="0"/>
              <a:t>When a new instructor is hired, he must be identified as an instructor</a:t>
            </a:r>
            <a:endParaRPr lang="en-US" altLang="zh-CN" sz="2400" b="1" dirty="0">
              <a:solidFill>
                <a:srgbClr val="000099"/>
              </a:solidFill>
              <a:ea typeface="宋体" panose="02010600030101010101" pitchFamily="2" charset="-122"/>
            </a:endParaRPr>
          </a:p>
          <a:p>
            <a:pPr marL="1435100" indent="0" eaLnBrk="1" hangingPunct="1">
              <a:spcBef>
                <a:spcPts val="600"/>
              </a:spcBef>
              <a:buNone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create role</a:t>
            </a:r>
            <a:r>
              <a:rPr lang="en-US" altLang="zh-CN" sz="2000" dirty="0">
                <a:ea typeface="宋体" panose="02010600030101010101" pitchFamily="2" charset="-122"/>
              </a:rPr>
              <a:t> instructor;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1435100" indent="0" eaLnBrk="1" hangingPunct="1">
              <a:spcBef>
                <a:spcPts val="600"/>
              </a:spcBef>
              <a:buNone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grant select on </a:t>
            </a:r>
            <a:r>
              <a:rPr lang="en-US" altLang="zh-CN" sz="2000" i="1" dirty="0">
                <a:ea typeface="宋体" panose="02010600030101010101" pitchFamily="2" charset="-122"/>
              </a:rPr>
              <a:t>takes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to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</a:rPr>
              <a:t>instructor</a:t>
            </a:r>
            <a:r>
              <a:rPr lang="en-US" altLang="zh-CN" sz="2000" dirty="0">
                <a:ea typeface="宋体" panose="02010600030101010101" pitchFamily="2" charset="-122"/>
              </a:rPr>
              <a:t>;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1435100" indent="0" eaLnBrk="1" hangingPunct="1">
              <a:spcBef>
                <a:spcPts val="600"/>
              </a:spcBef>
              <a:buNone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grant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</a:rPr>
              <a:t>instructor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to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Amit</a:t>
            </a:r>
            <a:r>
              <a:rPr lang="en-US" altLang="zh-CN" sz="2000" b="1" dirty="0">
                <a:ea typeface="宋体" panose="02010600030101010101" pitchFamily="2" charset="-122"/>
              </a:rPr>
              <a:t>;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Privileges can be granted to roles: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Roles can be granted to users, as well as to other roles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857250" lvl="1" indent="666750" eaLnBrk="1" hangingPunct="1">
              <a:spcBef>
                <a:spcPts val="600"/>
              </a:spcBef>
              <a:buNone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  <a:cs typeface="+mn-cs"/>
              </a:rPr>
              <a:t>create role </a:t>
            </a:r>
            <a:r>
              <a:rPr lang="en-US" altLang="zh-CN" sz="2000" i="1" dirty="0" err="1">
                <a:ea typeface="宋体" panose="02010600030101010101" pitchFamily="2" charset="-122"/>
              </a:rPr>
              <a:t>teaching_assistant</a:t>
            </a:r>
            <a:endParaRPr lang="en-US" altLang="zh-CN" sz="2000" i="1" dirty="0">
              <a:ea typeface="宋体" panose="02010600030101010101" pitchFamily="2" charset="-122"/>
            </a:endParaRPr>
          </a:p>
          <a:p>
            <a:pPr marL="857250" lvl="1" indent="666750" eaLnBrk="1" hangingPunct="1">
              <a:spcBef>
                <a:spcPts val="600"/>
              </a:spcBef>
              <a:buNone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  <a:cs typeface="+mn-cs"/>
              </a:rPr>
              <a:t>grant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ea typeface="宋体" panose="02010600030101010101" pitchFamily="2" charset="-122"/>
              </a:rPr>
              <a:t>teaching_assistant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  <a:cs typeface="+mn-cs"/>
              </a:rPr>
              <a:t>to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</a:rPr>
              <a:t>instructor</a:t>
            </a:r>
            <a:r>
              <a:rPr lang="en-US" altLang="zh-CN" sz="2000" dirty="0">
                <a:ea typeface="宋体" panose="02010600030101010101" pitchFamily="2" charset="-122"/>
              </a:rPr>
              <a:t>;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Instructor inherits all privileges of </a:t>
            </a:r>
            <a:r>
              <a:rPr lang="en-US" altLang="zh-CN" sz="2400" dirty="0" err="1">
                <a:ea typeface="宋体" panose="02010600030101010101" pitchFamily="2" charset="-122"/>
              </a:rPr>
              <a:t>teaching_assistant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721"/>
    </mc:Choice>
    <mc:Fallback>
      <p:transition spd="slow" advTm="6172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Authorization on Views</a:t>
            </a:r>
            <a:endParaRPr 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view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geo_instructor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as</a:t>
            </a:r>
            <a:b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*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'Geology');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grant select on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geo_instructor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to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geo_staff</a:t>
            </a:r>
            <a:endParaRPr lang="en-US" altLang="zh-CN" sz="20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000">
                <a:ea typeface="宋体" panose="02010600030101010101" pitchFamily="2" charset="-122"/>
              </a:rPr>
              <a:t>Suppose that a  </a:t>
            </a:r>
            <a:r>
              <a:rPr lang="en-US" altLang="zh-CN" sz="2000" i="1">
                <a:ea typeface="宋体" panose="02010600030101010101" pitchFamily="2" charset="-122"/>
              </a:rPr>
              <a:t>geo_staff</a:t>
            </a:r>
            <a:r>
              <a:rPr lang="en-US" altLang="zh-CN" sz="2000">
                <a:ea typeface="宋体" panose="02010600030101010101" pitchFamily="2" charset="-122"/>
              </a:rPr>
              <a:t> member issues</a:t>
            </a:r>
            <a:endParaRPr lang="en-US" altLang="zh-CN" sz="2000"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ts val="1200"/>
              </a:spcBef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*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geo_instructor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000">
                <a:ea typeface="宋体" panose="02010600030101010101" pitchFamily="2" charset="-122"/>
              </a:rPr>
              <a:t>What if </a:t>
            </a:r>
            <a:endParaRPr lang="en-US" altLang="zh-CN" sz="2000"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ts val="1200"/>
              </a:spcBef>
            </a:pPr>
            <a:r>
              <a:rPr lang="en-US" altLang="zh-CN" sz="2000" i="1">
                <a:ea typeface="宋体" panose="02010600030101010101" pitchFamily="2" charset="-122"/>
              </a:rPr>
              <a:t>geo_staff</a:t>
            </a:r>
            <a:r>
              <a:rPr lang="en-US" altLang="zh-CN" sz="2000">
                <a:ea typeface="宋体" panose="02010600030101010101" pitchFamily="2" charset="-122"/>
              </a:rPr>
              <a:t> does not have permissions on </a:t>
            </a:r>
            <a:r>
              <a:rPr lang="en-US" altLang="zh-CN" sz="2000" i="1">
                <a:ea typeface="宋体" panose="02010600030101010101" pitchFamily="2" charset="-122"/>
              </a:rPr>
              <a:t>instructor?</a:t>
            </a:r>
            <a:endParaRPr lang="en-US" altLang="zh-CN" sz="2000" i="1"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ts val="1200"/>
              </a:spcBef>
            </a:pPr>
            <a:r>
              <a:rPr lang="en-US" altLang="zh-CN" sz="2000">
                <a:ea typeface="宋体" panose="02010600030101010101" pitchFamily="2" charset="-122"/>
              </a:rPr>
              <a:t>creator of view did not have some permissions on </a:t>
            </a:r>
            <a:r>
              <a:rPr lang="en-US" altLang="zh-CN" sz="2000" i="1">
                <a:ea typeface="宋体" panose="02010600030101010101" pitchFamily="2" charset="-122"/>
              </a:rPr>
              <a:t>instructor?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Other Authorization Features</a:t>
            </a:r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b="1" dirty="0">
                <a:ea typeface="宋体" panose="02010600030101010101" pitchFamily="2" charset="-122"/>
              </a:rPr>
              <a:t>references</a:t>
            </a:r>
            <a:r>
              <a:rPr lang="en-US" altLang="zh-CN" sz="2000" dirty="0">
                <a:ea typeface="宋体" panose="02010600030101010101" pitchFamily="2" charset="-122"/>
              </a:rPr>
              <a:t> privilege to create foreign key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 dirty="0">
                <a:ea typeface="宋体" panose="02010600030101010101" pitchFamily="2" charset="-122"/>
              </a:rPr>
              <a:t>grant reference 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 err="1"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ea typeface="宋体" panose="02010600030101010101" pitchFamily="2" charset="-122"/>
              </a:rPr>
              <a:t>) </a:t>
            </a:r>
            <a:r>
              <a:rPr lang="en-US" altLang="zh-CN" sz="2000" b="1" dirty="0">
                <a:ea typeface="宋体" panose="02010600030101010101" pitchFamily="2" charset="-122"/>
              </a:rPr>
              <a:t>on </a:t>
            </a:r>
            <a:r>
              <a:rPr lang="en-US" altLang="zh-CN" sz="2000" i="1" dirty="0">
                <a:ea typeface="宋体" panose="02010600030101010101" pitchFamily="2" charset="-122"/>
              </a:rPr>
              <a:t>department </a:t>
            </a:r>
            <a:r>
              <a:rPr lang="en-US" altLang="zh-CN" sz="2000" b="1" dirty="0">
                <a:ea typeface="宋体" panose="02010600030101010101" pitchFamily="2" charset="-122"/>
              </a:rPr>
              <a:t>to </a:t>
            </a:r>
            <a:r>
              <a:rPr lang="en-US" altLang="zh-CN" sz="2000" dirty="0">
                <a:ea typeface="宋体" panose="02010600030101010101" pitchFamily="2" charset="-122"/>
              </a:rPr>
              <a:t>Mariano;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why is this required?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transfer of privileges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 dirty="0">
                <a:ea typeface="宋体" panose="02010600030101010101" pitchFamily="2" charset="-122"/>
              </a:rPr>
              <a:t>grant select on </a:t>
            </a:r>
            <a:r>
              <a:rPr lang="en-US" altLang="zh-CN" sz="2000" i="1" dirty="0">
                <a:ea typeface="宋体" panose="02010600030101010101" pitchFamily="2" charset="-122"/>
              </a:rPr>
              <a:t>department </a:t>
            </a:r>
            <a:r>
              <a:rPr lang="en-US" altLang="zh-CN" sz="2000" b="1" dirty="0">
                <a:ea typeface="宋体" panose="02010600030101010101" pitchFamily="2" charset="-122"/>
              </a:rPr>
              <a:t>to </a:t>
            </a:r>
            <a:r>
              <a:rPr lang="en-US" altLang="zh-CN" sz="2000" dirty="0">
                <a:ea typeface="宋体" panose="02010600030101010101" pitchFamily="2" charset="-122"/>
              </a:rPr>
              <a:t>Amit </a:t>
            </a:r>
            <a:r>
              <a:rPr lang="en-US" altLang="zh-CN" sz="2000" b="1" dirty="0">
                <a:ea typeface="宋体" panose="02010600030101010101" pitchFamily="2" charset="-122"/>
              </a:rPr>
              <a:t>with grant option</a:t>
            </a:r>
            <a:r>
              <a:rPr lang="en-US" altLang="zh-CN" sz="2000" dirty="0">
                <a:ea typeface="宋体" panose="02010600030101010101" pitchFamily="2" charset="-122"/>
              </a:rPr>
              <a:t>;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 dirty="0">
                <a:ea typeface="宋体" panose="02010600030101010101" pitchFamily="2" charset="-122"/>
              </a:rPr>
              <a:t>revoke select on </a:t>
            </a:r>
            <a:r>
              <a:rPr lang="en-US" altLang="zh-CN" sz="2000" i="1" dirty="0">
                <a:ea typeface="宋体" panose="02010600030101010101" pitchFamily="2" charset="-122"/>
              </a:rPr>
              <a:t>department </a:t>
            </a:r>
            <a:r>
              <a:rPr lang="en-US" altLang="zh-CN" sz="2000" b="1" dirty="0">
                <a:ea typeface="宋体" panose="02010600030101010101" pitchFamily="2" charset="-122"/>
              </a:rPr>
              <a:t>from </a:t>
            </a:r>
            <a:r>
              <a:rPr lang="en-US" altLang="zh-CN" sz="2000" dirty="0">
                <a:ea typeface="宋体" panose="02010600030101010101" pitchFamily="2" charset="-122"/>
              </a:rPr>
              <a:t>Amit, Satoshi </a:t>
            </a:r>
            <a:r>
              <a:rPr lang="en-US" altLang="zh-CN" sz="2000" b="1" dirty="0">
                <a:ea typeface="宋体" panose="02010600030101010101" pitchFamily="2" charset="-122"/>
              </a:rPr>
              <a:t>cascade</a:t>
            </a:r>
            <a:r>
              <a:rPr lang="en-US" altLang="zh-CN" sz="2000" dirty="0">
                <a:ea typeface="宋体" panose="02010600030101010101" pitchFamily="2" charset="-122"/>
              </a:rPr>
              <a:t>;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 dirty="0">
                <a:ea typeface="宋体" panose="02010600030101010101" pitchFamily="2" charset="-122"/>
              </a:rPr>
              <a:t>revoke select on </a:t>
            </a:r>
            <a:r>
              <a:rPr lang="en-US" altLang="zh-CN" sz="2000" i="1" dirty="0">
                <a:ea typeface="宋体" panose="02010600030101010101" pitchFamily="2" charset="-122"/>
              </a:rPr>
              <a:t>department </a:t>
            </a:r>
            <a:r>
              <a:rPr lang="en-US" altLang="zh-CN" sz="2000" b="1" dirty="0">
                <a:ea typeface="宋体" panose="02010600030101010101" pitchFamily="2" charset="-122"/>
              </a:rPr>
              <a:t>from </a:t>
            </a:r>
            <a:r>
              <a:rPr lang="en-US" altLang="zh-CN" sz="2000" dirty="0">
                <a:ea typeface="宋体" panose="02010600030101010101" pitchFamily="2" charset="-122"/>
              </a:rPr>
              <a:t>Amit, Satoshi </a:t>
            </a:r>
            <a:r>
              <a:rPr lang="en-US" altLang="zh-CN" sz="2000" b="1" dirty="0">
                <a:ea typeface="宋体" panose="02010600030101010101" pitchFamily="2" charset="-122"/>
              </a:rPr>
              <a:t>restrict</a:t>
            </a:r>
            <a:r>
              <a:rPr lang="en-US" altLang="zh-CN" sz="2000" dirty="0">
                <a:ea typeface="宋体" panose="02010600030101010101" pitchFamily="2" charset="-122"/>
              </a:rPr>
              <a:t>;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Etc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.  read Section 4.6 for more details we have omitted here.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End of Chapter 4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母版</Template>
  <TotalTime>0</TotalTime>
  <Words>18438</Words>
  <Application>WPS 演示</Application>
  <PresentationFormat>全屏显示(4:3)</PresentationFormat>
  <Paragraphs>484</Paragraphs>
  <Slides>52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  <vt:variant>
        <vt:lpstr>自定义放映</vt:lpstr>
      </vt:variant>
      <vt:variant>
        <vt:i4>1</vt:i4>
      </vt:variant>
    </vt:vector>
  </HeadingPairs>
  <TitlesOfParts>
    <vt:vector size="70" baseType="lpstr">
      <vt:lpstr>Arial</vt:lpstr>
      <vt:lpstr>宋体</vt:lpstr>
      <vt:lpstr>Wingdings</vt:lpstr>
      <vt:lpstr>Helvetica</vt:lpstr>
      <vt:lpstr>MS PGothic</vt:lpstr>
      <vt:lpstr>Monotype Sorts</vt:lpstr>
      <vt:lpstr>Wingdings</vt:lpstr>
      <vt:lpstr>Webdings</vt:lpstr>
      <vt:lpstr>Times New Roman</vt:lpstr>
      <vt:lpstr>Garamond</vt:lpstr>
      <vt:lpstr>ZWSimpleStroke</vt:lpstr>
      <vt:lpstr>微软雅黑</vt:lpstr>
      <vt:lpstr>Arial Unicode MS</vt:lpstr>
      <vt:lpstr>Symbol</vt:lpstr>
      <vt:lpstr>Arial Unicode MS</vt:lpstr>
      <vt:lpstr>Inter</vt:lpstr>
      <vt:lpstr>db-5-grey</vt:lpstr>
      <vt:lpstr>Chapter 4: Intermediate SQL</vt:lpstr>
      <vt:lpstr>Chapter 4:  Intermediate SQL</vt:lpstr>
      <vt:lpstr>Joined Relations</vt:lpstr>
      <vt:lpstr>Join operations – Example</vt:lpstr>
      <vt:lpstr>Outer Join</vt:lpstr>
      <vt:lpstr>Left Outer Join</vt:lpstr>
      <vt:lpstr>Right Outer Join</vt:lpstr>
      <vt:lpstr>Full Outer Join</vt:lpstr>
      <vt:lpstr>Joined Relations</vt:lpstr>
      <vt:lpstr>Joined Relations – Examples </vt:lpstr>
      <vt:lpstr>Joined Relations – Examples</vt:lpstr>
      <vt:lpstr>Views</vt:lpstr>
      <vt:lpstr>View Definition</vt:lpstr>
      <vt:lpstr>PowerPoint 演示文稿</vt:lpstr>
      <vt:lpstr>Example Views</vt:lpstr>
      <vt:lpstr>Example Views</vt:lpstr>
      <vt:lpstr>Views Defined Using Other Views</vt:lpstr>
      <vt:lpstr>View Expansion</vt:lpstr>
      <vt:lpstr>Views Defined Using Other Views</vt:lpstr>
      <vt:lpstr>View Expansion</vt:lpstr>
      <vt:lpstr>Update of a View</vt:lpstr>
      <vt:lpstr>Some Updates cannot be Translated Uniquely</vt:lpstr>
      <vt:lpstr>为什么需要视图（视图的优点）</vt:lpstr>
      <vt:lpstr>为什么需要视图（视图的优点）</vt:lpstr>
      <vt:lpstr>为什么需要视图（视图的优点）</vt:lpstr>
      <vt:lpstr>为什么需要视图（视图的优点）</vt:lpstr>
      <vt:lpstr>为什么需要视图（视图的优点）</vt:lpstr>
      <vt:lpstr>为什么需要视图（视图的优点）</vt:lpstr>
      <vt:lpstr>Materialized Views</vt:lpstr>
      <vt:lpstr>Transactions</vt:lpstr>
      <vt:lpstr>Integrity Constraints</vt:lpstr>
      <vt:lpstr> Integrity Constraints on a Single Relation </vt:lpstr>
      <vt:lpstr>Not Null and Unique Constraints </vt:lpstr>
      <vt:lpstr>The check clause</vt:lpstr>
      <vt:lpstr>Referential Integrity</vt:lpstr>
      <vt:lpstr>Cascading Actions in Referential Integrity</vt:lpstr>
      <vt:lpstr>Integrity Constraint Violation During Transactions</vt:lpstr>
      <vt:lpstr>Complex Check Clauses</vt:lpstr>
      <vt:lpstr>Built-in Data Types in SQL </vt:lpstr>
      <vt:lpstr>Index Creation</vt:lpstr>
      <vt:lpstr>User-Defined Types</vt:lpstr>
      <vt:lpstr>Domains</vt:lpstr>
      <vt:lpstr>Large-Object Types</vt:lpstr>
      <vt:lpstr>Authorization</vt:lpstr>
      <vt:lpstr>Authorization Specification in SQL</vt:lpstr>
      <vt:lpstr>Figure 4.03</vt:lpstr>
      <vt:lpstr>Privileges in SQL</vt:lpstr>
      <vt:lpstr>Revoking Authorization in SQL</vt:lpstr>
      <vt:lpstr>Roles</vt:lpstr>
      <vt:lpstr>Authorization on Views</vt:lpstr>
      <vt:lpstr>Other Authorization Features</vt:lpstr>
      <vt:lpstr>End of Chapter 4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独角兽</cp:lastModifiedBy>
  <cp:revision>288</cp:revision>
  <cp:lastPrinted>2005-01-10T21:51:00Z</cp:lastPrinted>
  <dcterms:created xsi:type="dcterms:W3CDTF">1999-11-04T20:50:00Z</dcterms:created>
  <dcterms:modified xsi:type="dcterms:W3CDTF">2025-12-19T03:39:09Z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ED7243FE6B60481E9D0E67C2F6A6B25E_12</vt:lpwstr>
  </property>
  <property fmtid="{D5CDD505-2E9C-101B-9397-08002B2CF9AE}" pid="3" name="KSOProductBuildVer">
    <vt:lpwstr>2052-12.1.0.24034</vt:lpwstr>
  </property>
</Properties>
</file>