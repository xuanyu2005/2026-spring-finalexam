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3" r:id="rId3"/>
  </p:sldMasterIdLst>
  <p:notesMasterIdLst>
    <p:notesMasterId r:id="rId5"/>
  </p:notesMasterIdLst>
  <p:handoutMasterIdLst>
    <p:handoutMasterId r:id="rId76"/>
  </p:handoutMasterIdLst>
  <p:sldIdLst>
    <p:sldId id="416" r:id="rId4"/>
    <p:sldId id="505" r:id="rId6"/>
    <p:sldId id="422" r:id="rId7"/>
    <p:sldId id="424" r:id="rId8"/>
    <p:sldId id="425" r:id="rId9"/>
    <p:sldId id="426" r:id="rId10"/>
    <p:sldId id="427" r:id="rId11"/>
    <p:sldId id="428" r:id="rId12"/>
    <p:sldId id="429" r:id="rId13"/>
    <p:sldId id="430" r:id="rId14"/>
    <p:sldId id="473" r:id="rId15"/>
    <p:sldId id="431" r:id="rId16"/>
    <p:sldId id="432" r:id="rId17"/>
    <p:sldId id="433" r:id="rId18"/>
    <p:sldId id="434" r:id="rId19"/>
    <p:sldId id="435" r:id="rId20"/>
    <p:sldId id="436" r:id="rId21"/>
    <p:sldId id="437" r:id="rId22"/>
    <p:sldId id="438" r:id="rId23"/>
    <p:sldId id="439" r:id="rId24"/>
    <p:sldId id="440" r:id="rId25"/>
    <p:sldId id="441" r:id="rId26"/>
    <p:sldId id="442" r:id="rId27"/>
    <p:sldId id="506" r:id="rId28"/>
    <p:sldId id="444" r:id="rId29"/>
    <p:sldId id="498" r:id="rId30"/>
    <p:sldId id="497" r:id="rId31"/>
    <p:sldId id="445" r:id="rId32"/>
    <p:sldId id="446" r:id="rId33"/>
    <p:sldId id="447" r:id="rId34"/>
    <p:sldId id="448" r:id="rId35"/>
    <p:sldId id="449" r:id="rId36"/>
    <p:sldId id="450" r:id="rId37"/>
    <p:sldId id="451" r:id="rId38"/>
    <p:sldId id="452" r:id="rId39"/>
    <p:sldId id="453" r:id="rId40"/>
    <p:sldId id="480" r:id="rId41"/>
    <p:sldId id="481" r:id="rId42"/>
    <p:sldId id="482" r:id="rId43"/>
    <p:sldId id="454" r:id="rId44"/>
    <p:sldId id="455" r:id="rId45"/>
    <p:sldId id="507" r:id="rId46"/>
    <p:sldId id="457" r:id="rId47"/>
    <p:sldId id="458" r:id="rId48"/>
    <p:sldId id="483" r:id="rId49"/>
    <p:sldId id="484" r:id="rId50"/>
    <p:sldId id="478" r:id="rId51"/>
    <p:sldId id="479" r:id="rId52"/>
    <p:sldId id="459" r:id="rId53"/>
    <p:sldId id="460" r:id="rId54"/>
    <p:sldId id="461" r:id="rId55"/>
    <p:sldId id="508" r:id="rId56"/>
    <p:sldId id="509" r:id="rId57"/>
    <p:sldId id="510" r:id="rId58"/>
    <p:sldId id="511" r:id="rId59"/>
    <p:sldId id="485" r:id="rId60"/>
    <p:sldId id="463" r:id="rId61"/>
    <p:sldId id="464" r:id="rId62"/>
    <p:sldId id="465" r:id="rId63"/>
    <p:sldId id="495" r:id="rId64"/>
    <p:sldId id="496" r:id="rId65"/>
    <p:sldId id="469" r:id="rId66"/>
    <p:sldId id="470" r:id="rId67"/>
    <p:sldId id="486" r:id="rId68"/>
    <p:sldId id="487" r:id="rId69"/>
    <p:sldId id="488" r:id="rId70"/>
    <p:sldId id="489" r:id="rId71"/>
    <p:sldId id="471" r:id="rId72"/>
    <p:sldId id="472" r:id="rId73"/>
    <p:sldId id="474" r:id="rId74"/>
    <p:sldId id="342" r:id="rId75"/>
  </p:sldIdLst>
  <p:sldSz cx="9144000" cy="6858000" type="screen4x3"/>
  <p:notesSz cx="7315200" cy="9601200"/>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n-ea"/>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n-ea"/>
        <a:cs typeface="+mn-cs"/>
      </a:defRPr>
    </a:lvl5pPr>
    <a:lvl6pPr marL="2286000" algn="l" defTabSz="914400" rtl="0" eaLnBrk="1" latinLnBrk="0" hangingPunct="1">
      <a:defRPr sz="1600" kern="1200">
        <a:solidFill>
          <a:schemeClr val="tx1"/>
        </a:solidFill>
        <a:latin typeface="Helvetica" panose="020B0604020202020204" pitchFamily="34" charset="0"/>
        <a:ea typeface="+mn-ea"/>
        <a:cs typeface="+mn-cs"/>
      </a:defRPr>
    </a:lvl6pPr>
    <a:lvl7pPr marL="2743200" algn="l" defTabSz="914400" rtl="0" eaLnBrk="1" latinLnBrk="0" hangingPunct="1">
      <a:defRPr sz="1600" kern="1200">
        <a:solidFill>
          <a:schemeClr val="tx1"/>
        </a:solidFill>
        <a:latin typeface="Helvetica" panose="020B0604020202020204" pitchFamily="34" charset="0"/>
        <a:ea typeface="+mn-ea"/>
        <a:cs typeface="+mn-cs"/>
      </a:defRPr>
    </a:lvl7pPr>
    <a:lvl8pPr marL="3200400" algn="l" defTabSz="914400" rtl="0" eaLnBrk="1" latinLnBrk="0" hangingPunct="1">
      <a:defRPr sz="1600" kern="1200">
        <a:solidFill>
          <a:schemeClr val="tx1"/>
        </a:solidFill>
        <a:latin typeface="Helvetica" panose="020B0604020202020204" pitchFamily="34" charset="0"/>
        <a:ea typeface="+mn-ea"/>
        <a:cs typeface="+mn-cs"/>
      </a:defRPr>
    </a:lvl8pPr>
    <a:lvl9pPr marL="3657600" algn="l" defTabSz="914400" rtl="0" eaLnBrk="1" latinLnBrk="0" hangingPunct="1">
      <a:defRPr sz="1600" kern="1200">
        <a:solidFill>
          <a:schemeClr val="tx1"/>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770" userDrawn="1">
          <p15:clr>
            <a:srgbClr val="A4A3A4"/>
          </p15:clr>
        </p15:guide>
        <p15:guide id="2" pos="5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90000"/>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8788" autoAdjust="0"/>
  </p:normalViewPr>
  <p:slideViewPr>
    <p:cSldViewPr snapToGrid="0" showGuides="1">
      <p:cViewPr>
        <p:scale>
          <a:sx n="75" d="100"/>
          <a:sy n="75" d="100"/>
        </p:scale>
        <p:origin x="1455" y="558"/>
      </p:cViewPr>
      <p:guideLst>
        <p:guide orient="horz" pos="770"/>
        <p:guide pos="539"/>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Lst>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59" d="100"/>
          <a:sy n="59" d="100"/>
        </p:scale>
        <p:origin x="-1858" y="-6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handoutMaster" Target="handoutMasters/handoutMaster1.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9" Type="http://schemas.openxmlformats.org/officeDocument/2006/relationships/slide" Target="slides/slide20.xml"/><Relationship Id="rId8" Type="http://schemas.openxmlformats.org/officeDocument/2006/relationships/slide" Target="slides/slide17.xml"/><Relationship Id="rId7" Type="http://schemas.openxmlformats.org/officeDocument/2006/relationships/slide" Target="slides/slide12.xml"/><Relationship Id="rId6" Type="http://schemas.openxmlformats.org/officeDocument/2006/relationships/slide" Target="slides/slide10.xml"/><Relationship Id="rId5" Type="http://schemas.openxmlformats.org/officeDocument/2006/relationships/slide" Target="slides/slide9.xml"/><Relationship Id="rId4" Type="http://schemas.openxmlformats.org/officeDocument/2006/relationships/slide" Target="slides/slide8.xml"/><Relationship Id="rId3" Type="http://schemas.openxmlformats.org/officeDocument/2006/relationships/slide" Target="slides/slide7.xml"/><Relationship Id="rId2" Type="http://schemas.openxmlformats.org/officeDocument/2006/relationships/slide" Target="slides/slide6.xml"/><Relationship Id="rId11" Type="http://schemas.openxmlformats.org/officeDocument/2006/relationships/slide" Target="slides/slide44.xml"/><Relationship Id="rId10" Type="http://schemas.openxmlformats.org/officeDocument/2006/relationships/slide" Target="slides/slide36.xml"/><Relationship Id="rId1"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8722"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6661" tIns="48331" rIns="96661" bIns="48331" numCol="1" anchor="t" anchorCtr="0" compatLnSpc="1"/>
          <a:lstStyle>
            <a:lvl1pPr defTabSz="967105">
              <a:defRPr sz="1300">
                <a:latin typeface="Times New Roman" panose="02020603050405020304" pitchFamily="18" charset="0"/>
              </a:defRPr>
            </a:lvl1pPr>
          </a:lstStyle>
          <a:p>
            <a:pPr>
              <a:defRPr/>
            </a:pPr>
            <a:endParaRPr lang="zh-CN" altLang="en-US"/>
          </a:p>
        </p:txBody>
      </p:sp>
      <p:sp>
        <p:nvSpPr>
          <p:cNvPr id="158723" name="Rectangle 3"/>
          <p:cNvSpPr>
            <a:spLocks noGrp="1" noChangeArrowheads="1"/>
          </p:cNvSpPr>
          <p:nvPr>
            <p:ph type="dt" sz="quarter" idx="1"/>
          </p:nvPr>
        </p:nvSpPr>
        <p:spPr bwMode="auto">
          <a:xfrm>
            <a:off x="4143375" y="0"/>
            <a:ext cx="3170238" cy="479425"/>
          </a:xfrm>
          <a:prstGeom prst="rect">
            <a:avLst/>
          </a:prstGeom>
          <a:noFill/>
          <a:ln w="9525">
            <a:noFill/>
            <a:miter lim="800000"/>
          </a:ln>
          <a:effectLst/>
        </p:spPr>
        <p:txBody>
          <a:bodyPr vert="horz" wrap="square" lIns="96661" tIns="48331" rIns="96661" bIns="48331" numCol="1" anchor="t" anchorCtr="0" compatLnSpc="1"/>
          <a:lstStyle>
            <a:lvl1pPr algn="r" defTabSz="967105">
              <a:defRPr sz="1300">
                <a:latin typeface="Times New Roman" panose="02020603050405020304" pitchFamily="18" charset="0"/>
              </a:defRPr>
            </a:lvl1pPr>
          </a:lstStyle>
          <a:p>
            <a:pPr>
              <a:defRPr/>
            </a:pPr>
            <a:endParaRPr lang="en-US" altLang="zh-CN"/>
          </a:p>
        </p:txBody>
      </p:sp>
      <p:sp>
        <p:nvSpPr>
          <p:cNvPr id="158724" name="Rectangle 4"/>
          <p:cNvSpPr>
            <a:spLocks noGrp="1" noChangeArrowheads="1"/>
          </p:cNvSpPr>
          <p:nvPr>
            <p:ph type="ftr" sz="quarter" idx="2"/>
          </p:nvPr>
        </p:nvSpPr>
        <p:spPr bwMode="auto">
          <a:xfrm>
            <a:off x="0" y="9120188"/>
            <a:ext cx="3170238" cy="479425"/>
          </a:xfrm>
          <a:prstGeom prst="rect">
            <a:avLst/>
          </a:prstGeom>
          <a:noFill/>
          <a:ln w="9525">
            <a:noFill/>
            <a:miter lim="800000"/>
          </a:ln>
          <a:effectLst/>
        </p:spPr>
        <p:txBody>
          <a:bodyPr vert="horz" wrap="square" lIns="96661" tIns="48331" rIns="96661" bIns="48331" numCol="1" anchor="b" anchorCtr="0" compatLnSpc="1"/>
          <a:lstStyle>
            <a:lvl1pPr defTabSz="967105">
              <a:defRPr sz="1300">
                <a:latin typeface="Times New Roman" panose="02020603050405020304" pitchFamily="18" charset="0"/>
              </a:defRPr>
            </a:lvl1pPr>
          </a:lstStyle>
          <a:p>
            <a:pPr>
              <a:defRPr/>
            </a:pPr>
            <a:endParaRPr lang="en-US" altLang="zh-CN"/>
          </a:p>
        </p:txBody>
      </p:sp>
      <p:sp>
        <p:nvSpPr>
          <p:cNvPr id="158725" name="Rectangle 5"/>
          <p:cNvSpPr>
            <a:spLocks noGrp="1" noChangeArrowheads="1"/>
          </p:cNvSpPr>
          <p:nvPr>
            <p:ph type="sldNum" sz="quarter" idx="3"/>
          </p:nvPr>
        </p:nvSpPr>
        <p:spPr bwMode="auto">
          <a:xfrm>
            <a:off x="4143375" y="9120188"/>
            <a:ext cx="3170238" cy="479425"/>
          </a:xfrm>
          <a:prstGeom prst="rect">
            <a:avLst/>
          </a:prstGeom>
          <a:noFill/>
          <a:ln w="9525">
            <a:noFill/>
            <a:miter lim="800000"/>
          </a:ln>
          <a:effectLst/>
        </p:spPr>
        <p:txBody>
          <a:bodyPr vert="horz" wrap="square" lIns="96661" tIns="48331" rIns="96661" bIns="48331" numCol="1" anchor="b" anchorCtr="0" compatLnSpc="1"/>
          <a:lstStyle>
            <a:lvl1pPr algn="r" defTabSz="967105">
              <a:defRPr sz="1300">
                <a:latin typeface="Times New Roman" panose="02020603050405020304" pitchFamily="18" charset="0"/>
              </a:defRPr>
            </a:lvl1pPr>
          </a:lstStyle>
          <a:p>
            <a:fld id="{3543A1CD-76E9-402A-8168-F9CC62D444BB}"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none" lIns="96661" tIns="48331" rIns="96661" bIns="48331" numCol="1" anchor="t" anchorCtr="0" compatLnSpc="1"/>
          <a:lstStyle>
            <a:lvl1pPr defTabSz="967105">
              <a:defRPr sz="1300"/>
            </a:lvl1pPr>
          </a:lstStyle>
          <a:p>
            <a:pPr>
              <a:defRPr/>
            </a:pPr>
            <a:endParaRPr lang="zh-CN" altLang="en-US"/>
          </a:p>
        </p:txBody>
      </p:sp>
      <p:sp>
        <p:nvSpPr>
          <p:cNvPr id="78851" name="Rectangle 3"/>
          <p:cNvSpPr>
            <a:spLocks noGrp="1" noChangeArrowheads="1"/>
          </p:cNvSpPr>
          <p:nvPr>
            <p:ph type="dt" idx="1"/>
          </p:nvPr>
        </p:nvSpPr>
        <p:spPr bwMode="auto">
          <a:xfrm>
            <a:off x="4144963" y="0"/>
            <a:ext cx="3170237" cy="479425"/>
          </a:xfrm>
          <a:prstGeom prst="rect">
            <a:avLst/>
          </a:prstGeom>
          <a:noFill/>
          <a:ln w="9525">
            <a:noFill/>
            <a:miter lim="800000"/>
          </a:ln>
          <a:effectLst/>
        </p:spPr>
        <p:txBody>
          <a:bodyPr vert="horz" wrap="none" lIns="96661" tIns="48331" rIns="96661" bIns="48331" numCol="1" anchor="t" anchorCtr="0" compatLnSpc="1"/>
          <a:lstStyle>
            <a:lvl1pPr algn="r" defTabSz="967105">
              <a:defRPr sz="1300"/>
            </a:lvl1pPr>
          </a:lstStyle>
          <a:p>
            <a:pPr>
              <a:defRPr/>
            </a:pPr>
            <a:endParaRPr lang="en-US" altLang="zh-CN"/>
          </a:p>
        </p:txBody>
      </p:sp>
      <p:sp>
        <p:nvSpPr>
          <p:cNvPr id="819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78853" name="Rectangle 5"/>
          <p:cNvSpPr>
            <a:spLocks noGrp="1" noChangeArrowheads="1"/>
          </p:cNvSpPr>
          <p:nvPr>
            <p:ph type="body" sz="quarter" idx="3"/>
          </p:nvPr>
        </p:nvSpPr>
        <p:spPr bwMode="auto">
          <a:xfrm>
            <a:off x="974725" y="4560888"/>
            <a:ext cx="5365750" cy="4319587"/>
          </a:xfrm>
          <a:prstGeom prst="rect">
            <a:avLst/>
          </a:prstGeom>
          <a:noFill/>
          <a:ln w="9525">
            <a:noFill/>
            <a:miter lim="800000"/>
          </a:ln>
          <a:effectLst/>
        </p:spPr>
        <p:txBody>
          <a:bodyPr vert="horz" wrap="none" lIns="96661" tIns="48331" rIns="96661" bIns="48331"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78854" name="Rectangle 6"/>
          <p:cNvSpPr>
            <a:spLocks noGrp="1" noChangeArrowheads="1"/>
          </p:cNvSpPr>
          <p:nvPr>
            <p:ph type="ftr" sz="quarter" idx="4"/>
          </p:nvPr>
        </p:nvSpPr>
        <p:spPr bwMode="auto">
          <a:xfrm>
            <a:off x="0" y="9121775"/>
            <a:ext cx="3170238" cy="479425"/>
          </a:xfrm>
          <a:prstGeom prst="rect">
            <a:avLst/>
          </a:prstGeom>
          <a:noFill/>
          <a:ln w="9525">
            <a:noFill/>
            <a:miter lim="800000"/>
          </a:ln>
          <a:effectLst/>
        </p:spPr>
        <p:txBody>
          <a:bodyPr vert="horz" wrap="none" lIns="96661" tIns="48331" rIns="96661" bIns="48331" numCol="1" anchor="b" anchorCtr="0" compatLnSpc="1"/>
          <a:lstStyle>
            <a:lvl1pPr defTabSz="967105">
              <a:defRPr sz="1300"/>
            </a:lvl1pPr>
          </a:lstStyle>
          <a:p>
            <a:pPr>
              <a:defRPr/>
            </a:pPr>
            <a:endParaRPr lang="en-US" altLang="zh-CN"/>
          </a:p>
        </p:txBody>
      </p:sp>
      <p:sp>
        <p:nvSpPr>
          <p:cNvPr id="78855" name="Rectangle 7"/>
          <p:cNvSpPr>
            <a:spLocks noGrp="1" noChangeArrowheads="1"/>
          </p:cNvSpPr>
          <p:nvPr>
            <p:ph type="sldNum" sz="quarter" idx="5"/>
          </p:nvPr>
        </p:nvSpPr>
        <p:spPr bwMode="auto">
          <a:xfrm>
            <a:off x="4144963" y="9121775"/>
            <a:ext cx="3170237" cy="479425"/>
          </a:xfrm>
          <a:prstGeom prst="rect">
            <a:avLst/>
          </a:prstGeom>
          <a:noFill/>
          <a:ln w="9525">
            <a:noFill/>
            <a:miter lim="800000"/>
          </a:ln>
          <a:effectLst/>
        </p:spPr>
        <p:txBody>
          <a:bodyPr vert="horz" wrap="none" lIns="96661" tIns="48331" rIns="96661" bIns="48331" numCol="1" anchor="b" anchorCtr="0" compatLnSpc="1"/>
          <a:lstStyle>
            <a:lvl1pPr algn="r" defTabSz="967105">
              <a:defRPr sz="1300"/>
            </a:lvl1pPr>
          </a:lstStyle>
          <a:p>
            <a:fld id="{F376FB97-3EAC-46EA-A243-5566840DE7BC}"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Helvetica" panose="020B0604020202020204" pitchFamily="34" charset="0"/>
              </a:defRPr>
            </a:lvl1pPr>
            <a:lvl2pPr marL="742950" indent="-285750" defTabSz="967105">
              <a:defRPr sz="1600">
                <a:solidFill>
                  <a:schemeClr val="tx1"/>
                </a:solidFill>
                <a:latin typeface="Helvetica" panose="020B0604020202020204" pitchFamily="34" charset="0"/>
              </a:defRPr>
            </a:lvl2pPr>
            <a:lvl3pPr marL="1143000" indent="-228600" defTabSz="967105">
              <a:defRPr sz="1600">
                <a:solidFill>
                  <a:schemeClr val="tx1"/>
                </a:solidFill>
                <a:latin typeface="Helvetica" panose="020B0604020202020204" pitchFamily="34" charset="0"/>
              </a:defRPr>
            </a:lvl3pPr>
            <a:lvl4pPr marL="1600200" indent="-228600" defTabSz="967105">
              <a:defRPr sz="1600">
                <a:solidFill>
                  <a:schemeClr val="tx1"/>
                </a:solidFill>
                <a:latin typeface="Helvetica" panose="020B0604020202020204" pitchFamily="34" charset="0"/>
              </a:defRPr>
            </a:lvl4pPr>
            <a:lvl5pPr marL="2057400" indent="-228600" defTabSz="967105">
              <a:defRPr sz="1600">
                <a:solidFill>
                  <a:schemeClr val="tx1"/>
                </a:solidFill>
                <a:latin typeface="Helvetica"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Helvetica"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Helvetica"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Helvetica"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Helvetica" panose="020B0604020202020204" pitchFamily="34" charset="0"/>
              </a:defRPr>
            </a:lvl9pPr>
          </a:lstStyle>
          <a:p>
            <a:fld id="{0EB280F2-3999-464E-A1E2-9C1373760C31}" type="slidenum">
              <a:rPr lang="zh-CN" altLang="en-US" sz="1300"/>
            </a:fld>
            <a:endParaRPr lang="en-US" altLang="zh-CN" sz="1300"/>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Title_Gray_Number"/>
          <p:cNvSpPr>
            <a:spLocks noChangeArrowheads="1"/>
          </p:cNvSpPr>
          <p:nvPr userDrawn="1"/>
        </p:nvSpPr>
        <p:spPr bwMode="gray">
          <a:xfrm>
            <a:off x="3505200" y="952500"/>
            <a:ext cx="2057400" cy="4318000"/>
          </a:xfrm>
          <a:prstGeom prst="rect">
            <a:avLst/>
          </a:prstGeom>
          <a:solidFill>
            <a:srgbClr val="FFFFFF"/>
          </a:solidFill>
          <a:ln w="9525">
            <a:solidFill>
              <a:srgbClr val="FFFFFF"/>
            </a:solidFill>
            <a:miter lim="800000"/>
          </a:ln>
        </p:spPr>
        <p:txBody>
          <a:bodyPr wrap="none" lIns="12700" tIns="12700" rIns="12700" bIns="12700" anchor="ctr"/>
          <a:lstStyle>
            <a:lvl1pPr defTabSz="228600">
              <a:defRPr sz="1600">
                <a:solidFill>
                  <a:schemeClr val="tx1"/>
                </a:solidFill>
                <a:latin typeface="Helvetica" panose="020B0604020202020204" pitchFamily="34" charset="0"/>
              </a:defRPr>
            </a:lvl1pPr>
            <a:lvl2pPr marL="742950" indent="-285750" defTabSz="228600">
              <a:defRPr sz="1600">
                <a:solidFill>
                  <a:schemeClr val="tx1"/>
                </a:solidFill>
                <a:latin typeface="Helvetica" panose="020B0604020202020204" pitchFamily="34" charset="0"/>
              </a:defRPr>
            </a:lvl2pPr>
            <a:lvl3pPr marL="1143000" indent="-228600" defTabSz="228600">
              <a:defRPr sz="1600">
                <a:solidFill>
                  <a:schemeClr val="tx1"/>
                </a:solidFill>
                <a:latin typeface="Helvetica" panose="020B0604020202020204" pitchFamily="34" charset="0"/>
              </a:defRPr>
            </a:lvl3pPr>
            <a:lvl4pPr marL="1600200" indent="-228600" defTabSz="228600">
              <a:defRPr sz="1600">
                <a:solidFill>
                  <a:schemeClr val="tx1"/>
                </a:solidFill>
                <a:latin typeface="Helvetica" panose="020B0604020202020204" pitchFamily="34" charset="0"/>
              </a:defRPr>
            </a:lvl4pPr>
            <a:lvl5pPr marL="2057400" indent="-228600" defTabSz="228600">
              <a:defRPr sz="1600">
                <a:solidFill>
                  <a:schemeClr val="tx1"/>
                </a:solidFill>
                <a:latin typeface="Helvetica" panose="020B0604020202020204" pitchFamily="34" charset="0"/>
              </a:defRPr>
            </a:lvl5pPr>
            <a:lvl6pPr marL="2514600" indent="-228600" defTabSz="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defTabSz="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defTabSz="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defTabSz="228600" eaLnBrk="0" fontAlgn="base" hangingPunct="0">
              <a:spcBef>
                <a:spcPct val="0"/>
              </a:spcBef>
              <a:spcAft>
                <a:spcPct val="0"/>
              </a:spcAft>
              <a:defRPr sz="1600">
                <a:solidFill>
                  <a:schemeClr val="tx1"/>
                </a:solidFill>
                <a:latin typeface="Helvetica" panose="020B0604020202020204" pitchFamily="34" charset="0"/>
              </a:defRPr>
            </a:lvl9pPr>
          </a:lstStyle>
          <a:p>
            <a:pPr algn="ctr">
              <a:buClr>
                <a:srgbClr val="000000"/>
              </a:buClr>
              <a:buFont typeface="Arial" panose="020B0604020202020204" pitchFamily="34" charset="0"/>
              <a:buNone/>
              <a:defRPr/>
            </a:pPr>
            <a:r>
              <a:rPr lang="zh-CN" altLang="en-US" sz="27700">
                <a:solidFill>
                  <a:srgbClr val="CCCCCC"/>
                </a:solidFill>
                <a:latin typeface="Times New Roman" panose="02020603050405020304" pitchFamily="18" charset="0"/>
                <a:ea typeface="宋体" panose="02010600030101010101" pitchFamily="2" charset="-122"/>
              </a:rPr>
              <a:t>1</a:t>
            </a:r>
            <a:endParaRPr lang="zh-CN" altLang="en-US" sz="27700">
              <a:solidFill>
                <a:srgbClr val="CCCCCC"/>
              </a:solidFill>
              <a:latin typeface="Times New Roman" panose="02020603050405020304" pitchFamily="18" charset="0"/>
              <a:ea typeface="宋体" panose="02010600030101010101" pitchFamily="2" charset="-122"/>
            </a:endParaRPr>
          </a:p>
        </p:txBody>
      </p:sp>
      <p:sp>
        <p:nvSpPr>
          <p:cNvPr id="4" name="Title_Gray_Number"/>
          <p:cNvSpPr>
            <a:spLocks noChangeArrowheads="1"/>
          </p:cNvSpPr>
          <p:nvPr userDrawn="1"/>
        </p:nvSpPr>
        <p:spPr bwMode="gray">
          <a:xfrm>
            <a:off x="939800" y="952500"/>
            <a:ext cx="7302500" cy="4318000"/>
          </a:xfrm>
          <a:prstGeom prst="rect">
            <a:avLst/>
          </a:prstGeom>
          <a:solidFill>
            <a:srgbClr val="FFFFFF"/>
          </a:solidFill>
          <a:ln w="9525">
            <a:solidFill>
              <a:srgbClr val="FFFFFF"/>
            </a:solidFill>
            <a:miter lim="800000"/>
          </a:ln>
        </p:spPr>
        <p:txBody>
          <a:bodyPr wrap="none" lIns="12700" tIns="12700" rIns="12700" bIns="12700" anchor="ctr"/>
          <a:lstStyle>
            <a:lvl1pPr defTabSz="228600">
              <a:defRPr sz="1600">
                <a:solidFill>
                  <a:schemeClr val="tx1"/>
                </a:solidFill>
                <a:latin typeface="Helvetica" panose="020B0604020202020204" pitchFamily="34" charset="0"/>
              </a:defRPr>
            </a:lvl1pPr>
            <a:lvl2pPr marL="742950" indent="-285750" defTabSz="228600">
              <a:defRPr sz="1600">
                <a:solidFill>
                  <a:schemeClr val="tx1"/>
                </a:solidFill>
                <a:latin typeface="Helvetica" panose="020B0604020202020204" pitchFamily="34" charset="0"/>
              </a:defRPr>
            </a:lvl2pPr>
            <a:lvl3pPr marL="1143000" indent="-228600" defTabSz="228600">
              <a:defRPr sz="1600">
                <a:solidFill>
                  <a:schemeClr val="tx1"/>
                </a:solidFill>
                <a:latin typeface="Helvetica" panose="020B0604020202020204" pitchFamily="34" charset="0"/>
              </a:defRPr>
            </a:lvl3pPr>
            <a:lvl4pPr marL="1600200" indent="-228600" defTabSz="228600">
              <a:defRPr sz="1600">
                <a:solidFill>
                  <a:schemeClr val="tx1"/>
                </a:solidFill>
                <a:latin typeface="Helvetica" panose="020B0604020202020204" pitchFamily="34" charset="0"/>
              </a:defRPr>
            </a:lvl4pPr>
            <a:lvl5pPr marL="2057400" indent="-228600" defTabSz="228600">
              <a:defRPr sz="1600">
                <a:solidFill>
                  <a:schemeClr val="tx1"/>
                </a:solidFill>
                <a:latin typeface="Helvetica" panose="020B0604020202020204" pitchFamily="34" charset="0"/>
              </a:defRPr>
            </a:lvl5pPr>
            <a:lvl6pPr marL="2514600" indent="-228600" defTabSz="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defTabSz="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defTabSz="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defTabSz="228600" eaLnBrk="0" fontAlgn="base" hangingPunct="0">
              <a:spcBef>
                <a:spcPct val="0"/>
              </a:spcBef>
              <a:spcAft>
                <a:spcPct val="0"/>
              </a:spcAft>
              <a:defRPr sz="1600">
                <a:solidFill>
                  <a:schemeClr val="tx1"/>
                </a:solidFill>
                <a:latin typeface="Helvetica" panose="020B0604020202020204" pitchFamily="34" charset="0"/>
              </a:defRPr>
            </a:lvl9pPr>
          </a:lstStyle>
          <a:p>
            <a:pPr algn="ctr">
              <a:buClr>
                <a:srgbClr val="000000"/>
              </a:buClr>
              <a:buFont typeface="Arial" panose="020B0604020202020204" pitchFamily="34" charset="0"/>
              <a:buNone/>
              <a:defRPr/>
            </a:pPr>
            <a:r>
              <a:rPr lang="en-US" altLang="zh-CN" sz="27700">
                <a:solidFill>
                  <a:srgbClr val="CCCCCC"/>
                </a:solidFill>
                <a:latin typeface="Times New Roman" panose="02020603050405020304" pitchFamily="18" charset="0"/>
                <a:ea typeface="宋体" panose="02010600030101010101" pitchFamily="2" charset="-122"/>
              </a:rPr>
              <a:t>DB</a:t>
            </a:r>
            <a:endParaRPr lang="en-US" altLang="zh-CN" sz="27700">
              <a:solidFill>
                <a:srgbClr val="CCCCCC"/>
              </a:solidFill>
              <a:latin typeface="Times New Roman" panose="02020603050405020304" pitchFamily="18" charset="0"/>
              <a:ea typeface="宋体" panose="02010600030101010101" pitchFamily="2" charset="-122"/>
            </a:endParaRPr>
          </a:p>
        </p:txBody>
      </p:sp>
      <p:sp>
        <p:nvSpPr>
          <p:cNvPr id="5" name="Default_Title"/>
          <p:cNvSpPr txBox="1">
            <a:spLocks noChangeArrowheads="1"/>
          </p:cNvSpPr>
          <p:nvPr userDrawn="1"/>
        </p:nvSpPr>
        <p:spPr bwMode="auto">
          <a:xfrm>
            <a:off x="2343150" y="5410200"/>
            <a:ext cx="46291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lgn="ctr" eaLnBrk="1" hangingPunct="1">
              <a:defRPr/>
            </a:pPr>
            <a:r>
              <a:rPr lang="en-US" altLang="zh-CN" sz="2000" dirty="0">
                <a:solidFill>
                  <a:srgbClr val="000000"/>
                </a:solidFill>
                <a:latin typeface="Garamond" pitchFamily="18" charset="0"/>
                <a:ea typeface="宋体" panose="02010600030101010101" pitchFamily="2" charset="-122"/>
              </a:rPr>
              <a:t>Dr. CHEN Jian</a:t>
            </a:r>
            <a:endParaRPr lang="en-US" altLang="zh-CN" sz="2000" dirty="0">
              <a:solidFill>
                <a:srgbClr val="000000"/>
              </a:solidFill>
              <a:latin typeface="Garamond" pitchFamily="18" charset="0"/>
              <a:ea typeface="宋体" panose="02010600030101010101" pitchFamily="2" charset="-122"/>
            </a:endParaRPr>
          </a:p>
          <a:p>
            <a:pPr algn="ctr" eaLnBrk="1" hangingPunct="1">
              <a:defRPr/>
            </a:pPr>
            <a:r>
              <a:rPr lang="en-US" altLang="zh-CN" sz="2000" dirty="0">
                <a:solidFill>
                  <a:srgbClr val="000000"/>
                </a:solidFill>
                <a:latin typeface="Garamond" pitchFamily="18" charset="0"/>
                <a:ea typeface="宋体" panose="02010600030101010101" pitchFamily="2" charset="-122"/>
              </a:rPr>
              <a:t>Professor</a:t>
            </a:r>
            <a:endParaRPr lang="en-US" altLang="zh-CN" sz="2000" dirty="0">
              <a:solidFill>
                <a:srgbClr val="000000"/>
              </a:solidFill>
              <a:latin typeface="Garamond" pitchFamily="18" charset="0"/>
              <a:ea typeface="宋体" panose="02010600030101010101" pitchFamily="2" charset="-122"/>
            </a:endParaRPr>
          </a:p>
          <a:p>
            <a:pPr algn="ctr" eaLnBrk="1" hangingPunct="1">
              <a:defRPr/>
            </a:pPr>
            <a:r>
              <a:rPr lang="en-US" altLang="zh-CN" sz="2000" dirty="0">
                <a:solidFill>
                  <a:srgbClr val="000000"/>
                </a:solidFill>
                <a:latin typeface="Garamond" pitchFamily="18" charset="0"/>
                <a:ea typeface="宋体" panose="02010600030101010101" pitchFamily="2" charset="-122"/>
              </a:rPr>
              <a:t>ellachen@scut.edu.cn</a:t>
            </a:r>
            <a:endParaRPr lang="en-US" altLang="zh-CN" sz="2000" dirty="0">
              <a:solidFill>
                <a:srgbClr val="000000"/>
              </a:solidFill>
              <a:latin typeface="Garamond" pitchFamily="18" charset="0"/>
              <a:ea typeface="宋体" panose="02010600030101010101" pitchFamily="2" charset="-122"/>
            </a:endParaRPr>
          </a:p>
        </p:txBody>
      </p:sp>
      <p:sp>
        <p:nvSpPr>
          <p:cNvPr id="6" name="Slide_Copyright"/>
          <p:cNvSpPr>
            <a:spLocks noChangeArrowheads="1"/>
          </p:cNvSpPr>
          <p:nvPr userDrawn="1"/>
        </p:nvSpPr>
        <p:spPr bwMode="auto">
          <a:xfrm>
            <a:off x="3663950" y="6629400"/>
            <a:ext cx="20510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fontAlgn="b">
              <a:lnSpc>
                <a:spcPct val="110000"/>
              </a:lnSpc>
              <a:defRPr/>
            </a:pPr>
            <a:r>
              <a:rPr lang="zh-CN" altLang="en-US" sz="1200">
                <a:latin typeface="Arial" panose="020B0604020202020204" pitchFamily="34" charset="0"/>
                <a:ea typeface="宋体" panose="02010600030101010101" pitchFamily="2" charset="-122"/>
              </a:rPr>
              <a:t>华南理工大学 软件学院</a:t>
            </a:r>
            <a:endParaRPr lang="zh-CN" altLang="en-US" sz="1200">
              <a:latin typeface="Arial" panose="020B0604020202020204" pitchFamily="34" charset="0"/>
              <a:ea typeface="宋体" panose="02010600030101010101" pitchFamily="2" charset="-122"/>
            </a:endParaRPr>
          </a:p>
        </p:txBody>
      </p:sp>
      <p:pic>
        <p:nvPicPr>
          <p:cNvPr id="7" name="Picture 12"/>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330950"/>
            <a:ext cx="91440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
        <p:nvSpPr>
          <p:cNvPr id="36" name="Default_Title"/>
          <p:cNvSpPr>
            <a:spLocks noGrp="1" noChangeArrowheads="1"/>
          </p:cNvSpPr>
          <p:nvPr>
            <p:ph type="ctrTitle" hasCustomPrompt="1"/>
          </p:nvPr>
        </p:nvSpPr>
        <p:spPr>
          <a:xfrm>
            <a:off x="914400" y="2667000"/>
            <a:ext cx="7315200" cy="685800"/>
          </a:xfrm>
        </p:spPr>
        <p:txBody>
          <a:bodyPr/>
          <a:lstStyle>
            <a:lvl1pPr algn="ctr">
              <a:spcBef>
                <a:spcPct val="0"/>
              </a:spcBef>
              <a:defRPr sz="4000">
                <a:latin typeface="Garamond" pitchFamily="18" charset="0"/>
              </a:defRPr>
            </a:lvl1pPr>
          </a:lstStyle>
          <a:p>
            <a:r>
              <a:rPr lang="zh-CN" altLang="en-US" dirty="0"/>
              <a:t> </a:t>
            </a:r>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endParaRPr lang="zh-CN" altLang="en-US"/>
          </a:p>
        </p:txBody>
      </p:sp>
      <p:sp>
        <p:nvSpPr>
          <p:cNvPr id="3" name="内容占位符 2"/>
          <p:cNvSpPr>
            <a:spLocks noGrp="1"/>
          </p:cNvSpPr>
          <p:nvPr>
            <p:ph idx="1"/>
          </p:nvPr>
        </p:nvSpPr>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14388" y="1093788"/>
            <a:ext cx="3754437"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21225" y="1093788"/>
            <a:ext cx="3754438"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26250" y="117475"/>
            <a:ext cx="2019300" cy="58801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68350" y="117475"/>
            <a:ext cx="5905500" cy="58801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147458" name="Rectangle 2"/>
          <p:cNvSpPr>
            <a:spLocks noGrp="1" noChangeArrowheads="1"/>
          </p:cNvSpPr>
          <p:nvPr>
            <p:ph type="ctrTitle"/>
          </p:nvPr>
        </p:nvSpPr>
        <p:spPr>
          <a:xfrm>
            <a:off x="685800" y="2286000"/>
            <a:ext cx="7772400" cy="1143000"/>
          </a:xfrm>
        </p:spPr>
        <p:txBody>
          <a:bodyPr/>
          <a:lstStyle>
            <a:lvl1pPr>
              <a:defRPr/>
            </a:lvl1pPr>
          </a:lstStyle>
          <a:p>
            <a:r>
              <a:rPr lang="en-US" altLang="zh-CN"/>
              <a:t>Click to edit Master title style</a:t>
            </a:r>
            <a:endParaRPr lang="en-US" altLang="zh-CN"/>
          </a:p>
        </p:txBody>
      </p:sp>
      <p:sp>
        <p:nvSpPr>
          <p:cNvPr id="147459" name="Rectangle 3"/>
          <p:cNvSpPr>
            <a:spLocks noGrp="1" noChangeArrowheads="1"/>
          </p:cNvSpPr>
          <p:nvPr>
            <p:ph type="subTitle" idx="1"/>
          </p:nvPr>
        </p:nvSpPr>
        <p:spPr>
          <a:xfrm>
            <a:off x="1371600" y="3886200"/>
            <a:ext cx="6400800" cy="1752600"/>
          </a:xfrm>
        </p:spPr>
        <p:txBody>
          <a:bodyPr/>
          <a:lstStyle>
            <a:lvl1pPr marL="0" indent="0" algn="ctr">
              <a:buFont typeface="Monotype Sorts" pitchFamily="2" charset="2"/>
              <a:buNone/>
              <a:defRPr/>
            </a:lvl1pPr>
          </a:lstStyle>
          <a:p>
            <a:r>
              <a:rPr lang="en-US" altLang="zh-CN"/>
              <a:t>Click to edit Master subtitle style</a:t>
            </a:r>
            <a:endParaRPr lang="en-US" altLang="zh-CN"/>
          </a:p>
        </p:txBody>
      </p:sp>
      <p:sp>
        <p:nvSpPr>
          <p:cNvPr id="4" name="Rectangle 4"/>
          <p:cNvSpPr>
            <a:spLocks noGrp="1" noChangeArrowheads="1"/>
          </p:cNvSpPr>
          <p:nvPr>
            <p:ph type="ftr" sz="quarter" idx="10"/>
          </p:nvPr>
        </p:nvSpPr>
        <p:spPr bwMode="auto">
          <a:xfrm>
            <a:off x="2862263" y="5780088"/>
            <a:ext cx="3448050" cy="457200"/>
          </a:xfrm>
          <a:prstGeom prst="rect">
            <a:avLst/>
          </a:prstGeom>
          <a:ln>
            <a:miter lim="800000"/>
          </a:ln>
        </p:spPr>
        <p:txBody>
          <a:bodyPr vert="horz" wrap="square" lIns="91440" tIns="45720" rIns="91440" bIns="45720" numCol="1" anchor="t" anchorCtr="0" compatLnSpc="1"/>
          <a:lstStyle>
            <a:lvl1pPr algn="ctr">
              <a:spcBef>
                <a:spcPct val="50000"/>
              </a:spcBef>
              <a:defRPr>
                <a:solidFill>
                  <a:srgbClr val="578963"/>
                </a:solidFill>
                <a:latin typeface="Times New Roman" panose="02020603050405020304" pitchFamily="18" charset="0"/>
                <a:ea typeface="宋体" panose="02010600030101010101" pitchFamily="2" charset="-122"/>
              </a:defRPr>
            </a:lvl1pPr>
          </a:lstStyle>
          <a:p>
            <a:pPr>
              <a:defRPr/>
            </a:pPr>
            <a:endParaRPr lang="zh-CN" altLang="en-US"/>
          </a:p>
        </p:txBody>
      </p:sp>
      <p:sp>
        <p:nvSpPr>
          <p:cNvPr id="5" name="Rectangle 5"/>
          <p:cNvSpPr>
            <a:spLocks noGrp="1" noChangeArrowheads="1"/>
          </p:cNvSpPr>
          <p:nvPr>
            <p:ph type="sldNum" sz="quarter" idx="11"/>
          </p:nvPr>
        </p:nvSpPr>
        <p:spPr>
          <a:xfrm>
            <a:off x="6596063" y="6218238"/>
            <a:ext cx="1905000" cy="457200"/>
          </a:xfrm>
          <a:prstGeom prst="rect">
            <a:avLst/>
          </a:prstGeom>
        </p:spPr>
        <p:txBody>
          <a:bodyPr vert="horz" wrap="square" lIns="91440" tIns="45720" rIns="91440" bIns="45720" numCol="1" anchor="t" anchorCtr="0" compatLnSpc="1"/>
          <a:lstStyle>
            <a:lvl1pPr>
              <a:defRPr>
                <a:solidFill>
                  <a:srgbClr val="578963"/>
                </a:solidFill>
                <a:ea typeface="宋体" panose="02010600030101010101" pitchFamily="2" charset="-122"/>
              </a:defRPr>
            </a:lvl1pPr>
          </a:lstStyle>
          <a:p>
            <a:fld id="{6F3D51DD-68F5-4AA6-8E16-4939E432483F}" type="slidenum">
              <a:rPr lang="zh-CN" altLang="en-US"/>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a:xfrm>
            <a:off x="457200" y="6243638"/>
            <a:ext cx="2133600" cy="457200"/>
          </a:xfrm>
          <a:prstGeom prst="rect">
            <a:avLst/>
          </a:prstGeom>
        </p:spPr>
        <p:txBody>
          <a:bodyPr vert="horz" wrap="square" lIns="91440" tIns="45720" rIns="91440" bIns="45720" numCol="1" anchor="t" anchorCtr="0" compatLnSpc="1"/>
          <a:lstStyle>
            <a:lvl1pPr>
              <a:defRPr>
                <a:ea typeface="宋体" panose="02010600030101010101" pitchFamily="2" charset="-122"/>
              </a:defRPr>
            </a:lvl1pPr>
          </a:lstStyle>
          <a:p>
            <a:pPr>
              <a:defRPr/>
            </a:pPr>
            <a:endParaRPr lang="zh-CN" altLang="en-US"/>
          </a:p>
        </p:txBody>
      </p:sp>
      <p:sp>
        <p:nvSpPr>
          <p:cNvPr id="6" name="Rectangle 5"/>
          <p:cNvSpPr>
            <a:spLocks noGrp="1" noChangeArrowheads="1"/>
          </p:cNvSpPr>
          <p:nvPr>
            <p:ph type="ftr" sz="quarter" idx="11"/>
          </p:nvPr>
        </p:nvSpPr>
        <p:spPr>
          <a:xfrm>
            <a:off x="3124200" y="6248400"/>
            <a:ext cx="2895600" cy="457200"/>
          </a:xfrm>
          <a:prstGeom prst="rect">
            <a:avLst/>
          </a:prstGeom>
        </p:spPr>
        <p:txBody>
          <a:bodyPr vert="horz" wrap="square" lIns="91440" tIns="45720" rIns="91440" bIns="45720" numCol="1" anchor="t" anchorCtr="0" compatLnSpc="1"/>
          <a:lstStyle>
            <a:lvl1pPr>
              <a:defRPr>
                <a:ea typeface="宋体" panose="02010600030101010101" pitchFamily="2" charset="-122"/>
              </a:defRPr>
            </a:lvl1pPr>
          </a:lstStyle>
          <a:p>
            <a:pPr>
              <a:defRPr/>
            </a:pPr>
            <a:endParaRPr lang="zh-CN" altLang="en-US"/>
          </a:p>
        </p:txBody>
      </p:sp>
      <p:sp>
        <p:nvSpPr>
          <p:cNvPr id="7" name="Rectangle 6"/>
          <p:cNvSpPr>
            <a:spLocks noGrp="1" noChangeArrowheads="1"/>
          </p:cNvSpPr>
          <p:nvPr>
            <p:ph type="sldNum" sz="quarter" idx="12"/>
          </p:nvPr>
        </p:nvSpPr>
        <p:spPr>
          <a:xfrm>
            <a:off x="6553200" y="6243638"/>
            <a:ext cx="2133600" cy="457200"/>
          </a:xfrm>
          <a:prstGeom prst="rect">
            <a:avLst/>
          </a:prstGeom>
        </p:spPr>
        <p:txBody>
          <a:bodyPr vert="horz" wrap="square" lIns="91440" tIns="45720" rIns="91440" bIns="45720" numCol="1" anchor="t" anchorCtr="0" compatLnSpc="1"/>
          <a:lstStyle>
            <a:lvl1pPr>
              <a:defRPr>
                <a:ea typeface="宋体" panose="02010600030101010101" pitchFamily="2" charset="-122"/>
              </a:defRPr>
            </a:lvl1pPr>
          </a:lstStyle>
          <a:p>
            <a:fld id="{7E30EEF6-955E-4BEF-818D-8876DFF32DDF}"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457200" y="1600200"/>
            <a:ext cx="8229600" cy="4530725"/>
          </a:xfrm>
        </p:spPr>
        <p:txBody>
          <a:bodyPr/>
          <a:lstStyle/>
          <a:p>
            <a:pPr lvl="0"/>
            <a:endParaRPr lang="zh-CN" altLang="en-US" noProof="0"/>
          </a:p>
        </p:txBody>
      </p:sp>
      <p:sp>
        <p:nvSpPr>
          <p:cNvPr id="4" name="日期占位符 3"/>
          <p:cNvSpPr>
            <a:spLocks noGrp="1"/>
          </p:cNvSpPr>
          <p:nvPr>
            <p:ph type="dt" sz="half" idx="10"/>
          </p:nvPr>
        </p:nvSpPr>
        <p:spPr>
          <a:xfrm>
            <a:off x="457200" y="6243638"/>
            <a:ext cx="2133600" cy="457200"/>
          </a:xfrm>
          <a:prstGeom prst="rect">
            <a:avLst/>
          </a:prstGeom>
        </p:spPr>
        <p:txBody>
          <a:bodyPr vert="horz" wrap="square" lIns="91440" tIns="45720" rIns="91440" bIns="45720" numCol="1" anchor="t" anchorCtr="0" compatLnSpc="1"/>
          <a:lstStyle>
            <a:lvl1pPr>
              <a:defRPr>
                <a:ea typeface="宋体" panose="02010600030101010101" pitchFamily="2" charset="-122"/>
              </a:defRPr>
            </a:lvl1pPr>
          </a:lstStyle>
          <a:p>
            <a:pPr>
              <a:defRPr/>
            </a:pPr>
            <a:r>
              <a:rPr lang="zh-CN" altLang="en-US"/>
              <a:t>陈健</a:t>
            </a:r>
            <a:endParaRPr lang="zh-CN" altLang="en-US"/>
          </a:p>
        </p:txBody>
      </p:sp>
      <p:sp>
        <p:nvSpPr>
          <p:cNvPr id="5" name="页脚占位符 4"/>
          <p:cNvSpPr>
            <a:spLocks noGrp="1"/>
          </p:cNvSpPr>
          <p:nvPr>
            <p:ph type="ftr" sz="quarter" idx="11"/>
          </p:nvPr>
        </p:nvSpPr>
        <p:spPr>
          <a:xfrm>
            <a:off x="3124200" y="6248400"/>
            <a:ext cx="2895600" cy="457200"/>
          </a:xfrm>
          <a:prstGeom prst="rect">
            <a:avLst/>
          </a:prstGeom>
        </p:spPr>
        <p:txBody>
          <a:bodyPr vert="horz" wrap="square" lIns="91440" tIns="45720" rIns="91440" bIns="45720" numCol="1" anchor="t" anchorCtr="0" compatLnSpc="1"/>
          <a:lstStyle>
            <a:lvl1pPr>
              <a:defRPr>
                <a:ea typeface="宋体" panose="02010600030101010101" pitchFamily="2" charset="-122"/>
              </a:defRPr>
            </a:lvl1pPr>
          </a:lstStyle>
          <a:p>
            <a:pPr>
              <a:defRPr/>
            </a:pPr>
            <a:r>
              <a:rPr lang="zh-CN" altLang="en-US"/>
              <a:t>华南理工大学计算机科学与工程学院</a:t>
            </a:r>
            <a:endParaRPr lang="zh-CN" altLang="en-US"/>
          </a:p>
        </p:txBody>
      </p:sp>
      <p:sp>
        <p:nvSpPr>
          <p:cNvPr id="6" name="灯片编号占位符 5"/>
          <p:cNvSpPr>
            <a:spLocks noGrp="1"/>
          </p:cNvSpPr>
          <p:nvPr>
            <p:ph type="sldNum" sz="quarter" idx="12"/>
          </p:nvPr>
        </p:nvSpPr>
        <p:spPr>
          <a:xfrm>
            <a:off x="6553200" y="6243638"/>
            <a:ext cx="2133600" cy="457200"/>
          </a:xfrm>
          <a:prstGeom prst="rect">
            <a:avLst/>
          </a:prstGeom>
        </p:spPr>
        <p:txBody>
          <a:bodyPr vert="horz" wrap="square" lIns="91440" tIns="45720" rIns="91440" bIns="45720" numCol="1" anchor="t" anchorCtr="0" compatLnSpc="1"/>
          <a:lstStyle>
            <a:lvl1pPr>
              <a:defRPr>
                <a:ea typeface="宋体" panose="02010600030101010101" pitchFamily="2" charset="-122"/>
              </a:defRPr>
            </a:lvl1pPr>
          </a:lstStyle>
          <a:p>
            <a:fld id="{67ABD9C3-1D1D-43C2-8BB3-CDF5FEA4F193}" type="slidenum">
              <a:rPr lang="en-US" altLang="zh-CN"/>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defRPr/>
                </a:pPr>
                <a:endParaRPr lang="zh-CN" altLang="en-US">
                  <a:solidFill>
                    <a:srgbClr val="000000"/>
                  </a:solidFill>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defRPr/>
                </a:pPr>
                <a:endParaRPr lang="zh-CN" altLang="en-US">
                  <a:solidFill>
                    <a:srgbClr val="000000"/>
                  </a:solidFill>
                </a:endParaRPr>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defRPr/>
                </a:pPr>
                <a:endParaRPr lang="zh-CN" altLang="en-US">
                  <a:solidFill>
                    <a:srgbClr val="000000"/>
                  </a:solidFill>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defRPr/>
                </a:pPr>
                <a:endParaRPr lang="zh-CN" altLang="en-US">
                  <a:solidFill>
                    <a:srgbClr val="000000"/>
                  </a:solidFill>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defRPr/>
              </a:pPr>
              <a:endParaRPr lang="zh-CN" altLang="en-US">
                <a:solidFill>
                  <a:srgbClr val="000000"/>
                </a:solidFill>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defRPr/>
              </a:pPr>
              <a:endParaRPr lang="zh-CN" altLang="en-US">
                <a:solidFill>
                  <a:srgbClr val="000000"/>
                </a:solidFill>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defRPr/>
              </a:pPr>
              <a:endParaRPr lang="zh-CN" altLang="en-US">
                <a:solidFill>
                  <a:srgbClr val="000000"/>
                </a:solidFill>
              </a:endParaRPr>
            </a:p>
          </p:txBody>
        </p:sp>
      </p:grpSp>
      <p:sp>
        <p:nvSpPr>
          <p:cNvPr id="24986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endParaRPr lang="zh-CN" altLang="en-US"/>
          </a:p>
        </p:txBody>
      </p:sp>
      <p:sp>
        <p:nvSpPr>
          <p:cNvPr id="24986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14" name="Rectangle 14"/>
          <p:cNvSpPr>
            <a:spLocks noGrp="1" noChangeArrowheads="1"/>
          </p:cNvSpPr>
          <p:nvPr>
            <p:ph type="dt" sz="half" idx="10"/>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eaLnBrk="1" hangingPunct="1">
              <a:defRPr sz="1400">
                <a:solidFill>
                  <a:srgbClr val="1C1C1C"/>
                </a:solidFill>
                <a:latin typeface="+mn-lt"/>
                <a:ea typeface="+mn-ea"/>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rgbClr val="1C1C1C"/>
                </a:solidFill>
                <a:latin typeface="+mn-lt"/>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fld id="{71726B2A-8137-4743-B36F-44775053F7C2}" type="slidenum">
              <a:rPr lang="zh-CN" altLang="en-US"/>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ftr" sz="quarter" idx="10"/>
          </p:nvPr>
        </p:nvSpPr>
        <p:spPr/>
        <p:txBody>
          <a:bodyPr/>
          <a:lstStyle>
            <a:lvl1pPr>
              <a:defRPr/>
            </a:lvl1pPr>
          </a:lstStyle>
          <a:p>
            <a:fld id="{C7E47A4C-99C7-4001-98F6-944D2D360490}" type="slidenum">
              <a:rPr lang="zh-CN" altLang="en-US"/>
            </a:fld>
            <a:endParaRPr lang="en-US" altLang="zh-CN"/>
          </a:p>
        </p:txBody>
      </p:sp>
      <p:sp>
        <p:nvSpPr>
          <p:cNvPr id="5" name="Rectangle 12"/>
          <p:cNvSpPr>
            <a:spLocks noGrp="1" noChangeArrowheads="1"/>
          </p:cNvSpPr>
          <p:nvPr>
            <p:ph type="sldNum" sz="quarter" idx="11"/>
          </p:nvPr>
        </p:nvSpPr>
        <p:spPr/>
        <p:txBody>
          <a:bodyPr/>
          <a:lstStyle>
            <a:lvl1pPr>
              <a:defRPr/>
            </a:lvl1pPr>
          </a:lstStyle>
          <a:p>
            <a:fld id="{C244D959-8FC5-46CC-A3CD-8575CA5CEAC5}" type="slidenum">
              <a:rPr lang="zh-CN" altLang="en-US"/>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11"/>
          <p:cNvSpPr>
            <a:spLocks noGrp="1" noChangeArrowheads="1"/>
          </p:cNvSpPr>
          <p:nvPr>
            <p:ph type="ftr" sz="quarter" idx="10"/>
          </p:nvPr>
        </p:nvSpPr>
        <p:spPr/>
        <p:txBody>
          <a:bodyPr/>
          <a:lstStyle>
            <a:lvl1pPr>
              <a:defRPr/>
            </a:lvl1pPr>
          </a:lstStyle>
          <a:p>
            <a:fld id="{36A962D6-5FE3-4CCB-9211-E333558B1379}" type="slidenum">
              <a:rPr lang="zh-CN" altLang="en-US"/>
            </a:fld>
            <a:endParaRPr lang="en-US" altLang="zh-CN"/>
          </a:p>
        </p:txBody>
      </p:sp>
      <p:sp>
        <p:nvSpPr>
          <p:cNvPr id="5" name="Rectangle 12"/>
          <p:cNvSpPr>
            <a:spLocks noGrp="1" noChangeArrowheads="1"/>
          </p:cNvSpPr>
          <p:nvPr>
            <p:ph type="sldNum" sz="quarter" idx="11"/>
          </p:nvPr>
        </p:nvSpPr>
        <p:spPr/>
        <p:txBody>
          <a:bodyPr/>
          <a:lstStyle>
            <a:lvl1pPr>
              <a:defRPr/>
            </a:lvl1pPr>
          </a:lstStyle>
          <a:p>
            <a:fld id="{96367C28-5C32-4AF4-8B96-9E64CF2C2645}" type="slidenum">
              <a:rPr lang="zh-CN" altLang="en-US"/>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28600" y="1196975"/>
            <a:ext cx="4286250" cy="5432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7250" y="1196975"/>
            <a:ext cx="4287838" cy="5432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1"/>
          <p:cNvSpPr>
            <a:spLocks noGrp="1" noChangeArrowheads="1"/>
          </p:cNvSpPr>
          <p:nvPr>
            <p:ph type="ftr" sz="quarter" idx="10"/>
          </p:nvPr>
        </p:nvSpPr>
        <p:spPr/>
        <p:txBody>
          <a:bodyPr/>
          <a:lstStyle>
            <a:lvl1pPr>
              <a:defRPr/>
            </a:lvl1pPr>
          </a:lstStyle>
          <a:p>
            <a:fld id="{522880C6-AD67-455C-BA31-4A71F006B74E}" type="slidenum">
              <a:rPr lang="zh-CN" altLang="en-US"/>
            </a:fld>
            <a:endParaRPr lang="en-US" altLang="zh-CN"/>
          </a:p>
        </p:txBody>
      </p:sp>
      <p:sp>
        <p:nvSpPr>
          <p:cNvPr id="6" name="Rectangle 12"/>
          <p:cNvSpPr>
            <a:spLocks noGrp="1" noChangeArrowheads="1"/>
          </p:cNvSpPr>
          <p:nvPr>
            <p:ph type="sldNum" sz="quarter" idx="11"/>
          </p:nvPr>
        </p:nvSpPr>
        <p:spPr/>
        <p:txBody>
          <a:bodyPr/>
          <a:lstStyle>
            <a:lvl1pPr>
              <a:defRPr/>
            </a:lvl1pPr>
          </a:lstStyle>
          <a:p>
            <a:fld id="{D2837633-8B93-49F9-8A43-27BF34D75B03}" type="slidenum">
              <a:rPr lang="zh-CN" altLang="en-US"/>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11"/>
          <p:cNvSpPr>
            <a:spLocks noGrp="1" noChangeArrowheads="1"/>
          </p:cNvSpPr>
          <p:nvPr>
            <p:ph type="ftr" sz="quarter" idx="10"/>
          </p:nvPr>
        </p:nvSpPr>
        <p:spPr/>
        <p:txBody>
          <a:bodyPr/>
          <a:lstStyle>
            <a:lvl1pPr>
              <a:defRPr/>
            </a:lvl1pPr>
          </a:lstStyle>
          <a:p>
            <a:fld id="{7D598E57-E813-470F-9DCF-E6BAA20E0505}" type="slidenum">
              <a:rPr lang="zh-CN" altLang="en-US"/>
            </a:fld>
            <a:endParaRPr lang="en-US" altLang="zh-CN"/>
          </a:p>
        </p:txBody>
      </p:sp>
      <p:sp>
        <p:nvSpPr>
          <p:cNvPr id="8" name="Rectangle 12"/>
          <p:cNvSpPr>
            <a:spLocks noGrp="1" noChangeArrowheads="1"/>
          </p:cNvSpPr>
          <p:nvPr>
            <p:ph type="sldNum" sz="quarter" idx="11"/>
          </p:nvPr>
        </p:nvSpPr>
        <p:spPr/>
        <p:txBody>
          <a:bodyPr/>
          <a:lstStyle>
            <a:lvl1pPr>
              <a:defRPr/>
            </a:lvl1pPr>
          </a:lstStyle>
          <a:p>
            <a:fld id="{7B8C75CC-33FC-4542-AEF0-900ADA5D7C7A}" type="slidenum">
              <a:rPr lang="zh-CN" altLang="en-US"/>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11"/>
          <p:cNvSpPr>
            <a:spLocks noGrp="1" noChangeArrowheads="1"/>
          </p:cNvSpPr>
          <p:nvPr>
            <p:ph type="ftr" sz="quarter" idx="10"/>
          </p:nvPr>
        </p:nvSpPr>
        <p:spPr/>
        <p:txBody>
          <a:bodyPr/>
          <a:lstStyle>
            <a:lvl1pPr>
              <a:defRPr/>
            </a:lvl1pPr>
          </a:lstStyle>
          <a:p>
            <a:fld id="{4D50F522-7D4D-4716-B7E3-A044374BD54C}" type="slidenum">
              <a:rPr lang="zh-CN" altLang="en-US"/>
            </a:fld>
            <a:endParaRPr lang="en-US" altLang="zh-CN"/>
          </a:p>
        </p:txBody>
      </p:sp>
      <p:sp>
        <p:nvSpPr>
          <p:cNvPr id="4" name="Rectangle 12"/>
          <p:cNvSpPr>
            <a:spLocks noGrp="1" noChangeArrowheads="1"/>
          </p:cNvSpPr>
          <p:nvPr>
            <p:ph type="sldNum" sz="quarter" idx="11"/>
          </p:nvPr>
        </p:nvSpPr>
        <p:spPr/>
        <p:txBody>
          <a:bodyPr/>
          <a:lstStyle>
            <a:lvl1pPr>
              <a:defRPr/>
            </a:lvl1pPr>
          </a:lstStyle>
          <a:p>
            <a:fld id="{88224728-AB07-4FC1-8181-DA0449287C10}" type="slidenum">
              <a:rPr lang="zh-CN" altLang="en-US"/>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ftr" sz="quarter" idx="10"/>
          </p:nvPr>
        </p:nvSpPr>
        <p:spPr/>
        <p:txBody>
          <a:bodyPr/>
          <a:lstStyle>
            <a:lvl1pPr>
              <a:defRPr/>
            </a:lvl1pPr>
          </a:lstStyle>
          <a:p>
            <a:fld id="{E7B8FDD4-EAF2-4262-B312-52DB508E69FB}" type="slidenum">
              <a:rPr lang="zh-CN" altLang="en-US"/>
            </a:fld>
            <a:endParaRPr lang="en-US" altLang="zh-CN"/>
          </a:p>
        </p:txBody>
      </p:sp>
      <p:sp>
        <p:nvSpPr>
          <p:cNvPr id="3" name="Rectangle 12"/>
          <p:cNvSpPr>
            <a:spLocks noGrp="1" noChangeArrowheads="1"/>
          </p:cNvSpPr>
          <p:nvPr>
            <p:ph type="sldNum" sz="quarter" idx="11"/>
          </p:nvPr>
        </p:nvSpPr>
        <p:spPr/>
        <p:txBody>
          <a:bodyPr/>
          <a:lstStyle>
            <a:lvl1pPr>
              <a:defRPr/>
            </a:lvl1pPr>
          </a:lstStyle>
          <a:p>
            <a:fld id="{3FB50E07-B07B-487C-8BA3-B7DB444391C1}" type="slidenum">
              <a:rPr lang="zh-CN" altLang="en-US"/>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1"/>
          <p:cNvSpPr>
            <a:spLocks noGrp="1" noChangeArrowheads="1"/>
          </p:cNvSpPr>
          <p:nvPr>
            <p:ph type="ftr" sz="quarter" idx="10"/>
          </p:nvPr>
        </p:nvSpPr>
        <p:spPr/>
        <p:txBody>
          <a:bodyPr/>
          <a:lstStyle>
            <a:lvl1pPr>
              <a:defRPr/>
            </a:lvl1pPr>
          </a:lstStyle>
          <a:p>
            <a:fld id="{F7370003-50EE-4135-B6B0-B88A2A277939}" type="slidenum">
              <a:rPr lang="zh-CN" altLang="en-US"/>
            </a:fld>
            <a:endParaRPr lang="en-US" altLang="zh-CN"/>
          </a:p>
        </p:txBody>
      </p:sp>
      <p:sp>
        <p:nvSpPr>
          <p:cNvPr id="6" name="Rectangle 12"/>
          <p:cNvSpPr>
            <a:spLocks noGrp="1" noChangeArrowheads="1"/>
          </p:cNvSpPr>
          <p:nvPr>
            <p:ph type="sldNum" sz="quarter" idx="11"/>
          </p:nvPr>
        </p:nvSpPr>
        <p:spPr/>
        <p:txBody>
          <a:bodyPr/>
          <a:lstStyle>
            <a:lvl1pPr>
              <a:defRPr/>
            </a:lvl1pPr>
          </a:lstStyle>
          <a:p>
            <a:fld id="{383A6C8F-A5E6-4D10-9029-0223B93407C6}" type="slidenum">
              <a:rPr lang="zh-CN" altLang="en-US"/>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1"/>
          <p:cNvSpPr>
            <a:spLocks noGrp="1" noChangeArrowheads="1"/>
          </p:cNvSpPr>
          <p:nvPr>
            <p:ph type="ftr" sz="quarter" idx="10"/>
          </p:nvPr>
        </p:nvSpPr>
        <p:spPr/>
        <p:txBody>
          <a:bodyPr/>
          <a:lstStyle>
            <a:lvl1pPr>
              <a:defRPr/>
            </a:lvl1pPr>
          </a:lstStyle>
          <a:p>
            <a:fld id="{FAE0F917-A94B-4512-987E-54277FEE0219}" type="slidenum">
              <a:rPr lang="zh-CN" altLang="en-US"/>
            </a:fld>
            <a:endParaRPr lang="en-US" altLang="zh-CN"/>
          </a:p>
        </p:txBody>
      </p:sp>
      <p:sp>
        <p:nvSpPr>
          <p:cNvPr id="6" name="Rectangle 12"/>
          <p:cNvSpPr>
            <a:spLocks noGrp="1" noChangeArrowheads="1"/>
          </p:cNvSpPr>
          <p:nvPr>
            <p:ph type="sldNum" sz="quarter" idx="11"/>
          </p:nvPr>
        </p:nvSpPr>
        <p:spPr/>
        <p:txBody>
          <a:bodyPr/>
          <a:lstStyle>
            <a:lvl1pPr>
              <a:defRPr/>
            </a:lvl1pPr>
          </a:lstStyle>
          <a:p>
            <a:fld id="{02BBD088-BDB5-4302-8C18-D17D73D1A253}" type="slidenum">
              <a:rPr lang="zh-CN" altLang="en-US"/>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ftr" sz="quarter" idx="10"/>
          </p:nvPr>
        </p:nvSpPr>
        <p:spPr/>
        <p:txBody>
          <a:bodyPr/>
          <a:lstStyle>
            <a:lvl1pPr>
              <a:defRPr/>
            </a:lvl1pPr>
          </a:lstStyle>
          <a:p>
            <a:fld id="{52D520E3-C71F-4A98-88C7-52BCD6E5E863}" type="slidenum">
              <a:rPr lang="zh-CN" altLang="en-US"/>
            </a:fld>
            <a:endParaRPr lang="en-US" altLang="zh-CN"/>
          </a:p>
        </p:txBody>
      </p:sp>
      <p:sp>
        <p:nvSpPr>
          <p:cNvPr id="5" name="Rectangle 12"/>
          <p:cNvSpPr>
            <a:spLocks noGrp="1" noChangeArrowheads="1"/>
          </p:cNvSpPr>
          <p:nvPr>
            <p:ph type="sldNum" sz="quarter" idx="11"/>
          </p:nvPr>
        </p:nvSpPr>
        <p:spPr/>
        <p:txBody>
          <a:bodyPr/>
          <a:lstStyle>
            <a:lvl1pPr>
              <a:defRPr/>
            </a:lvl1pPr>
          </a:lstStyle>
          <a:p>
            <a:fld id="{0E968838-9D87-4935-802A-E6B9BEAA4F2F}" type="slidenum">
              <a:rPr lang="zh-CN" altLang="en-US"/>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150813"/>
            <a:ext cx="2181225" cy="647858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228600" y="150813"/>
            <a:ext cx="6392863" cy="647858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ftr" sz="quarter" idx="10"/>
          </p:nvPr>
        </p:nvSpPr>
        <p:spPr/>
        <p:txBody>
          <a:bodyPr/>
          <a:lstStyle>
            <a:lvl1pPr>
              <a:defRPr/>
            </a:lvl1pPr>
          </a:lstStyle>
          <a:p>
            <a:fld id="{A05CF52A-6C13-477C-84DE-0FC8901B720D}" type="slidenum">
              <a:rPr lang="zh-CN" altLang="en-US"/>
            </a:fld>
            <a:endParaRPr lang="en-US" altLang="zh-CN"/>
          </a:p>
        </p:txBody>
      </p:sp>
      <p:sp>
        <p:nvSpPr>
          <p:cNvPr id="5" name="Rectangle 12"/>
          <p:cNvSpPr>
            <a:spLocks noGrp="1" noChangeArrowheads="1"/>
          </p:cNvSpPr>
          <p:nvPr>
            <p:ph type="sldNum" sz="quarter" idx="11"/>
          </p:nvPr>
        </p:nvSpPr>
        <p:spPr/>
        <p:txBody>
          <a:bodyPr/>
          <a:lstStyle>
            <a:lvl1pPr>
              <a:defRPr/>
            </a:lvl1pPr>
          </a:lstStyle>
          <a:p>
            <a:fld id="{864064AB-53E0-473A-B1E8-B945F7FCA391}" type="slidenum">
              <a:rPr lang="zh-CN" altLang="en-US"/>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50813"/>
            <a:ext cx="7793038" cy="752475"/>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228600" y="1196975"/>
            <a:ext cx="8726488" cy="5432425"/>
          </a:xfrm>
        </p:spPr>
        <p:txBody>
          <a:bodyPr/>
          <a:lstStyle/>
          <a:p>
            <a:pPr lvl="0"/>
            <a:endParaRPr lang="zh-CN" altLang="en-US" noProof="0"/>
          </a:p>
        </p:txBody>
      </p:sp>
      <p:sp>
        <p:nvSpPr>
          <p:cNvPr id="4" name="Rectangle 11"/>
          <p:cNvSpPr>
            <a:spLocks noGrp="1" noChangeArrowheads="1"/>
          </p:cNvSpPr>
          <p:nvPr>
            <p:ph type="ftr" sz="quarter" idx="10"/>
          </p:nvPr>
        </p:nvSpPr>
        <p:spPr/>
        <p:txBody>
          <a:bodyPr/>
          <a:lstStyle>
            <a:lvl1pPr>
              <a:defRPr/>
            </a:lvl1pPr>
          </a:lstStyle>
          <a:p>
            <a:fld id="{755ADB7C-3E55-4DF4-9F73-34869A5E9F0B}" type="slidenum">
              <a:rPr lang="zh-CN" altLang="en-US"/>
            </a:fld>
            <a:endParaRPr lang="en-US" altLang="zh-CN"/>
          </a:p>
        </p:txBody>
      </p:sp>
      <p:sp>
        <p:nvSpPr>
          <p:cNvPr id="5" name="Rectangle 12"/>
          <p:cNvSpPr>
            <a:spLocks noGrp="1" noChangeArrowheads="1"/>
          </p:cNvSpPr>
          <p:nvPr>
            <p:ph type="sldNum" sz="quarter" idx="11"/>
          </p:nvPr>
        </p:nvSpPr>
        <p:spPr/>
        <p:txBody>
          <a:bodyPr/>
          <a:lstStyle>
            <a:lvl1pPr>
              <a:defRPr/>
            </a:lvl1pPr>
          </a:lstStyle>
          <a:p>
            <a:fld id="{62B16763-79E9-48B2-86E6-4765CB9E12FE}" type="slidenum">
              <a:rPr lang="zh-CN" altLang="en-US"/>
            </a:fld>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0813"/>
            <a:ext cx="7793038" cy="7524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28600" y="1196975"/>
            <a:ext cx="4286250" cy="54324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7250" y="1196975"/>
            <a:ext cx="4287838" cy="54324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1"/>
          <p:cNvSpPr>
            <a:spLocks noGrp="1" noChangeArrowheads="1"/>
          </p:cNvSpPr>
          <p:nvPr>
            <p:ph type="ftr" sz="quarter" idx="10"/>
          </p:nvPr>
        </p:nvSpPr>
        <p:spPr/>
        <p:txBody>
          <a:bodyPr/>
          <a:lstStyle>
            <a:lvl1pPr>
              <a:defRPr/>
            </a:lvl1pPr>
          </a:lstStyle>
          <a:p>
            <a:fld id="{EC52A727-86E6-48F0-B4C1-82BBA0ADEAA6}" type="slidenum">
              <a:rPr lang="zh-CN" altLang="en-US"/>
            </a:fld>
            <a:endParaRPr lang="en-US" altLang="zh-CN"/>
          </a:p>
        </p:txBody>
      </p:sp>
      <p:sp>
        <p:nvSpPr>
          <p:cNvPr id="6" name="Rectangle 12"/>
          <p:cNvSpPr>
            <a:spLocks noGrp="1" noChangeArrowheads="1"/>
          </p:cNvSpPr>
          <p:nvPr>
            <p:ph type="sldNum" sz="quarter" idx="11"/>
          </p:nvPr>
        </p:nvSpPr>
        <p:spPr/>
        <p:txBody>
          <a:bodyPr/>
          <a:lstStyle>
            <a:lvl1pPr>
              <a:defRPr/>
            </a:lvl1pPr>
          </a:lstStyle>
          <a:p>
            <a:fld id="{AC36575E-8EB4-4C67-8085-3EC7C6943FC1}" type="slidenum">
              <a:rPr lang="zh-CN" altLang="en-US"/>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0813"/>
            <a:ext cx="7793038" cy="7524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228600" y="1196975"/>
            <a:ext cx="4286250" cy="54324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67250" y="1196975"/>
            <a:ext cx="4287838" cy="26400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67250" y="3989388"/>
            <a:ext cx="4287838" cy="26400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11"/>
          <p:cNvSpPr>
            <a:spLocks noGrp="1" noChangeArrowheads="1"/>
          </p:cNvSpPr>
          <p:nvPr>
            <p:ph type="ftr" sz="quarter" idx="10"/>
          </p:nvPr>
        </p:nvSpPr>
        <p:spPr/>
        <p:txBody>
          <a:bodyPr/>
          <a:lstStyle>
            <a:lvl1pPr>
              <a:defRPr/>
            </a:lvl1pPr>
          </a:lstStyle>
          <a:p>
            <a:fld id="{F08BEC6B-60D5-45C7-937A-5EBE435CE9BD}" type="slidenum">
              <a:rPr lang="zh-CN" altLang="en-US"/>
            </a:fld>
            <a:endParaRPr lang="en-US" altLang="zh-CN"/>
          </a:p>
        </p:txBody>
      </p:sp>
      <p:sp>
        <p:nvSpPr>
          <p:cNvPr id="7" name="Rectangle 12"/>
          <p:cNvSpPr>
            <a:spLocks noGrp="1" noChangeArrowheads="1"/>
          </p:cNvSpPr>
          <p:nvPr>
            <p:ph type="sldNum" sz="quarter" idx="11"/>
          </p:nvPr>
        </p:nvSpPr>
        <p:spPr/>
        <p:txBody>
          <a:bodyPr/>
          <a:lstStyle>
            <a:lvl1pPr>
              <a:defRPr/>
            </a:lvl1pPr>
          </a:lstStyle>
          <a:p>
            <a:fld id="{29233704-1ABB-46E4-8567-DB0BAE6F9BD0}" type="slidenum">
              <a:rPr lang="zh-CN" altLang="en-US"/>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5" Type="http://schemas.openxmlformats.org/officeDocument/2006/relationships/theme" Target="../theme/theme2.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2060">
            <a:alpha val="0"/>
          </a:srgbClr>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228600" y="1066800"/>
            <a:ext cx="8610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7" name="Text Box 5"/>
          <p:cNvSpPr txBox="1">
            <a:spLocks noChangeArrowheads="1"/>
          </p:cNvSpPr>
          <p:nvPr/>
        </p:nvSpPr>
        <p:spPr bwMode="auto">
          <a:xfrm>
            <a:off x="0" y="6613525"/>
            <a:ext cx="44608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lgn="ctr">
              <a:spcBef>
                <a:spcPct val="50000"/>
              </a:spcBef>
            </a:pPr>
            <a:r>
              <a:rPr lang="en-US" altLang="zh-CN" sz="1000" b="1">
                <a:solidFill>
                  <a:schemeClr val="tx2"/>
                </a:solidFill>
                <a:ea typeface="宋体" panose="02010600030101010101" pitchFamily="2" charset="-122"/>
              </a:rPr>
              <a:t>8.</a:t>
            </a:r>
            <a:fld id="{22F071D8-B75A-4862-AEE0-40181936B56D}" type="slidenum">
              <a:rPr lang="en-US" altLang="zh-CN" sz="1000" b="1">
                <a:solidFill>
                  <a:schemeClr val="tx2"/>
                </a:solidFill>
                <a:ea typeface="宋体" panose="02010600030101010101" pitchFamily="2" charset="-122"/>
              </a:rPr>
            </a:fld>
            <a:endParaRPr lang="en-US" altLang="zh-CN" sz="1000" b="1">
              <a:solidFill>
                <a:schemeClr val="tx2"/>
              </a:solidFill>
              <a:ea typeface="宋体" panose="02010600030101010101" pitchFamily="2" charset="-122"/>
            </a:endParaRPr>
          </a:p>
        </p:txBody>
      </p:sp>
      <p:sp>
        <p:nvSpPr>
          <p:cNvPr id="235526" name="Rectangle 6"/>
          <p:cNvSpPr>
            <a:spLocks noGrp="1" noChangeArrowheads="1"/>
          </p:cNvSpPr>
          <p:nvPr>
            <p:ph type="title"/>
          </p:nvPr>
        </p:nvSpPr>
        <p:spPr bwMode="auto">
          <a:xfrm>
            <a:off x="228600" y="117475"/>
            <a:ext cx="8616950" cy="609600"/>
          </a:xfrm>
          <a:prstGeom prst="rect">
            <a:avLst/>
          </a:prstGeom>
          <a:noFill/>
          <a:ln w="9525">
            <a:noFill/>
            <a:miter lim="800000"/>
          </a:ln>
        </p:spPr>
        <p:txBody>
          <a:bodyPr vert="horz" wrap="square" lIns="91440" tIns="45720" rIns="91440" bIns="45720" numCol="1" anchor="b" anchorCtr="0" compatLnSpc="1"/>
          <a:lstStyle/>
          <a:p>
            <a:pPr lvl="0"/>
            <a:r>
              <a:rPr lang="en-US" altLang="zh-CN" dirty="0"/>
              <a:t>Click to edit Master title style</a:t>
            </a:r>
            <a:endParaRPr lang="en-US" altLang="zh-CN" dirty="0"/>
          </a:p>
        </p:txBody>
      </p:sp>
      <p:sp>
        <p:nvSpPr>
          <p:cNvPr id="1029" name="Slide_Page_Number"/>
          <p:cNvSpPr>
            <a:spLocks noChangeArrowheads="1"/>
          </p:cNvSpPr>
          <p:nvPr userDrawn="1"/>
        </p:nvSpPr>
        <p:spPr bwMode="auto">
          <a:xfrm>
            <a:off x="457200" y="6654800"/>
            <a:ext cx="965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lgn="just" fontAlgn="b">
              <a:defRPr/>
            </a:pPr>
            <a:endParaRPr lang="zh-CN" altLang="en-US" sz="1200">
              <a:latin typeface="Arial" panose="020B0604020202020204" pitchFamily="34" charset="0"/>
              <a:ea typeface="宋体" panose="02010600030101010101" pitchFamily="2" charset="-122"/>
            </a:endParaRPr>
          </a:p>
        </p:txBody>
      </p:sp>
      <p:sp>
        <p:nvSpPr>
          <p:cNvPr id="1030" name="Slide_Copyright"/>
          <p:cNvSpPr>
            <a:spLocks noChangeArrowheads="1"/>
          </p:cNvSpPr>
          <p:nvPr userDrawn="1"/>
        </p:nvSpPr>
        <p:spPr bwMode="auto">
          <a:xfrm>
            <a:off x="3663950" y="6629400"/>
            <a:ext cx="20510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fontAlgn="b">
              <a:lnSpc>
                <a:spcPct val="110000"/>
              </a:lnSpc>
              <a:defRPr/>
            </a:pPr>
            <a:r>
              <a:rPr lang="zh-CN" altLang="en-US" sz="1200">
                <a:latin typeface="Arial" panose="020B0604020202020204" pitchFamily="34" charset="0"/>
                <a:ea typeface="宋体" panose="02010600030101010101" pitchFamily="2" charset="-122"/>
              </a:rPr>
              <a:t>华南理工大学 软件学院</a:t>
            </a:r>
            <a:endParaRPr lang="zh-CN" altLang="en-US" sz="1200">
              <a:latin typeface="Arial" panose="020B0604020202020204" pitchFamily="34" charset="0"/>
              <a:ea typeface="宋体" panose="02010600030101010101" pitchFamily="2" charset="-122"/>
            </a:endParaRPr>
          </a:p>
        </p:txBody>
      </p:sp>
      <p:sp>
        <p:nvSpPr>
          <p:cNvPr id="1031" name="Slide_Page_Number"/>
          <p:cNvSpPr>
            <a:spLocks noChangeArrowheads="1"/>
          </p:cNvSpPr>
          <p:nvPr userDrawn="1"/>
        </p:nvSpPr>
        <p:spPr bwMode="auto">
          <a:xfrm>
            <a:off x="457200" y="6654800"/>
            <a:ext cx="965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lgn="just" fontAlgn="b">
              <a:defRPr/>
            </a:pPr>
            <a:endParaRPr lang="zh-CN" altLang="en-US" sz="1200">
              <a:latin typeface="Arial" panose="020B0604020202020204" pitchFamily="34" charset="0"/>
              <a:ea typeface="宋体" panose="02010600030101010101" pitchFamily="2" charset="-122"/>
            </a:endParaRPr>
          </a:p>
        </p:txBody>
      </p:sp>
      <p:pic>
        <p:nvPicPr>
          <p:cNvPr id="1032" name="Picture 12"/>
          <p:cNvPicPr>
            <a:picLocks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6330950"/>
            <a:ext cx="91440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anose="020B0604020202020204" pitchFamily="34"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anose="020B0604020202020204" pitchFamily="34"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anose="020B0604020202020204" pitchFamily="34"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anose="020B0604020202020204" pitchFamily="34"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anose="020B0604020202020204" pitchFamily="34"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anose="020B0604020202020204" pitchFamily="34"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anose="020B0604020202020204" pitchFamily="34"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anose="020B0604020202020204" pitchFamily="34" charset="0"/>
        </a:defRPr>
      </a:lvl9pPr>
    </p:titleStyle>
    <p:bodyStyle>
      <a:lvl1pPr marL="342900" indent="-342900" algn="l" rtl="0" eaLnBrk="0" fontAlgn="base" hangingPunct="0">
        <a:lnSpc>
          <a:spcPct val="120000"/>
        </a:lnSpc>
        <a:spcBef>
          <a:spcPts val="600"/>
        </a:spcBef>
        <a:spcAft>
          <a:spcPct val="0"/>
        </a:spcAft>
        <a:buClr>
          <a:schemeClr val="tx2"/>
        </a:buClr>
        <a:buSzPct val="90000"/>
        <a:buFont typeface="Monotype Sorts" pitchFamily="2" charset="2"/>
        <a:buChar char="n"/>
        <a:defRPr kumimoji="1" sz="2800">
          <a:solidFill>
            <a:schemeClr val="tx1"/>
          </a:solidFill>
          <a:latin typeface="+mn-lt"/>
          <a:ea typeface="+mn-ea"/>
          <a:cs typeface="+mn-cs"/>
        </a:defRPr>
      </a:lvl1pPr>
      <a:lvl2pPr marL="742950" indent="-285750" algn="l" rtl="0" eaLnBrk="0" fontAlgn="base" hangingPunct="0">
        <a:lnSpc>
          <a:spcPct val="120000"/>
        </a:lnSpc>
        <a:spcBef>
          <a:spcPts val="600"/>
        </a:spcBef>
        <a:spcAft>
          <a:spcPct val="0"/>
        </a:spcAft>
        <a:buClr>
          <a:schemeClr val="hlink"/>
        </a:buClr>
        <a:buSzPct val="80000"/>
        <a:buFont typeface="Monotype Sorts" pitchFamily="2" charset="2"/>
        <a:buChar char="l"/>
        <a:defRPr kumimoji="1" sz="2400">
          <a:solidFill>
            <a:schemeClr val="tx1"/>
          </a:solidFill>
          <a:latin typeface="+mn-lt"/>
        </a:defRPr>
      </a:lvl2pPr>
      <a:lvl3pPr marL="1085850" indent="-228600" algn="l" rtl="0" eaLnBrk="0" fontAlgn="base" hangingPunct="0">
        <a:lnSpc>
          <a:spcPct val="120000"/>
        </a:lnSpc>
        <a:spcBef>
          <a:spcPts val="600"/>
        </a:spcBef>
        <a:spcAft>
          <a:spcPct val="0"/>
        </a:spcAft>
        <a:buClr>
          <a:srgbClr val="33CC33"/>
        </a:buClr>
        <a:buSzPct val="75000"/>
        <a:buFont typeface="Webdings" panose="05030102010509060703" pitchFamily="18" charset="2"/>
        <a:buChar char="4"/>
        <a:defRPr kumimoji="1" sz="2000">
          <a:solidFill>
            <a:schemeClr val="tx1"/>
          </a:solidFill>
          <a:latin typeface="+mn-lt"/>
        </a:defRPr>
      </a:lvl3pPr>
      <a:lvl4pPr marL="1428750" indent="-228600" algn="l" rtl="0" eaLnBrk="0" fontAlgn="base" hangingPunct="0">
        <a:lnSpc>
          <a:spcPct val="120000"/>
        </a:lnSpc>
        <a:spcBef>
          <a:spcPts val="600"/>
        </a:spcBef>
        <a:spcAft>
          <a:spcPct val="0"/>
        </a:spcAft>
        <a:buClr>
          <a:schemeClr val="hlink"/>
        </a:buClr>
        <a:buChar char="–"/>
        <a:defRPr kumimoji="1">
          <a:solidFill>
            <a:schemeClr val="tx1"/>
          </a:solidFill>
          <a:latin typeface="+mn-lt"/>
        </a:defRPr>
      </a:lvl4pPr>
      <a:lvl5pPr marL="1771650" indent="-228600" algn="l" rtl="0" eaLnBrk="0" fontAlgn="base" hangingPunct="0">
        <a:lnSpc>
          <a:spcPct val="120000"/>
        </a:lnSpc>
        <a:spcBef>
          <a:spcPts val="600"/>
        </a:spcBef>
        <a:spcAft>
          <a:spcPct val="0"/>
        </a:spcAft>
        <a:buClr>
          <a:schemeClr val="tx2"/>
        </a:buClr>
        <a:buSzPct val="75000"/>
        <a:buChar char="»"/>
        <a:defRPr kumimoji="1" sz="1600">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ltGray">
          <a:xfrm>
            <a:off x="417513" y="314325"/>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lgn="ctr" eaLnBrk="1" hangingPunct="1">
              <a:defRPr/>
            </a:pPr>
            <a:endParaRPr kumimoji="1" lang="zh-CN" altLang="en-US" sz="2400">
              <a:solidFill>
                <a:srgbClr val="000000"/>
              </a:solidFill>
              <a:latin typeface="Tahoma" panose="020B0604030504040204" pitchFamily="34" charset="0"/>
            </a:endParaRPr>
          </a:p>
        </p:txBody>
      </p:sp>
      <p:sp>
        <p:nvSpPr>
          <p:cNvPr id="2051" name="Rectangle 3"/>
          <p:cNvSpPr>
            <a:spLocks noChangeArrowheads="1"/>
          </p:cNvSpPr>
          <p:nvPr/>
        </p:nvSpPr>
        <p:spPr bwMode="ltGray">
          <a:xfrm>
            <a:off x="800100" y="314325"/>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lgn="ctr" eaLnBrk="1" hangingPunct="1">
              <a:defRPr/>
            </a:pPr>
            <a:endParaRPr kumimoji="1" lang="zh-CN" altLang="en-US" sz="2400">
              <a:solidFill>
                <a:srgbClr val="000000"/>
              </a:solidFill>
              <a:latin typeface="Tahoma" panose="020B0604030504040204" pitchFamily="34" charset="0"/>
            </a:endParaRPr>
          </a:p>
        </p:txBody>
      </p:sp>
      <p:sp>
        <p:nvSpPr>
          <p:cNvPr id="2052" name="Rectangle 4"/>
          <p:cNvSpPr>
            <a:spLocks noChangeArrowheads="1"/>
          </p:cNvSpPr>
          <p:nvPr/>
        </p:nvSpPr>
        <p:spPr bwMode="ltGray">
          <a:xfrm>
            <a:off x="541338" y="736600"/>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lgn="ctr" eaLnBrk="1" hangingPunct="1">
              <a:defRPr/>
            </a:pPr>
            <a:endParaRPr kumimoji="1" lang="zh-CN" altLang="en-US" sz="2400">
              <a:solidFill>
                <a:srgbClr val="000000"/>
              </a:solidFill>
              <a:latin typeface="Tahoma" panose="020B0604030504040204" pitchFamily="34" charset="0"/>
            </a:endParaRPr>
          </a:p>
        </p:txBody>
      </p:sp>
      <p:sp>
        <p:nvSpPr>
          <p:cNvPr id="2053" name="Rectangle 5"/>
          <p:cNvSpPr>
            <a:spLocks noChangeArrowheads="1"/>
          </p:cNvSpPr>
          <p:nvPr/>
        </p:nvSpPr>
        <p:spPr bwMode="ltGray">
          <a:xfrm>
            <a:off x="911225" y="736600"/>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lgn="ctr" eaLnBrk="1" hangingPunct="1">
              <a:defRPr/>
            </a:pPr>
            <a:endParaRPr kumimoji="1" lang="zh-CN" altLang="en-US" sz="2400">
              <a:solidFill>
                <a:srgbClr val="000000"/>
              </a:solidFill>
              <a:latin typeface="Tahoma" panose="020B0604030504040204" pitchFamily="34" charset="0"/>
            </a:endParaRPr>
          </a:p>
        </p:txBody>
      </p:sp>
      <p:sp>
        <p:nvSpPr>
          <p:cNvPr id="2054" name="Rectangle 6"/>
          <p:cNvSpPr>
            <a:spLocks noChangeArrowheads="1"/>
          </p:cNvSpPr>
          <p:nvPr/>
        </p:nvSpPr>
        <p:spPr bwMode="ltGray">
          <a:xfrm>
            <a:off x="127000" y="919163"/>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lgn="ctr" eaLnBrk="1" hangingPunct="1">
              <a:defRPr/>
            </a:pPr>
            <a:endParaRPr kumimoji="1" lang="zh-CN" altLang="en-US" sz="2400">
              <a:solidFill>
                <a:srgbClr val="000000"/>
              </a:solidFill>
              <a:latin typeface="Tahoma" panose="020B0604030504040204" pitchFamily="34" charset="0"/>
            </a:endParaRPr>
          </a:p>
        </p:txBody>
      </p:sp>
      <p:sp>
        <p:nvSpPr>
          <p:cNvPr id="2055" name="Rectangle 7"/>
          <p:cNvSpPr>
            <a:spLocks noChangeArrowheads="1"/>
          </p:cNvSpPr>
          <p:nvPr/>
        </p:nvSpPr>
        <p:spPr bwMode="gray">
          <a:xfrm>
            <a:off x="762000" y="206375"/>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lgn="ctr" eaLnBrk="1" hangingPunct="1">
              <a:defRPr/>
            </a:pPr>
            <a:endParaRPr kumimoji="1" lang="zh-CN" altLang="en-US" sz="2400">
              <a:solidFill>
                <a:srgbClr val="000000"/>
              </a:solidFill>
              <a:latin typeface="Tahoma" panose="020B0604030504040204" pitchFamily="34" charset="0"/>
            </a:endParaRPr>
          </a:p>
        </p:txBody>
      </p:sp>
      <p:sp>
        <p:nvSpPr>
          <p:cNvPr id="2056" name="Rectangle 8"/>
          <p:cNvSpPr>
            <a:spLocks noChangeArrowheads="1"/>
          </p:cNvSpPr>
          <p:nvPr/>
        </p:nvSpPr>
        <p:spPr bwMode="gray">
          <a:xfrm>
            <a:off x="442913" y="99695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lgn="ctr" eaLnBrk="1" hangingPunct="1">
              <a:defRPr/>
            </a:pPr>
            <a:endParaRPr kumimoji="1" lang="zh-CN" altLang="en-US" sz="2400">
              <a:solidFill>
                <a:srgbClr val="000000"/>
              </a:solidFill>
              <a:latin typeface="Tahoma" panose="020B0604030504040204" pitchFamily="34" charset="0"/>
            </a:endParaRPr>
          </a:p>
        </p:txBody>
      </p:sp>
      <p:sp>
        <p:nvSpPr>
          <p:cNvPr id="2057" name="Rectangle 9"/>
          <p:cNvSpPr>
            <a:spLocks noGrp="1" noChangeArrowheads="1"/>
          </p:cNvSpPr>
          <p:nvPr>
            <p:ph type="title"/>
          </p:nvPr>
        </p:nvSpPr>
        <p:spPr bwMode="auto">
          <a:xfrm>
            <a:off x="685800" y="150813"/>
            <a:ext cx="7793038"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2058" name="Rectangle 10"/>
          <p:cNvSpPr>
            <a:spLocks noGrp="1" noChangeArrowheads="1"/>
          </p:cNvSpPr>
          <p:nvPr>
            <p:ph type="body" idx="1"/>
          </p:nvPr>
        </p:nvSpPr>
        <p:spPr bwMode="auto">
          <a:xfrm>
            <a:off x="228600" y="1196975"/>
            <a:ext cx="8726488" cy="543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48843" name="Rectangle 11"/>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400">
                <a:solidFill>
                  <a:srgbClr val="000000"/>
                </a:solidFill>
                <a:latin typeface="Tahoma" panose="020B0604030504040204" pitchFamily="34" charset="0"/>
              </a:defRPr>
            </a:lvl1pPr>
          </a:lstStyle>
          <a:p>
            <a:fld id="{1C0D1ADA-C3C8-4BDE-B868-50E8D91BA676}" type="slidenum">
              <a:rPr lang="zh-CN" altLang="en-US"/>
            </a:fld>
            <a:endParaRPr lang="en-US" altLang="zh-CN"/>
          </a:p>
        </p:txBody>
      </p:sp>
      <p:sp>
        <p:nvSpPr>
          <p:cNvPr id="248844" name="Rectangle 12"/>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a:solidFill>
                  <a:srgbClr val="000000"/>
                </a:solidFill>
                <a:latin typeface="Tahoma" panose="020B0604030504040204" pitchFamily="34" charset="0"/>
              </a:defRPr>
            </a:lvl1pPr>
          </a:lstStyle>
          <a:p>
            <a:fld id="{8061E5BC-EC38-4FA2-B89B-4A40EE6B0198}"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just"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folHlink"/>
          </a:solidFill>
          <a:latin typeface="+mn-lt"/>
          <a:ea typeface="+mn-ea"/>
          <a:cs typeface="+mn-cs"/>
        </a:defRPr>
      </a:lvl1pPr>
      <a:lvl2pPr marL="742950" indent="-285750" algn="just" rtl="0" eaLnBrk="0" fontAlgn="base" hangingPunct="0">
        <a:spcBef>
          <a:spcPct val="20000"/>
        </a:spcBef>
        <a:spcAft>
          <a:spcPct val="0"/>
        </a:spcAft>
        <a:buClr>
          <a:schemeClr val="hlink"/>
        </a:buClr>
        <a:buSzPct val="55000"/>
        <a:buFont typeface="Wingdings" panose="05000000000000000000" pitchFamily="2" charset="2"/>
        <a:buChar char="n"/>
        <a:defRPr sz="2800">
          <a:solidFill>
            <a:srgbClr val="660066"/>
          </a:solidFill>
          <a:latin typeface="+mn-lt"/>
          <a:ea typeface="+mn-ea"/>
        </a:defRPr>
      </a:lvl2pPr>
      <a:lvl3pPr marL="1143000" indent="-228600" algn="just" rtl="0" eaLnBrk="0" fontAlgn="base" hangingPunct="0">
        <a:spcBef>
          <a:spcPct val="20000"/>
        </a:spcBef>
        <a:spcAft>
          <a:spcPct val="0"/>
        </a:spcAft>
        <a:buClr>
          <a:schemeClr val="folHlink"/>
        </a:buClr>
        <a:buSzPct val="50000"/>
        <a:buFont typeface="Wingdings" panose="05000000000000000000" pitchFamily="2" charset="2"/>
        <a:buChar char="n"/>
        <a:defRPr sz="2400">
          <a:solidFill>
            <a:srgbClr val="6600CC"/>
          </a:solidFill>
          <a:latin typeface="+mn-lt"/>
          <a:ea typeface="+mn-ea"/>
        </a:defRPr>
      </a:lvl3pPr>
      <a:lvl4pPr marL="1600200" indent="-228600" algn="just"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just"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just"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just"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just"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just"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3.wmf"/><Relationship Id="rId4" Type="http://schemas.openxmlformats.org/officeDocument/2006/relationships/oleObject" Target="../embeddings/oleObject4.bin"/><Relationship Id="rId3" Type="http://schemas.openxmlformats.org/officeDocument/2006/relationships/oleObject" Target="../embeddings/oleObject3.bin"/><Relationship Id="rId2" Type="http://schemas.openxmlformats.org/officeDocument/2006/relationships/image" Target="../media/image2.wmf"/><Relationship Id="rId1"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image" Target="../media/image5.emf"/><Relationship Id="rId1" Type="http://schemas.openxmlformats.org/officeDocument/2006/relationships/image" Target="../media/image4.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oleObject" Target="../embeddings/oleObject7.bin"/><Relationship Id="rId2" Type="http://schemas.openxmlformats.org/officeDocument/2006/relationships/image" Target="../media/image7.wmf"/><Relationship Id="rId1" Type="http://schemas.openxmlformats.org/officeDocument/2006/relationships/oleObject" Target="../embeddings/oleObject6.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1026"/>
          <p:cNvSpPr>
            <a:spLocks noGrp="1" noChangeArrowheads="1"/>
          </p:cNvSpPr>
          <p:nvPr>
            <p:ph type="ctrTitle"/>
          </p:nvPr>
        </p:nvSpPr>
        <p:spPr>
          <a:xfrm>
            <a:off x="685800" y="2286000"/>
            <a:ext cx="7772400" cy="1143000"/>
          </a:xfrm>
        </p:spPr>
        <p:txBody>
          <a:bodyPr/>
          <a:lstStyle/>
          <a:p>
            <a:pPr>
              <a:defRPr/>
            </a:pPr>
            <a:r>
              <a:rPr lang="en-US" altLang="zh-CN" dirty="0">
                <a:ea typeface="宋体" panose="02010600030101010101" pitchFamily="2" charset="-122"/>
              </a:rPr>
              <a:t>Chapter 8: Relational Database Design (2)</a:t>
            </a:r>
            <a:endParaRPr lang="en-US" altLang="zh-CN" dirty="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6" name="AutoShape 14"/>
          <p:cNvSpPr>
            <a:spLocks noChangeArrowheads="1"/>
          </p:cNvSpPr>
          <p:nvPr/>
        </p:nvSpPr>
        <p:spPr bwMode="auto">
          <a:xfrm>
            <a:off x="1573213" y="1933703"/>
            <a:ext cx="360363" cy="759948"/>
          </a:xfrm>
          <a:prstGeom prst="downArrow">
            <a:avLst>
              <a:gd name="adj1" fmla="val 50000"/>
              <a:gd name="adj2" fmla="val 43722"/>
            </a:avLst>
          </a:prstGeom>
          <a:noFill/>
          <a:ln w="9525">
            <a:solidFill>
              <a:schemeClr val="tx1"/>
            </a:solidFill>
            <a:miter lim="800000"/>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13328" name="AutoShape 16"/>
          <p:cNvSpPr>
            <a:spLocks noChangeArrowheads="1"/>
          </p:cNvSpPr>
          <p:nvPr/>
        </p:nvSpPr>
        <p:spPr bwMode="auto">
          <a:xfrm>
            <a:off x="1573212" y="4597853"/>
            <a:ext cx="360363" cy="929154"/>
          </a:xfrm>
          <a:prstGeom prst="downArrow">
            <a:avLst>
              <a:gd name="adj1" fmla="val 50000"/>
              <a:gd name="adj2" fmla="val 43722"/>
            </a:avLst>
          </a:prstGeom>
          <a:noFill/>
          <a:ln w="9525">
            <a:solidFill>
              <a:schemeClr val="tx1"/>
            </a:solidFill>
            <a:miter lim="800000"/>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13315" name="Rectangle 3"/>
          <p:cNvSpPr>
            <a:spLocks noChangeArrowheads="1"/>
          </p:cNvSpPr>
          <p:nvPr/>
        </p:nvSpPr>
        <p:spPr bwMode="auto">
          <a:xfrm>
            <a:off x="611188" y="362687"/>
            <a:ext cx="2196000" cy="504000"/>
          </a:xfrm>
          <a:prstGeom prst="rect">
            <a:avLst/>
          </a:prstGeom>
          <a:solidFill>
            <a:schemeClr val="accent5">
              <a:lumMod val="85000"/>
            </a:schemeClr>
          </a:solidFill>
          <a:ln w="9525">
            <a:solidFill>
              <a:schemeClr val="tx1"/>
            </a:solidFill>
            <a:miter lim="800000"/>
          </a:ln>
        </p:spPr>
        <p:txBody>
          <a:bodyPr wrap="none" anchor="ct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dirty="0">
                <a:latin typeface="Times New Roman" panose="02020603050405020304" pitchFamily="18" charset="0"/>
                <a:ea typeface="宋体" panose="02010600030101010101" pitchFamily="2" charset="-122"/>
              </a:rPr>
              <a:t>不良的模式设计</a:t>
            </a:r>
            <a:endParaRPr lang="zh-CN" altLang="en-US" sz="2400" dirty="0">
              <a:latin typeface="Times New Roman" panose="02020603050405020304" pitchFamily="18" charset="0"/>
              <a:ea typeface="宋体" panose="02010600030101010101" pitchFamily="2" charset="-122"/>
            </a:endParaRPr>
          </a:p>
        </p:txBody>
      </p:sp>
      <p:sp>
        <p:nvSpPr>
          <p:cNvPr id="13316" name="Rectangle 4"/>
          <p:cNvSpPr>
            <a:spLocks noChangeArrowheads="1"/>
          </p:cNvSpPr>
          <p:nvPr/>
        </p:nvSpPr>
        <p:spPr bwMode="auto">
          <a:xfrm>
            <a:off x="611188" y="1429703"/>
            <a:ext cx="2196000" cy="504000"/>
          </a:xfrm>
          <a:prstGeom prst="rect">
            <a:avLst/>
          </a:prstGeom>
          <a:solidFill>
            <a:schemeClr val="accent5">
              <a:lumMod val="85000"/>
            </a:schemeClr>
          </a:solidFill>
          <a:ln w="9525">
            <a:solidFill>
              <a:schemeClr val="tx1"/>
            </a:solidFill>
            <a:miter lim="800000"/>
          </a:ln>
        </p:spPr>
        <p:txBody>
          <a:bodyPr wrap="none" anchor="ct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dirty="0">
                <a:latin typeface="Times New Roman" panose="02020603050405020304" pitchFamily="18" charset="0"/>
                <a:ea typeface="宋体" panose="02010600030101010101" pitchFamily="2" charset="-122"/>
              </a:rPr>
              <a:t>不良的数据依赖</a:t>
            </a:r>
            <a:endParaRPr lang="zh-CN" altLang="en-US" sz="2400" dirty="0">
              <a:latin typeface="Times New Roman" panose="02020603050405020304" pitchFamily="18" charset="0"/>
              <a:ea typeface="宋体" panose="02010600030101010101" pitchFamily="2" charset="-122"/>
            </a:endParaRPr>
          </a:p>
        </p:txBody>
      </p:sp>
      <p:sp>
        <p:nvSpPr>
          <p:cNvPr id="13317" name="Rectangle 5"/>
          <p:cNvSpPr>
            <a:spLocks noChangeArrowheads="1"/>
          </p:cNvSpPr>
          <p:nvPr/>
        </p:nvSpPr>
        <p:spPr bwMode="auto">
          <a:xfrm>
            <a:off x="592809" y="5532506"/>
            <a:ext cx="2339102" cy="461665"/>
          </a:xfrm>
          <a:prstGeom prst="rect">
            <a:avLst/>
          </a:prstGeom>
          <a:noFill/>
          <a:ln w="9525">
            <a:solidFill>
              <a:schemeClr val="tx1"/>
            </a:solidFill>
            <a:miter lim="800000"/>
          </a:ln>
        </p:spPr>
        <p:txBody>
          <a:bodyPr wrap="none" anchor="ct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dirty="0">
                <a:latin typeface="Times New Roman" panose="02020603050405020304" pitchFamily="18" charset="0"/>
                <a:ea typeface="宋体" panose="02010600030101010101" pitchFamily="2" charset="-122"/>
              </a:rPr>
              <a:t>良好的模式设计</a:t>
            </a:r>
            <a:endParaRPr lang="zh-CN" altLang="en-US" sz="2400" dirty="0">
              <a:latin typeface="Times New Roman" panose="02020603050405020304" pitchFamily="18" charset="0"/>
              <a:ea typeface="宋体" panose="02010600030101010101" pitchFamily="2" charset="-122"/>
            </a:endParaRPr>
          </a:p>
        </p:txBody>
      </p:sp>
      <p:sp>
        <p:nvSpPr>
          <p:cNvPr id="13319" name="Rectangle 7"/>
          <p:cNvSpPr>
            <a:spLocks noChangeArrowheads="1"/>
          </p:cNvSpPr>
          <p:nvPr/>
        </p:nvSpPr>
        <p:spPr bwMode="auto">
          <a:xfrm>
            <a:off x="622303" y="4096602"/>
            <a:ext cx="2196000" cy="504000"/>
          </a:xfrm>
          <a:prstGeom prst="rect">
            <a:avLst/>
          </a:prstGeom>
          <a:solidFill>
            <a:schemeClr val="accent2">
              <a:lumMod val="40000"/>
              <a:lumOff val="60000"/>
            </a:schemeClr>
          </a:solidFill>
          <a:ln w="9525">
            <a:solidFill>
              <a:schemeClr val="tx1"/>
            </a:solidFill>
            <a:miter lim="800000"/>
          </a:ln>
        </p:spPr>
        <p:txBody>
          <a:bodyPr wrap="none" anchor="ct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a:latin typeface="Times New Roman" panose="02020603050405020304" pitchFamily="18" charset="0"/>
                <a:ea typeface="宋体" panose="02010600030101010101" pitchFamily="2" charset="-122"/>
              </a:rPr>
              <a:t>模式分解</a:t>
            </a:r>
            <a:endParaRPr lang="zh-CN" altLang="en-US" sz="2400">
              <a:latin typeface="Times New Roman" panose="02020603050405020304" pitchFamily="18" charset="0"/>
              <a:ea typeface="宋体" panose="02010600030101010101" pitchFamily="2" charset="-122"/>
            </a:endParaRPr>
          </a:p>
        </p:txBody>
      </p:sp>
      <p:sp>
        <p:nvSpPr>
          <p:cNvPr id="13320" name="AutoShape 8"/>
          <p:cNvSpPr>
            <a:spLocks noChangeArrowheads="1"/>
          </p:cNvSpPr>
          <p:nvPr/>
        </p:nvSpPr>
        <p:spPr bwMode="auto">
          <a:xfrm>
            <a:off x="3779839" y="260350"/>
            <a:ext cx="1873250" cy="493626"/>
          </a:xfrm>
          <a:prstGeom prst="wedgeRoundRectCallout">
            <a:avLst>
              <a:gd name="adj1" fmla="val -99286"/>
              <a:gd name="adj2" fmla="val 23342"/>
              <a:gd name="adj3" fmla="val 16667"/>
            </a:avLst>
          </a:prstGeom>
          <a:solidFill>
            <a:schemeClr val="accent5">
              <a:lumMod val="85000"/>
            </a:schemeClr>
          </a:solidFill>
          <a:ln w="9525">
            <a:solidFill>
              <a:schemeClr val="tx1"/>
            </a:solidFill>
            <a:miter lim="800000"/>
          </a:ln>
        </p:spPr>
        <p:txBody>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dirty="0">
                <a:latin typeface="Times New Roman" panose="02020603050405020304" pitchFamily="18" charset="0"/>
                <a:ea typeface="宋体" panose="02010600030101010101" pitchFamily="2" charset="-122"/>
              </a:rPr>
              <a:t>各种异常</a:t>
            </a:r>
            <a:endParaRPr lang="zh-CN" altLang="en-US" sz="2400" dirty="0">
              <a:latin typeface="Times New Roman" panose="02020603050405020304" pitchFamily="18" charset="0"/>
              <a:ea typeface="宋体" panose="02010600030101010101" pitchFamily="2" charset="-122"/>
            </a:endParaRPr>
          </a:p>
        </p:txBody>
      </p:sp>
      <p:sp>
        <p:nvSpPr>
          <p:cNvPr id="13321" name="AutoShape 9"/>
          <p:cNvSpPr>
            <a:spLocks noChangeArrowheads="1"/>
          </p:cNvSpPr>
          <p:nvPr/>
        </p:nvSpPr>
        <p:spPr bwMode="auto">
          <a:xfrm>
            <a:off x="3802064" y="1079047"/>
            <a:ext cx="4332943" cy="576000"/>
          </a:xfrm>
          <a:prstGeom prst="wedgeRoundRectCallout">
            <a:avLst>
              <a:gd name="adj1" fmla="val -72345"/>
              <a:gd name="adj2" fmla="val 50947"/>
              <a:gd name="adj3" fmla="val 16667"/>
            </a:avLst>
          </a:prstGeom>
          <a:solidFill>
            <a:schemeClr val="accent5">
              <a:lumMod val="85000"/>
            </a:schemeClr>
          </a:solidFill>
          <a:ln w="9525">
            <a:solidFill>
              <a:schemeClr val="tx1"/>
            </a:solidFill>
            <a:miter lim="800000"/>
          </a:ln>
        </p:spPr>
        <p:txBody>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dirty="0">
                <a:latin typeface="Times New Roman" panose="02020603050405020304" pitchFamily="18" charset="0"/>
                <a:ea typeface="宋体" panose="02010600030101010101" pitchFamily="2" charset="-122"/>
              </a:rPr>
              <a:t>部分函数依赖、传递函数依赖</a:t>
            </a:r>
            <a:endParaRPr lang="zh-CN" altLang="en-US" sz="2400" dirty="0">
              <a:latin typeface="Times New Roman" panose="02020603050405020304" pitchFamily="18" charset="0"/>
              <a:ea typeface="宋体" panose="02010600030101010101" pitchFamily="2" charset="-122"/>
            </a:endParaRPr>
          </a:p>
        </p:txBody>
      </p:sp>
      <p:sp>
        <p:nvSpPr>
          <p:cNvPr id="13322" name="AutoShape 10"/>
          <p:cNvSpPr>
            <a:spLocks noChangeArrowheads="1"/>
          </p:cNvSpPr>
          <p:nvPr/>
        </p:nvSpPr>
        <p:spPr bwMode="auto">
          <a:xfrm>
            <a:off x="3655349" y="5527006"/>
            <a:ext cx="4752976" cy="496636"/>
          </a:xfrm>
          <a:prstGeom prst="wedgeRoundRectCallout">
            <a:avLst>
              <a:gd name="adj1" fmla="val -65768"/>
              <a:gd name="adj2" fmla="val -19760"/>
              <a:gd name="adj3" fmla="val 16667"/>
            </a:avLst>
          </a:prstGeom>
          <a:noFill/>
          <a:ln w="9525">
            <a:solidFill>
              <a:schemeClr val="tx1"/>
            </a:solidFill>
            <a:miter lim="800000"/>
          </a:ln>
        </p:spPr>
        <p:txBody>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en-US" altLang="zh-CN" sz="2400">
                <a:latin typeface="Times New Roman" panose="02020603050405020304" pitchFamily="18" charset="0"/>
                <a:ea typeface="宋体" panose="02010600030101010101" pitchFamily="2" charset="-122"/>
              </a:rPr>
              <a:t>1NF</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2NF</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3NF</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BCNF</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4NF</a:t>
            </a:r>
            <a:endParaRPr lang="en-US" altLang="zh-CN" sz="2400">
              <a:latin typeface="Times New Roman" panose="02020603050405020304" pitchFamily="18" charset="0"/>
              <a:ea typeface="宋体" panose="02010600030101010101" pitchFamily="2" charset="-122"/>
            </a:endParaRPr>
          </a:p>
        </p:txBody>
      </p:sp>
      <p:sp>
        <p:nvSpPr>
          <p:cNvPr id="13324" name="AutoShape 12"/>
          <p:cNvSpPr>
            <a:spLocks noChangeArrowheads="1"/>
          </p:cNvSpPr>
          <p:nvPr/>
        </p:nvSpPr>
        <p:spPr bwMode="auto">
          <a:xfrm>
            <a:off x="3666465" y="3752049"/>
            <a:ext cx="4866348" cy="1255135"/>
          </a:xfrm>
          <a:prstGeom prst="wedgeRoundRectCallout">
            <a:avLst>
              <a:gd name="adj1" fmla="val -67259"/>
              <a:gd name="adj2" fmla="val -1725"/>
              <a:gd name="adj3" fmla="val 16667"/>
            </a:avLst>
          </a:prstGeom>
          <a:solidFill>
            <a:schemeClr val="accent2">
              <a:lumMod val="40000"/>
              <a:lumOff val="60000"/>
            </a:schemeClr>
          </a:solidFill>
          <a:ln w="9525">
            <a:solidFill>
              <a:schemeClr val="tx1"/>
            </a:solidFill>
            <a:miter lim="800000"/>
          </a:ln>
        </p:spPr>
        <p:txBody>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lang="zh-CN" altLang="en-US" sz="2400" dirty="0">
                <a:latin typeface="Times New Roman" panose="02020603050405020304" pitchFamily="18" charset="0"/>
                <a:ea typeface="宋体" panose="02010600030101010101" pitchFamily="2" charset="-122"/>
              </a:rPr>
              <a:t>模式分解的定义、保持函数依赖分解和保持无损连接分解的判定和分解算法</a:t>
            </a:r>
            <a:endParaRPr lang="zh-CN" altLang="en-US" sz="2400" dirty="0">
              <a:latin typeface="Times New Roman" panose="02020603050405020304" pitchFamily="18" charset="0"/>
              <a:ea typeface="宋体" panose="02010600030101010101" pitchFamily="2" charset="-122"/>
            </a:endParaRPr>
          </a:p>
        </p:txBody>
      </p:sp>
      <p:sp>
        <p:nvSpPr>
          <p:cNvPr id="13325" name="AutoShape 13"/>
          <p:cNvSpPr>
            <a:spLocks noChangeArrowheads="1"/>
          </p:cNvSpPr>
          <p:nvPr/>
        </p:nvSpPr>
        <p:spPr bwMode="auto">
          <a:xfrm>
            <a:off x="1573213" y="864710"/>
            <a:ext cx="360363" cy="576000"/>
          </a:xfrm>
          <a:prstGeom prst="downArrow">
            <a:avLst>
              <a:gd name="adj1" fmla="val 50000"/>
              <a:gd name="adj2" fmla="val 43722"/>
            </a:avLst>
          </a:prstGeom>
          <a:noFill/>
          <a:ln w="9525">
            <a:solidFill>
              <a:schemeClr val="tx1"/>
            </a:solidFill>
            <a:miter lim="800000"/>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13327" name="AutoShape 15"/>
          <p:cNvSpPr>
            <a:spLocks noChangeArrowheads="1"/>
          </p:cNvSpPr>
          <p:nvPr/>
        </p:nvSpPr>
        <p:spPr bwMode="auto">
          <a:xfrm>
            <a:off x="1573212" y="3203151"/>
            <a:ext cx="360363" cy="890701"/>
          </a:xfrm>
          <a:prstGeom prst="downArrow">
            <a:avLst>
              <a:gd name="adj1" fmla="val 50000"/>
              <a:gd name="adj2" fmla="val 43722"/>
            </a:avLst>
          </a:prstGeom>
          <a:noFill/>
          <a:ln w="9525">
            <a:solidFill>
              <a:schemeClr val="tx1"/>
            </a:solidFill>
            <a:miter lim="800000"/>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19" name="Rectangle 6"/>
          <p:cNvSpPr>
            <a:spLocks noChangeArrowheads="1"/>
          </p:cNvSpPr>
          <p:nvPr/>
        </p:nvSpPr>
        <p:spPr bwMode="auto">
          <a:xfrm>
            <a:off x="611188" y="2699151"/>
            <a:ext cx="2196000" cy="504000"/>
          </a:xfrm>
          <a:prstGeom prst="rect">
            <a:avLst/>
          </a:prstGeom>
          <a:solidFill>
            <a:schemeClr val="accent5">
              <a:lumMod val="85000"/>
            </a:schemeClr>
          </a:solidFill>
          <a:ln w="9525">
            <a:solidFill>
              <a:schemeClr val="tx1"/>
            </a:solidFill>
            <a:miter lim="800000"/>
          </a:ln>
        </p:spPr>
        <p:txBody>
          <a:bodyPr wrap="none" anchor="ct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dirty="0">
                <a:latin typeface="Times New Roman" panose="02020603050405020304" pitchFamily="18" charset="0"/>
                <a:ea typeface="宋体" panose="02010600030101010101" pitchFamily="2" charset="-122"/>
              </a:rPr>
              <a:t>函数依赖的运算</a:t>
            </a:r>
            <a:endParaRPr lang="zh-CN" altLang="en-US" sz="2400" dirty="0">
              <a:latin typeface="Times New Roman" panose="02020603050405020304" pitchFamily="18" charset="0"/>
              <a:ea typeface="宋体" panose="02010600030101010101" pitchFamily="2" charset="-122"/>
            </a:endParaRPr>
          </a:p>
        </p:txBody>
      </p:sp>
      <p:sp>
        <p:nvSpPr>
          <p:cNvPr id="20" name="AutoShape 11"/>
          <p:cNvSpPr>
            <a:spLocks noChangeArrowheads="1"/>
          </p:cNvSpPr>
          <p:nvPr/>
        </p:nvSpPr>
        <p:spPr bwMode="auto">
          <a:xfrm>
            <a:off x="3666465" y="2039007"/>
            <a:ext cx="4855232" cy="1329082"/>
          </a:xfrm>
          <a:prstGeom prst="wedgeRoundRectCallout">
            <a:avLst>
              <a:gd name="adj1" fmla="val -67522"/>
              <a:gd name="adj2" fmla="val 19425"/>
              <a:gd name="adj3" fmla="val 16667"/>
            </a:avLst>
          </a:prstGeom>
          <a:solidFill>
            <a:schemeClr val="accent5">
              <a:lumMod val="85000"/>
            </a:schemeClr>
          </a:solidFill>
          <a:ln w="9525">
            <a:solidFill>
              <a:schemeClr val="tx1"/>
            </a:solidFill>
            <a:miter lim="800000"/>
          </a:ln>
        </p:spPr>
        <p:txBody>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en-US" altLang="zh-CN" sz="2400" dirty="0">
                <a:latin typeface="Times New Roman" panose="02020603050405020304" pitchFamily="18" charset="0"/>
                <a:ea typeface="宋体" panose="02010600030101010101" pitchFamily="2" charset="-122"/>
              </a:rPr>
              <a:t>Armstrong</a:t>
            </a:r>
            <a:r>
              <a:rPr lang="zh-CN" altLang="en-US" sz="2400" dirty="0">
                <a:latin typeface="Times New Roman" panose="02020603050405020304" pitchFamily="18" charset="0"/>
                <a:ea typeface="宋体" panose="02010600030101010101" pitchFamily="2" charset="-122"/>
              </a:rPr>
              <a:t>公理、属性集的闭包、函数依赖的推导、候选码的计算、函数依赖集的等价和最小覆盖</a:t>
            </a:r>
            <a:endParaRPr lang="zh-CN" altLang="en-US" sz="2400" dirty="0">
              <a:latin typeface="Times New Roman" panose="02020603050405020304" pitchFamily="18" charset="0"/>
              <a:ea typeface="宋体" panose="02010600030101010101" pitchFamily="2" charset="-122"/>
            </a:endParaRPr>
          </a:p>
        </p:txBody>
      </p:sp>
      <p:sp>
        <p:nvSpPr>
          <p:cNvPr id="2" name="文本框 1"/>
          <p:cNvSpPr txBox="1"/>
          <p:nvPr/>
        </p:nvSpPr>
        <p:spPr>
          <a:xfrm>
            <a:off x="5671017" y="311305"/>
            <a:ext cx="697627" cy="400110"/>
          </a:xfrm>
          <a:prstGeom prst="rect">
            <a:avLst/>
          </a:prstGeom>
          <a:noFill/>
        </p:spPr>
        <p:txBody>
          <a:bodyPr wrap="none" rtlCol="0">
            <a:spAutoFit/>
          </a:bodyPr>
          <a:lstStyle/>
          <a:p>
            <a:r>
              <a:rPr lang="zh-CN" altLang="en-US" sz="2000" dirty="0">
                <a:solidFill>
                  <a:srgbClr val="FF0000"/>
                </a:solidFill>
              </a:rPr>
              <a:t>现象</a:t>
            </a:r>
            <a:endParaRPr lang="zh-CN" altLang="en-US" sz="2000" dirty="0">
              <a:solidFill>
                <a:srgbClr val="FF0000"/>
              </a:solidFill>
            </a:endParaRPr>
          </a:p>
        </p:txBody>
      </p:sp>
      <p:sp>
        <p:nvSpPr>
          <p:cNvPr id="17" name="文本框 16"/>
          <p:cNvSpPr txBox="1"/>
          <p:nvPr/>
        </p:nvSpPr>
        <p:spPr>
          <a:xfrm>
            <a:off x="8183998" y="1134565"/>
            <a:ext cx="697627" cy="400110"/>
          </a:xfrm>
          <a:prstGeom prst="rect">
            <a:avLst/>
          </a:prstGeom>
          <a:noFill/>
        </p:spPr>
        <p:txBody>
          <a:bodyPr wrap="none" rtlCol="0">
            <a:spAutoFit/>
          </a:bodyPr>
          <a:lstStyle/>
          <a:p>
            <a:r>
              <a:rPr lang="zh-CN" altLang="en-US" sz="2000" dirty="0">
                <a:solidFill>
                  <a:srgbClr val="FF0000"/>
                </a:solidFill>
              </a:rPr>
              <a:t>症由</a:t>
            </a:r>
            <a:endParaRPr lang="zh-CN" altLang="en-US" sz="2000" dirty="0">
              <a:solidFill>
                <a:srgbClr val="FF0000"/>
              </a:solidFill>
            </a:endParaRPr>
          </a:p>
        </p:txBody>
      </p:sp>
      <p:sp>
        <p:nvSpPr>
          <p:cNvPr id="18" name="文本框 17"/>
          <p:cNvSpPr txBox="1"/>
          <p:nvPr/>
        </p:nvSpPr>
        <p:spPr>
          <a:xfrm>
            <a:off x="8521697" y="2303438"/>
            <a:ext cx="697627" cy="400110"/>
          </a:xfrm>
          <a:prstGeom prst="rect">
            <a:avLst/>
          </a:prstGeom>
          <a:noFill/>
        </p:spPr>
        <p:txBody>
          <a:bodyPr wrap="none" rtlCol="0">
            <a:spAutoFit/>
          </a:bodyPr>
          <a:lstStyle/>
          <a:p>
            <a:r>
              <a:rPr lang="zh-CN" altLang="en-US" sz="2000" dirty="0">
                <a:solidFill>
                  <a:srgbClr val="FF0000"/>
                </a:solidFill>
              </a:rPr>
              <a:t>工具</a:t>
            </a:r>
            <a:endParaRPr lang="zh-CN" altLang="en-US" sz="2000" dirty="0">
              <a:solidFill>
                <a:srgbClr val="FF0000"/>
              </a:solidFill>
            </a:endParaRPr>
          </a:p>
        </p:txBody>
      </p:sp>
      <p:sp>
        <p:nvSpPr>
          <p:cNvPr id="21" name="文本框 20"/>
          <p:cNvSpPr txBox="1"/>
          <p:nvPr/>
        </p:nvSpPr>
        <p:spPr>
          <a:xfrm>
            <a:off x="8521697" y="4085022"/>
            <a:ext cx="697627" cy="400110"/>
          </a:xfrm>
          <a:prstGeom prst="rect">
            <a:avLst/>
          </a:prstGeom>
          <a:noFill/>
        </p:spPr>
        <p:txBody>
          <a:bodyPr wrap="none" rtlCol="0">
            <a:spAutoFit/>
          </a:bodyPr>
          <a:lstStyle/>
          <a:p>
            <a:r>
              <a:rPr lang="zh-CN" altLang="en-US" sz="2000" dirty="0">
                <a:solidFill>
                  <a:srgbClr val="FF0000"/>
                </a:solidFill>
              </a:rPr>
              <a:t>方法</a:t>
            </a:r>
            <a:endParaRPr lang="zh-CN" altLang="en-US" sz="2000" dirty="0">
              <a:solidFill>
                <a:srgbClr val="FF0000"/>
              </a:solidFill>
            </a:endParaRPr>
          </a:p>
        </p:txBody>
      </p:sp>
      <p:sp>
        <p:nvSpPr>
          <p:cNvPr id="22" name="文本框 21"/>
          <p:cNvSpPr txBox="1"/>
          <p:nvPr/>
        </p:nvSpPr>
        <p:spPr>
          <a:xfrm>
            <a:off x="8446373" y="5563283"/>
            <a:ext cx="697627" cy="400110"/>
          </a:xfrm>
          <a:prstGeom prst="rect">
            <a:avLst/>
          </a:prstGeom>
          <a:noFill/>
        </p:spPr>
        <p:txBody>
          <a:bodyPr wrap="none" rtlCol="0">
            <a:spAutoFit/>
          </a:bodyPr>
          <a:lstStyle/>
          <a:p>
            <a:r>
              <a:rPr lang="zh-CN" altLang="en-US" sz="2000" dirty="0">
                <a:solidFill>
                  <a:srgbClr val="FF0000"/>
                </a:solidFill>
              </a:rPr>
              <a:t>规范</a:t>
            </a:r>
            <a:endParaRPr lang="zh-CN" altLang="en-US" sz="2000"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Grp="1" noChangeArrowheads="1"/>
          </p:cNvSpPr>
          <p:nvPr>
            <p:ph type="title"/>
          </p:nvPr>
        </p:nvSpPr>
        <p:spPr/>
        <p:txBody>
          <a:bodyPr/>
          <a:lstStyle/>
          <a:p>
            <a:pPr>
              <a:defRPr/>
            </a:pPr>
            <a:r>
              <a:rPr lang="zh-CN" altLang="en-US">
                <a:ea typeface="宋体" panose="02010600030101010101" pitchFamily="2" charset="-122"/>
              </a:rPr>
              <a:t>关系模式的分解和问题</a:t>
            </a:r>
            <a:endParaRPr lang="zh-CN" altLang="en-US">
              <a:ea typeface="宋体" panose="02010600030101010101" pitchFamily="2" charset="-122"/>
            </a:endParaRPr>
          </a:p>
        </p:txBody>
      </p:sp>
      <p:sp>
        <p:nvSpPr>
          <p:cNvPr id="13315" name="Rectangle 3"/>
          <p:cNvSpPr>
            <a:spLocks noGrp="1" noChangeArrowheads="1"/>
          </p:cNvSpPr>
          <p:nvPr>
            <p:ph type="body" idx="1"/>
          </p:nvPr>
        </p:nvSpPr>
        <p:spPr/>
        <p:txBody>
          <a:bodyPr>
            <a:normAutofit lnSpcReduction="10000"/>
          </a:bodyPr>
          <a:lstStyle/>
          <a:p>
            <a:pPr>
              <a:defRPr/>
            </a:pPr>
            <a:r>
              <a:rPr lang="en-US" altLang="zh-CN" dirty="0">
                <a:ea typeface="楷体_GB2312" pitchFamily="49" charset="-122"/>
              </a:rPr>
              <a:t>SCD(</a:t>
            </a:r>
            <a:r>
              <a:rPr lang="en-US" altLang="zh-CN" u="sng" dirty="0">
                <a:ea typeface="楷体_GB2312" pitchFamily="49" charset="-122"/>
              </a:rPr>
              <a:t>SNO</a:t>
            </a:r>
            <a:r>
              <a:rPr lang="en-US" altLang="zh-CN" dirty="0">
                <a:ea typeface="楷体_GB2312" pitchFamily="49" charset="-122"/>
              </a:rPr>
              <a:t>,SN,AGE,DEPT,MN,</a:t>
            </a:r>
            <a:r>
              <a:rPr lang="en-US" altLang="zh-CN" u="sng" dirty="0">
                <a:ea typeface="楷体_GB2312" pitchFamily="49" charset="-122"/>
              </a:rPr>
              <a:t>CNO</a:t>
            </a:r>
            <a:r>
              <a:rPr lang="en-US" altLang="zh-CN" dirty="0">
                <a:ea typeface="楷体_GB2312" pitchFamily="49" charset="-122"/>
              </a:rPr>
              <a:t>,SCORE)</a:t>
            </a:r>
            <a:endParaRPr lang="en-US" altLang="zh-CN" dirty="0">
              <a:ea typeface="楷体_GB2312" pitchFamily="49" charset="-122"/>
            </a:endParaRPr>
          </a:p>
          <a:p>
            <a:pPr>
              <a:buFontTx/>
              <a:buChar char="→"/>
              <a:defRPr/>
            </a:pPr>
            <a:r>
              <a:rPr lang="en-US" altLang="zh-CN" dirty="0">
                <a:ea typeface="楷体_GB2312" pitchFamily="49" charset="-122"/>
              </a:rPr>
              <a:t>S(</a:t>
            </a:r>
            <a:r>
              <a:rPr lang="en-US" altLang="zh-CN" u="sng" dirty="0">
                <a:ea typeface="楷体_GB2312" pitchFamily="49" charset="-122"/>
              </a:rPr>
              <a:t>SNO</a:t>
            </a:r>
            <a:r>
              <a:rPr lang="en-US" altLang="zh-CN" dirty="0">
                <a:ea typeface="楷体_GB2312" pitchFamily="49" charset="-122"/>
              </a:rPr>
              <a:t>,SN,AGE,DEPT)</a:t>
            </a:r>
            <a:endParaRPr lang="en-US" altLang="zh-CN" dirty="0">
              <a:ea typeface="楷体_GB2312" pitchFamily="49" charset="-122"/>
            </a:endParaRPr>
          </a:p>
          <a:p>
            <a:pPr>
              <a:buFontTx/>
              <a:buChar char="→"/>
              <a:defRPr/>
            </a:pPr>
            <a:r>
              <a:rPr lang="en-US" altLang="zh-CN" dirty="0">
                <a:ea typeface="楷体_GB2312" pitchFamily="49" charset="-122"/>
              </a:rPr>
              <a:t>SC(</a:t>
            </a:r>
            <a:r>
              <a:rPr lang="en-US" altLang="zh-CN" u="sng" dirty="0">
                <a:ea typeface="楷体_GB2312" pitchFamily="49" charset="-122"/>
              </a:rPr>
              <a:t>SNO,CNO</a:t>
            </a:r>
            <a:r>
              <a:rPr lang="en-US" altLang="zh-CN" dirty="0">
                <a:ea typeface="楷体_GB2312" pitchFamily="49" charset="-122"/>
              </a:rPr>
              <a:t>,SCORE)</a:t>
            </a:r>
            <a:endParaRPr lang="en-US" altLang="zh-CN" dirty="0">
              <a:ea typeface="楷体_GB2312" pitchFamily="49" charset="-122"/>
            </a:endParaRPr>
          </a:p>
          <a:p>
            <a:pPr>
              <a:buFontTx/>
              <a:buChar char="→"/>
              <a:defRPr/>
            </a:pPr>
            <a:r>
              <a:rPr lang="en-US" altLang="zh-CN" dirty="0">
                <a:ea typeface="楷体_GB2312" pitchFamily="49" charset="-122"/>
              </a:rPr>
              <a:t>D(</a:t>
            </a:r>
            <a:r>
              <a:rPr lang="en-US" altLang="zh-CN" u="sng" dirty="0">
                <a:ea typeface="楷体_GB2312" pitchFamily="49" charset="-122"/>
              </a:rPr>
              <a:t>DEPT</a:t>
            </a:r>
            <a:r>
              <a:rPr lang="en-US" altLang="zh-CN" dirty="0">
                <a:ea typeface="楷体_GB2312" pitchFamily="49" charset="-122"/>
              </a:rPr>
              <a:t>,MN)</a:t>
            </a:r>
            <a:endParaRPr lang="en-US" altLang="zh-CN" dirty="0">
              <a:ea typeface="楷体_GB2312" pitchFamily="49" charset="-122"/>
            </a:endParaRPr>
          </a:p>
          <a:p>
            <a:pPr>
              <a:defRPr/>
            </a:pPr>
            <a:endParaRPr lang="en-US" altLang="zh-CN" dirty="0">
              <a:ea typeface="楷体_GB2312" pitchFamily="49" charset="-122"/>
            </a:endParaRPr>
          </a:p>
          <a:p>
            <a:pPr>
              <a:defRPr/>
            </a:pPr>
            <a:r>
              <a:rPr lang="zh-CN" altLang="en-US" dirty="0">
                <a:ea typeface="楷体_GB2312" pitchFamily="49" charset="-122"/>
              </a:rPr>
              <a:t>我们可以通过把一个关系模式的分解成多个关系模式，以解决它的插入、删除和更新操作所带来的一些问题。</a:t>
            </a:r>
            <a:endParaRPr lang="zh-CN" altLang="en-US" dirty="0">
              <a:ea typeface="楷体_GB2312" pitchFamily="49" charset="-122"/>
            </a:endParaRPr>
          </a:p>
          <a:p>
            <a:pPr>
              <a:defRPr/>
            </a:pPr>
            <a:r>
              <a:rPr lang="zh-CN" altLang="en-US" dirty="0">
                <a:ea typeface="楷体_GB2312" pitchFamily="49" charset="-122"/>
              </a:rPr>
              <a:t>为了在分解要保证原来模式所满足的特性，要求分解处理具有无损连接和保持函数依赖。</a:t>
            </a:r>
            <a:endParaRPr lang="zh-CN" altLang="en-US" dirty="0">
              <a:ea typeface="楷体_GB2312" pitchFamily="49" charset="-122"/>
            </a:endParaRPr>
          </a:p>
          <a:p>
            <a:pPr>
              <a:defRPr/>
            </a:pPr>
            <a:endParaRPr lang="en-US" altLang="zh-CN" dirty="0">
              <a:ea typeface="宋体"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ChangeArrowheads="1"/>
          </p:cNvSpPr>
          <p:nvPr>
            <p:ph type="title"/>
          </p:nvPr>
        </p:nvSpPr>
        <p:spPr/>
        <p:txBody>
          <a:bodyPr/>
          <a:lstStyle/>
          <a:p>
            <a:pPr>
              <a:defRPr/>
            </a:pPr>
            <a:r>
              <a:rPr lang="zh-CN" altLang="en-US">
                <a:ea typeface="宋体" panose="02010600030101010101" pitchFamily="2" charset="-122"/>
              </a:rPr>
              <a:t>模式的分解</a:t>
            </a:r>
            <a:endParaRPr lang="zh-CN" altLang="en-US">
              <a:ea typeface="宋体" panose="02010600030101010101" pitchFamily="2" charset="-122"/>
            </a:endParaRPr>
          </a:p>
        </p:txBody>
      </p:sp>
      <p:sp>
        <p:nvSpPr>
          <p:cNvPr id="14339" name="Rectangle 3"/>
          <p:cNvSpPr>
            <a:spLocks noGrp="1" noChangeArrowheads="1"/>
          </p:cNvSpPr>
          <p:nvPr>
            <p:ph idx="1"/>
          </p:nvPr>
        </p:nvSpPr>
        <p:spPr/>
        <p:txBody>
          <a:bodyPr/>
          <a:lstStyle/>
          <a:p>
            <a:pPr>
              <a:lnSpc>
                <a:spcPct val="180000"/>
              </a:lnSpc>
              <a:buFont typeface="Wingdings" panose="05000000000000000000" pitchFamily="2" charset="2"/>
              <a:buNone/>
            </a:pPr>
            <a:r>
              <a:rPr lang="zh-CN" altLang="en-US" sz="3600" b="1">
                <a:solidFill>
                  <a:srgbClr val="CC0000"/>
                </a:solidFill>
                <a:ea typeface="黑体" panose="02010609060101010101" pitchFamily="49" charset="-122"/>
              </a:rPr>
              <a:t>定义</a:t>
            </a:r>
            <a:r>
              <a:rPr lang="zh-CN" altLang="en-US" sz="3600">
                <a:ea typeface="宋体" panose="02010600030101010101" pitchFamily="2" charset="-122"/>
              </a:rPr>
              <a:t> </a:t>
            </a:r>
            <a:r>
              <a:rPr lang="zh-CN" altLang="en-US" sz="3200">
                <a:ea typeface="宋体" panose="02010600030101010101" pitchFamily="2" charset="-122"/>
              </a:rPr>
              <a:t>关系模式</a:t>
            </a:r>
            <a:r>
              <a:rPr lang="en-US" altLang="zh-CN" sz="3200">
                <a:ea typeface="宋体" panose="02010600030101010101" pitchFamily="2" charset="-122"/>
              </a:rPr>
              <a:t>R&lt;U,F&gt;</a:t>
            </a:r>
            <a:r>
              <a:rPr lang="zh-CN" altLang="en-US" sz="3200">
                <a:ea typeface="宋体" panose="02010600030101010101" pitchFamily="2" charset="-122"/>
              </a:rPr>
              <a:t>的一个分解：</a:t>
            </a:r>
            <a:endParaRPr lang="zh-CN" altLang="en-US" sz="3600">
              <a:ea typeface="宋体" panose="02010600030101010101" pitchFamily="2" charset="-122"/>
            </a:endParaRPr>
          </a:p>
          <a:p>
            <a:pPr>
              <a:lnSpc>
                <a:spcPct val="160000"/>
              </a:lnSpc>
              <a:buFont typeface="Wingdings" panose="05000000000000000000" pitchFamily="2" charset="2"/>
              <a:buNone/>
            </a:pPr>
            <a:r>
              <a:rPr lang="en-US" altLang="zh-CN" sz="3600" i="1">
                <a:ea typeface="宋体" panose="02010600030101010101" pitchFamily="2" charset="-122"/>
              </a:rPr>
              <a:t>ρ</a:t>
            </a:r>
            <a:r>
              <a:rPr lang="en-US" altLang="zh-CN" sz="3200">
                <a:ea typeface="宋体" panose="02010600030101010101" pitchFamily="2" charset="-122"/>
              </a:rPr>
              <a:t>={ R</a:t>
            </a:r>
            <a:r>
              <a:rPr lang="en-US" altLang="zh-CN" sz="3200" baseline="-25000">
                <a:ea typeface="宋体" panose="02010600030101010101" pitchFamily="2" charset="-122"/>
              </a:rPr>
              <a:t>1</a:t>
            </a:r>
            <a:r>
              <a:rPr lang="en-US" altLang="zh-CN" sz="3200">
                <a:ea typeface="宋体" panose="02010600030101010101" pitchFamily="2" charset="-122"/>
              </a:rPr>
              <a:t>&lt;U</a:t>
            </a:r>
            <a:r>
              <a:rPr lang="en-US" altLang="zh-CN" sz="3200" baseline="-25000">
                <a:ea typeface="宋体" panose="02010600030101010101" pitchFamily="2" charset="-122"/>
              </a:rPr>
              <a:t>1</a:t>
            </a:r>
            <a:r>
              <a:rPr lang="en-US" altLang="zh-CN" sz="3200">
                <a:ea typeface="宋体" panose="02010600030101010101" pitchFamily="2" charset="-122"/>
              </a:rPr>
              <a:t>,F</a:t>
            </a:r>
            <a:r>
              <a:rPr lang="en-US" altLang="zh-CN" sz="3200" baseline="-25000">
                <a:ea typeface="宋体" panose="02010600030101010101" pitchFamily="2" charset="-122"/>
              </a:rPr>
              <a:t>1</a:t>
            </a:r>
            <a:r>
              <a:rPr lang="en-US" altLang="zh-CN" sz="3200">
                <a:ea typeface="宋体" panose="02010600030101010101" pitchFamily="2" charset="-122"/>
              </a:rPr>
              <a:t>&gt;</a:t>
            </a:r>
            <a:r>
              <a:rPr lang="zh-CN" altLang="en-US" sz="3200">
                <a:ea typeface="宋体" panose="02010600030101010101" pitchFamily="2" charset="-122"/>
              </a:rPr>
              <a:t>，</a:t>
            </a:r>
            <a:r>
              <a:rPr lang="en-US" altLang="zh-CN" sz="3200">
                <a:ea typeface="宋体" panose="02010600030101010101" pitchFamily="2" charset="-122"/>
              </a:rPr>
              <a:t>R</a:t>
            </a:r>
            <a:r>
              <a:rPr lang="en-US" altLang="zh-CN" sz="3200" baseline="-25000">
                <a:ea typeface="宋体" panose="02010600030101010101" pitchFamily="2" charset="-122"/>
              </a:rPr>
              <a:t>2</a:t>
            </a:r>
            <a:r>
              <a:rPr lang="en-US" altLang="zh-CN" sz="3200">
                <a:ea typeface="宋体" panose="02010600030101010101" pitchFamily="2" charset="-122"/>
              </a:rPr>
              <a:t>&lt;U</a:t>
            </a:r>
            <a:r>
              <a:rPr lang="en-US" altLang="zh-CN" sz="3200" baseline="-25000">
                <a:ea typeface="宋体" panose="02010600030101010101" pitchFamily="2" charset="-122"/>
              </a:rPr>
              <a:t>2</a:t>
            </a:r>
            <a:r>
              <a:rPr lang="en-US" altLang="zh-CN" sz="3200">
                <a:ea typeface="宋体" panose="02010600030101010101" pitchFamily="2" charset="-122"/>
              </a:rPr>
              <a:t>,F</a:t>
            </a:r>
            <a:r>
              <a:rPr lang="en-US" altLang="zh-CN" sz="3200" baseline="-25000">
                <a:ea typeface="宋体" panose="02010600030101010101" pitchFamily="2" charset="-122"/>
              </a:rPr>
              <a:t>2</a:t>
            </a:r>
            <a:r>
              <a:rPr lang="en-US" altLang="zh-CN" sz="3200">
                <a:ea typeface="宋体" panose="02010600030101010101" pitchFamily="2" charset="-122"/>
              </a:rPr>
              <a:t>&gt;</a:t>
            </a:r>
            <a:r>
              <a:rPr lang="zh-CN" altLang="en-US" sz="3200">
                <a:ea typeface="宋体" panose="02010600030101010101" pitchFamily="2" charset="-122"/>
              </a:rPr>
              <a:t>，</a:t>
            </a:r>
            <a:r>
              <a:rPr lang="en-US" altLang="zh-CN" sz="3200">
                <a:latin typeface="Times New Roman" panose="02020603050405020304" pitchFamily="18" charset="0"/>
                <a:ea typeface="宋体" panose="02010600030101010101" pitchFamily="2" charset="-122"/>
              </a:rPr>
              <a:t>…</a:t>
            </a:r>
            <a:r>
              <a:rPr lang="zh-CN" altLang="en-US" sz="3200">
                <a:ea typeface="宋体" panose="02010600030101010101" pitchFamily="2" charset="-122"/>
              </a:rPr>
              <a:t>，</a:t>
            </a:r>
            <a:r>
              <a:rPr lang="en-US" altLang="zh-CN" sz="3200">
                <a:ea typeface="宋体" panose="02010600030101010101" pitchFamily="2" charset="-122"/>
              </a:rPr>
              <a:t>R</a:t>
            </a:r>
            <a:r>
              <a:rPr lang="en-US" altLang="zh-CN" sz="3200" baseline="-25000">
                <a:ea typeface="宋体" panose="02010600030101010101" pitchFamily="2" charset="-122"/>
              </a:rPr>
              <a:t>n</a:t>
            </a:r>
            <a:r>
              <a:rPr lang="en-US" altLang="zh-CN" sz="3200">
                <a:ea typeface="宋体" panose="02010600030101010101" pitchFamily="2" charset="-122"/>
              </a:rPr>
              <a:t>&lt;U</a:t>
            </a:r>
            <a:r>
              <a:rPr lang="en-US" altLang="zh-CN" sz="3200" baseline="-25000">
                <a:ea typeface="宋体" panose="02010600030101010101" pitchFamily="2" charset="-122"/>
              </a:rPr>
              <a:t>n</a:t>
            </a:r>
            <a:r>
              <a:rPr lang="en-US" altLang="zh-CN" sz="3200">
                <a:ea typeface="宋体" panose="02010600030101010101" pitchFamily="2" charset="-122"/>
              </a:rPr>
              <a:t>,F</a:t>
            </a:r>
            <a:r>
              <a:rPr lang="en-US" altLang="zh-CN" sz="3200" baseline="-25000">
                <a:ea typeface="宋体" panose="02010600030101010101" pitchFamily="2" charset="-122"/>
              </a:rPr>
              <a:t>n</a:t>
            </a:r>
            <a:r>
              <a:rPr lang="en-US" altLang="zh-CN" sz="3200">
                <a:ea typeface="宋体" panose="02010600030101010101" pitchFamily="2" charset="-122"/>
              </a:rPr>
              <a:t>&gt;}</a:t>
            </a:r>
            <a:endParaRPr lang="en-US" altLang="zh-CN" sz="3200">
              <a:ea typeface="宋体" panose="02010600030101010101" pitchFamily="2" charset="-122"/>
            </a:endParaRPr>
          </a:p>
          <a:p>
            <a:pPr>
              <a:lnSpc>
                <a:spcPct val="180000"/>
              </a:lnSpc>
              <a:buFont typeface="Wingdings" panose="05000000000000000000" pitchFamily="2" charset="2"/>
              <a:buNone/>
            </a:pPr>
            <a:r>
              <a:rPr lang="en-US" altLang="zh-CN" sz="3200">
                <a:ea typeface="宋体" panose="02010600030101010101" pitchFamily="2" charset="-122"/>
              </a:rPr>
              <a:t>    U=U</a:t>
            </a:r>
            <a:r>
              <a:rPr lang="en-US" altLang="zh-CN" sz="3200" baseline="-25000">
                <a:ea typeface="宋体" panose="02010600030101010101" pitchFamily="2" charset="-122"/>
              </a:rPr>
              <a:t>1</a:t>
            </a:r>
            <a:r>
              <a:rPr lang="en-US" altLang="zh-CN" sz="3200">
                <a:ea typeface="宋体" panose="02010600030101010101" pitchFamily="2" charset="-122"/>
              </a:rPr>
              <a:t>∪U</a:t>
            </a:r>
            <a:r>
              <a:rPr lang="en-US" altLang="zh-CN" sz="3200" baseline="-25000">
                <a:ea typeface="宋体" panose="02010600030101010101" pitchFamily="2" charset="-122"/>
              </a:rPr>
              <a:t>2</a:t>
            </a:r>
            <a:r>
              <a:rPr lang="en-US" altLang="zh-CN" sz="3200">
                <a:ea typeface="宋体" panose="02010600030101010101" pitchFamily="2" charset="-122"/>
              </a:rPr>
              <a:t>∪</a:t>
            </a:r>
            <a:r>
              <a:rPr lang="en-US" altLang="zh-CN" sz="3200">
                <a:latin typeface="Times New Roman" panose="02020603050405020304" pitchFamily="18" charset="0"/>
                <a:ea typeface="宋体" panose="02010600030101010101" pitchFamily="2" charset="-122"/>
              </a:rPr>
              <a:t>…</a:t>
            </a:r>
            <a:r>
              <a:rPr lang="en-US" altLang="zh-CN" sz="3200">
                <a:ea typeface="宋体" panose="02010600030101010101" pitchFamily="2" charset="-122"/>
              </a:rPr>
              <a:t>∪U</a:t>
            </a:r>
            <a:r>
              <a:rPr lang="en-US" altLang="zh-CN" sz="3200" baseline="-25000">
                <a:ea typeface="宋体" panose="02010600030101010101" pitchFamily="2" charset="-122"/>
              </a:rPr>
              <a:t>n</a:t>
            </a:r>
            <a:r>
              <a:rPr lang="zh-CN" altLang="en-US" sz="3200">
                <a:ea typeface="宋体" panose="02010600030101010101" pitchFamily="2" charset="-122"/>
              </a:rPr>
              <a:t>，</a:t>
            </a:r>
            <a:r>
              <a:rPr lang="zh-CN" altLang="en-US" sz="3200" b="1">
                <a:ea typeface="宋体" panose="02010600030101010101" pitchFamily="2" charset="-122"/>
              </a:rPr>
              <a:t>且不存在</a:t>
            </a:r>
            <a:r>
              <a:rPr lang="zh-CN" altLang="en-US" sz="2400">
                <a:ea typeface="宋体" panose="02010600030101010101" pitchFamily="2" charset="-122"/>
              </a:rPr>
              <a:t>  </a:t>
            </a:r>
            <a:r>
              <a:rPr lang="en-US" altLang="zh-CN" sz="3200">
                <a:ea typeface="宋体" panose="02010600030101010101" pitchFamily="2" charset="-122"/>
              </a:rPr>
              <a:t>U</a:t>
            </a:r>
            <a:r>
              <a:rPr lang="en-US" altLang="zh-CN" sz="3200" baseline="-25000">
                <a:ea typeface="宋体" panose="02010600030101010101" pitchFamily="2" charset="-122"/>
              </a:rPr>
              <a:t>i</a:t>
            </a:r>
            <a:r>
              <a:rPr lang="en-US" altLang="zh-CN" sz="3200">
                <a:ea typeface="宋体" panose="02010600030101010101" pitchFamily="2" charset="-122"/>
              </a:rPr>
              <a:t> </a:t>
            </a:r>
            <a:r>
              <a:rPr lang="en-US" altLang="zh-CN" sz="3200">
                <a:ea typeface="宋体" panose="02010600030101010101" pitchFamily="2" charset="-122"/>
                <a:sym typeface="Symbol" panose="05050102010706020507" pitchFamily="18" charset="2"/>
              </a:rPr>
              <a:t></a:t>
            </a:r>
            <a:r>
              <a:rPr lang="en-US" altLang="zh-CN" sz="3200">
                <a:ea typeface="宋体" panose="02010600030101010101" pitchFamily="2" charset="-122"/>
              </a:rPr>
              <a:t> U</a:t>
            </a:r>
            <a:r>
              <a:rPr lang="en-US" altLang="zh-CN" sz="3200" baseline="-25000">
                <a:ea typeface="宋体" panose="02010600030101010101" pitchFamily="2" charset="-122"/>
              </a:rPr>
              <a:t>j</a:t>
            </a:r>
            <a:r>
              <a:rPr lang="zh-CN" altLang="en-US" sz="3200">
                <a:ea typeface="宋体" panose="02010600030101010101" pitchFamily="2" charset="-122"/>
              </a:rPr>
              <a:t>，</a:t>
            </a:r>
            <a:r>
              <a:rPr lang="en-US" altLang="zh-CN" sz="3200">
                <a:ea typeface="宋体" panose="02010600030101010101" pitchFamily="2" charset="-122"/>
              </a:rPr>
              <a:t>F</a:t>
            </a:r>
            <a:r>
              <a:rPr lang="en-US" altLang="zh-CN" sz="3200" baseline="-25000">
                <a:ea typeface="宋体" panose="02010600030101010101" pitchFamily="2" charset="-122"/>
              </a:rPr>
              <a:t>i </a:t>
            </a:r>
            <a:r>
              <a:rPr lang="zh-CN" altLang="en-US" sz="2400">
                <a:ea typeface="宋体" panose="02010600030101010101" pitchFamily="2" charset="-122"/>
              </a:rPr>
              <a:t>为 </a:t>
            </a:r>
            <a:r>
              <a:rPr lang="en-US" altLang="zh-CN" sz="3200">
                <a:ea typeface="宋体" panose="02010600030101010101" pitchFamily="2" charset="-122"/>
              </a:rPr>
              <a:t>F</a:t>
            </a:r>
            <a:r>
              <a:rPr lang="zh-CN" altLang="en-US" sz="2400">
                <a:ea typeface="宋体" panose="02010600030101010101" pitchFamily="2" charset="-122"/>
              </a:rPr>
              <a:t>在 </a:t>
            </a:r>
            <a:r>
              <a:rPr lang="en-US" altLang="zh-CN" sz="3200">
                <a:ea typeface="宋体" panose="02010600030101010101" pitchFamily="2" charset="-122"/>
              </a:rPr>
              <a:t>U</a:t>
            </a:r>
            <a:r>
              <a:rPr lang="en-US" altLang="zh-CN" sz="3200" baseline="-25000">
                <a:ea typeface="宋体" panose="02010600030101010101" pitchFamily="2" charset="-122"/>
              </a:rPr>
              <a:t>i </a:t>
            </a:r>
            <a:r>
              <a:rPr lang="zh-CN" altLang="en-US" sz="3200" b="1">
                <a:ea typeface="宋体" panose="02010600030101010101" pitchFamily="2" charset="-122"/>
              </a:rPr>
              <a:t>上的投影</a:t>
            </a:r>
            <a:endParaRPr lang="zh-CN" altLang="en-US" sz="3200" b="1">
              <a:ea typeface="宋体" panose="02010600030101010101" pitchFamily="2"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p:txBody>
          <a:bodyPr/>
          <a:lstStyle/>
          <a:p>
            <a:pPr>
              <a:defRPr/>
            </a:pPr>
            <a:r>
              <a:rPr lang="zh-CN" altLang="en-US">
                <a:ea typeface="宋体" panose="02010600030101010101" pitchFamily="2" charset="-122"/>
              </a:rPr>
              <a:t>模式的分解</a:t>
            </a:r>
            <a:endParaRPr lang="zh-CN" altLang="en-US">
              <a:ea typeface="宋体" panose="02010600030101010101" pitchFamily="2" charset="-122"/>
            </a:endParaRPr>
          </a:p>
        </p:txBody>
      </p:sp>
      <p:graphicFrame>
        <p:nvGraphicFramePr>
          <p:cNvPr id="596995" name="Group 3"/>
          <p:cNvGraphicFramePr>
            <a:graphicFrameLocks noGrp="1"/>
          </p:cNvGraphicFramePr>
          <p:nvPr>
            <p:ph idx="1"/>
          </p:nvPr>
        </p:nvGraphicFramePr>
        <p:xfrm>
          <a:off x="228600" y="1066800"/>
          <a:ext cx="8610600" cy="4530727"/>
        </p:xfrm>
        <a:graphic>
          <a:graphicData uri="http://schemas.openxmlformats.org/drawingml/2006/table">
            <a:tbl>
              <a:tblPr/>
              <a:tblGrid>
                <a:gridCol w="2870200"/>
                <a:gridCol w="2870200"/>
                <a:gridCol w="2870200"/>
              </a:tblGrid>
              <a:tr h="8255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Sno</a:t>
                      </a:r>
                      <a:endPar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L="95673" marR="9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Sdept</a:t>
                      </a:r>
                      <a:endPar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L="95673" marR="9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Sloc</a:t>
                      </a:r>
                      <a:endPar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L="95673" marR="9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136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95001</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CS</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136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95002</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IS</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397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95003</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MA</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136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95004</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IS</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136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95005</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PH</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5673" marR="9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p:cNvSpPr>
            <a:spLocks noGrp="1" noChangeArrowheads="1"/>
          </p:cNvSpPr>
          <p:nvPr>
            <p:ph type="title"/>
          </p:nvPr>
        </p:nvSpPr>
        <p:spPr/>
        <p:txBody>
          <a:bodyPr/>
          <a:lstStyle/>
          <a:p>
            <a:pPr>
              <a:defRPr/>
            </a:pPr>
            <a:r>
              <a:rPr lang="zh-CN" altLang="en-US">
                <a:ea typeface="宋体" panose="02010600030101010101" pitchFamily="2" charset="-122"/>
              </a:rPr>
              <a:t>模式的分解</a:t>
            </a:r>
            <a:endParaRPr lang="zh-CN" altLang="en-US">
              <a:ea typeface="宋体" panose="02010600030101010101" pitchFamily="2" charset="-122"/>
            </a:endParaRPr>
          </a:p>
        </p:txBody>
      </p:sp>
      <p:graphicFrame>
        <p:nvGraphicFramePr>
          <p:cNvPr id="598021" name="Group 5"/>
          <p:cNvGraphicFramePr>
            <a:graphicFrameLocks noGrp="1"/>
          </p:cNvGraphicFramePr>
          <p:nvPr>
            <p:ph idx="1"/>
          </p:nvPr>
        </p:nvGraphicFramePr>
        <p:xfrm>
          <a:off x="3854450" y="3324225"/>
          <a:ext cx="5138738" cy="2981325"/>
        </p:xfrm>
        <a:graphic>
          <a:graphicData uri="http://schemas.openxmlformats.org/drawingml/2006/table">
            <a:tbl>
              <a:tblPr/>
              <a:tblGrid>
                <a:gridCol w="1712913"/>
                <a:gridCol w="1712912"/>
                <a:gridCol w="1712913"/>
              </a:tblGrid>
              <a:tr h="5429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Sno</a:t>
                      </a:r>
                      <a:endPar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L="194957" marR="19495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Sdept</a:t>
                      </a:r>
                      <a:endPar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L="194957" marR="1949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Sloc</a:t>
                      </a:r>
                      <a:endPar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L="194957" marR="19495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95001</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CS</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95002</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IS</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95003</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MA</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95004</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IS</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95005</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PH</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94957" marR="19495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6417" name="Rectangle 3"/>
          <p:cNvSpPr>
            <a:spLocks noGrp="1" noChangeArrowheads="1"/>
          </p:cNvSpPr>
          <p:nvPr>
            <p:ph type="body" sz="half" idx="4294967295"/>
          </p:nvPr>
        </p:nvSpPr>
        <p:spPr>
          <a:xfrm>
            <a:off x="0" y="981075"/>
            <a:ext cx="6296025" cy="2306638"/>
          </a:xfrm>
        </p:spPr>
        <p:txBody>
          <a:bodyPr/>
          <a:lstStyle/>
          <a:p>
            <a:pPr lvl="1" algn="just">
              <a:buFont typeface="Wingdings" panose="05000000000000000000" pitchFamily="2" charset="2"/>
              <a:buNone/>
            </a:pPr>
            <a:r>
              <a:rPr lang="en-US" altLang="zh-CN" sz="2800">
                <a:ea typeface="宋体" panose="02010600030101010101" pitchFamily="2" charset="-122"/>
              </a:rPr>
              <a:t>1. SL</a:t>
            </a:r>
            <a:r>
              <a:rPr lang="zh-CN" altLang="en-US" sz="2800">
                <a:ea typeface="宋体" panose="02010600030101010101" pitchFamily="2" charset="-122"/>
              </a:rPr>
              <a:t>分解为下面三个关系模式：</a:t>
            </a:r>
            <a:endParaRPr lang="zh-CN" altLang="en-US" sz="2800">
              <a:ea typeface="宋体" panose="02010600030101010101" pitchFamily="2" charset="-122"/>
            </a:endParaRPr>
          </a:p>
          <a:p>
            <a:pPr lvl="1" algn="just">
              <a:buFont typeface="Wingdings" panose="05000000000000000000" pitchFamily="2" charset="2"/>
              <a:buNone/>
            </a:pPr>
            <a:r>
              <a:rPr lang="zh-CN" altLang="en-US" sz="2800">
                <a:ea typeface="宋体" panose="02010600030101010101" pitchFamily="2" charset="-122"/>
              </a:rPr>
              <a:t>               </a:t>
            </a:r>
            <a:r>
              <a:rPr lang="en-US" altLang="zh-CN" sz="2800">
                <a:ea typeface="宋体" panose="02010600030101010101" pitchFamily="2" charset="-122"/>
              </a:rPr>
              <a:t>SN(Sno)</a:t>
            </a:r>
            <a:endParaRPr lang="en-US" altLang="zh-CN" sz="2800">
              <a:ea typeface="宋体" panose="02010600030101010101" pitchFamily="2" charset="-122"/>
            </a:endParaRPr>
          </a:p>
          <a:p>
            <a:pPr lvl="1" algn="just">
              <a:buFont typeface="Wingdings" panose="05000000000000000000" pitchFamily="2" charset="2"/>
              <a:buNone/>
            </a:pPr>
            <a:r>
              <a:rPr lang="en-US" altLang="zh-CN" sz="2800">
                <a:ea typeface="宋体" panose="02010600030101010101" pitchFamily="2" charset="-122"/>
              </a:rPr>
              <a:t>               SD(Sdept)</a:t>
            </a:r>
            <a:endParaRPr lang="en-US" altLang="zh-CN" sz="2800">
              <a:ea typeface="宋体" panose="02010600030101010101" pitchFamily="2" charset="-122"/>
            </a:endParaRPr>
          </a:p>
          <a:p>
            <a:pPr lvl="1" algn="just">
              <a:buFont typeface="Wingdings" panose="05000000000000000000" pitchFamily="2" charset="2"/>
              <a:buNone/>
            </a:pPr>
            <a:r>
              <a:rPr lang="en-US" altLang="zh-CN" sz="2800">
                <a:ea typeface="宋体" panose="02010600030101010101" pitchFamily="2" charset="-122"/>
              </a:rPr>
              <a:t>               SO(Sloc)</a:t>
            </a:r>
            <a:endParaRPr lang="en-US" altLang="zh-CN" sz="2800">
              <a:ea typeface="宋体" panose="02010600030101010101" pitchFamily="2" charset="-122"/>
            </a:endParaRPr>
          </a:p>
        </p:txBody>
      </p:sp>
      <p:sp>
        <p:nvSpPr>
          <p:cNvPr id="16418" name="Line 4"/>
          <p:cNvSpPr>
            <a:spLocks noChangeShapeType="1"/>
          </p:cNvSpPr>
          <p:nvPr/>
        </p:nvSpPr>
        <p:spPr bwMode="auto">
          <a:xfrm flipH="1" flipV="1">
            <a:off x="3181350" y="3465513"/>
            <a:ext cx="533400" cy="114300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ChangeArrowheads="1"/>
          </p:cNvSpPr>
          <p:nvPr>
            <p:ph type="title"/>
          </p:nvPr>
        </p:nvSpPr>
        <p:spPr/>
        <p:txBody>
          <a:bodyPr/>
          <a:lstStyle/>
          <a:p>
            <a:pPr>
              <a:defRPr/>
            </a:pPr>
            <a:r>
              <a:rPr lang="zh-CN" altLang="en-US" sz="3400">
                <a:ea typeface="宋体" panose="02010600030101010101" pitchFamily="2" charset="-122"/>
              </a:rPr>
              <a:t>分解后的关系为：</a:t>
            </a:r>
            <a:endParaRPr lang="zh-CN" altLang="en-US" sz="3400">
              <a:ea typeface="宋体" panose="02010600030101010101" pitchFamily="2" charset="-122"/>
            </a:endParaRPr>
          </a:p>
        </p:txBody>
      </p:sp>
      <p:graphicFrame>
        <p:nvGraphicFramePr>
          <p:cNvPr id="599044" name="Group 4"/>
          <p:cNvGraphicFramePr>
            <a:graphicFrameLocks noGrp="1"/>
          </p:cNvGraphicFramePr>
          <p:nvPr>
            <p:ph idx="1"/>
          </p:nvPr>
        </p:nvGraphicFramePr>
        <p:xfrm>
          <a:off x="868363" y="996950"/>
          <a:ext cx="2349500" cy="3629028"/>
        </p:xfrm>
        <a:graphic>
          <a:graphicData uri="http://schemas.openxmlformats.org/drawingml/2006/table">
            <a:tbl>
              <a:tblPr/>
              <a:tblGrid>
                <a:gridCol w="2349500"/>
              </a:tblGrid>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1" i="0" u="none" strike="noStrike" cap="none" normalizeH="0" baseline="0" dirty="0" err="1">
                          <a:ln>
                            <a:noFill/>
                          </a:ln>
                          <a:solidFill>
                            <a:srgbClr val="CC0000"/>
                          </a:solidFill>
                          <a:effectLst>
                            <a:outerShdw blurRad="38100" dist="38100" dir="2700000" algn="tl">
                              <a:srgbClr val="C0C0C0"/>
                            </a:outerShdw>
                          </a:effectLst>
                          <a:latin typeface="Arial" panose="020B0604020202020204" pitchFamily="34" charset="0"/>
                          <a:ea typeface="宋体" panose="02010600030101010101" pitchFamily="2" charset="-122"/>
                        </a:rPr>
                        <a:t>Sno</a:t>
                      </a:r>
                      <a:r>
                        <a:rPr kumimoji="1" lang="en-US" altLang="zh-CN" sz="2600" b="0" i="0" u="none" strike="noStrike" cap="none" normalizeH="0" baseline="0" dirty="0">
                          <a:ln>
                            <a:noFill/>
                          </a:ln>
                          <a:solidFill>
                            <a:schemeClr val="hlink"/>
                          </a:solidFill>
                          <a:effectLst/>
                          <a:latin typeface="Arial" panose="020B0604020202020204" pitchFamily="34" charset="0"/>
                          <a:ea typeface="宋体" panose="02010600030101010101" pitchFamily="2" charset="-122"/>
                        </a:rPr>
                        <a:t>	</a:t>
                      </a:r>
                      <a:endParaRPr kumimoji="1" lang="en-US" altLang="zh-CN" sz="2600" b="0" i="0" u="none" strike="noStrike" cap="none" normalizeH="0" baseline="0" dirty="0">
                        <a:ln>
                          <a:noFill/>
                        </a:ln>
                        <a:solidFill>
                          <a:schemeClr val="hlink"/>
                        </a:solidFill>
                        <a:effectLst/>
                        <a:latin typeface="Arial" panose="020B0604020202020204" pitchFamily="34" charset="0"/>
                        <a:ea typeface="宋体" panose="02010600030101010101" pitchFamily="2" charset="-122"/>
                      </a:endParaRPr>
                    </a:p>
                  </a:txBody>
                  <a:tcPr marL="542600" marR="5426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95001</a:t>
                      </a:r>
                      <a:endPar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542600" marR="5426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95002</a:t>
                      </a:r>
                      <a:endPar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542600" marR="5426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95003</a:t>
                      </a:r>
                      <a:endPar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542600" marR="5426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95004</a:t>
                      </a:r>
                      <a:endPar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542600" marR="5426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95005</a:t>
                      </a:r>
                      <a:endPar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542600" marR="5426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451" name="Rectangle 3"/>
          <p:cNvSpPr>
            <a:spLocks noChangeArrowheads="1"/>
          </p:cNvSpPr>
          <p:nvPr/>
        </p:nvSpPr>
        <p:spPr bwMode="auto">
          <a:xfrm>
            <a:off x="1443038" y="4868863"/>
            <a:ext cx="6100762" cy="83026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kumimoji="0" lang="zh-CN" altLang="en-US" sz="2400">
                <a:latin typeface="黑体" panose="02010609060101010101" pitchFamily="49" charset="-122"/>
                <a:ea typeface="黑体" panose="02010609060101010101" pitchFamily="49" charset="-122"/>
              </a:rPr>
              <a:t>分解后的数据库</a:t>
            </a:r>
            <a:r>
              <a:rPr kumimoji="0" lang="zh-CN" altLang="en-US" sz="2400">
                <a:solidFill>
                  <a:srgbClr val="0000FF"/>
                </a:solidFill>
                <a:latin typeface="黑体" panose="02010609060101010101" pitchFamily="49" charset="-122"/>
                <a:ea typeface="黑体" panose="02010609060101010101" pitchFamily="49" charset="-122"/>
              </a:rPr>
              <a:t>丢失了许多信息</a:t>
            </a:r>
            <a:r>
              <a:rPr kumimoji="0" lang="zh-CN" altLang="en-US" sz="2400">
                <a:solidFill>
                  <a:schemeClr val="accent2"/>
                </a:solidFill>
                <a:latin typeface="黑体" panose="02010609060101010101" pitchFamily="49" charset="-122"/>
                <a:ea typeface="黑体" panose="02010609060101010101" pitchFamily="49" charset="-122"/>
              </a:rPr>
              <a:t>。</a:t>
            </a:r>
            <a:r>
              <a:rPr kumimoji="0" lang="zh-CN" altLang="en-US" sz="2400">
                <a:latin typeface="黑体" panose="02010609060101010101" pitchFamily="49" charset="-122"/>
                <a:ea typeface="黑体" panose="02010609060101010101" pitchFamily="49" charset="-122"/>
              </a:rPr>
              <a:t>例如无法查询</a:t>
            </a:r>
            <a:r>
              <a:rPr kumimoji="0" lang="en-US" altLang="zh-CN" sz="2400">
                <a:latin typeface="黑体" panose="02010609060101010101" pitchFamily="49" charset="-122"/>
                <a:ea typeface="黑体" panose="02010609060101010101" pitchFamily="49" charset="-122"/>
              </a:rPr>
              <a:t>95001</a:t>
            </a:r>
            <a:r>
              <a:rPr kumimoji="0" lang="zh-CN" altLang="en-US" sz="2400">
                <a:latin typeface="黑体" panose="02010609060101010101" pitchFamily="49" charset="-122"/>
                <a:ea typeface="黑体" panose="02010609060101010101" pitchFamily="49" charset="-122"/>
              </a:rPr>
              <a:t>学生所在学院或所在宿舍</a:t>
            </a:r>
            <a:endParaRPr kumimoji="0" lang="zh-CN" altLang="en-US" sz="2400">
              <a:solidFill>
                <a:srgbClr val="0000FF"/>
              </a:solidFill>
              <a:latin typeface="黑体" panose="02010609060101010101" pitchFamily="49" charset="-122"/>
              <a:ea typeface="黑体" panose="02010609060101010101" pitchFamily="49" charset="-122"/>
            </a:endParaRPr>
          </a:p>
        </p:txBody>
      </p:sp>
      <p:graphicFrame>
        <p:nvGraphicFramePr>
          <p:cNvPr id="599060" name="Group 20"/>
          <p:cNvGraphicFramePr>
            <a:graphicFrameLocks noGrp="1"/>
          </p:cNvGraphicFramePr>
          <p:nvPr/>
        </p:nvGraphicFramePr>
        <p:xfrm>
          <a:off x="4067175" y="996950"/>
          <a:ext cx="1450975" cy="3024190"/>
        </p:xfrm>
        <a:graphic>
          <a:graphicData uri="http://schemas.openxmlformats.org/drawingml/2006/table">
            <a:tbl>
              <a:tblPr/>
              <a:tblGrid>
                <a:gridCol w="1450975"/>
              </a:tblGrid>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1" i="0" u="none" strike="noStrike" cap="none" normalizeH="0" baseline="0" dirty="0" err="1">
                          <a:ln>
                            <a:noFill/>
                          </a:ln>
                          <a:solidFill>
                            <a:srgbClr val="CC0000"/>
                          </a:solidFill>
                          <a:effectLst>
                            <a:outerShdw blurRad="38100" dist="38100" dir="2700000" algn="tl">
                              <a:srgbClr val="C0C0C0"/>
                            </a:outerShdw>
                          </a:effectLst>
                          <a:latin typeface="Arial" panose="020B0604020202020204" pitchFamily="34" charset="0"/>
                          <a:ea typeface="宋体" panose="02010600030101010101" pitchFamily="2" charset="-122"/>
                        </a:rPr>
                        <a:t>Sdept</a:t>
                      </a:r>
                      <a:endParaRPr kumimoji="1" lang="en-US" altLang="zh-CN" sz="2600" b="1" i="0" u="none" strike="noStrike" cap="none" normalizeH="0" baseline="0" dirty="0">
                        <a:ln>
                          <a:noFill/>
                        </a:ln>
                        <a:solidFill>
                          <a:srgbClr val="CC0000"/>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CS</a:t>
                      </a:r>
                      <a:endPar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IS</a:t>
                      </a:r>
                      <a:endPar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MA</a:t>
                      </a:r>
                      <a:endPar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PH</a:t>
                      </a:r>
                      <a:endParaRPr kumimoji="1"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99074" name="Group 34"/>
          <p:cNvGraphicFramePr>
            <a:graphicFrameLocks noGrp="1"/>
          </p:cNvGraphicFramePr>
          <p:nvPr/>
        </p:nvGraphicFramePr>
        <p:xfrm>
          <a:off x="6227763" y="996950"/>
          <a:ext cx="1450975" cy="2419352"/>
        </p:xfrm>
        <a:graphic>
          <a:graphicData uri="http://schemas.openxmlformats.org/drawingml/2006/table">
            <a:tbl>
              <a:tblPr/>
              <a:tblGrid>
                <a:gridCol w="1450975"/>
              </a:tblGrid>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Sloc</a:t>
                      </a:r>
                      <a:endPar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5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p:cNvSpPr>
            <a:spLocks noGrp="1" noChangeArrowheads="1"/>
          </p:cNvSpPr>
          <p:nvPr>
            <p:ph type="title"/>
          </p:nvPr>
        </p:nvSpPr>
        <p:spPr/>
        <p:txBody>
          <a:bodyPr/>
          <a:lstStyle/>
          <a:p>
            <a:pPr>
              <a:defRPr/>
            </a:pPr>
            <a:r>
              <a:rPr lang="zh-CN" altLang="en-US">
                <a:ea typeface="宋体" panose="02010600030101010101" pitchFamily="2" charset="-122"/>
              </a:rPr>
              <a:t>模式的分解</a:t>
            </a:r>
            <a:endParaRPr lang="zh-CN" altLang="en-US">
              <a:ea typeface="宋体" panose="02010600030101010101" pitchFamily="2" charset="-122"/>
            </a:endParaRPr>
          </a:p>
        </p:txBody>
      </p:sp>
      <p:graphicFrame>
        <p:nvGraphicFramePr>
          <p:cNvPr id="600068" name="Group 4"/>
          <p:cNvGraphicFramePr>
            <a:graphicFrameLocks noGrp="1"/>
          </p:cNvGraphicFramePr>
          <p:nvPr>
            <p:ph idx="1"/>
          </p:nvPr>
        </p:nvGraphicFramePr>
        <p:xfrm>
          <a:off x="4887913" y="881063"/>
          <a:ext cx="4105275" cy="2378076"/>
        </p:xfrm>
        <a:graphic>
          <a:graphicData uri="http://schemas.openxmlformats.org/drawingml/2006/table">
            <a:tbl>
              <a:tblPr/>
              <a:tblGrid>
                <a:gridCol w="1368425"/>
                <a:gridCol w="1368425"/>
                <a:gridCol w="1368425"/>
              </a:tblGrid>
              <a:tr h="3963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Sno</a:t>
                      </a:r>
                      <a:endPar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L="260352" marR="260352"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Sdept</a:t>
                      </a:r>
                      <a:endPar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L="260352" marR="260352"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Sloc</a:t>
                      </a:r>
                      <a:endPar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L="260352" marR="260352"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95001</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CS</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95002</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IS</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95003</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MA</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95004</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IS</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95005</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PH</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260352" marR="260352"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465" name="Rectangle 3"/>
          <p:cNvSpPr>
            <a:spLocks noGrp="1" noChangeArrowheads="1"/>
          </p:cNvSpPr>
          <p:nvPr>
            <p:ph type="body" sz="half" idx="4294967295"/>
          </p:nvPr>
        </p:nvSpPr>
        <p:spPr>
          <a:xfrm>
            <a:off x="0" y="1063625"/>
            <a:ext cx="5081588" cy="1871663"/>
          </a:xfrm>
        </p:spPr>
        <p:txBody>
          <a:bodyPr/>
          <a:lstStyle/>
          <a:p>
            <a:pPr marL="179705" lvl="1" indent="0" algn="just">
              <a:lnSpc>
                <a:spcPct val="100000"/>
              </a:lnSpc>
              <a:buFont typeface="Wingdings" panose="05000000000000000000" pitchFamily="2" charset="2"/>
              <a:buNone/>
            </a:pPr>
            <a:r>
              <a:rPr lang="en-US" altLang="zh-CN">
                <a:ea typeface="宋体" panose="02010600030101010101" pitchFamily="2" charset="-122"/>
              </a:rPr>
              <a:t>2.  SL</a:t>
            </a:r>
            <a:r>
              <a:rPr lang="zh-CN" altLang="en-US">
                <a:ea typeface="宋体" panose="02010600030101010101" pitchFamily="2" charset="-122"/>
              </a:rPr>
              <a:t>分解为下面二个关系模式：</a:t>
            </a:r>
            <a:endParaRPr lang="zh-CN" altLang="en-US">
              <a:ea typeface="宋体" panose="02010600030101010101" pitchFamily="2" charset="-122"/>
            </a:endParaRPr>
          </a:p>
          <a:p>
            <a:pPr marL="179705" lvl="1" indent="0" algn="just">
              <a:lnSpc>
                <a:spcPct val="100000"/>
              </a:lnSpc>
              <a:buFont typeface="Wingdings" panose="05000000000000000000" pitchFamily="2" charset="2"/>
              <a:buNone/>
            </a:pPr>
            <a:r>
              <a:rPr lang="zh-CN" altLang="en-US">
                <a:ea typeface="宋体" panose="02010600030101010101" pitchFamily="2" charset="-122"/>
              </a:rPr>
              <a:t>       </a:t>
            </a:r>
            <a:r>
              <a:rPr lang="en-US" altLang="zh-CN">
                <a:ea typeface="宋体" panose="02010600030101010101" pitchFamily="2" charset="-122"/>
              </a:rPr>
              <a:t>NL(Sno, Sloc)</a:t>
            </a:r>
            <a:endParaRPr lang="en-US" altLang="zh-CN">
              <a:ea typeface="宋体" panose="02010600030101010101" pitchFamily="2" charset="-122"/>
            </a:endParaRPr>
          </a:p>
          <a:p>
            <a:pPr marL="179705" lvl="1" indent="0" algn="just">
              <a:lnSpc>
                <a:spcPct val="100000"/>
              </a:lnSpc>
              <a:buFont typeface="Wingdings" panose="05000000000000000000" pitchFamily="2" charset="2"/>
              <a:buNone/>
            </a:pPr>
            <a:r>
              <a:rPr lang="en-US" altLang="zh-CN">
                <a:ea typeface="宋体" panose="02010600030101010101" pitchFamily="2" charset="-122"/>
              </a:rPr>
              <a:t>       DL(Sdept, Sloc)</a:t>
            </a:r>
            <a:endParaRPr lang="en-US" altLang="zh-CN">
              <a:ea typeface="宋体" panose="02010600030101010101" pitchFamily="2" charset="-122"/>
            </a:endParaRPr>
          </a:p>
          <a:p>
            <a:pPr marL="179705" lvl="1" indent="0" algn="just">
              <a:lnSpc>
                <a:spcPct val="100000"/>
              </a:lnSpc>
              <a:buFont typeface="Wingdings" panose="05000000000000000000" pitchFamily="2" charset="2"/>
              <a:buNone/>
            </a:pPr>
            <a:r>
              <a:rPr lang="zh-CN" altLang="en-US">
                <a:ea typeface="宋体" panose="02010600030101010101" pitchFamily="2" charset="-122"/>
              </a:rPr>
              <a:t>分解后的关系为：</a:t>
            </a:r>
            <a:endParaRPr lang="zh-CN" altLang="en-US">
              <a:ea typeface="宋体" panose="02010600030101010101" pitchFamily="2" charset="-122"/>
            </a:endParaRPr>
          </a:p>
        </p:txBody>
      </p:sp>
      <p:graphicFrame>
        <p:nvGraphicFramePr>
          <p:cNvPr id="600098" name="Group 34"/>
          <p:cNvGraphicFramePr>
            <a:graphicFrameLocks noGrp="1"/>
          </p:cNvGraphicFramePr>
          <p:nvPr/>
        </p:nvGraphicFramePr>
        <p:xfrm>
          <a:off x="592138" y="3335338"/>
          <a:ext cx="2333625" cy="2960689"/>
        </p:xfrm>
        <a:graphic>
          <a:graphicData uri="http://schemas.openxmlformats.org/drawingml/2006/table">
            <a:tbl>
              <a:tblPr/>
              <a:tblGrid>
                <a:gridCol w="1166812"/>
                <a:gridCol w="1166813"/>
              </a:tblGrid>
              <a:tr h="48766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Sno</a:t>
                      </a:r>
                      <a:endPar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Sloc</a:t>
                      </a:r>
                      <a:endPar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239">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95001</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3652">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95002</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239">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95003</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3652">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95004</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239">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95005</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00121" name="Group 57"/>
          <p:cNvGraphicFramePr>
            <a:graphicFrameLocks noGrp="1"/>
          </p:cNvGraphicFramePr>
          <p:nvPr/>
        </p:nvGraphicFramePr>
        <p:xfrm>
          <a:off x="3141663" y="3648075"/>
          <a:ext cx="2332037" cy="2466975"/>
        </p:xfrm>
        <a:graphic>
          <a:graphicData uri="http://schemas.openxmlformats.org/drawingml/2006/table">
            <a:tbl>
              <a:tblPr/>
              <a:tblGrid>
                <a:gridCol w="1165225"/>
                <a:gridCol w="1166812"/>
              </a:tblGrid>
              <a:tr h="487664">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Sdept</a:t>
                      </a:r>
                      <a:endPar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Sloc</a:t>
                      </a:r>
                      <a:endParaRPr kumimoji="1" lang="en-US" altLang="zh-CN" sz="26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224">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CS</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3637">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IS</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224">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MA</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224">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PH</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009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0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noChangeArrowheads="1"/>
          </p:cNvSpPr>
          <p:nvPr>
            <p:ph type="title"/>
          </p:nvPr>
        </p:nvSpPr>
        <p:spPr/>
        <p:txBody>
          <a:bodyPr/>
          <a:lstStyle/>
          <a:p>
            <a:pPr>
              <a:defRPr/>
            </a:pPr>
            <a:r>
              <a:rPr lang="zh-CN" altLang="en-US">
                <a:ea typeface="宋体" panose="02010600030101010101" pitchFamily="2" charset="-122"/>
              </a:rPr>
              <a:t>模式的分解</a:t>
            </a:r>
            <a:endParaRPr lang="zh-CN" altLang="en-US">
              <a:ea typeface="宋体" panose="02010600030101010101" pitchFamily="2" charset="-122"/>
            </a:endParaRPr>
          </a:p>
        </p:txBody>
      </p:sp>
      <p:sp>
        <p:nvSpPr>
          <p:cNvPr id="19459" name="Rectangle 3"/>
          <p:cNvSpPr>
            <a:spLocks noGrp="1" noChangeArrowheads="1"/>
          </p:cNvSpPr>
          <p:nvPr>
            <p:ph type="body" idx="4294967295"/>
          </p:nvPr>
        </p:nvSpPr>
        <p:spPr>
          <a:xfrm>
            <a:off x="0" y="1228725"/>
            <a:ext cx="2036763" cy="600075"/>
          </a:xfrm>
        </p:spPr>
        <p:txBody>
          <a:bodyPr/>
          <a:lstStyle/>
          <a:p>
            <a:pPr algn="just">
              <a:lnSpc>
                <a:spcPct val="90000"/>
              </a:lnSpc>
              <a:buFont typeface="Wingdings" panose="05000000000000000000" pitchFamily="2" charset="2"/>
              <a:buNone/>
            </a:pPr>
            <a:r>
              <a:rPr lang="en-US" altLang="zh-CN">
                <a:ea typeface="宋体" panose="02010600030101010101" pitchFamily="2" charset="-122"/>
              </a:rPr>
              <a:t>NL      DL</a:t>
            </a:r>
            <a:endParaRPr lang="en-US" altLang="zh-CN">
              <a:solidFill>
                <a:srgbClr val="FF66FF"/>
              </a:solidFill>
              <a:ea typeface="宋体" panose="02010600030101010101" pitchFamily="2" charset="-122"/>
            </a:endParaRPr>
          </a:p>
        </p:txBody>
      </p:sp>
      <p:sp>
        <p:nvSpPr>
          <p:cNvPr id="19460" name="AutoShape 6"/>
          <p:cNvSpPr>
            <a:spLocks noChangeArrowheads="1"/>
          </p:cNvSpPr>
          <p:nvPr/>
        </p:nvSpPr>
        <p:spPr bwMode="auto">
          <a:xfrm rot="5400000">
            <a:off x="730250" y="1308100"/>
            <a:ext cx="114300" cy="228600"/>
          </a:xfrm>
          <a:prstGeom prst="flowChartCollate">
            <a:avLst/>
          </a:prstGeom>
          <a:solidFill>
            <a:srgbClr val="FFFFFF"/>
          </a:solidFill>
          <a:ln w="9525">
            <a:solidFill>
              <a:srgbClr val="000000"/>
            </a:solidFill>
            <a:miter lim="800000"/>
          </a:ln>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20485" name="Rectangle 7"/>
          <p:cNvSpPr>
            <a:spLocks noChangeArrowheads="1"/>
          </p:cNvSpPr>
          <p:nvPr/>
        </p:nvSpPr>
        <p:spPr bwMode="auto">
          <a:xfrm>
            <a:off x="5324475" y="942975"/>
            <a:ext cx="3651250" cy="2678113"/>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kumimoji="0" lang="en-US" altLang="zh-CN" sz="2400">
                <a:ea typeface="宋体" panose="02010600030101010101" pitchFamily="2" charset="-122"/>
              </a:rPr>
              <a:t>NL   DL</a:t>
            </a:r>
            <a:r>
              <a:rPr kumimoji="0" lang="zh-CN" altLang="en-US" sz="2400">
                <a:ea typeface="宋体" panose="02010600030101010101" pitchFamily="2" charset="-122"/>
              </a:rPr>
              <a:t>比原来的</a:t>
            </a:r>
            <a:r>
              <a:rPr kumimoji="0" lang="en-US" altLang="zh-CN" sz="2400">
                <a:ea typeface="宋体" panose="02010600030101010101" pitchFamily="2" charset="-122"/>
              </a:rPr>
              <a:t>SL</a:t>
            </a:r>
            <a:r>
              <a:rPr kumimoji="0" lang="zh-CN" altLang="en-US" sz="2400">
                <a:ea typeface="宋体" panose="02010600030101010101" pitchFamily="2" charset="-122"/>
              </a:rPr>
              <a:t>关系多了</a:t>
            </a:r>
            <a:r>
              <a:rPr kumimoji="0" lang="en-US" altLang="zh-CN" sz="2400">
                <a:ea typeface="宋体" panose="02010600030101010101" pitchFamily="2" charset="-122"/>
              </a:rPr>
              <a:t>3</a:t>
            </a:r>
            <a:r>
              <a:rPr kumimoji="0" lang="zh-CN" altLang="en-US" sz="2400">
                <a:ea typeface="宋体" panose="02010600030101010101" pitchFamily="2" charset="-122"/>
              </a:rPr>
              <a:t>个元组</a:t>
            </a:r>
            <a:endParaRPr kumimoji="0" lang="zh-CN" altLang="en-US" sz="2400">
              <a:ea typeface="宋体" panose="02010600030101010101" pitchFamily="2" charset="-122"/>
            </a:endParaRPr>
          </a:p>
          <a:p>
            <a:pPr>
              <a:lnSpc>
                <a:spcPct val="100000"/>
              </a:lnSpc>
              <a:spcBef>
                <a:spcPct val="50000"/>
              </a:spcBef>
              <a:buClrTx/>
              <a:buSzTx/>
              <a:buFontTx/>
              <a:buNone/>
            </a:pPr>
            <a:r>
              <a:rPr kumimoji="0" lang="zh-CN" altLang="en-US" sz="2400">
                <a:ea typeface="宋体" panose="02010600030101010101" pitchFamily="2" charset="-122"/>
              </a:rPr>
              <a:t>无法知道</a:t>
            </a:r>
            <a:r>
              <a:rPr kumimoji="0" lang="en-US" altLang="zh-CN" sz="2400">
                <a:ea typeface="宋体" panose="02010600030101010101" pitchFamily="2" charset="-122"/>
              </a:rPr>
              <a:t>95002</a:t>
            </a:r>
            <a:r>
              <a:rPr kumimoji="0" lang="zh-CN" altLang="en-US" sz="2400">
                <a:ea typeface="宋体" panose="02010600030101010101" pitchFamily="2" charset="-122"/>
              </a:rPr>
              <a:t>、</a:t>
            </a:r>
            <a:r>
              <a:rPr kumimoji="0" lang="en-US" altLang="zh-CN" sz="2400">
                <a:ea typeface="宋体" panose="02010600030101010101" pitchFamily="2" charset="-122"/>
              </a:rPr>
              <a:t>95004</a:t>
            </a:r>
            <a:r>
              <a:rPr kumimoji="0" lang="zh-CN" altLang="en-US" sz="2400">
                <a:ea typeface="宋体" panose="02010600030101010101" pitchFamily="2" charset="-122"/>
              </a:rPr>
              <a:t>、</a:t>
            </a:r>
            <a:r>
              <a:rPr kumimoji="0" lang="en-US" altLang="zh-CN" sz="2400">
                <a:ea typeface="宋体" panose="02010600030101010101" pitchFamily="2" charset="-122"/>
              </a:rPr>
              <a:t>95005</a:t>
            </a:r>
            <a:r>
              <a:rPr kumimoji="0" lang="zh-CN" altLang="en-US" sz="2400">
                <a:ea typeface="宋体" panose="02010600030101010101" pitchFamily="2" charset="-122"/>
              </a:rPr>
              <a:t>究竟是哪个学院的学生</a:t>
            </a:r>
            <a:endParaRPr kumimoji="0" lang="zh-CN" altLang="en-US" sz="2400">
              <a:ea typeface="宋体" panose="02010600030101010101" pitchFamily="2" charset="-122"/>
            </a:endParaRPr>
          </a:p>
          <a:p>
            <a:pPr>
              <a:lnSpc>
                <a:spcPct val="100000"/>
              </a:lnSpc>
              <a:spcBef>
                <a:spcPct val="50000"/>
              </a:spcBef>
              <a:buClrTx/>
              <a:buSzTx/>
              <a:buFontTx/>
              <a:buNone/>
            </a:pPr>
            <a:r>
              <a:rPr kumimoji="0" lang="zh-CN" altLang="en-US" sz="2400">
                <a:solidFill>
                  <a:srgbClr val="CC0000"/>
                </a:solidFill>
                <a:ea typeface="宋体" panose="02010600030101010101" pitchFamily="2" charset="-122"/>
              </a:rPr>
              <a:t>元组增加了，信息丢失了</a:t>
            </a:r>
            <a:endParaRPr kumimoji="0" lang="zh-CN" altLang="en-US" sz="2400">
              <a:solidFill>
                <a:srgbClr val="CC0000"/>
              </a:solidFill>
              <a:ea typeface="宋体" panose="02010600030101010101" pitchFamily="2" charset="-122"/>
            </a:endParaRPr>
          </a:p>
        </p:txBody>
      </p:sp>
      <p:sp>
        <p:nvSpPr>
          <p:cNvPr id="20486" name="AutoShape 8"/>
          <p:cNvSpPr>
            <a:spLocks noChangeArrowheads="1"/>
          </p:cNvSpPr>
          <p:nvPr/>
        </p:nvSpPr>
        <p:spPr bwMode="auto">
          <a:xfrm rot="5400000">
            <a:off x="5849938" y="1039812"/>
            <a:ext cx="114300" cy="257175"/>
          </a:xfrm>
          <a:prstGeom prst="flowChartCollate">
            <a:avLst/>
          </a:prstGeom>
          <a:solidFill>
            <a:srgbClr val="FFFFFF">
              <a:alpha val="0"/>
            </a:srgbClr>
          </a:solidFill>
          <a:ln w="9525">
            <a:solidFill>
              <a:srgbClr val="000000"/>
            </a:solidFill>
            <a:miter lim="800000"/>
          </a:ln>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800">
              <a:ea typeface="宋体" panose="02010600030101010101" pitchFamily="2" charset="-122"/>
            </a:endParaRPr>
          </a:p>
        </p:txBody>
      </p:sp>
      <p:graphicFrame>
        <p:nvGraphicFramePr>
          <p:cNvPr id="9" name="表格 8"/>
          <p:cNvGraphicFramePr>
            <a:graphicFrameLocks noGrp="1"/>
          </p:cNvGraphicFramePr>
          <p:nvPr/>
        </p:nvGraphicFramePr>
        <p:xfrm>
          <a:off x="331788" y="1825625"/>
          <a:ext cx="4668837" cy="4214817"/>
        </p:xfrm>
        <a:graphic>
          <a:graphicData uri="http://schemas.openxmlformats.org/drawingml/2006/table">
            <a:tbl>
              <a:tblPr/>
              <a:tblGrid>
                <a:gridCol w="1555750"/>
                <a:gridCol w="1557337"/>
                <a:gridCol w="1555750"/>
              </a:tblGrid>
              <a:tr h="46831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rgbClr val="CC0000"/>
                          </a:solidFill>
                          <a:effectLst>
                            <a:outerShdw blurRad="38100" dist="38100" dir="2700000" algn="tl">
                              <a:srgbClr val="C0C0C0"/>
                            </a:outerShdw>
                          </a:effectLst>
                          <a:latin typeface="Arial" panose="020B0604020202020204" pitchFamily="34" charset="0"/>
                          <a:ea typeface="宋体" panose="02010600030101010101" pitchFamily="2" charset="-122"/>
                        </a:rPr>
                        <a:t>Sno</a:t>
                      </a:r>
                      <a:endParaRPr kumimoji="0" lang="zh-CN" altLang="en-US" sz="2400" b="1" i="0" u="none" strike="noStrike" cap="none" normalizeH="0" baseline="0">
                        <a:ln>
                          <a:noFill/>
                        </a:ln>
                        <a:solidFill>
                          <a:srgbClr val="CCECFF"/>
                        </a:solidFill>
                        <a:effectLst/>
                        <a:latin typeface="Helvetica"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rgbClr val="CC0000"/>
                          </a:solidFill>
                          <a:effectLst>
                            <a:outerShdw blurRad="38100" dist="38100" dir="2700000" algn="tl">
                              <a:srgbClr val="C0C0C0"/>
                            </a:outerShdw>
                          </a:effectLst>
                          <a:latin typeface="Arial" panose="020B0604020202020204" pitchFamily="34" charset="0"/>
                          <a:ea typeface="宋体" panose="02010600030101010101" pitchFamily="2" charset="-122"/>
                        </a:rPr>
                        <a:t>Sloc</a:t>
                      </a:r>
                      <a:endParaRPr kumimoji="0" lang="zh-CN" altLang="en-US" sz="2400" b="1" i="0" u="none" strike="noStrike" cap="none" normalizeH="0" baseline="0">
                        <a:ln>
                          <a:noFill/>
                        </a:ln>
                        <a:solidFill>
                          <a:srgbClr val="CCECFF"/>
                        </a:solidFill>
                        <a:effectLst/>
                        <a:latin typeface="Helvetica"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rgbClr val="CC0000"/>
                          </a:solidFill>
                          <a:effectLst>
                            <a:outerShdw blurRad="38100" dist="38100" dir="2700000" algn="tl">
                              <a:srgbClr val="C0C0C0"/>
                            </a:outerShdw>
                          </a:effectLst>
                          <a:latin typeface="Arial" panose="020B0604020202020204" pitchFamily="34" charset="0"/>
                          <a:ea typeface="宋体" panose="02010600030101010101" pitchFamily="2" charset="-122"/>
                        </a:rPr>
                        <a:t>Sdept</a:t>
                      </a:r>
                      <a:endParaRPr kumimoji="0" lang="zh-CN" altLang="en-US" sz="2400" b="1" i="0" u="none" strike="noStrike" cap="none" normalizeH="0" baseline="0">
                        <a:ln>
                          <a:noFill/>
                        </a:ln>
                        <a:solidFill>
                          <a:srgbClr val="CCECFF"/>
                        </a:solidFill>
                        <a:effectLst/>
                        <a:latin typeface="Helvetica"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0000"/>
                          </a:solidFill>
                          <a:effectLst/>
                          <a:latin typeface="Helvetica" panose="020B0604020202020204" pitchFamily="34" charset="0"/>
                          <a:ea typeface="宋体" panose="02010600030101010101" pitchFamily="2" charset="-122"/>
                        </a:rPr>
                        <a:t>95001</a:t>
                      </a:r>
                      <a:endParaRPr kumimoji="0" lang="en-US" altLang="zh-CN" sz="2600" b="0" i="0" u="none" strike="noStrike" cap="none" normalizeH="0" baseline="0">
                        <a:ln>
                          <a:noFill/>
                        </a:ln>
                        <a:solidFill>
                          <a:srgbClr val="000000"/>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0000"/>
                          </a:solidFill>
                          <a:effectLst/>
                          <a:latin typeface="Helvetica" panose="020B0604020202020204" pitchFamily="34" charset="0"/>
                          <a:ea typeface="宋体" panose="02010600030101010101" pitchFamily="2" charset="-122"/>
                        </a:rPr>
                        <a:t>A</a:t>
                      </a:r>
                      <a:endParaRPr kumimoji="0" lang="en-US" altLang="zh-CN" sz="2600" b="0" i="0" u="none" strike="noStrike" cap="none" normalizeH="0" baseline="0">
                        <a:ln>
                          <a:noFill/>
                        </a:ln>
                        <a:solidFill>
                          <a:srgbClr val="000000"/>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0000"/>
                          </a:solidFill>
                          <a:effectLst/>
                          <a:latin typeface="Helvetica" panose="020B0604020202020204" pitchFamily="34" charset="0"/>
                          <a:ea typeface="宋体" panose="02010600030101010101" pitchFamily="2" charset="-122"/>
                        </a:rPr>
                        <a:t>CS</a:t>
                      </a:r>
                      <a:endParaRPr kumimoji="0" lang="en-US" altLang="zh-CN" sz="2600" b="0" i="0" u="none" strike="noStrike" cap="none" normalizeH="0" baseline="0">
                        <a:ln>
                          <a:noFill/>
                        </a:ln>
                        <a:solidFill>
                          <a:srgbClr val="000000"/>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00FF"/>
                          </a:solidFill>
                          <a:effectLst/>
                          <a:latin typeface="Helvetica" panose="020B0604020202020204" pitchFamily="34" charset="0"/>
                          <a:ea typeface="宋体" panose="02010600030101010101" pitchFamily="2" charset="-122"/>
                        </a:rPr>
                        <a:t>95002</a:t>
                      </a:r>
                      <a:endParaRPr kumimoji="0" lang="en-US" altLang="zh-CN" sz="2600" b="0" i="0" u="none" strike="noStrike" cap="none" normalizeH="0" baseline="0">
                        <a:ln>
                          <a:noFill/>
                        </a:ln>
                        <a:solidFill>
                          <a:srgbClr val="0000FF"/>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00FF"/>
                          </a:solidFill>
                          <a:effectLst/>
                          <a:latin typeface="Helvetica" panose="020B0604020202020204" pitchFamily="34" charset="0"/>
                          <a:ea typeface="宋体" panose="02010600030101010101" pitchFamily="2" charset="-122"/>
                        </a:rPr>
                        <a:t>B</a:t>
                      </a:r>
                      <a:endParaRPr kumimoji="0" lang="en-US" altLang="zh-CN" sz="2600" b="0" i="0" u="none" strike="noStrike" cap="none" normalizeH="0" baseline="0">
                        <a:ln>
                          <a:noFill/>
                        </a:ln>
                        <a:solidFill>
                          <a:srgbClr val="0000FF"/>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00FF"/>
                          </a:solidFill>
                          <a:effectLst/>
                          <a:latin typeface="Helvetica" panose="020B0604020202020204" pitchFamily="34" charset="0"/>
                          <a:ea typeface="宋体" panose="02010600030101010101" pitchFamily="2" charset="-122"/>
                        </a:rPr>
                        <a:t>IS</a:t>
                      </a:r>
                      <a:endParaRPr kumimoji="0" lang="en-US" altLang="zh-CN" sz="2600" b="0" i="0" u="none" strike="noStrike" cap="none" normalizeH="0" baseline="0">
                        <a:ln>
                          <a:noFill/>
                        </a:ln>
                        <a:solidFill>
                          <a:srgbClr val="0000FF"/>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00FF"/>
                          </a:solidFill>
                          <a:effectLst/>
                          <a:latin typeface="Helvetica" panose="020B0604020202020204" pitchFamily="34" charset="0"/>
                          <a:ea typeface="宋体" panose="02010600030101010101" pitchFamily="2" charset="-122"/>
                        </a:rPr>
                        <a:t>95002</a:t>
                      </a:r>
                      <a:endParaRPr kumimoji="0" lang="en-US" altLang="zh-CN" sz="2600" b="0" i="0" u="none" strike="noStrike" cap="none" normalizeH="0" baseline="0">
                        <a:ln>
                          <a:noFill/>
                        </a:ln>
                        <a:solidFill>
                          <a:srgbClr val="0000FF"/>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00FF"/>
                          </a:solidFill>
                          <a:effectLst/>
                          <a:latin typeface="Helvetica" panose="020B0604020202020204" pitchFamily="34" charset="0"/>
                          <a:ea typeface="宋体" panose="02010600030101010101" pitchFamily="2" charset="-122"/>
                        </a:rPr>
                        <a:t>B</a:t>
                      </a:r>
                      <a:endParaRPr kumimoji="0" lang="en-US" altLang="zh-CN" sz="2600" b="0" i="0" u="none" strike="noStrike" cap="none" normalizeH="0" baseline="0">
                        <a:ln>
                          <a:noFill/>
                        </a:ln>
                        <a:solidFill>
                          <a:srgbClr val="0000FF"/>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00FF"/>
                          </a:solidFill>
                          <a:effectLst/>
                          <a:latin typeface="Helvetica" panose="020B0604020202020204" pitchFamily="34" charset="0"/>
                          <a:ea typeface="宋体" panose="02010600030101010101" pitchFamily="2" charset="-122"/>
                        </a:rPr>
                        <a:t>PH</a:t>
                      </a:r>
                      <a:endParaRPr kumimoji="0" lang="en-US" altLang="zh-CN" sz="2600" b="0" i="0" u="none" strike="noStrike" cap="none" normalizeH="0" baseline="0">
                        <a:ln>
                          <a:noFill/>
                        </a:ln>
                        <a:solidFill>
                          <a:srgbClr val="0000FF"/>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0000"/>
                          </a:solidFill>
                          <a:effectLst/>
                          <a:latin typeface="Helvetica" panose="020B0604020202020204" pitchFamily="34" charset="0"/>
                          <a:ea typeface="宋体" panose="02010600030101010101" pitchFamily="2" charset="-122"/>
                        </a:rPr>
                        <a:t>95003</a:t>
                      </a:r>
                      <a:endParaRPr kumimoji="0" lang="en-US" altLang="zh-CN" sz="2600" b="0" i="0" u="none" strike="noStrike" cap="none" normalizeH="0" baseline="0">
                        <a:ln>
                          <a:noFill/>
                        </a:ln>
                        <a:solidFill>
                          <a:srgbClr val="000000"/>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0000"/>
                          </a:solidFill>
                          <a:effectLst/>
                          <a:latin typeface="Helvetica" panose="020B0604020202020204" pitchFamily="34" charset="0"/>
                          <a:ea typeface="宋体" panose="02010600030101010101" pitchFamily="2" charset="-122"/>
                        </a:rPr>
                        <a:t>C</a:t>
                      </a:r>
                      <a:endParaRPr kumimoji="0" lang="en-US" altLang="zh-CN" sz="2600" b="0" i="0" u="none" strike="noStrike" cap="none" normalizeH="0" baseline="0">
                        <a:ln>
                          <a:noFill/>
                        </a:ln>
                        <a:solidFill>
                          <a:srgbClr val="000000"/>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0000"/>
                          </a:solidFill>
                          <a:effectLst/>
                          <a:latin typeface="Helvetica" panose="020B0604020202020204" pitchFamily="34" charset="0"/>
                          <a:ea typeface="宋体" panose="02010600030101010101" pitchFamily="2" charset="-122"/>
                        </a:rPr>
                        <a:t>MA</a:t>
                      </a:r>
                      <a:endParaRPr kumimoji="0" lang="en-US" altLang="zh-CN" sz="2600" b="0" i="0" u="none" strike="noStrike" cap="none" normalizeH="0" baseline="0">
                        <a:ln>
                          <a:noFill/>
                        </a:ln>
                        <a:solidFill>
                          <a:srgbClr val="000000"/>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B050"/>
                          </a:solidFill>
                          <a:effectLst/>
                          <a:latin typeface="Helvetica" panose="020B0604020202020204" pitchFamily="34" charset="0"/>
                          <a:ea typeface="宋体" panose="02010600030101010101" pitchFamily="2" charset="-122"/>
                        </a:rPr>
                        <a:t>95004</a:t>
                      </a:r>
                      <a:endParaRPr kumimoji="0" lang="en-US" altLang="zh-CN" sz="2600" b="0" i="0" u="none" strike="noStrike" cap="none" normalizeH="0" baseline="0">
                        <a:ln>
                          <a:noFill/>
                        </a:ln>
                        <a:solidFill>
                          <a:srgbClr val="00B050"/>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B050"/>
                          </a:solidFill>
                          <a:effectLst/>
                          <a:latin typeface="Helvetica" panose="020B0604020202020204" pitchFamily="34" charset="0"/>
                          <a:ea typeface="宋体" panose="02010600030101010101" pitchFamily="2" charset="-122"/>
                        </a:rPr>
                        <a:t>B</a:t>
                      </a:r>
                      <a:endParaRPr kumimoji="0" lang="en-US" altLang="zh-CN" sz="2600" b="0" i="0" u="none" strike="noStrike" cap="none" normalizeH="0" baseline="0">
                        <a:ln>
                          <a:noFill/>
                        </a:ln>
                        <a:solidFill>
                          <a:srgbClr val="00B050"/>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B050"/>
                          </a:solidFill>
                          <a:effectLst/>
                          <a:latin typeface="Helvetica" panose="020B0604020202020204" pitchFamily="34" charset="0"/>
                          <a:ea typeface="宋体" panose="02010600030101010101" pitchFamily="2" charset="-122"/>
                        </a:rPr>
                        <a:t>IS</a:t>
                      </a:r>
                      <a:endParaRPr kumimoji="0" lang="en-US" altLang="zh-CN" sz="2600" b="0" i="0" u="none" strike="noStrike" cap="none" normalizeH="0" baseline="0">
                        <a:ln>
                          <a:noFill/>
                        </a:ln>
                        <a:solidFill>
                          <a:srgbClr val="00B050"/>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B050"/>
                          </a:solidFill>
                          <a:effectLst/>
                          <a:latin typeface="Helvetica" panose="020B0604020202020204" pitchFamily="34" charset="0"/>
                          <a:ea typeface="宋体" panose="02010600030101010101" pitchFamily="2" charset="-122"/>
                        </a:rPr>
                        <a:t>95004</a:t>
                      </a:r>
                      <a:endParaRPr kumimoji="0" lang="en-US" altLang="zh-CN" sz="2600" b="0" i="0" u="none" strike="noStrike" cap="none" normalizeH="0" baseline="0">
                        <a:ln>
                          <a:noFill/>
                        </a:ln>
                        <a:solidFill>
                          <a:srgbClr val="00B050"/>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B050"/>
                          </a:solidFill>
                          <a:effectLst/>
                          <a:latin typeface="Helvetica" panose="020B0604020202020204" pitchFamily="34" charset="0"/>
                          <a:ea typeface="宋体" panose="02010600030101010101" pitchFamily="2" charset="-122"/>
                        </a:rPr>
                        <a:t>B</a:t>
                      </a:r>
                      <a:endParaRPr kumimoji="0" lang="en-US" altLang="zh-CN" sz="2600" b="0" i="0" u="none" strike="noStrike" cap="none" normalizeH="0" baseline="0">
                        <a:ln>
                          <a:noFill/>
                        </a:ln>
                        <a:solidFill>
                          <a:srgbClr val="00B050"/>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00B050"/>
                          </a:solidFill>
                          <a:effectLst/>
                          <a:latin typeface="Helvetica" panose="020B0604020202020204" pitchFamily="34" charset="0"/>
                          <a:ea typeface="宋体" panose="02010600030101010101" pitchFamily="2" charset="-122"/>
                        </a:rPr>
                        <a:t>PH</a:t>
                      </a:r>
                      <a:endParaRPr kumimoji="0" lang="en-US" altLang="zh-CN" sz="2600" b="0" i="0" u="none" strike="noStrike" cap="none" normalizeH="0" baseline="0">
                        <a:ln>
                          <a:noFill/>
                        </a:ln>
                        <a:solidFill>
                          <a:srgbClr val="00B050"/>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FF7547"/>
                          </a:solidFill>
                          <a:effectLst/>
                          <a:latin typeface="Helvetica" panose="020B0604020202020204" pitchFamily="34" charset="0"/>
                          <a:ea typeface="宋体" panose="02010600030101010101" pitchFamily="2" charset="-122"/>
                        </a:rPr>
                        <a:t>95005</a:t>
                      </a:r>
                      <a:endParaRPr kumimoji="0" lang="en-US" altLang="zh-CN" sz="2600" b="0" i="0" u="none" strike="noStrike" cap="none" normalizeH="0" baseline="0">
                        <a:ln>
                          <a:noFill/>
                        </a:ln>
                        <a:solidFill>
                          <a:srgbClr val="FF7547"/>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FF7547"/>
                          </a:solidFill>
                          <a:effectLst/>
                          <a:latin typeface="Helvetica" panose="020B0604020202020204" pitchFamily="34" charset="0"/>
                          <a:ea typeface="宋体" panose="02010600030101010101" pitchFamily="2" charset="-122"/>
                        </a:rPr>
                        <a:t>B</a:t>
                      </a:r>
                      <a:endParaRPr kumimoji="0" lang="en-US" altLang="zh-CN" sz="2600" b="0" i="0" u="none" strike="noStrike" cap="none" normalizeH="0" baseline="0">
                        <a:ln>
                          <a:noFill/>
                        </a:ln>
                        <a:solidFill>
                          <a:srgbClr val="FF7547"/>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FF7547"/>
                          </a:solidFill>
                          <a:effectLst/>
                          <a:latin typeface="Helvetica" panose="020B0604020202020204" pitchFamily="34" charset="0"/>
                          <a:ea typeface="宋体" panose="02010600030101010101" pitchFamily="2" charset="-122"/>
                        </a:rPr>
                        <a:t>IS</a:t>
                      </a:r>
                      <a:endParaRPr kumimoji="0" lang="en-US" altLang="zh-CN" sz="2600" b="0" i="0" u="none" strike="noStrike" cap="none" normalizeH="0" baseline="0">
                        <a:ln>
                          <a:noFill/>
                        </a:ln>
                        <a:solidFill>
                          <a:srgbClr val="FF7547"/>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468313">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FF7547"/>
                          </a:solidFill>
                          <a:effectLst/>
                          <a:latin typeface="Helvetica" panose="020B0604020202020204" pitchFamily="34" charset="0"/>
                          <a:ea typeface="宋体" panose="02010600030101010101" pitchFamily="2" charset="-122"/>
                        </a:rPr>
                        <a:t>95005</a:t>
                      </a:r>
                      <a:endParaRPr kumimoji="0" lang="en-US" altLang="zh-CN" sz="2600" b="0" i="0" u="none" strike="noStrike" cap="none" normalizeH="0" baseline="0">
                        <a:ln>
                          <a:noFill/>
                        </a:ln>
                        <a:solidFill>
                          <a:srgbClr val="FF7547"/>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FF7547"/>
                          </a:solidFill>
                          <a:effectLst/>
                          <a:latin typeface="Helvetica" panose="020B0604020202020204" pitchFamily="34" charset="0"/>
                          <a:ea typeface="宋体" panose="02010600030101010101" pitchFamily="2" charset="-122"/>
                        </a:rPr>
                        <a:t>B</a:t>
                      </a:r>
                      <a:endParaRPr kumimoji="0" lang="en-US" altLang="zh-CN" sz="2600" b="0" i="0" u="none" strike="noStrike" cap="none" normalizeH="0" baseline="0">
                        <a:ln>
                          <a:noFill/>
                        </a:ln>
                        <a:solidFill>
                          <a:srgbClr val="FF7547"/>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600" b="0" i="0" u="none" strike="noStrike" cap="none" normalizeH="0" baseline="0">
                          <a:ln>
                            <a:noFill/>
                          </a:ln>
                          <a:solidFill>
                            <a:srgbClr val="FF7547"/>
                          </a:solidFill>
                          <a:effectLst/>
                          <a:latin typeface="Helvetica" panose="020B0604020202020204" pitchFamily="34" charset="0"/>
                          <a:ea typeface="宋体" panose="02010600030101010101" pitchFamily="2" charset="-122"/>
                        </a:rPr>
                        <a:t>PH</a:t>
                      </a:r>
                      <a:endParaRPr kumimoji="0" lang="en-US" altLang="zh-CN" sz="2600" b="0" i="0" u="none" strike="noStrike" cap="none" normalizeH="0" baseline="0">
                        <a:ln>
                          <a:noFill/>
                        </a:ln>
                        <a:solidFill>
                          <a:srgbClr val="FF7547"/>
                        </a:solidFill>
                        <a:effectLst/>
                        <a:latin typeface="Helvetica" panose="020B0604020202020204" pitchFamily="34" charset="0"/>
                        <a:ea typeface="宋体" panose="02010600030101010101" pitchFamily="2" charset="-122"/>
                      </a:endParaRPr>
                    </a:p>
                  </a:txBody>
                  <a:tcPr marL="7620" marR="7620" marT="762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animBg="1"/>
      <p:bldP spid="2048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title"/>
          </p:nvPr>
        </p:nvSpPr>
        <p:spPr/>
        <p:txBody>
          <a:bodyPr/>
          <a:lstStyle/>
          <a:p>
            <a:pPr>
              <a:defRPr/>
            </a:pPr>
            <a:r>
              <a:rPr lang="zh-CN" altLang="en-US">
                <a:ea typeface="宋体" panose="02010600030101010101" pitchFamily="2" charset="-122"/>
              </a:rPr>
              <a:t>模式的分解</a:t>
            </a:r>
            <a:endParaRPr lang="zh-CN" altLang="en-US">
              <a:ea typeface="宋体" panose="02010600030101010101" pitchFamily="2" charset="-122"/>
            </a:endParaRPr>
          </a:p>
        </p:txBody>
      </p:sp>
      <p:sp>
        <p:nvSpPr>
          <p:cNvPr id="20483" name="Rectangle 3"/>
          <p:cNvSpPr>
            <a:spLocks noGrp="1" noChangeArrowheads="1"/>
          </p:cNvSpPr>
          <p:nvPr>
            <p:ph type="body" sz="half" idx="4294967295"/>
          </p:nvPr>
        </p:nvSpPr>
        <p:spPr>
          <a:xfrm>
            <a:off x="312738" y="866775"/>
            <a:ext cx="5451475" cy="1871663"/>
          </a:xfrm>
        </p:spPr>
        <p:txBody>
          <a:bodyPr/>
          <a:lstStyle/>
          <a:p>
            <a:pPr marL="179705" lvl="1" indent="0">
              <a:lnSpc>
                <a:spcPct val="90000"/>
              </a:lnSpc>
              <a:buFont typeface="Wingdings" panose="05000000000000000000" pitchFamily="2" charset="2"/>
              <a:buNone/>
            </a:pPr>
            <a:r>
              <a:rPr lang="en-US" altLang="zh-CN" sz="2500">
                <a:ea typeface="宋体" panose="02010600030101010101" pitchFamily="2" charset="-122"/>
              </a:rPr>
              <a:t>3. </a:t>
            </a:r>
            <a:r>
              <a:rPr lang="zh-CN" altLang="en-US" sz="2500">
                <a:ea typeface="宋体" panose="02010600030101010101" pitchFamily="2" charset="-122"/>
              </a:rPr>
              <a:t>将</a:t>
            </a:r>
            <a:r>
              <a:rPr lang="en-US" altLang="zh-CN" sz="2500">
                <a:ea typeface="宋体" panose="02010600030101010101" pitchFamily="2" charset="-122"/>
              </a:rPr>
              <a:t>SL</a:t>
            </a:r>
            <a:r>
              <a:rPr lang="zh-CN" altLang="en-US" sz="2500">
                <a:ea typeface="宋体" panose="02010600030101010101" pitchFamily="2" charset="-122"/>
              </a:rPr>
              <a:t>分解为下面二个关系模式：</a:t>
            </a:r>
            <a:endParaRPr lang="zh-CN" altLang="en-US" sz="2500">
              <a:ea typeface="宋体" panose="02010600030101010101" pitchFamily="2" charset="-122"/>
            </a:endParaRPr>
          </a:p>
          <a:p>
            <a:pPr marL="0" indent="0">
              <a:lnSpc>
                <a:spcPct val="90000"/>
              </a:lnSpc>
              <a:buFont typeface="Wingdings" panose="05000000000000000000" pitchFamily="2" charset="2"/>
              <a:buNone/>
            </a:pPr>
            <a:r>
              <a:rPr lang="zh-CN" altLang="en-US" sz="2400">
                <a:ea typeface="宋体" panose="02010600030101010101" pitchFamily="2" charset="-122"/>
              </a:rPr>
              <a:t>               </a:t>
            </a:r>
            <a:r>
              <a:rPr lang="en-US" altLang="zh-CN" sz="2400">
                <a:ea typeface="宋体" panose="02010600030101010101" pitchFamily="2" charset="-122"/>
              </a:rPr>
              <a:t>ND(Sno, Sdept)</a:t>
            </a:r>
            <a:endParaRPr lang="en-US" altLang="zh-CN" sz="2400">
              <a:ea typeface="宋体" panose="02010600030101010101" pitchFamily="2" charset="-122"/>
            </a:endParaRPr>
          </a:p>
          <a:p>
            <a:pPr marL="0" indent="0">
              <a:lnSpc>
                <a:spcPct val="90000"/>
              </a:lnSpc>
              <a:buFont typeface="Wingdings" panose="05000000000000000000" pitchFamily="2" charset="2"/>
              <a:buNone/>
            </a:pPr>
            <a:r>
              <a:rPr lang="en-US" altLang="zh-CN" sz="2400">
                <a:ea typeface="宋体" panose="02010600030101010101" pitchFamily="2" charset="-122"/>
              </a:rPr>
              <a:t>               NL(Sno, Sloc)</a:t>
            </a:r>
            <a:endParaRPr lang="en-US" altLang="zh-CN" sz="2400">
              <a:ea typeface="宋体" panose="02010600030101010101" pitchFamily="2" charset="-122"/>
            </a:endParaRPr>
          </a:p>
          <a:p>
            <a:pPr marL="0" indent="0">
              <a:lnSpc>
                <a:spcPct val="90000"/>
              </a:lnSpc>
              <a:buFont typeface="Wingdings" panose="05000000000000000000" pitchFamily="2" charset="2"/>
              <a:buNone/>
            </a:pPr>
            <a:r>
              <a:rPr lang="en-US" altLang="zh-CN" sz="2400">
                <a:ea typeface="宋体" panose="02010600030101010101" pitchFamily="2" charset="-122"/>
              </a:rPr>
              <a:t>    </a:t>
            </a:r>
            <a:r>
              <a:rPr lang="zh-CN" altLang="en-US" sz="2400">
                <a:ea typeface="宋体" panose="02010600030101010101" pitchFamily="2" charset="-122"/>
              </a:rPr>
              <a:t>分解后的关系为：</a:t>
            </a:r>
            <a:endParaRPr lang="zh-CN" altLang="en-US" sz="2400">
              <a:ea typeface="宋体" panose="02010600030101010101" pitchFamily="2" charset="-122"/>
            </a:endParaRPr>
          </a:p>
        </p:txBody>
      </p:sp>
      <p:graphicFrame>
        <p:nvGraphicFramePr>
          <p:cNvPr id="602194" name="Group 82"/>
          <p:cNvGraphicFramePr>
            <a:graphicFrameLocks noGrp="1"/>
          </p:cNvGraphicFramePr>
          <p:nvPr>
            <p:ph sz="half" idx="4294967295"/>
          </p:nvPr>
        </p:nvGraphicFramePr>
        <p:xfrm>
          <a:off x="5934075" y="260350"/>
          <a:ext cx="3024188" cy="2378076"/>
        </p:xfrm>
        <a:graphic>
          <a:graphicData uri="http://schemas.openxmlformats.org/drawingml/2006/table">
            <a:tbl>
              <a:tblPr/>
              <a:tblGrid>
                <a:gridCol w="1008063"/>
                <a:gridCol w="1008062"/>
                <a:gridCol w="1008063"/>
              </a:tblGrid>
              <a:tr h="3963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Sno</a:t>
                      </a:r>
                      <a:endPar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Sdept</a:t>
                      </a:r>
                      <a:endPar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Sloc</a:t>
                      </a:r>
                      <a:endPar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95001</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CS</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95002</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IS</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95003</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MA</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95004</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IS</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95005</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PH</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02116" name="Group 4"/>
          <p:cNvGraphicFramePr>
            <a:graphicFrameLocks noGrp="1"/>
          </p:cNvGraphicFramePr>
          <p:nvPr/>
        </p:nvGraphicFramePr>
        <p:xfrm>
          <a:off x="336550" y="3079750"/>
          <a:ext cx="2333625" cy="2952751"/>
        </p:xfrm>
        <a:graphic>
          <a:graphicData uri="http://schemas.openxmlformats.org/drawingml/2006/table">
            <a:tbl>
              <a:tblPr/>
              <a:tblGrid>
                <a:gridCol w="1166812"/>
                <a:gridCol w="1166813"/>
              </a:tblGrid>
              <a:tr h="4794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dirty="0" err="1">
                          <a:ln>
                            <a:noFill/>
                          </a:ln>
                          <a:solidFill>
                            <a:srgbClr val="CC0000"/>
                          </a:solidFill>
                          <a:effectLst>
                            <a:outerShdw blurRad="38100" dist="38100" dir="2700000" algn="tl">
                              <a:srgbClr val="C0C0C0"/>
                            </a:outerShdw>
                          </a:effectLst>
                          <a:latin typeface="Arial" panose="020B0604020202020204" pitchFamily="34" charset="0"/>
                          <a:ea typeface="宋体" panose="02010600030101010101" pitchFamily="2" charset="-122"/>
                        </a:rPr>
                        <a:t>Sno</a:t>
                      </a:r>
                      <a:endParaRPr kumimoji="1" lang="en-US" altLang="zh-CN" sz="2000" b="1" i="0" u="none" strike="noStrike" cap="none" normalizeH="0" baseline="0" dirty="0">
                        <a:ln>
                          <a:noFill/>
                        </a:ln>
                        <a:solidFill>
                          <a:srgbClr val="CC0000"/>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dirty="0" err="1">
                          <a:ln>
                            <a:noFill/>
                          </a:ln>
                          <a:solidFill>
                            <a:srgbClr val="CC0000"/>
                          </a:solidFill>
                          <a:effectLst>
                            <a:outerShdw blurRad="38100" dist="38100" dir="2700000" algn="tl">
                              <a:srgbClr val="C0C0C0"/>
                            </a:outerShdw>
                          </a:effectLst>
                          <a:latin typeface="Arial" panose="020B0604020202020204" pitchFamily="34" charset="0"/>
                          <a:ea typeface="宋体" panose="02010600030101010101" pitchFamily="2" charset="-122"/>
                        </a:rPr>
                        <a:t>Sdept</a:t>
                      </a:r>
                      <a:endParaRPr kumimoji="1" lang="en-US" altLang="zh-CN" sz="2000" b="1" i="0" u="none" strike="noStrike" cap="none" normalizeH="0" baseline="0" dirty="0">
                        <a:ln>
                          <a:noFill/>
                        </a:ln>
                        <a:solidFill>
                          <a:srgbClr val="CC0000"/>
                        </a:solidFill>
                        <a:effectLst>
                          <a:outerShdw blurRad="38100" dist="38100" dir="2700000" algn="tl">
                            <a:srgbClr val="C0C0C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95001</a:t>
                      </a:r>
                      <a:endPar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CS</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37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95002</a:t>
                      </a:r>
                      <a:endPar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IS</a:t>
                      </a:r>
                      <a:endPar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95003</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MA</a:t>
                      </a:r>
                      <a:endPar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37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95004</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IS</a:t>
                      </a:r>
                      <a:endPar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95005</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PH</a:t>
                      </a:r>
                      <a:endParaRPr kumimoji="1"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02139" name="Group 27"/>
          <p:cNvGraphicFramePr>
            <a:graphicFrameLocks noGrp="1"/>
          </p:cNvGraphicFramePr>
          <p:nvPr/>
        </p:nvGraphicFramePr>
        <p:xfrm>
          <a:off x="3216275" y="3079750"/>
          <a:ext cx="2333625" cy="2952751"/>
        </p:xfrm>
        <a:graphic>
          <a:graphicData uri="http://schemas.openxmlformats.org/drawingml/2006/table">
            <a:tbl>
              <a:tblPr/>
              <a:tblGrid>
                <a:gridCol w="1166813"/>
                <a:gridCol w="1166812"/>
              </a:tblGrid>
              <a:tr h="4794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Sno</a:t>
                      </a:r>
                      <a:endPar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Sloc</a:t>
                      </a:r>
                      <a:endPar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95001</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37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95002</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95003</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37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95004</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95005</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02162" name="AutoShape 50"/>
          <p:cNvSpPr>
            <a:spLocks noChangeArrowheads="1"/>
          </p:cNvSpPr>
          <p:nvPr/>
        </p:nvSpPr>
        <p:spPr bwMode="auto">
          <a:xfrm rot="5400000">
            <a:off x="2747963" y="4413250"/>
            <a:ext cx="360362" cy="287338"/>
          </a:xfrm>
          <a:prstGeom prst="flowChartCollate">
            <a:avLst/>
          </a:prstGeom>
          <a:solidFill>
            <a:srgbClr val="FFFFFF"/>
          </a:solidFill>
          <a:ln w="9525">
            <a:solidFill>
              <a:srgbClr val="000000"/>
            </a:solidFill>
            <a:miter lim="800000"/>
          </a:ln>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2000">
              <a:ea typeface="宋体" panose="02010600030101010101" pitchFamily="2" charset="-122"/>
            </a:endParaRPr>
          </a:p>
        </p:txBody>
      </p:sp>
      <p:sp>
        <p:nvSpPr>
          <p:cNvPr id="602163" name="Rectangle 51"/>
          <p:cNvSpPr>
            <a:spLocks noChangeArrowheads="1"/>
          </p:cNvSpPr>
          <p:nvPr/>
        </p:nvSpPr>
        <p:spPr bwMode="auto">
          <a:xfrm>
            <a:off x="5519738" y="4160838"/>
            <a:ext cx="438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kumimoji="0" lang="en-US" altLang="zh-CN" sz="2000">
                <a:ea typeface="宋体" panose="02010600030101010101" pitchFamily="2" charset="-122"/>
                <a:sym typeface="Symbol" panose="05050102010706020507" pitchFamily="18" charset="2"/>
              </a:rPr>
              <a:t></a:t>
            </a:r>
            <a:endParaRPr kumimoji="0" lang="en-US" altLang="zh-CN" sz="2000">
              <a:ea typeface="宋体" panose="02010600030101010101" pitchFamily="2" charset="-122"/>
              <a:sym typeface="Symbol" panose="05050102010706020507" pitchFamily="18" charset="2"/>
            </a:endParaRPr>
          </a:p>
        </p:txBody>
      </p:sp>
      <p:graphicFrame>
        <p:nvGraphicFramePr>
          <p:cNvPr id="602164" name="Group 52"/>
          <p:cNvGraphicFramePr>
            <a:graphicFrameLocks noGrp="1"/>
          </p:cNvGraphicFramePr>
          <p:nvPr/>
        </p:nvGraphicFramePr>
        <p:xfrm>
          <a:off x="6061075" y="3079750"/>
          <a:ext cx="2897188" cy="2952750"/>
        </p:xfrm>
        <a:graphic>
          <a:graphicData uri="http://schemas.openxmlformats.org/drawingml/2006/table">
            <a:tbl>
              <a:tblPr/>
              <a:tblGrid>
                <a:gridCol w="966788"/>
                <a:gridCol w="963612"/>
                <a:gridCol w="966788"/>
              </a:tblGrid>
              <a:tr h="4921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Sno</a:t>
                      </a:r>
                      <a:endPar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Sdept</a:t>
                      </a:r>
                      <a:endPar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rPr>
                        <a:t>Sloc</a:t>
                      </a:r>
                      <a:endParaRPr kumimoji="1" lang="en-US" altLang="zh-CN" sz="2000" b="1" i="0" u="none" strike="noStrike" cap="none" normalizeH="0" baseline="0">
                        <a:ln>
                          <a:noFill/>
                        </a:ln>
                        <a:solidFill>
                          <a:srgbClr val="CC0000"/>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21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95001</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CS</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21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95002</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IS</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21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95003</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MA</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21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95004</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IS</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21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95005</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PH</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02224" name="Rectangle 112"/>
          <p:cNvSpPr>
            <a:spLocks noChangeArrowheads="1"/>
          </p:cNvSpPr>
          <p:nvPr/>
        </p:nvSpPr>
        <p:spPr bwMode="auto">
          <a:xfrm>
            <a:off x="6169025" y="2719388"/>
            <a:ext cx="2232025" cy="400050"/>
          </a:xfrm>
          <a:prstGeom prst="rect">
            <a:avLst/>
          </a:prstGeom>
          <a:noFill/>
          <a:ln w="9525">
            <a:noFill/>
            <a:miter lim="800000"/>
          </a:ln>
          <a:effectLst/>
        </p:spPr>
        <p:txBody>
          <a:bodyPr>
            <a:spAutoFit/>
          </a:bodyPr>
          <a:lstStyle/>
          <a:p>
            <a:pPr>
              <a:defRPr/>
            </a:pPr>
            <a:r>
              <a:rPr lang="zh-CN" altLang="en-US" sz="2000">
                <a:solidFill>
                  <a:srgbClr val="FF3300"/>
                </a:solidFill>
                <a:effectLst>
                  <a:outerShdw blurRad="38100" dist="38100" dir="2700000" algn="tl">
                    <a:srgbClr val="000000"/>
                  </a:outerShdw>
                </a:effectLst>
                <a:ea typeface="宋体" panose="02010600030101010101" pitchFamily="2" charset="-122"/>
              </a:rPr>
              <a:t>信息没有丢失</a:t>
            </a:r>
            <a:endParaRPr lang="zh-CN" altLang="en-US" sz="2000">
              <a:solidFill>
                <a:srgbClr val="FF3300"/>
              </a:solidFill>
              <a:effectLst>
                <a:outerShdw blurRad="38100" dist="38100" dir="2700000" algn="tl">
                  <a:srgbClr val="000000"/>
                </a:outerShdw>
              </a:effectLst>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21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21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0216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022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2162" grpId="0" animBg="1"/>
      <p:bldP spid="602163" grpId="0"/>
      <p:bldP spid="6022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ChangeArrowheads="1"/>
          </p:cNvSpPr>
          <p:nvPr>
            <p:ph type="title"/>
          </p:nvPr>
        </p:nvSpPr>
        <p:spPr/>
        <p:txBody>
          <a:bodyPr/>
          <a:lstStyle/>
          <a:p>
            <a:pPr>
              <a:defRPr/>
            </a:pPr>
            <a:r>
              <a:rPr lang="zh-CN" altLang="en-US">
                <a:ea typeface="宋体" panose="02010600030101010101" pitchFamily="2" charset="-122"/>
              </a:rPr>
              <a:t>关系模式分解的标准</a:t>
            </a:r>
            <a:endParaRPr lang="zh-CN" altLang="en-US">
              <a:ea typeface="宋体" panose="02010600030101010101" pitchFamily="2" charset="-122"/>
            </a:endParaRPr>
          </a:p>
        </p:txBody>
      </p:sp>
      <p:sp>
        <p:nvSpPr>
          <p:cNvPr id="21507" name="Rectangle 3"/>
          <p:cNvSpPr>
            <a:spLocks noGrp="1" noChangeArrowheads="1"/>
          </p:cNvSpPr>
          <p:nvPr>
            <p:ph idx="1"/>
          </p:nvPr>
        </p:nvSpPr>
        <p:spPr/>
        <p:txBody>
          <a:bodyPr/>
          <a:lstStyle/>
          <a:p>
            <a:pPr>
              <a:buFont typeface="Wingdings" panose="05000000000000000000" pitchFamily="2" charset="2"/>
              <a:buNone/>
            </a:pPr>
            <a:r>
              <a:rPr lang="zh-CN" altLang="en-US">
                <a:ea typeface="宋体" panose="02010600030101010101" pitchFamily="2" charset="-122"/>
              </a:rPr>
              <a:t>三种模式分解的等价定义</a:t>
            </a:r>
            <a:endParaRPr lang="zh-CN" altLang="en-US">
              <a:ea typeface="宋体" panose="02010600030101010101" pitchFamily="2" charset="-122"/>
            </a:endParaRPr>
          </a:p>
          <a:p>
            <a:pPr>
              <a:buFont typeface="Wingdings" panose="05000000000000000000" pitchFamily="2" charset="2"/>
              <a:buNone/>
            </a:pPr>
            <a:endParaRPr lang="zh-CN" altLang="en-US">
              <a:ea typeface="宋体" panose="02010600030101010101" pitchFamily="2" charset="-122"/>
            </a:endParaRPr>
          </a:p>
          <a:p>
            <a:pPr>
              <a:buFont typeface="Wingdings" panose="05000000000000000000" pitchFamily="2" charset="2"/>
              <a:buNone/>
            </a:pPr>
            <a:r>
              <a:rPr lang="zh-CN" altLang="en-US">
                <a:ea typeface="宋体" panose="02010600030101010101" pitchFamily="2" charset="-122"/>
              </a:rPr>
              <a:t>⒈ 分解具有无损连接性</a:t>
            </a:r>
            <a:endParaRPr lang="zh-CN" altLang="en-US">
              <a:ea typeface="宋体" panose="02010600030101010101" pitchFamily="2" charset="-122"/>
            </a:endParaRPr>
          </a:p>
          <a:p>
            <a:pPr>
              <a:lnSpc>
                <a:spcPct val="190000"/>
              </a:lnSpc>
              <a:buFont typeface="Wingdings" panose="05000000000000000000" pitchFamily="2" charset="2"/>
              <a:buNone/>
            </a:pPr>
            <a:r>
              <a:rPr lang="zh-CN" altLang="en-US">
                <a:ea typeface="宋体" panose="02010600030101010101" pitchFamily="2" charset="-122"/>
              </a:rPr>
              <a:t>⒉ 分解要保持函数依赖</a:t>
            </a:r>
            <a:endParaRPr lang="zh-CN" altLang="en-US">
              <a:ea typeface="宋体" panose="02010600030101010101" pitchFamily="2" charset="-122"/>
            </a:endParaRPr>
          </a:p>
          <a:p>
            <a:pPr>
              <a:lnSpc>
                <a:spcPct val="190000"/>
              </a:lnSpc>
              <a:buFont typeface="Wingdings" panose="05000000000000000000" pitchFamily="2" charset="2"/>
              <a:buNone/>
            </a:pPr>
            <a:r>
              <a:rPr lang="zh-CN" altLang="en-US">
                <a:ea typeface="宋体" panose="02010600030101010101" pitchFamily="2" charset="-122"/>
              </a:rPr>
              <a:t>⒊ 分解既要保持函数依赖，又要具有无损连接性</a:t>
            </a:r>
            <a:endParaRPr lang="zh-CN" altLang="en-US">
              <a:ea typeface="宋体" panose="02010600030101010101" pitchFamily="2"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Grp="1" noChangeArrowheads="1"/>
          </p:cNvSpPr>
          <p:nvPr>
            <p:ph type="title"/>
          </p:nvPr>
        </p:nvSpPr>
        <p:spPr>
          <a:xfrm>
            <a:off x="395288" y="260350"/>
            <a:ext cx="8229600" cy="558800"/>
          </a:xfrm>
        </p:spPr>
        <p:txBody>
          <a:bodyPr>
            <a:normAutofit fontScale="90000"/>
          </a:bodyPr>
          <a:lstStyle/>
          <a:p>
            <a:pPr>
              <a:defRPr/>
            </a:pPr>
            <a:r>
              <a:rPr lang="zh-CN" altLang="en-US" sz="3400">
                <a:ea typeface="宋体" panose="02010600030101010101" pitchFamily="2" charset="-122"/>
              </a:rPr>
              <a:t>具有无损连接性的模式分解</a:t>
            </a:r>
            <a:endParaRPr lang="zh-CN" altLang="en-US" sz="3400">
              <a:ea typeface="宋体" panose="02010600030101010101" pitchFamily="2" charset="-122"/>
            </a:endParaRPr>
          </a:p>
        </p:txBody>
      </p:sp>
      <p:sp>
        <p:nvSpPr>
          <p:cNvPr id="603139" name="Rectangle 3"/>
          <p:cNvSpPr>
            <a:spLocks noGrp="1" noChangeArrowheads="1"/>
          </p:cNvSpPr>
          <p:nvPr>
            <p:ph type="body" idx="1"/>
          </p:nvPr>
        </p:nvSpPr>
        <p:spPr/>
        <p:txBody>
          <a:bodyPr/>
          <a:lstStyle/>
          <a:p>
            <a:pPr>
              <a:lnSpc>
                <a:spcPct val="110000"/>
              </a:lnSpc>
              <a:spcBef>
                <a:spcPct val="30000"/>
              </a:spcBef>
              <a:defRPr/>
            </a:pPr>
            <a:r>
              <a:rPr lang="zh-CN" altLang="en-US">
                <a:ea typeface="宋体" panose="02010600030101010101" pitchFamily="2" charset="-122"/>
              </a:rPr>
              <a:t>关系模式</a:t>
            </a:r>
            <a:r>
              <a:rPr lang="en-US" altLang="zh-CN">
                <a:ea typeface="宋体" panose="02010600030101010101" pitchFamily="2" charset="-122"/>
              </a:rPr>
              <a:t>R&lt;U,F&gt;</a:t>
            </a:r>
            <a:r>
              <a:rPr lang="zh-CN" altLang="en-US">
                <a:ea typeface="宋体" panose="02010600030101010101" pitchFamily="2" charset="-122"/>
              </a:rPr>
              <a:t>的一个分解 </a:t>
            </a:r>
            <a:br>
              <a:rPr lang="zh-CN" altLang="en-US">
                <a:ea typeface="宋体" panose="02010600030101010101" pitchFamily="2" charset="-122"/>
              </a:rPr>
            </a:br>
            <a:r>
              <a:rPr lang="en-US" altLang="zh-CN" i="1">
                <a:ea typeface="宋体" panose="02010600030101010101" pitchFamily="2" charset="-122"/>
              </a:rPr>
              <a:t>ρ</a:t>
            </a:r>
            <a:r>
              <a:rPr lang="en-US" altLang="zh-CN">
                <a:ea typeface="宋体" panose="02010600030101010101" pitchFamily="2" charset="-122"/>
              </a:rPr>
              <a:t>={ R</a:t>
            </a:r>
            <a:r>
              <a:rPr lang="en-US" altLang="zh-CN" baseline="-25000">
                <a:ea typeface="宋体" panose="02010600030101010101" pitchFamily="2" charset="-122"/>
              </a:rPr>
              <a:t>1</a:t>
            </a:r>
            <a:r>
              <a:rPr lang="en-US" altLang="zh-CN">
                <a:ea typeface="宋体" panose="02010600030101010101" pitchFamily="2" charset="-122"/>
              </a:rPr>
              <a:t>&lt;U</a:t>
            </a:r>
            <a:r>
              <a:rPr lang="en-US" altLang="zh-CN" baseline="-25000">
                <a:ea typeface="宋体" panose="02010600030101010101" pitchFamily="2" charset="-122"/>
              </a:rPr>
              <a:t>1</a:t>
            </a:r>
            <a:r>
              <a:rPr lang="en-US" altLang="zh-CN">
                <a:ea typeface="宋体" panose="02010600030101010101" pitchFamily="2" charset="-122"/>
              </a:rPr>
              <a:t>,F</a:t>
            </a:r>
            <a:r>
              <a:rPr lang="en-US" altLang="zh-CN" baseline="-25000">
                <a:ea typeface="宋体" panose="02010600030101010101" pitchFamily="2" charset="-122"/>
              </a:rPr>
              <a:t>1</a:t>
            </a:r>
            <a:r>
              <a:rPr lang="en-US" altLang="zh-CN">
                <a:ea typeface="宋体" panose="02010600030101010101" pitchFamily="2" charset="-122"/>
              </a:rPr>
              <a:t>&gt;</a:t>
            </a:r>
            <a:r>
              <a:rPr lang="zh-CN" altLang="en-US">
                <a:ea typeface="宋体" panose="02010600030101010101" pitchFamily="2" charset="-122"/>
              </a:rPr>
              <a:t>，</a:t>
            </a:r>
            <a:r>
              <a:rPr lang="en-US" altLang="zh-CN">
                <a:ea typeface="宋体" panose="02010600030101010101" pitchFamily="2" charset="-122"/>
              </a:rPr>
              <a:t>R</a:t>
            </a:r>
            <a:r>
              <a:rPr lang="en-US" altLang="zh-CN" baseline="-25000">
                <a:ea typeface="宋体" panose="02010600030101010101" pitchFamily="2" charset="-122"/>
              </a:rPr>
              <a:t>2</a:t>
            </a:r>
            <a:r>
              <a:rPr lang="en-US" altLang="zh-CN">
                <a:ea typeface="宋体" panose="02010600030101010101" pitchFamily="2" charset="-122"/>
              </a:rPr>
              <a:t>&lt;U</a:t>
            </a:r>
            <a:r>
              <a:rPr lang="en-US" altLang="zh-CN" baseline="-25000">
                <a:ea typeface="宋体" panose="02010600030101010101" pitchFamily="2" charset="-122"/>
              </a:rPr>
              <a:t>2</a:t>
            </a:r>
            <a:r>
              <a:rPr lang="en-US" altLang="zh-CN">
                <a:ea typeface="宋体" panose="02010600030101010101" pitchFamily="2" charset="-122"/>
              </a:rPr>
              <a:t>,F</a:t>
            </a:r>
            <a:r>
              <a:rPr lang="en-US" altLang="zh-CN" baseline="-25000">
                <a:ea typeface="宋体" panose="02010600030101010101" pitchFamily="2" charset="-122"/>
              </a:rPr>
              <a:t>2</a:t>
            </a:r>
            <a:r>
              <a:rPr lang="en-US" altLang="zh-CN">
                <a:ea typeface="宋体" panose="02010600030101010101" pitchFamily="2" charset="-122"/>
              </a:rPr>
              <a:t>&gt;</a:t>
            </a:r>
            <a:r>
              <a:rPr lang="zh-CN" altLang="en-US">
                <a:ea typeface="宋体" panose="02010600030101010101" pitchFamily="2" charset="-122"/>
              </a:rPr>
              <a:t>， </a:t>
            </a:r>
            <a:r>
              <a:rPr lang="en-US" altLang="zh-CN">
                <a:latin typeface="Times New Roman" panose="02020603050405020304" pitchFamily="18" charset="0"/>
                <a:ea typeface="宋体" panose="02010600030101010101" pitchFamily="2" charset="-122"/>
              </a:rPr>
              <a:t>…</a:t>
            </a:r>
            <a:r>
              <a:rPr lang="zh-CN" altLang="en-US">
                <a:ea typeface="宋体" panose="02010600030101010101" pitchFamily="2" charset="-122"/>
              </a:rPr>
              <a:t>，</a:t>
            </a:r>
            <a:r>
              <a:rPr lang="en-US" altLang="zh-CN">
                <a:ea typeface="宋体" panose="02010600030101010101" pitchFamily="2" charset="-122"/>
              </a:rPr>
              <a:t>R</a:t>
            </a:r>
            <a:r>
              <a:rPr lang="en-US" altLang="zh-CN" baseline="-25000">
                <a:ea typeface="宋体" panose="02010600030101010101" pitchFamily="2" charset="-122"/>
              </a:rPr>
              <a:t>n</a:t>
            </a:r>
            <a:r>
              <a:rPr lang="en-US" altLang="zh-CN">
                <a:ea typeface="宋体" panose="02010600030101010101" pitchFamily="2" charset="-122"/>
              </a:rPr>
              <a:t>&lt;U</a:t>
            </a:r>
            <a:r>
              <a:rPr lang="en-US" altLang="zh-CN" baseline="-25000">
                <a:ea typeface="宋体" panose="02010600030101010101" pitchFamily="2" charset="-122"/>
              </a:rPr>
              <a:t>n</a:t>
            </a:r>
            <a:r>
              <a:rPr lang="en-US" altLang="zh-CN">
                <a:ea typeface="宋体" panose="02010600030101010101" pitchFamily="2" charset="-122"/>
              </a:rPr>
              <a:t>,F</a:t>
            </a:r>
            <a:r>
              <a:rPr lang="en-US" altLang="zh-CN" baseline="-25000">
                <a:ea typeface="宋体" panose="02010600030101010101" pitchFamily="2" charset="-122"/>
              </a:rPr>
              <a:t>n</a:t>
            </a:r>
            <a:r>
              <a:rPr lang="en-US" altLang="zh-CN">
                <a:ea typeface="宋体" panose="02010600030101010101" pitchFamily="2" charset="-122"/>
              </a:rPr>
              <a:t>&gt;}</a:t>
            </a:r>
            <a:endParaRPr lang="en-US" altLang="zh-CN">
              <a:ea typeface="宋体" panose="02010600030101010101" pitchFamily="2" charset="-122"/>
            </a:endParaRPr>
          </a:p>
          <a:p>
            <a:pPr>
              <a:lnSpc>
                <a:spcPct val="110000"/>
              </a:lnSpc>
              <a:spcBef>
                <a:spcPct val="30000"/>
              </a:spcBef>
              <a:buFont typeface="Wingdings" panose="05000000000000000000" pitchFamily="2" charset="2"/>
              <a:buNone/>
              <a:defRPr/>
            </a:pPr>
            <a:r>
              <a:rPr lang="en-US" altLang="zh-CN">
                <a:ea typeface="宋体" panose="02010600030101010101" pitchFamily="2" charset="-122"/>
              </a:rPr>
              <a:t>	</a:t>
            </a:r>
            <a:r>
              <a:rPr lang="zh-CN" altLang="en-US">
                <a:ea typeface="宋体" panose="02010600030101010101" pitchFamily="2" charset="-122"/>
              </a:rPr>
              <a:t>若</a:t>
            </a:r>
            <a:r>
              <a:rPr lang="en-US" altLang="zh-CN">
                <a:ea typeface="宋体" panose="02010600030101010101" pitchFamily="2" charset="-122"/>
              </a:rPr>
              <a:t>R</a:t>
            </a:r>
            <a:r>
              <a:rPr lang="zh-CN" altLang="en-US">
                <a:ea typeface="宋体" panose="02010600030101010101" pitchFamily="2" charset="-122"/>
              </a:rPr>
              <a:t>与</a:t>
            </a:r>
            <a:r>
              <a:rPr lang="en-US" altLang="zh-CN">
                <a:ea typeface="宋体" panose="02010600030101010101" pitchFamily="2" charset="-122"/>
              </a:rPr>
              <a:t>R</a:t>
            </a:r>
            <a:r>
              <a:rPr lang="en-US" altLang="zh-CN" baseline="-25000">
                <a:ea typeface="宋体" panose="02010600030101010101" pitchFamily="2" charset="-122"/>
              </a:rPr>
              <a:t>1</a:t>
            </a:r>
            <a:r>
              <a:rPr lang="zh-CN" altLang="en-US">
                <a:ea typeface="宋体" panose="02010600030101010101" pitchFamily="2" charset="-122"/>
              </a:rPr>
              <a:t>、</a:t>
            </a:r>
            <a:r>
              <a:rPr lang="en-US" altLang="zh-CN">
                <a:ea typeface="宋体" panose="02010600030101010101" pitchFamily="2" charset="-122"/>
              </a:rPr>
              <a:t>R</a:t>
            </a:r>
            <a:r>
              <a:rPr lang="en-US" altLang="zh-CN" baseline="-25000">
                <a:ea typeface="宋体" panose="02010600030101010101" pitchFamily="2" charset="-122"/>
              </a:rPr>
              <a:t>2</a:t>
            </a:r>
            <a:r>
              <a:rPr lang="zh-CN" altLang="en-US">
                <a:ea typeface="宋体" panose="02010600030101010101" pitchFamily="2" charset="-122"/>
              </a:rPr>
              <a:t>、</a:t>
            </a:r>
            <a:r>
              <a:rPr lang="en-US" altLang="zh-CN">
                <a:latin typeface="Times New Roman" panose="02020603050405020304" pitchFamily="18" charset="0"/>
                <a:ea typeface="宋体" panose="02010600030101010101" pitchFamily="2" charset="-122"/>
              </a:rPr>
              <a:t>…</a:t>
            </a:r>
            <a:r>
              <a:rPr lang="zh-CN" altLang="en-US">
                <a:ea typeface="宋体" panose="02010600030101010101" pitchFamily="2" charset="-122"/>
              </a:rPr>
              <a:t>、</a:t>
            </a:r>
            <a:r>
              <a:rPr lang="en-US" altLang="zh-CN">
                <a:ea typeface="宋体" panose="02010600030101010101" pitchFamily="2" charset="-122"/>
              </a:rPr>
              <a:t>R</a:t>
            </a:r>
            <a:r>
              <a:rPr lang="en-US" altLang="zh-CN" baseline="-25000">
                <a:ea typeface="宋体" panose="02010600030101010101" pitchFamily="2" charset="-122"/>
              </a:rPr>
              <a:t>n</a:t>
            </a:r>
            <a:r>
              <a:rPr lang="zh-CN" altLang="en-US">
                <a:ea typeface="宋体" panose="02010600030101010101" pitchFamily="2" charset="-122"/>
              </a:rPr>
              <a:t>自然连接的结果</a:t>
            </a:r>
            <a:r>
              <a:rPr lang="zh-CN" altLang="en-US" b="1">
                <a:solidFill>
                  <a:srgbClr val="0000FF"/>
                </a:solidFill>
                <a:effectLst>
                  <a:outerShdw blurRad="38100" dist="38100" dir="2700000" algn="tl">
                    <a:srgbClr val="000000"/>
                  </a:outerShdw>
                </a:effectLst>
                <a:ea typeface="宋体" panose="02010600030101010101" pitchFamily="2" charset="-122"/>
              </a:rPr>
              <a:t>相等</a:t>
            </a:r>
            <a:r>
              <a:rPr lang="zh-CN" altLang="en-US">
                <a:ea typeface="宋体" panose="02010600030101010101" pitchFamily="2" charset="-122"/>
              </a:rPr>
              <a:t>，则称关系模式</a:t>
            </a:r>
            <a:r>
              <a:rPr lang="en-US" altLang="zh-CN">
                <a:ea typeface="宋体" panose="02010600030101010101" pitchFamily="2" charset="-122"/>
              </a:rPr>
              <a:t>R</a:t>
            </a:r>
            <a:r>
              <a:rPr lang="zh-CN" altLang="en-US">
                <a:ea typeface="宋体" panose="02010600030101010101" pitchFamily="2" charset="-122"/>
              </a:rPr>
              <a:t>的这个分解</a:t>
            </a:r>
            <a:r>
              <a:rPr lang="en-US" altLang="zh-CN" i="1">
                <a:ea typeface="宋体" panose="02010600030101010101" pitchFamily="2" charset="-122"/>
              </a:rPr>
              <a:t>ρ</a:t>
            </a:r>
            <a:r>
              <a:rPr lang="zh-CN" altLang="en-US">
                <a:ea typeface="宋体" panose="02010600030101010101" pitchFamily="2" charset="-122"/>
              </a:rPr>
              <a:t>具有</a:t>
            </a:r>
            <a:r>
              <a:rPr lang="zh-CN" altLang="en-US">
                <a:solidFill>
                  <a:srgbClr val="FF3300"/>
                </a:solidFill>
                <a:effectLst>
                  <a:outerShdw blurRad="38100" dist="38100" dir="2700000" algn="tl">
                    <a:srgbClr val="000000"/>
                  </a:outerShdw>
                </a:effectLst>
                <a:ea typeface="黑体" panose="02010609060101010101" pitchFamily="49" charset="-122"/>
              </a:rPr>
              <a:t>无损连接性</a:t>
            </a:r>
            <a:r>
              <a:rPr lang="en-US" altLang="zh-CN">
                <a:ea typeface="宋体" panose="02010600030101010101" pitchFamily="2" charset="-122"/>
              </a:rPr>
              <a:t>(Lossless join)</a:t>
            </a:r>
            <a:endParaRPr lang="en-US" altLang="zh-CN">
              <a:ea typeface="宋体" panose="02010600030101010101" pitchFamily="2" charset="-122"/>
            </a:endParaRPr>
          </a:p>
          <a:p>
            <a:pPr>
              <a:lnSpc>
                <a:spcPct val="110000"/>
              </a:lnSpc>
              <a:spcBef>
                <a:spcPct val="30000"/>
              </a:spcBef>
              <a:defRPr/>
            </a:pPr>
            <a:r>
              <a:rPr lang="zh-CN" altLang="en-US">
                <a:ea typeface="宋体" panose="02010600030101010101" pitchFamily="2" charset="-122"/>
              </a:rPr>
              <a:t>具有无损连接性的分解保证不丢失信息</a:t>
            </a:r>
            <a:endParaRPr lang="zh-CN" altLang="en-US">
              <a:ea typeface="宋体" panose="02010600030101010101" pitchFamily="2" charset="-122"/>
            </a:endParaRPr>
          </a:p>
          <a:p>
            <a:pPr>
              <a:lnSpc>
                <a:spcPct val="110000"/>
              </a:lnSpc>
              <a:spcBef>
                <a:spcPct val="30000"/>
              </a:spcBef>
              <a:defRPr/>
            </a:pPr>
            <a:r>
              <a:rPr lang="zh-CN" altLang="en-US">
                <a:ea typeface="宋体" panose="02010600030101010101" pitchFamily="2" charset="-122"/>
              </a:rPr>
              <a:t>无损连接性不一定能解决插入异常、删除异常、修改复杂、数据冗余等问题</a:t>
            </a:r>
            <a:endParaRPr lang="zh-CN" altLang="en-US">
              <a:ea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ChangeArrowheads="1"/>
          </p:cNvSpPr>
          <p:nvPr>
            <p:ph type="title"/>
          </p:nvPr>
        </p:nvSpPr>
        <p:spPr>
          <a:xfrm>
            <a:off x="395288" y="0"/>
            <a:ext cx="7772400" cy="838200"/>
          </a:xfrm>
        </p:spPr>
        <p:txBody>
          <a:bodyPr/>
          <a:lstStyle/>
          <a:p>
            <a:pPr>
              <a:defRPr/>
            </a:pPr>
            <a:r>
              <a:rPr lang="zh-CN" altLang="en-US" sz="3400">
                <a:ea typeface="宋体" panose="02010600030101010101" pitchFamily="2" charset="-122"/>
              </a:rPr>
              <a:t>模式分解中存在的问题</a:t>
            </a:r>
            <a:endParaRPr lang="zh-CN" altLang="en-US" sz="3400">
              <a:ea typeface="宋体" panose="02010600030101010101" pitchFamily="2" charset="-122"/>
            </a:endParaRPr>
          </a:p>
        </p:txBody>
      </p:sp>
      <p:sp>
        <p:nvSpPr>
          <p:cNvPr id="23555" name="Rectangle 3"/>
          <p:cNvSpPr>
            <a:spLocks noGrp="1" noChangeArrowheads="1"/>
          </p:cNvSpPr>
          <p:nvPr>
            <p:ph type="body" idx="1"/>
          </p:nvPr>
        </p:nvSpPr>
        <p:spPr>
          <a:xfrm>
            <a:off x="476250" y="990600"/>
            <a:ext cx="1828800" cy="609600"/>
          </a:xfrm>
          <a:noFill/>
        </p:spPr>
        <p:txBody>
          <a:bodyPr/>
          <a:lstStyle/>
          <a:p>
            <a:pPr algn="ctr">
              <a:buFont typeface="Wingdings" panose="05000000000000000000" pitchFamily="2" charset="2"/>
              <a:buNone/>
            </a:pPr>
            <a:r>
              <a:rPr lang="en-US" altLang="zh-CN" sz="2600" b="1">
                <a:latin typeface="Times New Roman" panose="02020603050405020304" pitchFamily="18" charset="0"/>
                <a:ea typeface="宋体" panose="02010600030101010101" pitchFamily="2" charset="-122"/>
              </a:rPr>
              <a:t>R(A, B, C)</a:t>
            </a:r>
            <a:endParaRPr lang="en-US" altLang="zh-CN" sz="2600" b="1">
              <a:latin typeface="Times New Roman" panose="02020603050405020304" pitchFamily="18" charset="0"/>
              <a:ea typeface="宋体" panose="02010600030101010101" pitchFamily="2" charset="-122"/>
            </a:endParaRPr>
          </a:p>
        </p:txBody>
      </p:sp>
      <p:graphicFrame>
        <p:nvGraphicFramePr>
          <p:cNvPr id="606212" name="Group 4"/>
          <p:cNvGraphicFramePr>
            <a:graphicFrameLocks noGrp="1"/>
          </p:cNvGraphicFramePr>
          <p:nvPr/>
        </p:nvGraphicFramePr>
        <p:xfrm>
          <a:off x="381000" y="1600200"/>
          <a:ext cx="2000250" cy="1279536"/>
        </p:xfrm>
        <a:graphic>
          <a:graphicData uri="http://schemas.openxmlformats.org/drawingml/2006/table">
            <a:tbl>
              <a:tblPr/>
              <a:tblGrid>
                <a:gridCol w="666750"/>
                <a:gridCol w="666750"/>
                <a:gridCol w="666750"/>
              </a:tblGrid>
              <a:tr h="42650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A</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marT="45616" marB="456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B</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C</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50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50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06230" name="Group 22"/>
          <p:cNvGraphicFramePr>
            <a:graphicFrameLocks noGrp="1"/>
          </p:cNvGraphicFramePr>
          <p:nvPr/>
        </p:nvGraphicFramePr>
        <p:xfrm>
          <a:off x="2838450" y="1600200"/>
          <a:ext cx="1333500" cy="1279536"/>
        </p:xfrm>
        <a:graphic>
          <a:graphicData uri="http://schemas.openxmlformats.org/drawingml/2006/table">
            <a:tbl>
              <a:tblPr/>
              <a:tblGrid>
                <a:gridCol w="685800"/>
                <a:gridCol w="647700"/>
              </a:tblGrid>
              <a:tr h="42650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A</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marT="45616" marB="456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B</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50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50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06244" name="Group 36"/>
          <p:cNvGraphicFramePr>
            <a:graphicFrameLocks noGrp="1"/>
          </p:cNvGraphicFramePr>
          <p:nvPr/>
        </p:nvGraphicFramePr>
        <p:xfrm>
          <a:off x="4705350" y="1600200"/>
          <a:ext cx="1333500" cy="1279536"/>
        </p:xfrm>
        <a:graphic>
          <a:graphicData uri="http://schemas.openxmlformats.org/drawingml/2006/table">
            <a:tbl>
              <a:tblPr/>
              <a:tblGrid>
                <a:gridCol w="666750"/>
                <a:gridCol w="666750"/>
              </a:tblGrid>
              <a:tr h="42650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B</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marT="45616" marB="456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C</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50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50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06258" name="Group 50"/>
          <p:cNvGraphicFramePr>
            <a:graphicFrameLocks noGrp="1"/>
          </p:cNvGraphicFramePr>
          <p:nvPr/>
        </p:nvGraphicFramePr>
        <p:xfrm>
          <a:off x="6648450" y="1600200"/>
          <a:ext cx="2000250" cy="1279536"/>
        </p:xfrm>
        <a:graphic>
          <a:graphicData uri="http://schemas.openxmlformats.org/drawingml/2006/table">
            <a:tbl>
              <a:tblPr/>
              <a:tblGrid>
                <a:gridCol w="666750"/>
                <a:gridCol w="685800"/>
                <a:gridCol w="647700"/>
              </a:tblGrid>
              <a:tr h="42650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A</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marT="45616" marB="456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B</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C</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50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50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16" marB="456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3620" name="Rectangle 68"/>
          <p:cNvSpPr>
            <a:spLocks noChangeArrowheads="1"/>
          </p:cNvSpPr>
          <p:nvPr/>
        </p:nvSpPr>
        <p:spPr bwMode="auto">
          <a:xfrm>
            <a:off x="2609850" y="1066800"/>
            <a:ext cx="1828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bg2"/>
              </a:buClr>
              <a:buSzTx/>
              <a:buFont typeface="Monotype Sorts" pitchFamily="2" charset="2"/>
              <a:buNone/>
            </a:pPr>
            <a:r>
              <a:rPr lang="en-US" altLang="zh-CN">
                <a:latin typeface="Times New Roman" panose="02020603050405020304" pitchFamily="18" charset="0"/>
                <a:ea typeface="楷体_GB2312" pitchFamily="49" charset="-122"/>
              </a:rPr>
              <a:t>∏</a:t>
            </a:r>
            <a:r>
              <a:rPr lang="en-US" altLang="zh-CN" baseline="-16000">
                <a:latin typeface="Times New Roman" panose="02020603050405020304" pitchFamily="18" charset="0"/>
                <a:ea typeface="楷体_GB2312" pitchFamily="49" charset="-122"/>
              </a:rPr>
              <a:t>AB</a:t>
            </a:r>
            <a:r>
              <a:rPr lang="en-US" altLang="zh-CN">
                <a:latin typeface="Times New Roman" panose="02020603050405020304" pitchFamily="18" charset="0"/>
                <a:ea typeface="楷体_GB2312" pitchFamily="49" charset="-122"/>
              </a:rPr>
              <a:t>(R)</a:t>
            </a:r>
            <a:endParaRPr lang="en-US" altLang="zh-CN">
              <a:latin typeface="Times New Roman" panose="02020603050405020304" pitchFamily="18" charset="0"/>
              <a:ea typeface="楷体_GB2312" pitchFamily="49" charset="-122"/>
            </a:endParaRPr>
          </a:p>
        </p:txBody>
      </p:sp>
      <p:sp>
        <p:nvSpPr>
          <p:cNvPr id="23621" name="Rectangle 69"/>
          <p:cNvSpPr>
            <a:spLocks noChangeArrowheads="1"/>
          </p:cNvSpPr>
          <p:nvPr/>
        </p:nvSpPr>
        <p:spPr bwMode="auto">
          <a:xfrm>
            <a:off x="4438650" y="1066800"/>
            <a:ext cx="1828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bg2"/>
              </a:buClr>
              <a:buSzTx/>
              <a:buFont typeface="Monotype Sorts" pitchFamily="2" charset="2"/>
              <a:buNone/>
            </a:pPr>
            <a:r>
              <a:rPr lang="en-US" altLang="zh-CN">
                <a:latin typeface="Times New Roman" panose="02020603050405020304" pitchFamily="18" charset="0"/>
                <a:ea typeface="楷体_GB2312" pitchFamily="49" charset="-122"/>
              </a:rPr>
              <a:t>∏</a:t>
            </a:r>
            <a:r>
              <a:rPr lang="en-US" altLang="zh-CN" baseline="-16000">
                <a:latin typeface="Times New Roman" panose="02020603050405020304" pitchFamily="18" charset="0"/>
                <a:ea typeface="楷体_GB2312" pitchFamily="49" charset="-122"/>
              </a:rPr>
              <a:t>BC</a:t>
            </a:r>
            <a:r>
              <a:rPr lang="en-US" altLang="zh-CN">
                <a:latin typeface="Times New Roman" panose="02020603050405020304" pitchFamily="18" charset="0"/>
                <a:ea typeface="楷体_GB2312" pitchFamily="49" charset="-122"/>
              </a:rPr>
              <a:t>(R)</a:t>
            </a:r>
            <a:endParaRPr lang="en-US" altLang="zh-CN">
              <a:latin typeface="Times New Roman" panose="02020603050405020304" pitchFamily="18" charset="0"/>
              <a:ea typeface="楷体_GB2312" pitchFamily="49" charset="-122"/>
            </a:endParaRPr>
          </a:p>
        </p:txBody>
      </p:sp>
      <p:sp>
        <p:nvSpPr>
          <p:cNvPr id="23622" name="Rectangle 70"/>
          <p:cNvSpPr>
            <a:spLocks noChangeArrowheads="1"/>
          </p:cNvSpPr>
          <p:nvPr/>
        </p:nvSpPr>
        <p:spPr bwMode="auto">
          <a:xfrm>
            <a:off x="6019800" y="1066800"/>
            <a:ext cx="1828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bg2"/>
              </a:buClr>
              <a:buSzTx/>
              <a:buFont typeface="Monotype Sorts" pitchFamily="2" charset="2"/>
              <a:buNone/>
            </a:pPr>
            <a:r>
              <a:rPr lang="en-US" altLang="zh-CN">
                <a:latin typeface="Times New Roman" panose="02020603050405020304" pitchFamily="18" charset="0"/>
                <a:ea typeface="楷体_GB2312" pitchFamily="49" charset="-122"/>
              </a:rPr>
              <a:t>∏</a:t>
            </a:r>
            <a:r>
              <a:rPr lang="en-US" altLang="zh-CN" baseline="-16000">
                <a:latin typeface="Times New Roman" panose="02020603050405020304" pitchFamily="18" charset="0"/>
                <a:ea typeface="楷体_GB2312" pitchFamily="49" charset="-122"/>
              </a:rPr>
              <a:t>AB</a:t>
            </a:r>
            <a:r>
              <a:rPr lang="en-US" altLang="zh-CN">
                <a:latin typeface="Times New Roman" panose="02020603050405020304" pitchFamily="18" charset="0"/>
                <a:ea typeface="楷体_GB2312" pitchFamily="49" charset="-122"/>
              </a:rPr>
              <a:t>(R)</a:t>
            </a:r>
            <a:endParaRPr lang="en-US" altLang="zh-CN">
              <a:latin typeface="Times New Roman" panose="02020603050405020304" pitchFamily="18" charset="0"/>
              <a:ea typeface="楷体_GB2312" pitchFamily="49" charset="-122"/>
            </a:endParaRPr>
          </a:p>
        </p:txBody>
      </p:sp>
      <p:sp>
        <p:nvSpPr>
          <p:cNvPr id="23623" name="Rectangle 71"/>
          <p:cNvSpPr>
            <a:spLocks noChangeArrowheads="1"/>
          </p:cNvSpPr>
          <p:nvPr/>
        </p:nvSpPr>
        <p:spPr bwMode="auto">
          <a:xfrm>
            <a:off x="7715250" y="1066800"/>
            <a:ext cx="12763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bg2"/>
              </a:buClr>
              <a:buSzTx/>
              <a:buFont typeface="Monotype Sorts" pitchFamily="2" charset="2"/>
              <a:buNone/>
            </a:pPr>
            <a:r>
              <a:rPr lang="en-US" altLang="zh-CN">
                <a:latin typeface="Times New Roman" panose="02020603050405020304" pitchFamily="18" charset="0"/>
                <a:ea typeface="楷体_GB2312" pitchFamily="49" charset="-122"/>
              </a:rPr>
              <a:t>∏</a:t>
            </a:r>
            <a:r>
              <a:rPr lang="en-US" altLang="zh-CN" baseline="-16000">
                <a:latin typeface="Times New Roman" panose="02020603050405020304" pitchFamily="18" charset="0"/>
                <a:ea typeface="楷体_GB2312" pitchFamily="49" charset="-122"/>
              </a:rPr>
              <a:t>BC</a:t>
            </a:r>
            <a:r>
              <a:rPr lang="en-US" altLang="zh-CN">
                <a:latin typeface="Times New Roman" panose="02020603050405020304" pitchFamily="18" charset="0"/>
                <a:ea typeface="楷体_GB2312" pitchFamily="49" charset="-122"/>
              </a:rPr>
              <a:t>(R)</a:t>
            </a:r>
            <a:endParaRPr lang="en-US" altLang="zh-CN">
              <a:latin typeface="Times New Roman" panose="02020603050405020304" pitchFamily="18" charset="0"/>
              <a:ea typeface="楷体_GB2312" pitchFamily="49" charset="-122"/>
            </a:endParaRPr>
          </a:p>
        </p:txBody>
      </p:sp>
      <p:sp>
        <p:nvSpPr>
          <p:cNvPr id="23624" name="AutoShape 72"/>
          <p:cNvSpPr>
            <a:spLocks noChangeArrowheads="1"/>
          </p:cNvSpPr>
          <p:nvPr/>
        </p:nvSpPr>
        <p:spPr bwMode="auto">
          <a:xfrm rot="5400000">
            <a:off x="7562850" y="1162050"/>
            <a:ext cx="228600" cy="342900"/>
          </a:xfrm>
          <a:prstGeom prst="flowChartCollate">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23625" name="Rectangle 73"/>
          <p:cNvSpPr>
            <a:spLocks noChangeArrowheads="1"/>
          </p:cNvSpPr>
          <p:nvPr/>
        </p:nvSpPr>
        <p:spPr bwMode="auto">
          <a:xfrm>
            <a:off x="476250" y="3054350"/>
            <a:ext cx="1828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bg2"/>
              </a:buClr>
              <a:buSzTx/>
              <a:buFont typeface="Monotype Sorts" pitchFamily="2" charset="2"/>
              <a:buNone/>
            </a:pPr>
            <a:r>
              <a:rPr lang="en-US" altLang="zh-CN">
                <a:latin typeface="Times New Roman" panose="02020603050405020304" pitchFamily="18" charset="0"/>
                <a:ea typeface="楷体_GB2312" pitchFamily="49" charset="-122"/>
              </a:rPr>
              <a:t>R(A, B, C)</a:t>
            </a:r>
            <a:endParaRPr lang="en-US" altLang="zh-CN">
              <a:latin typeface="Times New Roman" panose="02020603050405020304" pitchFamily="18" charset="0"/>
              <a:ea typeface="楷体_GB2312" pitchFamily="49" charset="-122"/>
            </a:endParaRPr>
          </a:p>
        </p:txBody>
      </p:sp>
      <p:graphicFrame>
        <p:nvGraphicFramePr>
          <p:cNvPr id="606282" name="Group 74"/>
          <p:cNvGraphicFramePr>
            <a:graphicFrameLocks noGrp="1"/>
          </p:cNvGraphicFramePr>
          <p:nvPr/>
        </p:nvGraphicFramePr>
        <p:xfrm>
          <a:off x="381000" y="3663950"/>
          <a:ext cx="2000250" cy="1366839"/>
        </p:xfrm>
        <a:graphic>
          <a:graphicData uri="http://schemas.openxmlformats.org/drawingml/2006/table">
            <a:tbl>
              <a:tblPr/>
              <a:tblGrid>
                <a:gridCol w="666750"/>
                <a:gridCol w="666750"/>
                <a:gridCol w="666750"/>
              </a:tblGrid>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A</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B</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C</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06300" name="Group 92"/>
          <p:cNvGraphicFramePr>
            <a:graphicFrameLocks noGrp="1"/>
          </p:cNvGraphicFramePr>
          <p:nvPr/>
        </p:nvGraphicFramePr>
        <p:xfrm>
          <a:off x="2838450" y="3663950"/>
          <a:ext cx="1333500" cy="1366839"/>
        </p:xfrm>
        <a:graphic>
          <a:graphicData uri="http://schemas.openxmlformats.org/drawingml/2006/table">
            <a:tbl>
              <a:tblPr/>
              <a:tblGrid>
                <a:gridCol w="685800"/>
                <a:gridCol w="647700"/>
              </a:tblGrid>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A</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B</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06314" name="Group 106"/>
          <p:cNvGraphicFramePr>
            <a:graphicFrameLocks noGrp="1"/>
          </p:cNvGraphicFramePr>
          <p:nvPr/>
        </p:nvGraphicFramePr>
        <p:xfrm>
          <a:off x="4705350" y="3663950"/>
          <a:ext cx="1333500" cy="1366839"/>
        </p:xfrm>
        <a:graphic>
          <a:graphicData uri="http://schemas.openxmlformats.org/drawingml/2006/table">
            <a:tbl>
              <a:tblPr/>
              <a:tblGrid>
                <a:gridCol w="666750"/>
                <a:gridCol w="666750"/>
              </a:tblGrid>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B</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C</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06328" name="Group 120"/>
          <p:cNvGraphicFramePr>
            <a:graphicFrameLocks noGrp="1"/>
          </p:cNvGraphicFramePr>
          <p:nvPr/>
        </p:nvGraphicFramePr>
        <p:xfrm>
          <a:off x="6648450" y="3663950"/>
          <a:ext cx="2000250" cy="2278065"/>
        </p:xfrm>
        <a:graphic>
          <a:graphicData uri="http://schemas.openxmlformats.org/drawingml/2006/table">
            <a:tbl>
              <a:tblPr/>
              <a:tblGrid>
                <a:gridCol w="666750"/>
                <a:gridCol w="666750"/>
                <a:gridCol w="666750"/>
              </a:tblGrid>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A</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B</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rPr>
                        <a:t>C</a:t>
                      </a:r>
                      <a:endParaRPr kumimoji="0" lang="en-US" altLang="zh-CN" sz="22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3698" name="Rectangle 146"/>
          <p:cNvSpPr>
            <a:spLocks noChangeArrowheads="1"/>
          </p:cNvSpPr>
          <p:nvPr/>
        </p:nvSpPr>
        <p:spPr bwMode="auto">
          <a:xfrm>
            <a:off x="2609850" y="3130550"/>
            <a:ext cx="1828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bg2"/>
              </a:buClr>
              <a:buSzTx/>
              <a:buFont typeface="Monotype Sorts" pitchFamily="2" charset="2"/>
              <a:buNone/>
            </a:pPr>
            <a:r>
              <a:rPr lang="en-US" altLang="zh-CN">
                <a:latin typeface="Times New Roman" panose="02020603050405020304" pitchFamily="18" charset="0"/>
                <a:ea typeface="楷体_GB2312" pitchFamily="49" charset="-122"/>
              </a:rPr>
              <a:t>∏</a:t>
            </a:r>
            <a:r>
              <a:rPr lang="en-US" altLang="zh-CN" baseline="-16000">
                <a:latin typeface="Times New Roman" panose="02020603050405020304" pitchFamily="18" charset="0"/>
                <a:ea typeface="楷体_GB2312" pitchFamily="49" charset="-122"/>
              </a:rPr>
              <a:t>AB</a:t>
            </a:r>
            <a:r>
              <a:rPr lang="en-US" altLang="zh-CN">
                <a:latin typeface="Times New Roman" panose="02020603050405020304" pitchFamily="18" charset="0"/>
                <a:ea typeface="楷体_GB2312" pitchFamily="49" charset="-122"/>
              </a:rPr>
              <a:t>(R)</a:t>
            </a:r>
            <a:endParaRPr lang="en-US" altLang="zh-CN">
              <a:latin typeface="Times New Roman" panose="02020603050405020304" pitchFamily="18" charset="0"/>
              <a:ea typeface="楷体_GB2312" pitchFamily="49" charset="-122"/>
            </a:endParaRPr>
          </a:p>
        </p:txBody>
      </p:sp>
      <p:sp>
        <p:nvSpPr>
          <p:cNvPr id="23699" name="Rectangle 147"/>
          <p:cNvSpPr>
            <a:spLocks noChangeArrowheads="1"/>
          </p:cNvSpPr>
          <p:nvPr/>
        </p:nvSpPr>
        <p:spPr bwMode="auto">
          <a:xfrm>
            <a:off x="4438650" y="3130550"/>
            <a:ext cx="1828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bg2"/>
              </a:buClr>
              <a:buSzTx/>
              <a:buFont typeface="Monotype Sorts" pitchFamily="2" charset="2"/>
              <a:buNone/>
            </a:pPr>
            <a:r>
              <a:rPr lang="en-US" altLang="zh-CN">
                <a:latin typeface="Times New Roman" panose="02020603050405020304" pitchFamily="18" charset="0"/>
                <a:ea typeface="楷体_GB2312" pitchFamily="49" charset="-122"/>
              </a:rPr>
              <a:t>∏</a:t>
            </a:r>
            <a:r>
              <a:rPr lang="en-US" altLang="zh-CN" baseline="-16000">
                <a:latin typeface="Times New Roman" panose="02020603050405020304" pitchFamily="18" charset="0"/>
                <a:ea typeface="楷体_GB2312" pitchFamily="49" charset="-122"/>
              </a:rPr>
              <a:t>BC</a:t>
            </a:r>
            <a:r>
              <a:rPr lang="en-US" altLang="zh-CN">
                <a:latin typeface="Times New Roman" panose="02020603050405020304" pitchFamily="18" charset="0"/>
                <a:ea typeface="楷体_GB2312" pitchFamily="49" charset="-122"/>
              </a:rPr>
              <a:t>(R)</a:t>
            </a:r>
            <a:endParaRPr lang="en-US" altLang="zh-CN">
              <a:latin typeface="Times New Roman" panose="02020603050405020304" pitchFamily="18" charset="0"/>
              <a:ea typeface="楷体_GB2312" pitchFamily="49" charset="-122"/>
            </a:endParaRPr>
          </a:p>
        </p:txBody>
      </p:sp>
      <p:sp>
        <p:nvSpPr>
          <p:cNvPr id="23700" name="Rectangle 148"/>
          <p:cNvSpPr>
            <a:spLocks noChangeArrowheads="1"/>
          </p:cNvSpPr>
          <p:nvPr/>
        </p:nvSpPr>
        <p:spPr bwMode="auto">
          <a:xfrm>
            <a:off x="6019800" y="3130550"/>
            <a:ext cx="1828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bg2"/>
              </a:buClr>
              <a:buSzTx/>
              <a:buFont typeface="Monotype Sorts" pitchFamily="2" charset="2"/>
              <a:buNone/>
            </a:pPr>
            <a:r>
              <a:rPr lang="en-US" altLang="zh-CN">
                <a:latin typeface="Times New Roman" panose="02020603050405020304" pitchFamily="18" charset="0"/>
                <a:ea typeface="楷体_GB2312" pitchFamily="49" charset="-122"/>
              </a:rPr>
              <a:t>∏</a:t>
            </a:r>
            <a:r>
              <a:rPr lang="en-US" altLang="zh-CN" baseline="-16000">
                <a:latin typeface="Times New Roman" panose="02020603050405020304" pitchFamily="18" charset="0"/>
                <a:ea typeface="楷体_GB2312" pitchFamily="49" charset="-122"/>
              </a:rPr>
              <a:t>AB</a:t>
            </a:r>
            <a:r>
              <a:rPr lang="en-US" altLang="zh-CN">
                <a:latin typeface="Times New Roman" panose="02020603050405020304" pitchFamily="18" charset="0"/>
                <a:ea typeface="楷体_GB2312" pitchFamily="49" charset="-122"/>
              </a:rPr>
              <a:t>(R)</a:t>
            </a:r>
            <a:endParaRPr lang="en-US" altLang="zh-CN">
              <a:latin typeface="Times New Roman" panose="02020603050405020304" pitchFamily="18" charset="0"/>
              <a:ea typeface="楷体_GB2312" pitchFamily="49" charset="-122"/>
            </a:endParaRPr>
          </a:p>
        </p:txBody>
      </p:sp>
      <p:sp>
        <p:nvSpPr>
          <p:cNvPr id="23701" name="Rectangle 149"/>
          <p:cNvSpPr>
            <a:spLocks noChangeArrowheads="1"/>
          </p:cNvSpPr>
          <p:nvPr/>
        </p:nvSpPr>
        <p:spPr bwMode="auto">
          <a:xfrm>
            <a:off x="7715250" y="3130550"/>
            <a:ext cx="12763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bg2"/>
              </a:buClr>
              <a:buSzTx/>
              <a:buFont typeface="Monotype Sorts" pitchFamily="2" charset="2"/>
              <a:buNone/>
            </a:pPr>
            <a:r>
              <a:rPr lang="en-US" altLang="zh-CN">
                <a:latin typeface="Times New Roman" panose="02020603050405020304" pitchFamily="18" charset="0"/>
                <a:ea typeface="楷体_GB2312" pitchFamily="49" charset="-122"/>
              </a:rPr>
              <a:t>∏</a:t>
            </a:r>
            <a:r>
              <a:rPr lang="en-US" altLang="zh-CN" baseline="-16000">
                <a:latin typeface="Times New Roman" panose="02020603050405020304" pitchFamily="18" charset="0"/>
                <a:ea typeface="楷体_GB2312" pitchFamily="49" charset="-122"/>
              </a:rPr>
              <a:t>BC</a:t>
            </a:r>
            <a:r>
              <a:rPr lang="en-US" altLang="zh-CN">
                <a:latin typeface="Times New Roman" panose="02020603050405020304" pitchFamily="18" charset="0"/>
                <a:ea typeface="楷体_GB2312" pitchFamily="49" charset="-122"/>
              </a:rPr>
              <a:t>(R)</a:t>
            </a:r>
            <a:endParaRPr lang="en-US" altLang="zh-CN">
              <a:latin typeface="Times New Roman" panose="02020603050405020304" pitchFamily="18" charset="0"/>
              <a:ea typeface="楷体_GB2312" pitchFamily="49" charset="-122"/>
            </a:endParaRPr>
          </a:p>
        </p:txBody>
      </p:sp>
      <p:sp>
        <p:nvSpPr>
          <p:cNvPr id="23702" name="AutoShape 150"/>
          <p:cNvSpPr>
            <a:spLocks noChangeArrowheads="1"/>
          </p:cNvSpPr>
          <p:nvPr/>
        </p:nvSpPr>
        <p:spPr bwMode="auto">
          <a:xfrm rot="5400000">
            <a:off x="7562850" y="3225800"/>
            <a:ext cx="228600" cy="342900"/>
          </a:xfrm>
          <a:prstGeom prst="flowChartCollate">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grpSp>
        <p:nvGrpSpPr>
          <p:cNvPr id="2" name="Group 156"/>
          <p:cNvGrpSpPr/>
          <p:nvPr/>
        </p:nvGrpSpPr>
        <p:grpSpPr bwMode="auto">
          <a:xfrm>
            <a:off x="762000" y="5411788"/>
            <a:ext cx="1828800" cy="609600"/>
            <a:chOff x="480" y="3409"/>
            <a:chExt cx="1152" cy="384"/>
          </a:xfrm>
        </p:grpSpPr>
        <p:sp>
          <p:nvSpPr>
            <p:cNvPr id="23707" name="AutoShape 151"/>
            <p:cNvSpPr>
              <a:spLocks noChangeArrowheads="1"/>
            </p:cNvSpPr>
            <p:nvPr/>
          </p:nvSpPr>
          <p:spPr bwMode="auto">
            <a:xfrm>
              <a:off x="528" y="3409"/>
              <a:ext cx="1056" cy="336"/>
            </a:xfrm>
            <a:prstGeom prst="wedgeRoundRectCallout">
              <a:avLst>
                <a:gd name="adj1" fmla="val 71403"/>
                <a:gd name="adj2" fmla="val -120833"/>
                <a:gd name="adj3" fmla="val 16667"/>
              </a:avLst>
            </a:prstGeom>
            <a:solidFill>
              <a:srgbClr val="FFFF00"/>
            </a:solidFill>
            <a:ln w="9525">
              <a:solidFill>
                <a:schemeClr val="tx1"/>
              </a:solidFill>
              <a:miter lim="800000"/>
            </a:ln>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endParaRPr lang="en-US" altLang="zh-CN" sz="2400">
                <a:latin typeface="Times New Roman" panose="02020603050405020304" pitchFamily="18" charset="0"/>
                <a:ea typeface="宋体" panose="02010600030101010101" pitchFamily="2" charset="-122"/>
              </a:endParaRPr>
            </a:p>
          </p:txBody>
        </p:sp>
        <p:sp>
          <p:nvSpPr>
            <p:cNvPr id="23708" name="Rectangle 152"/>
            <p:cNvSpPr>
              <a:spLocks noChangeArrowheads="1"/>
            </p:cNvSpPr>
            <p:nvPr/>
          </p:nvSpPr>
          <p:spPr bwMode="auto">
            <a:xfrm>
              <a:off x="480" y="3409"/>
              <a:ext cx="115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bg2"/>
                </a:buClr>
                <a:buSzTx/>
                <a:buFont typeface="Monotype Sorts" pitchFamily="2" charset="2"/>
                <a:buNone/>
              </a:pPr>
              <a:r>
                <a:rPr lang="zh-CN" altLang="en-US">
                  <a:latin typeface="Times New Roman" panose="02020603050405020304" pitchFamily="18" charset="0"/>
                  <a:ea typeface="楷体_GB2312" pitchFamily="49" charset="-122"/>
                </a:rPr>
                <a:t>有损分解</a:t>
              </a:r>
              <a:endParaRPr lang="zh-CN" altLang="en-US">
                <a:latin typeface="Times New Roman" panose="02020603050405020304" pitchFamily="18" charset="0"/>
                <a:ea typeface="楷体_GB2312" pitchFamily="49" charset="-122"/>
              </a:endParaRPr>
            </a:p>
          </p:txBody>
        </p:sp>
      </p:grpSp>
      <p:grpSp>
        <p:nvGrpSpPr>
          <p:cNvPr id="3" name="Group 155"/>
          <p:cNvGrpSpPr/>
          <p:nvPr/>
        </p:nvGrpSpPr>
        <p:grpSpPr bwMode="auto">
          <a:xfrm>
            <a:off x="6977063" y="225425"/>
            <a:ext cx="1828800" cy="609600"/>
            <a:chOff x="3921" y="164"/>
            <a:chExt cx="1152" cy="384"/>
          </a:xfrm>
        </p:grpSpPr>
        <p:sp>
          <p:nvSpPr>
            <p:cNvPr id="23705" name="AutoShape 153"/>
            <p:cNvSpPr>
              <a:spLocks noChangeArrowheads="1"/>
            </p:cNvSpPr>
            <p:nvPr/>
          </p:nvSpPr>
          <p:spPr bwMode="auto">
            <a:xfrm>
              <a:off x="3969" y="164"/>
              <a:ext cx="1056" cy="336"/>
            </a:xfrm>
            <a:prstGeom prst="wedgeRoundRectCallout">
              <a:avLst>
                <a:gd name="adj1" fmla="val -93088"/>
                <a:gd name="adj2" fmla="val 120236"/>
                <a:gd name="adj3" fmla="val 16667"/>
              </a:avLst>
            </a:prstGeom>
            <a:solidFill>
              <a:srgbClr val="FFFF00"/>
            </a:solidFill>
            <a:ln w="9525">
              <a:solidFill>
                <a:schemeClr val="tx1"/>
              </a:solidFill>
              <a:miter lim="800000"/>
            </a:ln>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endParaRPr lang="en-US" altLang="zh-CN" sz="2400">
                <a:latin typeface="Times New Roman" panose="02020603050405020304" pitchFamily="18" charset="0"/>
                <a:ea typeface="宋体" panose="02010600030101010101" pitchFamily="2" charset="-122"/>
              </a:endParaRPr>
            </a:p>
          </p:txBody>
        </p:sp>
        <p:sp>
          <p:nvSpPr>
            <p:cNvPr id="23706" name="Rectangle 154"/>
            <p:cNvSpPr>
              <a:spLocks noChangeArrowheads="1"/>
            </p:cNvSpPr>
            <p:nvPr/>
          </p:nvSpPr>
          <p:spPr bwMode="auto">
            <a:xfrm>
              <a:off x="3921" y="164"/>
              <a:ext cx="115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bg2"/>
                </a:buClr>
                <a:buSzTx/>
                <a:buFont typeface="Monotype Sorts" pitchFamily="2" charset="2"/>
                <a:buNone/>
              </a:pPr>
              <a:r>
                <a:rPr lang="zh-CN" altLang="en-US">
                  <a:latin typeface="Times New Roman" panose="02020603050405020304" pitchFamily="18" charset="0"/>
                  <a:ea typeface="楷体_GB2312" pitchFamily="49" charset="-122"/>
                </a:rPr>
                <a:t>无损分解</a:t>
              </a:r>
              <a:endParaRPr lang="zh-CN" altLang="en-US">
                <a:latin typeface="Times New Roman" panose="02020603050405020304" pitchFamily="18" charset="0"/>
                <a:ea typeface="楷体_GB2312"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Rectangle 2"/>
          <p:cNvSpPr>
            <a:spLocks noGrp="1" noChangeArrowheads="1"/>
          </p:cNvSpPr>
          <p:nvPr>
            <p:ph type="title"/>
          </p:nvPr>
        </p:nvSpPr>
        <p:spPr>
          <a:xfrm>
            <a:off x="395288" y="260350"/>
            <a:ext cx="7793037" cy="685800"/>
          </a:xfrm>
        </p:spPr>
        <p:txBody>
          <a:bodyPr/>
          <a:lstStyle/>
          <a:p>
            <a:pPr>
              <a:defRPr/>
            </a:pPr>
            <a:r>
              <a:rPr lang="zh-CN" altLang="en-US">
                <a:ea typeface="宋体" panose="02010600030101010101" pitchFamily="2" charset="-122"/>
              </a:rPr>
              <a:t>定理</a:t>
            </a:r>
            <a:endParaRPr lang="zh-CN" altLang="en-US">
              <a:ea typeface="宋体" panose="02010600030101010101" pitchFamily="2" charset="-122"/>
            </a:endParaRPr>
          </a:p>
        </p:txBody>
      </p:sp>
      <p:sp>
        <p:nvSpPr>
          <p:cNvPr id="24579" name="Rectangle 3"/>
          <p:cNvSpPr>
            <a:spLocks noGrp="1" noChangeArrowheads="1"/>
          </p:cNvSpPr>
          <p:nvPr>
            <p:ph type="body" idx="1"/>
          </p:nvPr>
        </p:nvSpPr>
        <p:spPr>
          <a:xfrm>
            <a:off x="611188" y="1125538"/>
            <a:ext cx="8153400" cy="4824412"/>
          </a:xfrm>
        </p:spPr>
        <p:txBody>
          <a:bodyPr/>
          <a:lstStyle/>
          <a:p>
            <a:pPr>
              <a:lnSpc>
                <a:spcPct val="110000"/>
              </a:lnSpc>
            </a:pPr>
            <a:r>
              <a:rPr lang="zh-CN" altLang="en-US" sz="3200">
                <a:ea typeface="楷体_GB2312" pitchFamily="49" charset="-122"/>
              </a:rPr>
              <a:t>如果</a:t>
            </a:r>
            <a:r>
              <a:rPr lang="en-US" altLang="zh-CN" sz="3200">
                <a:ea typeface="楷体_GB2312" pitchFamily="49" charset="-122"/>
              </a:rPr>
              <a:t>R</a:t>
            </a:r>
            <a:r>
              <a:rPr lang="zh-CN" altLang="en-US" sz="3200">
                <a:ea typeface="楷体_GB2312" pitchFamily="49" charset="-122"/>
              </a:rPr>
              <a:t>的分解为</a:t>
            </a:r>
            <a:r>
              <a:rPr lang="zh-CN" altLang="en-US" sz="3200">
                <a:ea typeface="楷体_GB2312" pitchFamily="49" charset="-122"/>
                <a:sym typeface="Symbol" panose="05050102010706020507" pitchFamily="18" charset="2"/>
              </a:rPr>
              <a:t>＝</a:t>
            </a:r>
            <a:r>
              <a:rPr lang="en-US" altLang="zh-CN" sz="3200">
                <a:ea typeface="楷体_GB2312" pitchFamily="49" charset="-122"/>
                <a:sym typeface="Symbol" panose="05050102010706020507" pitchFamily="18" charset="2"/>
              </a:rPr>
              <a:t>{R</a:t>
            </a:r>
            <a:r>
              <a:rPr lang="en-US" altLang="zh-CN" sz="3200" baseline="-25000">
                <a:ea typeface="楷体_GB2312" pitchFamily="49" charset="-122"/>
                <a:sym typeface="Symbol" panose="05050102010706020507" pitchFamily="18" charset="2"/>
              </a:rPr>
              <a:t>1</a:t>
            </a:r>
            <a:r>
              <a:rPr lang="en-US" altLang="zh-CN" sz="3200">
                <a:ea typeface="楷体_GB2312" pitchFamily="49" charset="-122"/>
                <a:sym typeface="Symbol" panose="05050102010706020507" pitchFamily="18" charset="2"/>
              </a:rPr>
              <a:t>,R</a:t>
            </a:r>
            <a:r>
              <a:rPr lang="en-US" altLang="zh-CN" sz="3200" baseline="-25000">
                <a:ea typeface="楷体_GB2312" pitchFamily="49" charset="-122"/>
                <a:sym typeface="Symbol" panose="05050102010706020507" pitchFamily="18" charset="2"/>
              </a:rPr>
              <a:t>2</a:t>
            </a:r>
            <a:r>
              <a:rPr lang="en-US" altLang="zh-CN" sz="3200">
                <a:ea typeface="楷体_GB2312" pitchFamily="49" charset="-122"/>
                <a:sym typeface="Symbol" panose="05050102010706020507" pitchFamily="18" charset="2"/>
              </a:rPr>
              <a:t>}</a:t>
            </a:r>
            <a:r>
              <a:rPr lang="zh-CN" altLang="en-US" sz="3200">
                <a:ea typeface="楷体_GB2312" pitchFamily="49" charset="-122"/>
                <a:sym typeface="Symbol" panose="05050102010706020507" pitchFamily="18" charset="2"/>
              </a:rPr>
              <a:t>，</a:t>
            </a:r>
            <a:r>
              <a:rPr lang="en-US" altLang="zh-CN" sz="3200">
                <a:ea typeface="楷体_GB2312" pitchFamily="49" charset="-122"/>
                <a:sym typeface="Symbol" panose="05050102010706020507" pitchFamily="18" charset="2"/>
              </a:rPr>
              <a:t>F</a:t>
            </a:r>
            <a:r>
              <a:rPr lang="zh-CN" altLang="en-US" sz="3200">
                <a:ea typeface="楷体_GB2312" pitchFamily="49" charset="-122"/>
                <a:sym typeface="Symbol" panose="05050102010706020507" pitchFamily="18" charset="2"/>
              </a:rPr>
              <a:t>为</a:t>
            </a:r>
            <a:r>
              <a:rPr lang="en-US" altLang="zh-CN" sz="3200">
                <a:ea typeface="楷体_GB2312" pitchFamily="49" charset="-122"/>
                <a:sym typeface="Symbol" panose="05050102010706020507" pitchFamily="18" charset="2"/>
              </a:rPr>
              <a:t>R</a:t>
            </a:r>
            <a:r>
              <a:rPr lang="zh-CN" altLang="en-US" sz="3200">
                <a:ea typeface="楷体_GB2312" pitchFamily="49" charset="-122"/>
                <a:sym typeface="Symbol" panose="05050102010706020507" pitchFamily="18" charset="2"/>
              </a:rPr>
              <a:t>上的函数依赖集合，分解具有无损连接性的充分必要条件为：</a:t>
            </a:r>
            <a:r>
              <a:rPr lang="zh-CN" altLang="en-US" sz="3200" b="1">
                <a:solidFill>
                  <a:schemeClr val="accent2"/>
                </a:solidFill>
                <a:ea typeface="宋体" panose="02010600030101010101" pitchFamily="2" charset="-122"/>
                <a:sym typeface="Symbol" panose="05050102010706020507" pitchFamily="18" charset="2"/>
              </a:rPr>
              <a:t>      </a:t>
            </a:r>
            <a:endParaRPr lang="zh-CN" altLang="en-US" sz="3200" b="1">
              <a:solidFill>
                <a:schemeClr val="accent2"/>
              </a:solidFill>
              <a:ea typeface="宋体" panose="02010600030101010101" pitchFamily="2" charset="-122"/>
              <a:sym typeface="Symbol" panose="05050102010706020507" pitchFamily="18" charset="2"/>
            </a:endParaRPr>
          </a:p>
          <a:p>
            <a:pPr>
              <a:lnSpc>
                <a:spcPct val="110000"/>
              </a:lnSpc>
              <a:buFont typeface="Wingdings" panose="05000000000000000000" pitchFamily="2" charset="2"/>
              <a:buNone/>
            </a:pPr>
            <a:r>
              <a:rPr lang="zh-CN" altLang="en-US" sz="3200" b="1">
                <a:solidFill>
                  <a:schemeClr val="accent2"/>
                </a:solidFill>
                <a:ea typeface="宋体" panose="02010600030101010101" pitchFamily="2" charset="-122"/>
                <a:sym typeface="Symbol" panose="05050102010706020507" pitchFamily="18" charset="2"/>
              </a:rPr>
              <a:t>			</a:t>
            </a:r>
            <a:r>
              <a:rPr lang="en-US" altLang="zh-CN" sz="3200" b="1">
                <a:solidFill>
                  <a:srgbClr val="990000"/>
                </a:solidFill>
                <a:ea typeface="宋体" panose="02010600030101010101" pitchFamily="2" charset="-122"/>
                <a:sym typeface="Symbol" panose="05050102010706020507" pitchFamily="18" charset="2"/>
              </a:rPr>
              <a:t>R</a:t>
            </a:r>
            <a:r>
              <a:rPr lang="en-US" altLang="zh-CN" sz="3200" b="1" baseline="-25000">
                <a:solidFill>
                  <a:srgbClr val="990000"/>
                </a:solidFill>
                <a:ea typeface="宋体" panose="02010600030101010101" pitchFamily="2" charset="-122"/>
                <a:sym typeface="Symbol" panose="05050102010706020507" pitchFamily="18" charset="2"/>
              </a:rPr>
              <a:t>1</a:t>
            </a:r>
            <a:r>
              <a:rPr lang="en-US" altLang="zh-CN" sz="3200" b="1">
                <a:solidFill>
                  <a:srgbClr val="990000"/>
                </a:solidFill>
                <a:ea typeface="宋体" panose="02010600030101010101" pitchFamily="2" charset="-122"/>
                <a:sym typeface="Symbol" panose="05050102010706020507" pitchFamily="18" charset="2"/>
              </a:rPr>
              <a:t> R</a:t>
            </a:r>
            <a:r>
              <a:rPr lang="en-US" altLang="zh-CN" sz="3200" b="1" baseline="-25000">
                <a:solidFill>
                  <a:srgbClr val="990000"/>
                </a:solidFill>
                <a:ea typeface="宋体" panose="02010600030101010101" pitchFamily="2" charset="-122"/>
                <a:sym typeface="Symbol" panose="05050102010706020507" pitchFamily="18" charset="2"/>
              </a:rPr>
              <a:t>2</a:t>
            </a:r>
            <a:r>
              <a:rPr lang="en-US" altLang="zh-CN" sz="3200" b="1">
                <a:solidFill>
                  <a:srgbClr val="990000"/>
                </a:solidFill>
                <a:ea typeface="宋体" panose="02010600030101010101" pitchFamily="2" charset="-122"/>
                <a:sym typeface="Symbol" panose="05050102010706020507" pitchFamily="18" charset="2"/>
              </a:rPr>
              <a:t> </a:t>
            </a:r>
            <a:r>
              <a:rPr lang="en-US" altLang="zh-CN" sz="3200" b="1">
                <a:solidFill>
                  <a:srgbClr val="990000"/>
                </a:solidFill>
                <a:ea typeface="宋体" panose="02010600030101010101" pitchFamily="2" charset="-122"/>
              </a:rPr>
              <a:t>→(R</a:t>
            </a:r>
            <a:r>
              <a:rPr lang="en-US" altLang="zh-CN" sz="3200" b="1" baseline="-25000">
                <a:solidFill>
                  <a:srgbClr val="990000"/>
                </a:solidFill>
                <a:ea typeface="宋体" panose="02010600030101010101" pitchFamily="2" charset="-122"/>
              </a:rPr>
              <a:t>1</a:t>
            </a:r>
            <a:r>
              <a:rPr lang="en-US" altLang="zh-CN" sz="3200" b="1">
                <a:solidFill>
                  <a:srgbClr val="990000"/>
                </a:solidFill>
                <a:ea typeface="宋体" panose="02010600030101010101" pitchFamily="2" charset="-122"/>
              </a:rPr>
              <a:t>-R</a:t>
            </a:r>
            <a:r>
              <a:rPr lang="en-US" altLang="zh-CN" sz="3200" b="1" baseline="-25000">
                <a:solidFill>
                  <a:srgbClr val="990000"/>
                </a:solidFill>
                <a:ea typeface="宋体" panose="02010600030101010101" pitchFamily="2" charset="-122"/>
              </a:rPr>
              <a:t>2</a:t>
            </a:r>
            <a:r>
              <a:rPr lang="en-US" altLang="zh-CN" sz="3200" b="1">
                <a:solidFill>
                  <a:srgbClr val="990000"/>
                </a:solidFill>
                <a:ea typeface="宋体" panose="02010600030101010101" pitchFamily="2" charset="-122"/>
              </a:rPr>
              <a:t>)</a:t>
            </a:r>
            <a:endParaRPr lang="en-US" altLang="zh-CN" sz="3200" b="1">
              <a:solidFill>
                <a:srgbClr val="990000"/>
              </a:solidFill>
              <a:ea typeface="宋体" panose="02010600030101010101" pitchFamily="2" charset="-122"/>
            </a:endParaRPr>
          </a:p>
          <a:p>
            <a:pPr algn="ctr">
              <a:lnSpc>
                <a:spcPct val="110000"/>
              </a:lnSpc>
              <a:buFont typeface="Wingdings" panose="05000000000000000000" pitchFamily="2" charset="2"/>
              <a:buNone/>
            </a:pPr>
            <a:r>
              <a:rPr lang="zh-CN" altLang="en-US" sz="3200" b="1">
                <a:solidFill>
                  <a:srgbClr val="990000"/>
                </a:solidFill>
                <a:ea typeface="宋体" panose="02010600030101010101" pitchFamily="2" charset="-122"/>
              </a:rPr>
              <a:t>或   </a:t>
            </a:r>
            <a:r>
              <a:rPr lang="en-US" altLang="zh-CN" sz="3200" b="1">
                <a:solidFill>
                  <a:srgbClr val="990000"/>
                </a:solidFill>
                <a:ea typeface="宋体" panose="02010600030101010101" pitchFamily="2" charset="-122"/>
                <a:sym typeface="Symbol" panose="05050102010706020507" pitchFamily="18" charset="2"/>
              </a:rPr>
              <a:t>R</a:t>
            </a:r>
            <a:r>
              <a:rPr lang="en-US" altLang="zh-CN" sz="3200" b="1" baseline="-25000">
                <a:solidFill>
                  <a:srgbClr val="990000"/>
                </a:solidFill>
                <a:ea typeface="宋体" panose="02010600030101010101" pitchFamily="2" charset="-122"/>
                <a:sym typeface="Symbol" panose="05050102010706020507" pitchFamily="18" charset="2"/>
              </a:rPr>
              <a:t>1</a:t>
            </a:r>
            <a:r>
              <a:rPr lang="en-US" altLang="zh-CN" sz="3200" b="1">
                <a:solidFill>
                  <a:srgbClr val="990000"/>
                </a:solidFill>
                <a:ea typeface="宋体" panose="02010600030101010101" pitchFamily="2" charset="-122"/>
                <a:sym typeface="Symbol" panose="05050102010706020507" pitchFamily="18" charset="2"/>
              </a:rPr>
              <a:t> R</a:t>
            </a:r>
            <a:r>
              <a:rPr lang="en-US" altLang="zh-CN" sz="3200" b="1" baseline="-25000">
                <a:solidFill>
                  <a:srgbClr val="990000"/>
                </a:solidFill>
                <a:ea typeface="宋体" panose="02010600030101010101" pitchFamily="2" charset="-122"/>
                <a:sym typeface="Symbol" panose="05050102010706020507" pitchFamily="18" charset="2"/>
              </a:rPr>
              <a:t>2</a:t>
            </a:r>
            <a:r>
              <a:rPr lang="en-US" altLang="zh-CN" sz="3200" b="1">
                <a:solidFill>
                  <a:srgbClr val="990000"/>
                </a:solidFill>
                <a:ea typeface="宋体" panose="02010600030101010101" pitchFamily="2" charset="-122"/>
                <a:sym typeface="Symbol" panose="05050102010706020507" pitchFamily="18" charset="2"/>
              </a:rPr>
              <a:t> </a:t>
            </a:r>
            <a:r>
              <a:rPr lang="en-US" altLang="zh-CN" sz="3200" b="1">
                <a:solidFill>
                  <a:srgbClr val="990000"/>
                </a:solidFill>
                <a:ea typeface="宋体" panose="02010600030101010101" pitchFamily="2" charset="-122"/>
              </a:rPr>
              <a:t>→(R</a:t>
            </a:r>
            <a:r>
              <a:rPr lang="en-US" altLang="zh-CN" sz="3200" b="1" baseline="-25000">
                <a:solidFill>
                  <a:srgbClr val="990000"/>
                </a:solidFill>
                <a:ea typeface="宋体" panose="02010600030101010101" pitchFamily="2" charset="-122"/>
              </a:rPr>
              <a:t>2</a:t>
            </a:r>
            <a:r>
              <a:rPr lang="en-US" altLang="zh-CN" sz="3200" b="1">
                <a:solidFill>
                  <a:srgbClr val="990000"/>
                </a:solidFill>
                <a:ea typeface="宋体" panose="02010600030101010101" pitchFamily="2" charset="-122"/>
              </a:rPr>
              <a:t>-R</a:t>
            </a:r>
            <a:r>
              <a:rPr lang="en-US" altLang="zh-CN" sz="3200" b="1" baseline="-25000">
                <a:solidFill>
                  <a:srgbClr val="990000"/>
                </a:solidFill>
                <a:ea typeface="宋体" panose="02010600030101010101" pitchFamily="2" charset="-122"/>
              </a:rPr>
              <a:t>1</a:t>
            </a:r>
            <a:r>
              <a:rPr lang="en-US" altLang="zh-CN" sz="3200" b="1">
                <a:solidFill>
                  <a:srgbClr val="990000"/>
                </a:solidFill>
                <a:ea typeface="宋体" panose="02010600030101010101" pitchFamily="2" charset="-122"/>
              </a:rPr>
              <a:t>)</a:t>
            </a:r>
            <a:r>
              <a:rPr lang="en-US" altLang="zh-CN" sz="3200">
                <a:ea typeface="楷体_GB2312" pitchFamily="49" charset="-122"/>
              </a:rPr>
              <a:t>	</a:t>
            </a:r>
            <a:endParaRPr lang="en-US" altLang="zh-CN" sz="3200">
              <a:ea typeface="楷体_GB2312" pitchFamily="49" charset="-122"/>
            </a:endParaRPr>
          </a:p>
          <a:p>
            <a:pPr>
              <a:lnSpc>
                <a:spcPct val="110000"/>
              </a:lnSpc>
              <a:buFont typeface="Wingdings" panose="05000000000000000000" pitchFamily="2" charset="2"/>
              <a:buNone/>
            </a:pPr>
            <a:r>
              <a:rPr lang="en-US" altLang="zh-CN" sz="3200">
                <a:ea typeface="楷体_GB2312" pitchFamily="49" charset="-122"/>
              </a:rPr>
              <a:t>	</a:t>
            </a:r>
            <a:r>
              <a:rPr lang="zh-CN" altLang="en-US" sz="3200">
                <a:solidFill>
                  <a:srgbClr val="0000FF"/>
                </a:solidFill>
                <a:ea typeface="楷体_GB2312" pitchFamily="49" charset="-122"/>
              </a:rPr>
              <a:t>两个模式的公共属性可以函数确定其中一个模式</a:t>
            </a:r>
            <a:endParaRPr lang="zh-CN" altLang="en-US" sz="3200">
              <a:solidFill>
                <a:srgbClr val="0000FF"/>
              </a:solidFill>
              <a:ea typeface="楷体_GB2312" pitchFamily="49" charset="-122"/>
              <a:sym typeface="Symbol" panose="05050102010706020507" pitchFamily="18" charset="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4" name="Rectangle 2"/>
          <p:cNvSpPr>
            <a:spLocks noGrp="1" noChangeArrowheads="1"/>
          </p:cNvSpPr>
          <p:nvPr>
            <p:ph type="title"/>
          </p:nvPr>
        </p:nvSpPr>
        <p:spPr>
          <a:xfrm>
            <a:off x="323850" y="158750"/>
            <a:ext cx="5943600" cy="533400"/>
          </a:xfrm>
        </p:spPr>
        <p:txBody>
          <a:bodyPr>
            <a:normAutofit fontScale="90000"/>
          </a:bodyPr>
          <a:lstStyle/>
          <a:p>
            <a:pPr>
              <a:defRPr/>
            </a:pPr>
            <a:r>
              <a:rPr lang="zh-CN" altLang="en-US">
                <a:ea typeface="宋体" panose="02010600030101010101" pitchFamily="2" charset="-122"/>
              </a:rPr>
              <a:t>举例：</a:t>
            </a:r>
            <a:endParaRPr lang="zh-CN" altLang="en-US">
              <a:ea typeface="宋体" panose="02010600030101010101" pitchFamily="2" charset="-122"/>
            </a:endParaRPr>
          </a:p>
        </p:txBody>
      </p:sp>
      <p:sp>
        <p:nvSpPr>
          <p:cNvPr id="663555" name="Rectangle 3"/>
          <p:cNvSpPr>
            <a:spLocks noGrp="1" noChangeArrowheads="1"/>
          </p:cNvSpPr>
          <p:nvPr>
            <p:ph type="body" idx="1"/>
          </p:nvPr>
        </p:nvSpPr>
        <p:spPr>
          <a:xfrm>
            <a:off x="468313" y="762000"/>
            <a:ext cx="8207375" cy="5330825"/>
          </a:xfrm>
        </p:spPr>
        <p:txBody>
          <a:bodyPr>
            <a:normAutofit lnSpcReduction="10000"/>
          </a:bodyPr>
          <a:lstStyle/>
          <a:p>
            <a:pPr marL="0" indent="0">
              <a:lnSpc>
                <a:spcPct val="110000"/>
              </a:lnSpc>
              <a:buFont typeface="Wingdings" panose="05000000000000000000" pitchFamily="2" charset="2"/>
              <a:buNone/>
              <a:defRPr/>
            </a:pPr>
            <a:r>
              <a:rPr lang="zh-CN" altLang="en-US" sz="2600" b="1" dirty="0">
                <a:solidFill>
                  <a:srgbClr val="0000FF"/>
                </a:solidFill>
                <a:latin typeface="Times New Roman" panose="02020603050405020304" pitchFamily="18" charset="0"/>
                <a:ea typeface="楷体_GB2312" pitchFamily="49" charset="-122"/>
              </a:rPr>
              <a:t>设</a:t>
            </a:r>
            <a:r>
              <a:rPr lang="en-US" altLang="zh-CN" sz="2600" b="1" dirty="0">
                <a:solidFill>
                  <a:srgbClr val="0000FF"/>
                </a:solidFill>
                <a:latin typeface="Times New Roman" panose="02020603050405020304" pitchFamily="18" charset="0"/>
                <a:ea typeface="楷体_GB2312" pitchFamily="49" charset="-122"/>
              </a:rPr>
              <a:t>R=&lt;U,F&gt;, U={ABC},F={A→B},</a:t>
            </a:r>
            <a:r>
              <a:rPr lang="zh-CN" altLang="en-US" sz="2600" b="1" dirty="0">
                <a:solidFill>
                  <a:srgbClr val="0000FF"/>
                </a:solidFill>
                <a:latin typeface="Times New Roman" panose="02020603050405020304" pitchFamily="18" charset="0"/>
                <a:ea typeface="楷体_GB2312" pitchFamily="49" charset="-122"/>
              </a:rPr>
              <a:t>证明</a:t>
            </a:r>
            <a:r>
              <a:rPr lang="zh-CN" altLang="en-US" sz="2600" b="1" dirty="0">
                <a:solidFill>
                  <a:srgbClr val="0000FF"/>
                </a:solidFill>
                <a:latin typeface="Times New Roman" panose="02020603050405020304" pitchFamily="18" charset="0"/>
                <a:ea typeface="楷体_GB2312" pitchFamily="49" charset="-122"/>
                <a:sym typeface="Symbol" panose="05050102010706020507" pitchFamily="18" charset="2"/>
              </a:rPr>
              <a:t></a:t>
            </a:r>
            <a:r>
              <a:rPr lang="en-US" altLang="zh-CN" sz="2600" b="1" baseline="-25000" dirty="0">
                <a:solidFill>
                  <a:srgbClr val="0000FF"/>
                </a:solidFill>
                <a:latin typeface="Times New Roman" panose="02020603050405020304" pitchFamily="18" charset="0"/>
                <a:ea typeface="楷体_GB2312" pitchFamily="49" charset="-122"/>
                <a:sym typeface="Symbol" panose="05050102010706020507" pitchFamily="18" charset="2"/>
              </a:rPr>
              <a:t>1</a:t>
            </a:r>
            <a:r>
              <a:rPr lang="zh-CN" altLang="en-US" sz="2600" b="1" dirty="0">
                <a:solidFill>
                  <a:srgbClr val="0000FF"/>
                </a:solidFill>
                <a:latin typeface="Times New Roman" panose="02020603050405020304" pitchFamily="18" charset="0"/>
                <a:ea typeface="楷体_GB2312" pitchFamily="49" charset="-122"/>
                <a:sym typeface="Symbol" panose="05050102010706020507" pitchFamily="18" charset="2"/>
              </a:rPr>
              <a:t>＝｛</a:t>
            </a:r>
            <a:r>
              <a:rPr lang="en-US" altLang="zh-CN" sz="2600" b="1" dirty="0">
                <a:solidFill>
                  <a:srgbClr val="0000FF"/>
                </a:solidFill>
                <a:latin typeface="Times New Roman" panose="02020603050405020304" pitchFamily="18" charset="0"/>
                <a:ea typeface="楷体_GB2312" pitchFamily="49" charset="-122"/>
                <a:sym typeface="Symbol" panose="05050102010706020507" pitchFamily="18" charset="2"/>
              </a:rPr>
              <a:t>R</a:t>
            </a:r>
            <a:r>
              <a:rPr lang="en-US" altLang="zh-CN" sz="2600" b="1" baseline="-25000" dirty="0">
                <a:solidFill>
                  <a:srgbClr val="0000FF"/>
                </a:solidFill>
                <a:latin typeface="Times New Roman" panose="02020603050405020304" pitchFamily="18" charset="0"/>
                <a:ea typeface="楷体_GB2312" pitchFamily="49" charset="-122"/>
                <a:sym typeface="Symbol" panose="05050102010706020507" pitchFamily="18" charset="2"/>
              </a:rPr>
              <a:t>1</a:t>
            </a:r>
            <a:r>
              <a:rPr lang="en-US" altLang="zh-CN" sz="2600" b="1" dirty="0">
                <a:solidFill>
                  <a:srgbClr val="0000FF"/>
                </a:solidFill>
                <a:latin typeface="Times New Roman" panose="02020603050405020304" pitchFamily="18" charset="0"/>
                <a:ea typeface="楷体_GB2312" pitchFamily="49" charset="-122"/>
                <a:sym typeface="Symbol" panose="05050102010706020507" pitchFamily="18" charset="2"/>
              </a:rPr>
              <a:t>(AB), R</a:t>
            </a:r>
            <a:r>
              <a:rPr lang="en-US" altLang="zh-CN" sz="2600" b="1" baseline="-25000" dirty="0">
                <a:solidFill>
                  <a:srgbClr val="0000FF"/>
                </a:solidFill>
                <a:latin typeface="Times New Roman" panose="02020603050405020304" pitchFamily="18" charset="0"/>
                <a:ea typeface="楷体_GB2312" pitchFamily="49" charset="-122"/>
                <a:sym typeface="Symbol" panose="05050102010706020507" pitchFamily="18" charset="2"/>
              </a:rPr>
              <a:t>2</a:t>
            </a:r>
            <a:r>
              <a:rPr lang="en-US" altLang="zh-CN" sz="2600" b="1" dirty="0">
                <a:solidFill>
                  <a:srgbClr val="0000FF"/>
                </a:solidFill>
                <a:latin typeface="Times New Roman" panose="02020603050405020304" pitchFamily="18" charset="0"/>
                <a:ea typeface="楷体_GB2312" pitchFamily="49" charset="-122"/>
                <a:sym typeface="Symbol" panose="05050102010706020507" pitchFamily="18" charset="2"/>
              </a:rPr>
              <a:t>(AC)} </a:t>
            </a:r>
            <a:r>
              <a:rPr lang="zh-CN" altLang="en-US" sz="2600" b="1" dirty="0">
                <a:solidFill>
                  <a:srgbClr val="0000FF"/>
                </a:solidFill>
                <a:latin typeface="Times New Roman" panose="02020603050405020304" pitchFamily="18" charset="0"/>
                <a:ea typeface="楷体_GB2312" pitchFamily="49" charset="-122"/>
                <a:sym typeface="Symbol" panose="05050102010706020507" pitchFamily="18" charset="2"/>
              </a:rPr>
              <a:t>是无损连接，</a:t>
            </a:r>
            <a:r>
              <a:rPr lang="en-US" altLang="zh-CN" sz="2600" b="1" baseline="-25000" dirty="0">
                <a:solidFill>
                  <a:srgbClr val="0000FF"/>
                </a:solidFill>
                <a:latin typeface="Times New Roman" panose="02020603050405020304" pitchFamily="18" charset="0"/>
                <a:ea typeface="楷体_GB2312" pitchFamily="49" charset="-122"/>
                <a:sym typeface="Symbol" panose="05050102010706020507" pitchFamily="18" charset="2"/>
              </a:rPr>
              <a:t>2</a:t>
            </a:r>
            <a:r>
              <a:rPr lang="zh-CN" altLang="en-US" sz="2600" b="1" dirty="0">
                <a:solidFill>
                  <a:srgbClr val="0000FF"/>
                </a:solidFill>
                <a:latin typeface="Times New Roman" panose="02020603050405020304" pitchFamily="18" charset="0"/>
                <a:ea typeface="楷体_GB2312" pitchFamily="49" charset="-122"/>
                <a:sym typeface="Symbol" panose="05050102010706020507" pitchFamily="18" charset="2"/>
              </a:rPr>
              <a:t>＝｛</a:t>
            </a:r>
            <a:r>
              <a:rPr lang="en-US" altLang="zh-CN" sz="2600" b="1" dirty="0">
                <a:solidFill>
                  <a:srgbClr val="0000FF"/>
                </a:solidFill>
                <a:latin typeface="Times New Roman" panose="02020603050405020304" pitchFamily="18" charset="0"/>
                <a:ea typeface="楷体_GB2312" pitchFamily="49" charset="-122"/>
                <a:sym typeface="Symbol" panose="05050102010706020507" pitchFamily="18" charset="2"/>
              </a:rPr>
              <a:t>R</a:t>
            </a:r>
            <a:r>
              <a:rPr lang="en-US" altLang="zh-CN" sz="2600" b="1" baseline="-25000" dirty="0">
                <a:solidFill>
                  <a:srgbClr val="0000FF"/>
                </a:solidFill>
                <a:latin typeface="Times New Roman" panose="02020603050405020304" pitchFamily="18" charset="0"/>
                <a:ea typeface="楷体_GB2312" pitchFamily="49" charset="-122"/>
                <a:sym typeface="Symbol" panose="05050102010706020507" pitchFamily="18" charset="2"/>
              </a:rPr>
              <a:t>1</a:t>
            </a:r>
            <a:r>
              <a:rPr lang="en-US" altLang="zh-CN" sz="2600" b="1" dirty="0">
                <a:solidFill>
                  <a:srgbClr val="0000FF"/>
                </a:solidFill>
                <a:latin typeface="Times New Roman" panose="02020603050405020304" pitchFamily="18" charset="0"/>
                <a:ea typeface="楷体_GB2312" pitchFamily="49" charset="-122"/>
                <a:sym typeface="Symbol" panose="05050102010706020507" pitchFamily="18" charset="2"/>
              </a:rPr>
              <a:t>(AB),R</a:t>
            </a:r>
            <a:r>
              <a:rPr lang="en-US" altLang="zh-CN" sz="2600" b="1" baseline="-25000" dirty="0">
                <a:solidFill>
                  <a:srgbClr val="0000FF"/>
                </a:solidFill>
                <a:latin typeface="Times New Roman" panose="02020603050405020304" pitchFamily="18" charset="0"/>
                <a:ea typeface="楷体_GB2312" pitchFamily="49" charset="-122"/>
                <a:sym typeface="Symbol" panose="05050102010706020507" pitchFamily="18" charset="2"/>
              </a:rPr>
              <a:t>3</a:t>
            </a:r>
            <a:r>
              <a:rPr lang="en-US" altLang="zh-CN" sz="2600" b="1" dirty="0">
                <a:solidFill>
                  <a:srgbClr val="0000FF"/>
                </a:solidFill>
                <a:latin typeface="Times New Roman" panose="02020603050405020304" pitchFamily="18" charset="0"/>
                <a:ea typeface="楷体_GB2312" pitchFamily="49" charset="-122"/>
                <a:sym typeface="Symbol" panose="05050102010706020507" pitchFamily="18" charset="2"/>
              </a:rPr>
              <a:t>(BC)}</a:t>
            </a:r>
            <a:r>
              <a:rPr lang="zh-CN" altLang="en-US" sz="2600" b="1" dirty="0">
                <a:solidFill>
                  <a:srgbClr val="0000FF"/>
                </a:solidFill>
                <a:latin typeface="Times New Roman" panose="02020603050405020304" pitchFamily="18" charset="0"/>
                <a:ea typeface="楷体_GB2312" pitchFamily="49" charset="-122"/>
                <a:sym typeface="Symbol" panose="05050102010706020507" pitchFamily="18" charset="2"/>
              </a:rPr>
              <a:t>不是无损连接。</a:t>
            </a:r>
            <a:endParaRPr lang="zh-CN" altLang="en-US" sz="2600" b="1" dirty="0">
              <a:solidFill>
                <a:srgbClr val="0000FF"/>
              </a:solidFill>
              <a:latin typeface="Times New Roman" panose="02020603050405020304" pitchFamily="18" charset="0"/>
              <a:ea typeface="楷体_GB2312" pitchFamily="49" charset="-122"/>
              <a:sym typeface="Symbol" panose="05050102010706020507" pitchFamily="18" charset="2"/>
            </a:endParaRPr>
          </a:p>
          <a:p>
            <a:pPr marL="0" indent="0">
              <a:lnSpc>
                <a:spcPct val="110000"/>
              </a:lnSpc>
              <a:buFont typeface="Wingdings" panose="05000000000000000000" pitchFamily="2" charset="2"/>
              <a:buNone/>
              <a:defRPr/>
            </a:pPr>
            <a:endParaRPr lang="zh-CN" altLang="en-US" sz="2600" b="1" dirty="0">
              <a:solidFill>
                <a:schemeClr val="hlink"/>
              </a:solidFill>
              <a:latin typeface="Times New Roman" panose="02020603050405020304" pitchFamily="18" charset="0"/>
              <a:ea typeface="楷体_GB2312" pitchFamily="49" charset="-122"/>
              <a:sym typeface="Symbol" panose="05050102010706020507" pitchFamily="18" charset="2"/>
            </a:endParaRPr>
          </a:p>
          <a:p>
            <a:pPr marL="0" indent="0">
              <a:lnSpc>
                <a:spcPct val="110000"/>
              </a:lnSpc>
              <a:buFont typeface="Wingdings" panose="05000000000000000000" pitchFamily="2" charset="2"/>
              <a:buNone/>
              <a:defRPr/>
            </a:pPr>
            <a:r>
              <a:rPr lang="zh-CN" altLang="en-US" sz="2600" b="1" dirty="0">
                <a:latin typeface="Times New Roman" panose="02020603050405020304" pitchFamily="18" charset="0"/>
                <a:ea typeface="楷体_GB2312" pitchFamily="49" charset="-122"/>
                <a:sym typeface="Symbol" panose="05050102010706020507" pitchFamily="18" charset="2"/>
              </a:rPr>
              <a:t>解：</a:t>
            </a:r>
            <a:br>
              <a:rPr lang="zh-CN" altLang="en-US" sz="2600" b="1" dirty="0">
                <a:latin typeface="Times New Roman" panose="02020603050405020304" pitchFamily="18" charset="0"/>
                <a:ea typeface="楷体_GB2312" pitchFamily="49" charset="-122"/>
                <a:sym typeface="Symbol" panose="05050102010706020507" pitchFamily="18" charset="2"/>
              </a:rPr>
            </a:br>
            <a:r>
              <a:rPr lang="zh-CN" altLang="en-US" sz="2600" dirty="0">
                <a:latin typeface="Times New Roman" panose="02020603050405020304" pitchFamily="18" charset="0"/>
                <a:ea typeface="宋体" panose="02010600030101010101" pitchFamily="2" charset="-122"/>
                <a:sym typeface="Symbol" panose="05050102010706020507" pitchFamily="18" charset="2"/>
              </a:rPr>
              <a:t></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1</a:t>
            </a:r>
            <a:r>
              <a:rPr lang="en-US" altLang="zh-CN" sz="2600" dirty="0">
                <a:latin typeface="Times New Roman" panose="02020603050405020304" pitchFamily="18" charset="0"/>
                <a:ea typeface="宋体" panose="02010600030101010101" pitchFamily="2" charset="-122"/>
              </a:rPr>
              <a:t>={R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1</a:t>
            </a:r>
            <a:r>
              <a:rPr lang="en-US" altLang="zh-CN" sz="2600" dirty="0">
                <a:latin typeface="Times New Roman" panose="02020603050405020304" pitchFamily="18" charset="0"/>
                <a:ea typeface="宋体" panose="02010600030101010101" pitchFamily="2" charset="-122"/>
              </a:rPr>
              <a:t>(AB), 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2</a:t>
            </a:r>
            <a:r>
              <a:rPr lang="en-US" altLang="zh-CN" sz="2600" dirty="0">
                <a:latin typeface="Times New Roman" panose="02020603050405020304" pitchFamily="18" charset="0"/>
                <a:ea typeface="宋体" panose="02010600030101010101" pitchFamily="2" charset="-122"/>
              </a:rPr>
              <a:t>(AC)}</a:t>
            </a:r>
            <a:endParaRPr lang="en-US" altLang="zh-CN" sz="2600" dirty="0">
              <a:latin typeface="Times New Roman" panose="02020603050405020304" pitchFamily="18" charset="0"/>
              <a:ea typeface="宋体" panose="02010600030101010101" pitchFamily="2" charset="-122"/>
            </a:endParaRPr>
          </a:p>
          <a:p>
            <a:pPr marL="0" indent="0">
              <a:lnSpc>
                <a:spcPct val="110000"/>
              </a:lnSpc>
              <a:buFont typeface="Wingdings" panose="05000000000000000000" pitchFamily="2" charset="2"/>
              <a:buNone/>
              <a:defRPr/>
            </a:pPr>
            <a:r>
              <a:rPr lang="en-US" altLang="zh-CN" sz="2600" dirty="0">
                <a:latin typeface="Times New Roman" panose="02020603050405020304" pitchFamily="18" charset="0"/>
                <a:ea typeface="宋体" panose="02010600030101010101" pitchFamily="2" charset="-122"/>
              </a:rPr>
              <a:t>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1</a:t>
            </a:r>
            <a:r>
              <a:rPr lang="en-US" altLang="zh-CN" sz="2600" dirty="0">
                <a:latin typeface="Times New Roman" panose="02020603050405020304" pitchFamily="18" charset="0"/>
                <a:ea typeface="宋体" panose="02010600030101010101" pitchFamily="2" charset="-122"/>
              </a:rPr>
              <a:t>∩R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2</a:t>
            </a:r>
            <a:r>
              <a:rPr lang="en-US" altLang="zh-CN" sz="2600" dirty="0">
                <a:latin typeface="Times New Roman" panose="02020603050405020304" pitchFamily="18" charset="0"/>
                <a:ea typeface="宋体" panose="02010600030101010101" pitchFamily="2" charset="-122"/>
              </a:rPr>
              <a:t> = A, 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1</a:t>
            </a:r>
            <a:r>
              <a:rPr lang="zh-CN" altLang="en-US" sz="2600" dirty="0">
                <a:latin typeface="Times New Roman" panose="02020603050405020304" pitchFamily="18" charset="0"/>
                <a:ea typeface="宋体" panose="02010600030101010101" pitchFamily="2" charset="-122"/>
              </a:rPr>
              <a:t>－</a:t>
            </a:r>
            <a:r>
              <a:rPr lang="en-US" altLang="zh-CN" sz="2600" dirty="0">
                <a:latin typeface="Times New Roman" panose="02020603050405020304" pitchFamily="18" charset="0"/>
                <a:ea typeface="宋体" panose="02010600030101010101" pitchFamily="2" charset="-122"/>
              </a:rPr>
              <a:t>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2</a:t>
            </a:r>
            <a:r>
              <a:rPr lang="en-US" altLang="zh-CN" sz="2600" dirty="0">
                <a:latin typeface="Times New Roman" panose="02020603050405020304" pitchFamily="18" charset="0"/>
                <a:ea typeface="宋体" panose="02010600030101010101" pitchFamily="2" charset="-122"/>
              </a:rPr>
              <a:t> = B</a:t>
            </a:r>
            <a:endParaRPr lang="en-US" altLang="zh-CN" sz="2600" dirty="0">
              <a:latin typeface="Times New Roman" panose="02020603050405020304" pitchFamily="18" charset="0"/>
              <a:ea typeface="宋体" panose="02010600030101010101" pitchFamily="2" charset="-122"/>
            </a:endParaRPr>
          </a:p>
          <a:p>
            <a:pPr marL="0" indent="0">
              <a:lnSpc>
                <a:spcPct val="110000"/>
              </a:lnSpc>
              <a:buFont typeface="Wingdings" panose="05000000000000000000" pitchFamily="2" charset="2"/>
              <a:buNone/>
              <a:defRPr/>
            </a:pPr>
            <a:r>
              <a:rPr lang="zh-CN" altLang="en-US" sz="2600" dirty="0">
                <a:latin typeface="Times New Roman" panose="02020603050405020304" pitchFamily="18" charset="0"/>
                <a:ea typeface="宋体" panose="02010600030101010101" pitchFamily="2" charset="-122"/>
              </a:rPr>
              <a:t>由</a:t>
            </a:r>
            <a:r>
              <a:rPr lang="en-US" altLang="zh-CN" sz="2600" dirty="0">
                <a:latin typeface="Times New Roman" panose="02020603050405020304" pitchFamily="18" charset="0"/>
                <a:ea typeface="宋体" panose="02010600030101010101" pitchFamily="2" charset="-122"/>
              </a:rPr>
              <a:t>A </a:t>
            </a:r>
            <a:r>
              <a:rPr lang="en-US" altLang="zh-CN" sz="2600" dirty="0">
                <a:latin typeface="Times New Roman" panose="02020603050405020304" pitchFamily="18" charset="0"/>
                <a:ea typeface="宋体" panose="02010600030101010101" pitchFamily="2" charset="-122"/>
                <a:sym typeface="Symbol" panose="05050102010706020507" pitchFamily="18" charset="2"/>
              </a:rPr>
              <a:t></a:t>
            </a:r>
            <a:r>
              <a:rPr lang="en-US" altLang="zh-CN" sz="2600" dirty="0">
                <a:latin typeface="Times New Roman" panose="02020603050405020304" pitchFamily="18" charset="0"/>
                <a:ea typeface="宋体" panose="02010600030101010101" pitchFamily="2" charset="-122"/>
              </a:rPr>
              <a:t> B </a:t>
            </a:r>
            <a:r>
              <a:rPr lang="zh-CN" altLang="en-US" sz="2600" dirty="0">
                <a:latin typeface="Times New Roman" panose="02020603050405020304" pitchFamily="18" charset="0"/>
                <a:ea typeface="宋体" panose="02010600030101010101" pitchFamily="2" charset="-122"/>
              </a:rPr>
              <a:t>，得到</a:t>
            </a:r>
            <a:r>
              <a:rPr lang="zh-CN" altLang="en-US" sz="2600" dirty="0">
                <a:latin typeface="Times New Roman" panose="02020603050405020304" pitchFamily="18" charset="0"/>
                <a:ea typeface="宋体" panose="02010600030101010101" pitchFamily="2" charset="-122"/>
                <a:sym typeface="Symbol" panose="05050102010706020507" pitchFamily="18" charset="2"/>
              </a:rPr>
              <a:t></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1</a:t>
            </a:r>
            <a:r>
              <a:rPr lang="zh-CN" altLang="en-US" sz="2600" dirty="0">
                <a:latin typeface="Times New Roman" panose="02020603050405020304" pitchFamily="18" charset="0"/>
                <a:ea typeface="宋体" panose="02010600030101010101" pitchFamily="2" charset="-122"/>
              </a:rPr>
              <a:t>是无损连接分解</a:t>
            </a:r>
            <a:endParaRPr lang="zh-CN" altLang="en-US" sz="2600" dirty="0">
              <a:latin typeface="Times New Roman" panose="02020603050405020304" pitchFamily="18" charset="0"/>
              <a:ea typeface="宋体" panose="02010600030101010101" pitchFamily="2" charset="-122"/>
            </a:endParaRPr>
          </a:p>
          <a:p>
            <a:pPr marL="0" indent="0">
              <a:lnSpc>
                <a:spcPct val="110000"/>
              </a:lnSpc>
              <a:spcBef>
                <a:spcPct val="85000"/>
              </a:spcBef>
              <a:buFont typeface="Wingdings" panose="05000000000000000000" pitchFamily="2" charset="2"/>
              <a:buNone/>
              <a:defRPr/>
            </a:pPr>
            <a:r>
              <a:rPr lang="zh-CN" altLang="en-US" sz="2600" dirty="0">
                <a:latin typeface="Times New Roman" panose="02020603050405020304" pitchFamily="18" charset="0"/>
                <a:ea typeface="宋体" panose="02010600030101010101" pitchFamily="2" charset="-122"/>
                <a:sym typeface="Symbol" panose="05050102010706020507" pitchFamily="18" charset="2"/>
              </a:rPr>
              <a:t></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2</a:t>
            </a:r>
            <a:r>
              <a:rPr lang="en-US" altLang="zh-CN" sz="2600" dirty="0">
                <a:latin typeface="Times New Roman" panose="02020603050405020304" pitchFamily="18" charset="0"/>
                <a:ea typeface="宋体" panose="02010600030101010101" pitchFamily="2" charset="-122"/>
              </a:rPr>
              <a:t>={R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1</a:t>
            </a:r>
            <a:r>
              <a:rPr lang="en-US" altLang="zh-CN" sz="2600" dirty="0">
                <a:latin typeface="Times New Roman" panose="02020603050405020304" pitchFamily="18" charset="0"/>
                <a:ea typeface="宋体" panose="02010600030101010101" pitchFamily="2" charset="-122"/>
              </a:rPr>
              <a:t>(AB), 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2</a:t>
            </a:r>
            <a:r>
              <a:rPr lang="en-US" altLang="zh-CN" sz="2600" dirty="0">
                <a:latin typeface="Times New Roman" panose="02020603050405020304" pitchFamily="18" charset="0"/>
                <a:ea typeface="宋体" panose="02010600030101010101" pitchFamily="2" charset="-122"/>
              </a:rPr>
              <a:t>(BC)}</a:t>
            </a:r>
            <a:endParaRPr lang="en-US" altLang="zh-CN" sz="2600" dirty="0">
              <a:latin typeface="Times New Roman" panose="02020603050405020304" pitchFamily="18" charset="0"/>
              <a:ea typeface="宋体" panose="02010600030101010101" pitchFamily="2" charset="-122"/>
            </a:endParaRPr>
          </a:p>
          <a:p>
            <a:pPr marL="0" indent="0">
              <a:lnSpc>
                <a:spcPct val="110000"/>
              </a:lnSpc>
              <a:buFont typeface="Wingdings" panose="05000000000000000000" pitchFamily="2" charset="2"/>
              <a:buNone/>
              <a:defRPr/>
            </a:pPr>
            <a:r>
              <a:rPr lang="en-US" altLang="zh-CN" sz="2600" dirty="0">
                <a:latin typeface="Times New Roman" panose="02020603050405020304" pitchFamily="18" charset="0"/>
                <a:ea typeface="宋体" panose="02010600030101010101" pitchFamily="2" charset="-122"/>
              </a:rPr>
              <a:t>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1</a:t>
            </a:r>
            <a:r>
              <a:rPr lang="en-US" altLang="zh-CN" sz="2600" dirty="0">
                <a:latin typeface="Times New Roman" panose="02020603050405020304" pitchFamily="18" charset="0"/>
                <a:ea typeface="宋体" panose="02010600030101010101" pitchFamily="2" charset="-122"/>
              </a:rPr>
              <a:t>∩R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2</a:t>
            </a:r>
            <a:r>
              <a:rPr lang="en-US" altLang="zh-CN" sz="2600" dirty="0">
                <a:latin typeface="Times New Roman" panose="02020603050405020304" pitchFamily="18" charset="0"/>
                <a:ea typeface="宋体" panose="02010600030101010101" pitchFamily="2" charset="-122"/>
              </a:rPr>
              <a:t> = B, 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1</a:t>
            </a:r>
            <a:r>
              <a:rPr lang="zh-CN" altLang="en-US" sz="2600" dirty="0">
                <a:latin typeface="Times New Roman" panose="02020603050405020304" pitchFamily="18" charset="0"/>
                <a:ea typeface="宋体" panose="02010600030101010101" pitchFamily="2" charset="-122"/>
              </a:rPr>
              <a:t>－</a:t>
            </a:r>
            <a:r>
              <a:rPr lang="en-US" altLang="zh-CN" sz="2600" dirty="0">
                <a:latin typeface="Times New Roman" panose="02020603050405020304" pitchFamily="18" charset="0"/>
                <a:ea typeface="宋体" panose="02010600030101010101" pitchFamily="2" charset="-122"/>
              </a:rPr>
              <a:t>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2</a:t>
            </a:r>
            <a:r>
              <a:rPr lang="en-US" altLang="zh-CN" sz="2600" dirty="0">
                <a:latin typeface="Times New Roman" panose="02020603050405020304" pitchFamily="18" charset="0"/>
                <a:ea typeface="宋体" panose="02010600030101010101" pitchFamily="2" charset="-122"/>
              </a:rPr>
              <a:t> = A, 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2</a:t>
            </a:r>
            <a:r>
              <a:rPr lang="zh-CN" altLang="en-US" sz="2600" dirty="0">
                <a:latin typeface="Times New Roman" panose="02020603050405020304" pitchFamily="18" charset="0"/>
                <a:ea typeface="宋体" panose="02010600030101010101" pitchFamily="2" charset="-122"/>
              </a:rPr>
              <a:t>－</a:t>
            </a:r>
            <a:r>
              <a:rPr lang="en-US" altLang="zh-CN" sz="2600" dirty="0">
                <a:latin typeface="Times New Roman" panose="02020603050405020304" pitchFamily="18" charset="0"/>
                <a:ea typeface="宋体" panose="02010600030101010101" pitchFamily="2" charset="-122"/>
              </a:rPr>
              <a:t>R</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1</a:t>
            </a:r>
            <a:r>
              <a:rPr lang="en-US" altLang="zh-CN" sz="2600" dirty="0">
                <a:latin typeface="Times New Roman" panose="02020603050405020304" pitchFamily="18" charset="0"/>
                <a:ea typeface="宋体" panose="02010600030101010101" pitchFamily="2" charset="-122"/>
              </a:rPr>
              <a:t> = C</a:t>
            </a:r>
            <a:endParaRPr lang="en-US" altLang="zh-CN" sz="2600" dirty="0">
              <a:latin typeface="Times New Roman" panose="02020603050405020304" pitchFamily="18" charset="0"/>
              <a:ea typeface="宋体" panose="02010600030101010101" pitchFamily="2" charset="-122"/>
            </a:endParaRPr>
          </a:p>
          <a:p>
            <a:pPr marL="0" indent="0">
              <a:lnSpc>
                <a:spcPct val="110000"/>
              </a:lnSpc>
              <a:buFont typeface="Wingdings" panose="05000000000000000000" pitchFamily="2" charset="2"/>
              <a:buNone/>
              <a:defRPr/>
            </a:pPr>
            <a:r>
              <a:rPr lang="en-US" altLang="zh-CN" sz="2600" dirty="0">
                <a:latin typeface="Times New Roman" panose="02020603050405020304" pitchFamily="18" charset="0"/>
                <a:ea typeface="宋体" panose="02010600030101010101" pitchFamily="2" charset="-122"/>
              </a:rPr>
              <a:t>B</a:t>
            </a:r>
            <a:r>
              <a:rPr lang="en-US" altLang="zh-CN" sz="2600" dirty="0">
                <a:latin typeface="Times New Roman" panose="02020603050405020304" pitchFamily="18" charset="0"/>
                <a:ea typeface="宋体" panose="02010600030101010101" pitchFamily="2" charset="-122"/>
                <a:sym typeface="Symbol" panose="05050102010706020507" pitchFamily="18" charset="2"/>
              </a:rPr>
              <a:t></a:t>
            </a:r>
            <a:r>
              <a:rPr lang="en-US" altLang="zh-CN" sz="2600" dirty="0">
                <a:latin typeface="Times New Roman" panose="02020603050405020304" pitchFamily="18" charset="0"/>
                <a:ea typeface="宋体" panose="02010600030101010101" pitchFamily="2" charset="-122"/>
              </a:rPr>
              <a:t>A, B</a:t>
            </a:r>
            <a:r>
              <a:rPr lang="en-US" altLang="zh-CN" sz="2600" dirty="0">
                <a:latin typeface="Times New Roman" panose="02020603050405020304" pitchFamily="18" charset="0"/>
                <a:ea typeface="宋体" panose="02010600030101010101" pitchFamily="2" charset="-122"/>
                <a:sym typeface="Symbol" panose="05050102010706020507" pitchFamily="18" charset="2"/>
              </a:rPr>
              <a:t></a:t>
            </a:r>
            <a:r>
              <a:rPr lang="en-US" altLang="zh-CN" sz="2600" dirty="0">
                <a:latin typeface="Times New Roman" panose="02020603050405020304" pitchFamily="18" charset="0"/>
                <a:ea typeface="宋体" panose="02010600030101010101" pitchFamily="2" charset="-122"/>
              </a:rPr>
              <a:t>C</a:t>
            </a:r>
            <a:r>
              <a:rPr lang="zh-CN" altLang="en-US" sz="2600" dirty="0">
                <a:latin typeface="Times New Roman" panose="02020603050405020304" pitchFamily="18" charset="0"/>
                <a:ea typeface="宋体" panose="02010600030101010101" pitchFamily="2" charset="-122"/>
              </a:rPr>
              <a:t>均不成立，所以</a:t>
            </a:r>
            <a:r>
              <a:rPr lang="zh-CN" altLang="en-US" sz="2600" dirty="0">
                <a:latin typeface="Times New Roman" panose="02020603050405020304" pitchFamily="18" charset="0"/>
                <a:ea typeface="宋体" panose="02010600030101010101" pitchFamily="2" charset="-122"/>
                <a:sym typeface="Symbol" panose="05050102010706020507" pitchFamily="18" charset="2"/>
              </a:rPr>
              <a:t></a:t>
            </a:r>
            <a:r>
              <a:rPr lang="en-US" altLang="zh-CN" sz="2600" baseline="-16000" dirty="0">
                <a:latin typeface="Times New Roman" panose="02020603050405020304" pitchFamily="18" charset="0"/>
                <a:ea typeface="宋体" panose="02010600030101010101" pitchFamily="2" charset="-122"/>
                <a:sym typeface="Symbol" panose="05050102010706020507" pitchFamily="18" charset="2"/>
              </a:rPr>
              <a:t>1</a:t>
            </a:r>
            <a:r>
              <a:rPr lang="zh-CN" altLang="en-US" sz="2600" dirty="0">
                <a:latin typeface="Times New Roman" panose="02020603050405020304" pitchFamily="18" charset="0"/>
                <a:ea typeface="宋体" panose="02010600030101010101" pitchFamily="2" charset="-122"/>
              </a:rPr>
              <a:t>不是无损连接分解</a:t>
            </a:r>
            <a:endParaRPr lang="zh-CN" altLang="en-US" sz="260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3555">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3555">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355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3555">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63555">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6355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55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Rectangle 2"/>
          <p:cNvSpPr>
            <a:spLocks noGrp="1" noChangeArrowheads="1"/>
          </p:cNvSpPr>
          <p:nvPr>
            <p:ph type="title"/>
          </p:nvPr>
        </p:nvSpPr>
        <p:spPr/>
        <p:txBody>
          <a:bodyPr/>
          <a:lstStyle/>
          <a:p>
            <a:pPr>
              <a:defRPr/>
            </a:pPr>
            <a:r>
              <a:rPr lang="zh-CN" altLang="en-US">
                <a:ea typeface="宋体" panose="02010600030101010101" pitchFamily="2" charset="-122"/>
              </a:rPr>
              <a:t>保持函数依赖的分解</a:t>
            </a:r>
            <a:endParaRPr lang="zh-CN" altLang="en-US">
              <a:ea typeface="宋体" panose="02010600030101010101" pitchFamily="2" charset="-122"/>
            </a:endParaRPr>
          </a:p>
        </p:txBody>
      </p:sp>
      <p:sp>
        <p:nvSpPr>
          <p:cNvPr id="26627" name="Rectangle 3"/>
          <p:cNvSpPr>
            <a:spLocks noGrp="1" noChangeArrowheads="1"/>
          </p:cNvSpPr>
          <p:nvPr>
            <p:ph type="body" idx="1"/>
          </p:nvPr>
        </p:nvSpPr>
        <p:spPr/>
        <p:txBody>
          <a:bodyPr/>
          <a:lstStyle/>
          <a:p>
            <a:pPr>
              <a:spcBef>
                <a:spcPct val="40000"/>
              </a:spcBef>
            </a:pPr>
            <a:r>
              <a:rPr lang="zh-CN" altLang="en-US" sz="3600">
                <a:ea typeface="楷体_GB2312" pitchFamily="49" charset="-122"/>
              </a:rPr>
              <a:t>保持关系模式分解等价的另一个重要条件是关系模式的函数依赖集在分解后仍在数据库模式中保持不变。</a:t>
            </a:r>
            <a:endParaRPr lang="zh-CN" altLang="en-US" sz="3600">
              <a:ea typeface="楷体_GB2312" pitchFamily="49" charset="-122"/>
            </a:endParaRPr>
          </a:p>
          <a:p>
            <a:pPr>
              <a:spcBef>
                <a:spcPct val="40000"/>
              </a:spcBef>
            </a:pPr>
            <a:r>
              <a:rPr lang="zh-CN" altLang="en-US" sz="3600">
                <a:ea typeface="楷体_GB2312" pitchFamily="49" charset="-122"/>
              </a:rPr>
              <a:t>即关系模式</a:t>
            </a:r>
            <a:r>
              <a:rPr lang="en-US" altLang="zh-CN" sz="3600">
                <a:ea typeface="楷体_GB2312" pitchFamily="49" charset="-122"/>
              </a:rPr>
              <a:t>R </a:t>
            </a:r>
            <a:r>
              <a:rPr lang="zh-CN" altLang="en-US" sz="3600">
                <a:ea typeface="楷体_GB2312" pitchFamily="49" charset="-122"/>
              </a:rPr>
              <a:t>到</a:t>
            </a:r>
            <a:r>
              <a:rPr lang="zh-CN" altLang="en-US" sz="3600">
                <a:ea typeface="楷体_GB2312" pitchFamily="49" charset="-122"/>
                <a:sym typeface="Symbol" panose="05050102010706020507" pitchFamily="18" charset="2"/>
              </a:rPr>
              <a:t></a:t>
            </a:r>
            <a:r>
              <a:rPr lang="en-US" altLang="zh-CN" sz="3600">
                <a:ea typeface="楷体_GB2312" pitchFamily="49" charset="-122"/>
              </a:rPr>
              <a:t>={R</a:t>
            </a:r>
            <a:r>
              <a:rPr lang="en-US" altLang="zh-CN" sz="3600" baseline="-25000">
                <a:ea typeface="楷体_GB2312" pitchFamily="49" charset="-122"/>
              </a:rPr>
              <a:t>1</a:t>
            </a:r>
            <a:r>
              <a:rPr lang="en-US" altLang="zh-CN" sz="3600">
                <a:ea typeface="楷体_GB2312" pitchFamily="49" charset="-122"/>
              </a:rPr>
              <a:t>,R</a:t>
            </a:r>
            <a:r>
              <a:rPr lang="en-US" altLang="zh-CN" sz="3600" baseline="-25000">
                <a:ea typeface="楷体_GB2312" pitchFamily="49" charset="-122"/>
              </a:rPr>
              <a:t>2</a:t>
            </a:r>
            <a:r>
              <a:rPr lang="en-US" altLang="zh-CN" sz="3600">
                <a:ea typeface="楷体_GB2312" pitchFamily="49" charset="-122"/>
              </a:rPr>
              <a:t>…R</a:t>
            </a:r>
            <a:r>
              <a:rPr lang="en-US" altLang="zh-CN" sz="3600" baseline="-25000">
                <a:ea typeface="楷体_GB2312" pitchFamily="49" charset="-122"/>
              </a:rPr>
              <a:t>k</a:t>
            </a:r>
            <a:r>
              <a:rPr lang="en-US" altLang="zh-CN" sz="3600">
                <a:ea typeface="楷体_GB2312" pitchFamily="49" charset="-122"/>
              </a:rPr>
              <a:t>}</a:t>
            </a:r>
            <a:r>
              <a:rPr lang="zh-CN" altLang="en-US" sz="3600">
                <a:ea typeface="楷体_GB2312" pitchFamily="49" charset="-122"/>
              </a:rPr>
              <a:t>的分解，应使函数依赖集</a:t>
            </a:r>
            <a:r>
              <a:rPr lang="en-US" altLang="zh-CN" sz="3600">
                <a:ea typeface="楷体_GB2312" pitchFamily="49" charset="-122"/>
              </a:rPr>
              <a:t>F</a:t>
            </a:r>
            <a:r>
              <a:rPr lang="zh-CN" altLang="en-US" sz="3600">
                <a:ea typeface="楷体_GB2312" pitchFamily="49" charset="-122"/>
              </a:rPr>
              <a:t>，被</a:t>
            </a:r>
            <a:r>
              <a:rPr lang="en-US" altLang="zh-CN" sz="3600">
                <a:ea typeface="楷体_GB2312" pitchFamily="49" charset="-122"/>
              </a:rPr>
              <a:t>F</a:t>
            </a:r>
            <a:r>
              <a:rPr lang="zh-CN" altLang="en-US" sz="3600">
                <a:ea typeface="楷体_GB2312" pitchFamily="49" charset="-122"/>
              </a:rPr>
              <a:t>在这些</a:t>
            </a:r>
            <a:r>
              <a:rPr lang="en-US" altLang="zh-CN" sz="3600">
                <a:ea typeface="楷体_GB2312" pitchFamily="49" charset="-122"/>
              </a:rPr>
              <a:t>R</a:t>
            </a:r>
            <a:r>
              <a:rPr lang="en-US" altLang="zh-CN" sz="3600" baseline="-25000">
                <a:ea typeface="楷体_GB2312" pitchFamily="49" charset="-122"/>
              </a:rPr>
              <a:t>i</a:t>
            </a:r>
            <a:r>
              <a:rPr lang="zh-CN" altLang="en-US" sz="3600">
                <a:ea typeface="楷体_GB2312" pitchFamily="49" charset="-122"/>
              </a:rPr>
              <a:t>上的投影蕴涵</a:t>
            </a:r>
            <a:endParaRPr lang="zh-CN" altLang="en-US" sz="3600">
              <a:ea typeface="楷体_GB2312" pitchFamily="49"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ChangeArrowheads="1"/>
          </p:cNvSpPr>
          <p:nvPr>
            <p:ph type="title"/>
          </p:nvPr>
        </p:nvSpPr>
        <p:spPr>
          <a:xfrm>
            <a:off x="395288" y="260350"/>
            <a:ext cx="8229600" cy="606425"/>
          </a:xfrm>
        </p:spPr>
        <p:txBody>
          <a:bodyPr>
            <a:normAutofit fontScale="90000"/>
          </a:bodyPr>
          <a:lstStyle/>
          <a:p>
            <a:pPr>
              <a:defRPr/>
            </a:pPr>
            <a:r>
              <a:rPr lang="zh-CN" altLang="en-US" sz="3400">
                <a:ea typeface="宋体" panose="02010600030101010101" pitchFamily="2" charset="-122"/>
              </a:rPr>
              <a:t>保持函数依赖的模式分解</a:t>
            </a:r>
            <a:endParaRPr lang="zh-CN" altLang="en-US" sz="3400">
              <a:ea typeface="宋体" panose="02010600030101010101" pitchFamily="2" charset="-122"/>
            </a:endParaRPr>
          </a:p>
        </p:txBody>
      </p:sp>
      <p:sp>
        <p:nvSpPr>
          <p:cNvPr id="604163" name="Rectangle 3"/>
          <p:cNvSpPr>
            <a:spLocks noGrp="1" noChangeArrowheads="1"/>
          </p:cNvSpPr>
          <p:nvPr>
            <p:ph type="body" idx="1"/>
          </p:nvPr>
        </p:nvSpPr>
        <p:spPr>
          <a:xfrm>
            <a:off x="468313" y="1052513"/>
            <a:ext cx="7920037" cy="5113337"/>
          </a:xfrm>
        </p:spPr>
        <p:txBody>
          <a:bodyPr/>
          <a:lstStyle/>
          <a:p>
            <a:pPr>
              <a:lnSpc>
                <a:spcPct val="170000"/>
              </a:lnSpc>
              <a:buFont typeface="Wingdings" panose="05000000000000000000" pitchFamily="2" charset="2"/>
              <a:buNone/>
              <a:defRPr/>
            </a:pPr>
            <a:r>
              <a:rPr lang="zh-CN" altLang="en-US" sz="2600">
                <a:ea typeface="宋体" panose="02010600030101010101" pitchFamily="2" charset="-122"/>
              </a:rPr>
              <a:t>设关系模式</a:t>
            </a:r>
            <a:r>
              <a:rPr lang="en-US" altLang="zh-CN" sz="2600">
                <a:ea typeface="宋体" panose="02010600030101010101" pitchFamily="2" charset="-122"/>
              </a:rPr>
              <a:t>R&lt;U,F&gt;</a:t>
            </a:r>
            <a:r>
              <a:rPr lang="zh-CN" altLang="en-US" sz="2600">
                <a:ea typeface="宋体" panose="02010600030101010101" pitchFamily="2" charset="-122"/>
              </a:rPr>
              <a:t>被分解为若干个关系模式</a:t>
            </a:r>
            <a:endParaRPr lang="zh-CN" altLang="en-US" sz="2600">
              <a:ea typeface="宋体" panose="02010600030101010101" pitchFamily="2" charset="-122"/>
            </a:endParaRPr>
          </a:p>
          <a:p>
            <a:pPr algn="ctr">
              <a:lnSpc>
                <a:spcPct val="170000"/>
              </a:lnSpc>
              <a:buFont typeface="Wingdings" panose="05000000000000000000" pitchFamily="2" charset="2"/>
              <a:buNone/>
              <a:defRPr/>
            </a:pPr>
            <a:r>
              <a:rPr lang="en-US" altLang="zh-CN" sz="2600">
                <a:ea typeface="宋体" panose="02010600030101010101" pitchFamily="2" charset="-122"/>
              </a:rPr>
              <a:t>R</a:t>
            </a:r>
            <a:r>
              <a:rPr lang="en-US" altLang="zh-CN" sz="2600" baseline="-25000">
                <a:ea typeface="宋体" panose="02010600030101010101" pitchFamily="2" charset="-122"/>
              </a:rPr>
              <a:t>1</a:t>
            </a:r>
            <a:r>
              <a:rPr lang="en-US" altLang="zh-CN" sz="2600">
                <a:ea typeface="宋体" panose="02010600030101010101" pitchFamily="2" charset="-122"/>
              </a:rPr>
              <a:t>&lt;U</a:t>
            </a:r>
            <a:r>
              <a:rPr lang="en-US" altLang="zh-CN" sz="2600" baseline="-25000">
                <a:ea typeface="宋体" panose="02010600030101010101" pitchFamily="2" charset="-122"/>
              </a:rPr>
              <a:t>1</a:t>
            </a:r>
            <a:r>
              <a:rPr lang="en-US" altLang="zh-CN" sz="2600">
                <a:ea typeface="宋体" panose="02010600030101010101" pitchFamily="2" charset="-122"/>
              </a:rPr>
              <a:t>,F</a:t>
            </a:r>
            <a:r>
              <a:rPr lang="en-US" altLang="zh-CN" sz="2600" baseline="-25000">
                <a:ea typeface="宋体" panose="02010600030101010101" pitchFamily="2" charset="-122"/>
              </a:rPr>
              <a:t>1</a:t>
            </a:r>
            <a:r>
              <a:rPr lang="en-US" altLang="zh-CN" sz="2600">
                <a:ea typeface="宋体" panose="02010600030101010101" pitchFamily="2" charset="-122"/>
              </a:rPr>
              <a:t>&gt;</a:t>
            </a:r>
            <a:r>
              <a:rPr lang="zh-CN" altLang="en-US" sz="2600">
                <a:ea typeface="宋体" panose="02010600030101010101" pitchFamily="2" charset="-122"/>
              </a:rPr>
              <a:t>，</a:t>
            </a:r>
            <a:r>
              <a:rPr lang="en-US" altLang="zh-CN" sz="2600">
                <a:ea typeface="宋体" panose="02010600030101010101" pitchFamily="2" charset="-122"/>
              </a:rPr>
              <a:t>R</a:t>
            </a:r>
            <a:r>
              <a:rPr lang="en-US" altLang="zh-CN" sz="2600" baseline="-25000">
                <a:ea typeface="宋体" panose="02010600030101010101" pitchFamily="2" charset="-122"/>
              </a:rPr>
              <a:t>2</a:t>
            </a:r>
            <a:r>
              <a:rPr lang="en-US" altLang="zh-CN" sz="2600">
                <a:ea typeface="宋体" panose="02010600030101010101" pitchFamily="2" charset="-122"/>
              </a:rPr>
              <a:t>&lt;U</a:t>
            </a:r>
            <a:r>
              <a:rPr lang="en-US" altLang="zh-CN" sz="2600" baseline="-25000">
                <a:ea typeface="宋体" panose="02010600030101010101" pitchFamily="2" charset="-122"/>
              </a:rPr>
              <a:t>2</a:t>
            </a:r>
            <a:r>
              <a:rPr lang="en-US" altLang="zh-CN" sz="2600">
                <a:ea typeface="宋体" panose="02010600030101010101" pitchFamily="2" charset="-122"/>
              </a:rPr>
              <a:t>,F</a:t>
            </a:r>
            <a:r>
              <a:rPr lang="en-US" altLang="zh-CN" sz="2600" baseline="-25000">
                <a:ea typeface="宋体" panose="02010600030101010101" pitchFamily="2" charset="-122"/>
              </a:rPr>
              <a:t>2</a:t>
            </a:r>
            <a:r>
              <a:rPr lang="en-US" altLang="zh-CN" sz="2600">
                <a:ea typeface="宋体" panose="02010600030101010101" pitchFamily="2" charset="-122"/>
              </a:rPr>
              <a:t>&gt;</a:t>
            </a:r>
            <a:r>
              <a:rPr lang="zh-CN" altLang="en-US" sz="2600">
                <a:ea typeface="宋体" panose="02010600030101010101" pitchFamily="2" charset="-122"/>
              </a:rPr>
              <a:t>，</a:t>
            </a:r>
            <a:r>
              <a:rPr lang="en-US" altLang="zh-CN" sz="2600">
                <a:latin typeface="Times New Roman" panose="02020603050405020304" pitchFamily="18" charset="0"/>
                <a:ea typeface="宋体" panose="02010600030101010101" pitchFamily="2" charset="-122"/>
              </a:rPr>
              <a:t>…</a:t>
            </a:r>
            <a:r>
              <a:rPr lang="zh-CN" altLang="en-US" sz="2600">
                <a:ea typeface="宋体" panose="02010600030101010101" pitchFamily="2" charset="-122"/>
              </a:rPr>
              <a:t>，</a:t>
            </a:r>
            <a:r>
              <a:rPr lang="en-US" altLang="zh-CN" sz="2600">
                <a:ea typeface="宋体" panose="02010600030101010101" pitchFamily="2" charset="-122"/>
              </a:rPr>
              <a:t>R</a:t>
            </a:r>
            <a:r>
              <a:rPr lang="en-US" altLang="zh-CN" sz="2600" baseline="-25000">
                <a:ea typeface="宋体" panose="02010600030101010101" pitchFamily="2" charset="-122"/>
              </a:rPr>
              <a:t>n</a:t>
            </a:r>
            <a:r>
              <a:rPr lang="en-US" altLang="zh-CN" sz="2600">
                <a:ea typeface="宋体" panose="02010600030101010101" pitchFamily="2" charset="-122"/>
              </a:rPr>
              <a:t>&lt;U</a:t>
            </a:r>
            <a:r>
              <a:rPr lang="en-US" altLang="zh-CN" sz="2600" baseline="-25000">
                <a:ea typeface="宋体" panose="02010600030101010101" pitchFamily="2" charset="-122"/>
              </a:rPr>
              <a:t>n</a:t>
            </a:r>
            <a:r>
              <a:rPr lang="en-US" altLang="zh-CN" sz="2600">
                <a:ea typeface="宋体" panose="02010600030101010101" pitchFamily="2" charset="-122"/>
              </a:rPr>
              <a:t>,F</a:t>
            </a:r>
            <a:r>
              <a:rPr lang="en-US" altLang="zh-CN" sz="2600" baseline="-25000">
                <a:ea typeface="宋体" panose="02010600030101010101" pitchFamily="2" charset="-122"/>
              </a:rPr>
              <a:t>n</a:t>
            </a:r>
            <a:r>
              <a:rPr lang="en-US" altLang="zh-CN" sz="2600">
                <a:ea typeface="宋体" panose="02010600030101010101" pitchFamily="2" charset="-122"/>
              </a:rPr>
              <a:t>&gt; </a:t>
            </a:r>
            <a:endParaRPr lang="en-US" altLang="zh-CN" sz="2600">
              <a:ea typeface="宋体" panose="02010600030101010101" pitchFamily="2" charset="-122"/>
            </a:endParaRPr>
          </a:p>
          <a:p>
            <a:pPr>
              <a:lnSpc>
                <a:spcPct val="170000"/>
              </a:lnSpc>
              <a:buFont typeface="Wingdings" panose="05000000000000000000" pitchFamily="2" charset="2"/>
              <a:buNone/>
              <a:defRPr/>
            </a:pPr>
            <a:r>
              <a:rPr lang="en-US" altLang="zh-CN" sz="2600">
                <a:ea typeface="宋体" panose="02010600030101010101" pitchFamily="2" charset="-122"/>
              </a:rPr>
              <a:t>(</a:t>
            </a:r>
            <a:r>
              <a:rPr lang="zh-CN" altLang="en-US" sz="2600">
                <a:ea typeface="宋体" panose="02010600030101010101" pitchFamily="2" charset="-122"/>
              </a:rPr>
              <a:t>其中</a:t>
            </a:r>
            <a:r>
              <a:rPr lang="en-US" altLang="zh-CN" sz="2600">
                <a:ea typeface="宋体" panose="02010600030101010101" pitchFamily="2" charset="-122"/>
              </a:rPr>
              <a:t>U=U</a:t>
            </a:r>
            <a:r>
              <a:rPr lang="en-US" altLang="zh-CN" sz="2600" baseline="-25000">
                <a:ea typeface="宋体" panose="02010600030101010101" pitchFamily="2" charset="-122"/>
              </a:rPr>
              <a:t>1</a:t>
            </a:r>
            <a:r>
              <a:rPr lang="en-US" altLang="zh-CN" sz="2600">
                <a:ea typeface="宋体" panose="02010600030101010101" pitchFamily="2" charset="-122"/>
              </a:rPr>
              <a:t>∪U</a:t>
            </a:r>
            <a:r>
              <a:rPr lang="en-US" altLang="zh-CN" sz="2600" baseline="-25000">
                <a:ea typeface="宋体" panose="02010600030101010101" pitchFamily="2" charset="-122"/>
              </a:rPr>
              <a:t>2</a:t>
            </a:r>
            <a:r>
              <a:rPr lang="en-US" altLang="zh-CN" sz="2600">
                <a:ea typeface="宋体" panose="02010600030101010101" pitchFamily="2" charset="-122"/>
              </a:rPr>
              <a:t>∪</a:t>
            </a:r>
            <a:r>
              <a:rPr lang="en-US" altLang="zh-CN" sz="2600">
                <a:latin typeface="Times New Roman" panose="02020603050405020304" pitchFamily="18" charset="0"/>
                <a:ea typeface="宋体" panose="02010600030101010101" pitchFamily="2" charset="-122"/>
              </a:rPr>
              <a:t>…</a:t>
            </a:r>
            <a:r>
              <a:rPr lang="en-US" altLang="zh-CN" sz="2600">
                <a:ea typeface="宋体" panose="02010600030101010101" pitchFamily="2" charset="-122"/>
              </a:rPr>
              <a:t>∪U</a:t>
            </a:r>
            <a:r>
              <a:rPr lang="en-US" altLang="zh-CN" sz="2600" baseline="-25000">
                <a:ea typeface="宋体" panose="02010600030101010101" pitchFamily="2" charset="-122"/>
              </a:rPr>
              <a:t>n</a:t>
            </a:r>
            <a:r>
              <a:rPr lang="zh-CN" altLang="en-US" sz="2600">
                <a:ea typeface="宋体" panose="02010600030101010101" pitchFamily="2" charset="-122"/>
              </a:rPr>
              <a:t>，且不存在</a:t>
            </a:r>
            <a:r>
              <a:rPr lang="en-US" altLang="zh-CN" sz="2600">
                <a:ea typeface="宋体" panose="02010600030101010101" pitchFamily="2" charset="-122"/>
              </a:rPr>
              <a:t>U</a:t>
            </a:r>
            <a:r>
              <a:rPr lang="en-US" altLang="zh-CN" sz="2600" baseline="-25000">
                <a:ea typeface="宋体" panose="02010600030101010101" pitchFamily="2" charset="-122"/>
              </a:rPr>
              <a:t>i </a:t>
            </a:r>
            <a:r>
              <a:rPr lang="en-US" altLang="zh-CN" sz="2600">
                <a:ea typeface="宋体" panose="02010600030101010101" pitchFamily="2" charset="-122"/>
                <a:sym typeface="Symbol" panose="05050102010706020507" pitchFamily="18" charset="2"/>
              </a:rPr>
              <a:t></a:t>
            </a:r>
            <a:r>
              <a:rPr lang="en-US" altLang="zh-CN" sz="2600">
                <a:ea typeface="宋体" panose="02010600030101010101" pitchFamily="2" charset="-122"/>
              </a:rPr>
              <a:t> U</a:t>
            </a:r>
            <a:r>
              <a:rPr lang="en-US" altLang="zh-CN" sz="2600" baseline="-25000">
                <a:ea typeface="宋体" panose="02010600030101010101" pitchFamily="2" charset="-122"/>
              </a:rPr>
              <a:t>j</a:t>
            </a:r>
            <a:r>
              <a:rPr lang="zh-CN" altLang="en-US" sz="2600">
                <a:ea typeface="宋体" panose="02010600030101010101" pitchFamily="2" charset="-122"/>
              </a:rPr>
              <a:t>，</a:t>
            </a:r>
            <a:r>
              <a:rPr lang="en-US" altLang="zh-CN" sz="2600">
                <a:ea typeface="宋体" panose="02010600030101010101" pitchFamily="2" charset="-122"/>
              </a:rPr>
              <a:t>F</a:t>
            </a:r>
            <a:r>
              <a:rPr lang="en-US" altLang="zh-CN" sz="2600" baseline="-25000">
                <a:ea typeface="宋体" panose="02010600030101010101" pitchFamily="2" charset="-122"/>
              </a:rPr>
              <a:t>i</a:t>
            </a:r>
            <a:r>
              <a:rPr lang="zh-CN" altLang="en-US" sz="2600">
                <a:ea typeface="宋体" panose="02010600030101010101" pitchFamily="2" charset="-122"/>
              </a:rPr>
              <a:t>为</a:t>
            </a:r>
            <a:r>
              <a:rPr lang="en-US" altLang="zh-CN" sz="2600">
                <a:ea typeface="宋体" panose="02010600030101010101" pitchFamily="2" charset="-122"/>
              </a:rPr>
              <a:t>F</a:t>
            </a:r>
            <a:r>
              <a:rPr lang="zh-CN" altLang="en-US" sz="2600">
                <a:ea typeface="宋体" panose="02010600030101010101" pitchFamily="2" charset="-122"/>
              </a:rPr>
              <a:t>在</a:t>
            </a:r>
            <a:r>
              <a:rPr lang="en-US" altLang="zh-CN" sz="2600">
                <a:ea typeface="宋体" panose="02010600030101010101" pitchFamily="2" charset="-122"/>
              </a:rPr>
              <a:t>U</a:t>
            </a:r>
            <a:r>
              <a:rPr lang="en-US" altLang="zh-CN" sz="2600" baseline="-25000">
                <a:ea typeface="宋体" panose="02010600030101010101" pitchFamily="2" charset="-122"/>
              </a:rPr>
              <a:t>i</a:t>
            </a:r>
            <a:r>
              <a:rPr lang="zh-CN" altLang="en-US" sz="2600">
                <a:ea typeface="宋体" panose="02010600030101010101" pitchFamily="2" charset="-122"/>
              </a:rPr>
              <a:t>上的投影</a:t>
            </a:r>
            <a:r>
              <a:rPr lang="en-US" altLang="zh-CN" sz="2600">
                <a:ea typeface="宋体" panose="02010600030101010101" pitchFamily="2" charset="-122"/>
              </a:rPr>
              <a:t>)</a:t>
            </a:r>
            <a:r>
              <a:rPr lang="zh-CN" altLang="en-US" sz="2600">
                <a:ea typeface="宋体" panose="02010600030101010101" pitchFamily="2" charset="-122"/>
              </a:rPr>
              <a:t>，若</a:t>
            </a:r>
            <a:r>
              <a:rPr lang="en-US" altLang="zh-CN" sz="2600">
                <a:ea typeface="宋体" panose="02010600030101010101" pitchFamily="2" charset="-122"/>
              </a:rPr>
              <a:t>F</a:t>
            </a:r>
            <a:r>
              <a:rPr lang="zh-CN" altLang="en-US" sz="2600">
                <a:ea typeface="宋体" panose="02010600030101010101" pitchFamily="2" charset="-122"/>
              </a:rPr>
              <a:t>所逻辑蕴含的函数依赖一定也由分解得到的某个关系模式中的函数依赖</a:t>
            </a:r>
            <a:r>
              <a:rPr lang="en-US" altLang="zh-CN" sz="2600">
                <a:ea typeface="宋体" panose="02010600030101010101" pitchFamily="2" charset="-122"/>
              </a:rPr>
              <a:t>F</a:t>
            </a:r>
            <a:r>
              <a:rPr lang="en-US" altLang="zh-CN" sz="2600" baseline="-25000">
                <a:ea typeface="宋体" panose="02010600030101010101" pitchFamily="2" charset="-122"/>
              </a:rPr>
              <a:t>i</a:t>
            </a:r>
            <a:r>
              <a:rPr lang="zh-CN" altLang="en-US" sz="2600">
                <a:ea typeface="宋体" panose="02010600030101010101" pitchFamily="2" charset="-122"/>
              </a:rPr>
              <a:t>所逻辑蕴含，则称关系模式</a:t>
            </a:r>
            <a:r>
              <a:rPr lang="en-US" altLang="zh-CN" sz="2600">
                <a:ea typeface="宋体" panose="02010600030101010101" pitchFamily="2" charset="-122"/>
              </a:rPr>
              <a:t>R</a:t>
            </a:r>
            <a:r>
              <a:rPr lang="zh-CN" altLang="en-US" sz="2600">
                <a:ea typeface="宋体" panose="02010600030101010101" pitchFamily="2" charset="-122"/>
              </a:rPr>
              <a:t>的这个分解是</a:t>
            </a:r>
            <a:r>
              <a:rPr lang="zh-CN" altLang="en-US">
                <a:solidFill>
                  <a:srgbClr val="FF3300"/>
                </a:solidFill>
                <a:effectLst>
                  <a:outerShdw blurRad="38100" dist="38100" dir="2700000" algn="tl">
                    <a:srgbClr val="000000"/>
                  </a:outerShdw>
                </a:effectLst>
                <a:ea typeface="黑体" panose="02010609060101010101" pitchFamily="49" charset="-122"/>
              </a:rPr>
              <a:t>保持函数依赖的</a:t>
            </a:r>
            <a:r>
              <a:rPr lang="en-US" altLang="zh-CN" sz="2600">
                <a:ea typeface="宋体" panose="02010600030101010101" pitchFamily="2" charset="-122"/>
              </a:rPr>
              <a:t>(Preserve dependency)</a:t>
            </a:r>
            <a:r>
              <a:rPr lang="zh-CN" altLang="en-US" sz="2600">
                <a:ea typeface="宋体" panose="02010600030101010101" pitchFamily="2" charset="-122"/>
              </a:rPr>
              <a:t>。</a:t>
            </a:r>
            <a:endParaRPr lang="zh-CN" altLang="en-US" sz="3400">
              <a:ea typeface="宋体" panose="02010600030101010101"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2"/>
          <p:cNvSpPr>
            <a:spLocks noGrp="1" noChangeArrowheads="1"/>
          </p:cNvSpPr>
          <p:nvPr>
            <p:ph type="title"/>
          </p:nvPr>
        </p:nvSpPr>
        <p:spPr/>
        <p:txBody>
          <a:bodyPr/>
          <a:lstStyle/>
          <a:p>
            <a:pPr>
              <a:defRPr/>
            </a:pPr>
            <a:r>
              <a:rPr lang="zh-CN" altLang="en-US">
                <a:ea typeface="宋体" panose="02010600030101010101" pitchFamily="2" charset="-122"/>
              </a:rPr>
              <a:t>保持函数依赖的分解</a:t>
            </a:r>
            <a:endParaRPr lang="zh-CN" altLang="en-US">
              <a:ea typeface="宋体" panose="02010600030101010101" pitchFamily="2" charset="-122"/>
            </a:endParaRPr>
          </a:p>
        </p:txBody>
      </p:sp>
      <p:sp>
        <p:nvSpPr>
          <p:cNvPr id="28675" name="Rectangle 3"/>
          <p:cNvSpPr>
            <a:spLocks noGrp="1" noChangeArrowheads="1"/>
          </p:cNvSpPr>
          <p:nvPr>
            <p:ph idx="1"/>
          </p:nvPr>
        </p:nvSpPr>
        <p:spPr/>
        <p:txBody>
          <a:bodyPr/>
          <a:lstStyle/>
          <a:p>
            <a:r>
              <a:rPr lang="zh-CN" altLang="en-US" sz="3600">
                <a:ea typeface="宋体" panose="02010600030101010101" pitchFamily="2" charset="-122"/>
              </a:rPr>
              <a:t>保持函数依赖的模式分解</a:t>
            </a:r>
            <a:endParaRPr lang="zh-CN" altLang="en-US" sz="3600">
              <a:ea typeface="宋体" panose="02010600030101010101" pitchFamily="2" charset="-122"/>
            </a:endParaRPr>
          </a:p>
          <a:p>
            <a:pPr lvl="1">
              <a:lnSpc>
                <a:spcPct val="130000"/>
              </a:lnSpc>
            </a:pPr>
            <a:r>
              <a:rPr lang="en-US" altLang="zh-CN" sz="3200">
                <a:ea typeface="宋体" panose="02010600030101010101" pitchFamily="2" charset="-122"/>
                <a:sym typeface="Symbol" panose="05050102010706020507" pitchFamily="18" charset="2"/>
              </a:rPr>
              <a:t>Z</a:t>
            </a:r>
            <a:r>
              <a:rPr lang="zh-CN" altLang="en-US" sz="3200">
                <a:ea typeface="宋体" panose="02010600030101010101" pitchFamily="2" charset="-122"/>
                <a:sym typeface="Symbol" panose="05050102010706020507" pitchFamily="18" charset="2"/>
              </a:rPr>
              <a:t>是</a:t>
            </a:r>
            <a:r>
              <a:rPr lang="en-US" altLang="zh-CN" sz="3200">
                <a:ea typeface="宋体" panose="02010600030101010101" pitchFamily="2" charset="-122"/>
                <a:sym typeface="Symbol" panose="05050102010706020507" pitchFamily="18" charset="2"/>
              </a:rPr>
              <a:t>U</a:t>
            </a:r>
            <a:r>
              <a:rPr lang="zh-CN" altLang="en-US" sz="3200">
                <a:ea typeface="宋体" panose="02010600030101010101" pitchFamily="2" charset="-122"/>
                <a:sym typeface="Symbol" panose="05050102010706020507" pitchFamily="18" charset="2"/>
              </a:rPr>
              <a:t>的子集，函数依赖集合</a:t>
            </a:r>
            <a:r>
              <a:rPr lang="en-US" altLang="zh-CN" sz="3200">
                <a:ea typeface="宋体" panose="02010600030101010101" pitchFamily="2" charset="-122"/>
              </a:rPr>
              <a:t>F</a:t>
            </a:r>
            <a:r>
              <a:rPr lang="zh-CN" altLang="en-US" sz="3200">
                <a:ea typeface="宋体" panose="02010600030101010101" pitchFamily="2" charset="-122"/>
              </a:rPr>
              <a:t>在</a:t>
            </a:r>
            <a:r>
              <a:rPr lang="en-US" altLang="zh-CN" sz="3200">
                <a:ea typeface="宋体" panose="02010600030101010101" pitchFamily="2" charset="-122"/>
              </a:rPr>
              <a:t>Z</a:t>
            </a:r>
            <a:r>
              <a:rPr lang="zh-CN" altLang="en-US" sz="3200">
                <a:ea typeface="宋体" panose="02010600030101010101" pitchFamily="2" charset="-122"/>
              </a:rPr>
              <a:t>上的投影定义为</a:t>
            </a:r>
            <a:endParaRPr lang="zh-CN" altLang="en-US" sz="3200">
              <a:ea typeface="宋体" panose="02010600030101010101" pitchFamily="2" charset="-122"/>
            </a:endParaRPr>
          </a:p>
          <a:p>
            <a:pPr lvl="1" algn="ctr">
              <a:lnSpc>
                <a:spcPct val="130000"/>
              </a:lnSpc>
              <a:buFont typeface="Wingdings" panose="05000000000000000000" pitchFamily="2" charset="2"/>
              <a:buNone/>
            </a:pPr>
            <a:r>
              <a:rPr lang="zh-CN" altLang="en-US" sz="3200">
                <a:ea typeface="宋体" panose="02010600030101010101" pitchFamily="2" charset="-122"/>
                <a:sym typeface="Symbol" panose="05050102010706020507" pitchFamily="18" charset="2"/>
              </a:rPr>
              <a:t>∏</a:t>
            </a:r>
            <a:r>
              <a:rPr lang="en-US" altLang="zh-CN" sz="3200" baseline="-14000">
                <a:ea typeface="宋体" panose="02010600030101010101" pitchFamily="2" charset="-122"/>
                <a:sym typeface="Symbol" panose="05050102010706020507" pitchFamily="18" charset="2"/>
              </a:rPr>
              <a:t>Z</a:t>
            </a:r>
            <a:r>
              <a:rPr lang="en-US" altLang="zh-CN" sz="3200">
                <a:ea typeface="宋体" panose="02010600030101010101" pitchFamily="2" charset="-122"/>
                <a:sym typeface="Symbol" panose="05050102010706020507" pitchFamily="18" charset="2"/>
              </a:rPr>
              <a:t>(F) = {XY | XYF</a:t>
            </a:r>
            <a:r>
              <a:rPr lang="en-US" altLang="zh-CN" sz="4000" baseline="30000">
                <a:ea typeface="宋体" panose="02010600030101010101" pitchFamily="2" charset="-122"/>
                <a:sym typeface="Symbol" panose="05050102010706020507" pitchFamily="18" charset="2"/>
              </a:rPr>
              <a:t>+</a:t>
            </a:r>
            <a:r>
              <a:rPr lang="en-US" altLang="zh-CN" sz="3200">
                <a:ea typeface="宋体" panose="02010600030101010101" pitchFamily="2" charset="-122"/>
                <a:sym typeface="Symbol" panose="05050102010706020507" pitchFamily="18" charset="2"/>
              </a:rPr>
              <a:t>  XY  Z</a:t>
            </a:r>
            <a:r>
              <a:rPr lang="en-US" altLang="zh-CN" sz="3200">
                <a:ea typeface="宋体" panose="02010600030101010101" pitchFamily="2" charset="-122"/>
              </a:rPr>
              <a:t>}</a:t>
            </a:r>
            <a:endParaRPr lang="en-US" altLang="zh-CN" sz="3200">
              <a:ea typeface="宋体" panose="02010600030101010101" pitchFamily="2" charset="-122"/>
            </a:endParaRPr>
          </a:p>
          <a:p>
            <a:pPr lvl="1">
              <a:lnSpc>
                <a:spcPct val="130000"/>
              </a:lnSpc>
            </a:pPr>
            <a:r>
              <a:rPr lang="zh-CN" altLang="en-US" sz="3200">
                <a:ea typeface="宋体" panose="02010600030101010101" pitchFamily="2" charset="-122"/>
              </a:rPr>
              <a:t>设</a:t>
            </a:r>
            <a:r>
              <a:rPr lang="zh-CN" altLang="en-US" sz="3200">
                <a:ea typeface="宋体" panose="02010600030101010101" pitchFamily="2" charset="-122"/>
                <a:sym typeface="Symbol" panose="05050102010706020507" pitchFamily="18" charset="2"/>
              </a:rPr>
              <a:t> </a:t>
            </a:r>
            <a:r>
              <a:rPr lang="en-US" altLang="zh-CN" sz="3200">
                <a:ea typeface="宋体" panose="02010600030101010101" pitchFamily="2" charset="-122"/>
                <a:sym typeface="Symbol" panose="05050102010706020507" pitchFamily="18" charset="2"/>
              </a:rPr>
              <a:t>= </a:t>
            </a:r>
            <a:r>
              <a:rPr lang="en-US" altLang="zh-CN" sz="3200">
                <a:ea typeface="宋体" panose="02010600030101010101" pitchFamily="2" charset="-122"/>
              </a:rPr>
              <a:t>{R</a:t>
            </a:r>
            <a:r>
              <a:rPr lang="en-US" altLang="zh-CN" sz="3200" baseline="-16000">
                <a:ea typeface="宋体" panose="02010600030101010101" pitchFamily="2" charset="-122"/>
              </a:rPr>
              <a:t>1</a:t>
            </a:r>
            <a:r>
              <a:rPr lang="en-US" altLang="zh-CN" sz="3200">
                <a:ea typeface="宋体" panose="02010600030101010101" pitchFamily="2" charset="-122"/>
              </a:rPr>
              <a:t>, R</a:t>
            </a:r>
            <a:r>
              <a:rPr lang="en-US" altLang="zh-CN" sz="3200" baseline="-16000">
                <a:ea typeface="宋体" panose="02010600030101010101" pitchFamily="2" charset="-122"/>
              </a:rPr>
              <a:t>2</a:t>
            </a:r>
            <a:r>
              <a:rPr lang="en-US" altLang="zh-CN" sz="3200">
                <a:ea typeface="宋体" panose="02010600030101010101" pitchFamily="2" charset="-122"/>
              </a:rPr>
              <a:t>, …, R</a:t>
            </a:r>
            <a:r>
              <a:rPr lang="en-US" altLang="zh-CN" sz="3200" baseline="-16000">
                <a:ea typeface="宋体" panose="02010600030101010101" pitchFamily="2" charset="-122"/>
              </a:rPr>
              <a:t>n</a:t>
            </a:r>
            <a:r>
              <a:rPr lang="en-US" altLang="zh-CN" sz="3200">
                <a:ea typeface="宋体" panose="02010600030101010101" pitchFamily="2" charset="-122"/>
              </a:rPr>
              <a:t>}</a:t>
            </a:r>
            <a:r>
              <a:rPr lang="zh-CN" altLang="en-US" sz="3200">
                <a:ea typeface="宋体" panose="02010600030101010101" pitchFamily="2" charset="-122"/>
              </a:rPr>
              <a:t>是关系模式</a:t>
            </a:r>
            <a:r>
              <a:rPr lang="en-US" altLang="zh-CN" sz="3200">
                <a:ea typeface="宋体" panose="02010600030101010101" pitchFamily="2" charset="-122"/>
              </a:rPr>
              <a:t>R&lt;U , F&gt;</a:t>
            </a:r>
            <a:r>
              <a:rPr lang="zh-CN" altLang="en-US" sz="3200">
                <a:ea typeface="宋体" panose="02010600030101010101" pitchFamily="2" charset="-122"/>
              </a:rPr>
              <a:t>的一个分解，如果</a:t>
            </a:r>
            <a:r>
              <a:rPr lang="en-US" altLang="zh-CN" sz="3200">
                <a:ea typeface="宋体" panose="02010600030101010101" pitchFamily="2" charset="-122"/>
                <a:sym typeface="Symbol" panose="05050102010706020507" pitchFamily="18" charset="2"/>
              </a:rPr>
              <a:t>F</a:t>
            </a:r>
            <a:r>
              <a:rPr lang="en-US" altLang="zh-CN" sz="4000" baseline="30000">
                <a:ea typeface="宋体" panose="02010600030101010101" pitchFamily="2" charset="-122"/>
                <a:sym typeface="Symbol" panose="05050102010706020507" pitchFamily="18" charset="2"/>
              </a:rPr>
              <a:t>+</a:t>
            </a:r>
            <a:r>
              <a:rPr lang="en-US" altLang="zh-CN" sz="3200">
                <a:ea typeface="宋体" panose="02010600030101010101" pitchFamily="2" charset="-122"/>
              </a:rPr>
              <a:t> = (   </a:t>
            </a:r>
            <a:r>
              <a:rPr lang="en-US" altLang="zh-CN" sz="3200">
                <a:ea typeface="宋体" panose="02010600030101010101" pitchFamily="2" charset="-122"/>
                <a:sym typeface="Symbol" panose="05050102010706020507" pitchFamily="18" charset="2"/>
              </a:rPr>
              <a:t>∏</a:t>
            </a:r>
            <a:r>
              <a:rPr lang="en-US" altLang="zh-CN" sz="2000">
                <a:ea typeface="宋体" panose="02010600030101010101" pitchFamily="2" charset="-122"/>
              </a:rPr>
              <a:t>R</a:t>
            </a:r>
            <a:r>
              <a:rPr lang="en-US" altLang="zh-CN" sz="2000" baseline="-16000">
                <a:ea typeface="宋体" panose="02010600030101010101" pitchFamily="2" charset="-122"/>
              </a:rPr>
              <a:t>i</a:t>
            </a:r>
            <a:r>
              <a:rPr lang="en-US" altLang="zh-CN" sz="3200">
                <a:ea typeface="宋体" panose="02010600030101010101" pitchFamily="2" charset="-122"/>
                <a:sym typeface="Symbol" panose="05050102010706020507" pitchFamily="18" charset="2"/>
              </a:rPr>
              <a:t>(F)</a:t>
            </a:r>
            <a:r>
              <a:rPr lang="en-US" altLang="zh-CN" sz="3200">
                <a:ea typeface="宋体" panose="02010600030101010101" pitchFamily="2" charset="-122"/>
              </a:rPr>
              <a:t>)</a:t>
            </a:r>
            <a:r>
              <a:rPr lang="en-US" altLang="zh-CN" sz="4000" baseline="30000">
                <a:ea typeface="宋体" panose="02010600030101010101" pitchFamily="2" charset="-122"/>
                <a:sym typeface="Symbol" panose="05050102010706020507" pitchFamily="18" charset="2"/>
              </a:rPr>
              <a:t>+</a:t>
            </a:r>
            <a:r>
              <a:rPr lang="zh-CN" altLang="en-US" sz="3200">
                <a:ea typeface="宋体" panose="02010600030101010101" pitchFamily="2" charset="-122"/>
              </a:rPr>
              <a:t>，则称</a:t>
            </a:r>
            <a:r>
              <a:rPr lang="zh-CN" altLang="en-US" sz="3200">
                <a:ea typeface="宋体" panose="02010600030101010101" pitchFamily="2" charset="-122"/>
                <a:sym typeface="Symbol" panose="05050102010706020507" pitchFamily="18" charset="2"/>
              </a:rPr>
              <a:t></a:t>
            </a:r>
            <a:r>
              <a:rPr lang="zh-CN" altLang="en-US" sz="3200">
                <a:ea typeface="宋体" panose="02010600030101010101" pitchFamily="2" charset="-122"/>
              </a:rPr>
              <a:t>是保持函数依赖的分解</a:t>
            </a:r>
            <a:endParaRPr lang="zh-CN" altLang="en-US" sz="3200">
              <a:ea typeface="宋体" panose="02010600030101010101" pitchFamily="2" charset="-122"/>
            </a:endParaRPr>
          </a:p>
        </p:txBody>
      </p:sp>
      <p:graphicFrame>
        <p:nvGraphicFramePr>
          <p:cNvPr id="28676" name="Object 2"/>
          <p:cNvGraphicFramePr>
            <a:graphicFrameLocks noChangeAspect="1"/>
          </p:cNvGraphicFramePr>
          <p:nvPr/>
        </p:nvGraphicFramePr>
        <p:xfrm>
          <a:off x="5330825" y="4572000"/>
          <a:ext cx="600075" cy="671513"/>
        </p:xfrm>
        <a:graphic>
          <a:graphicData uri="http://schemas.openxmlformats.org/presentationml/2006/ole">
            <mc:AlternateContent xmlns:mc="http://schemas.openxmlformats.org/markup-compatibility/2006">
              <mc:Choice xmlns:v="urn:schemas-microsoft-com:vml" Requires="v">
                <p:oleObj spid="_x0000_s1069" name="Equation" r:id="rId1" imgW="279400" imgH="431800" progId="Equation.3">
                  <p:embed/>
                </p:oleObj>
              </mc:Choice>
              <mc:Fallback>
                <p:oleObj name="Equation" r:id="rId1" imgW="279400" imgH="4318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0825" y="4572000"/>
                        <a:ext cx="600075"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2"/>
          <p:cNvSpPr>
            <a:spLocks noGrp="1" noChangeArrowheads="1"/>
          </p:cNvSpPr>
          <p:nvPr>
            <p:ph type="title"/>
          </p:nvPr>
        </p:nvSpPr>
        <p:spPr/>
        <p:txBody>
          <a:bodyPr/>
          <a:lstStyle/>
          <a:p>
            <a:pPr>
              <a:defRPr/>
            </a:pPr>
            <a:r>
              <a:rPr lang="zh-CN" altLang="en-US">
                <a:ea typeface="宋体" panose="02010600030101010101" pitchFamily="2" charset="-122"/>
              </a:rPr>
              <a:t>保持函数依赖的分解</a:t>
            </a:r>
            <a:endParaRPr lang="zh-CN" altLang="en-US">
              <a:ea typeface="宋体" panose="02010600030101010101" pitchFamily="2" charset="-122"/>
            </a:endParaRPr>
          </a:p>
        </p:txBody>
      </p:sp>
      <p:sp>
        <p:nvSpPr>
          <p:cNvPr id="2055" name="Rectangle 3"/>
          <p:cNvSpPr>
            <a:spLocks noGrp="1" noChangeArrowheads="1"/>
          </p:cNvSpPr>
          <p:nvPr>
            <p:ph type="body" idx="1"/>
          </p:nvPr>
        </p:nvSpPr>
        <p:spPr/>
        <p:txBody>
          <a:bodyPr/>
          <a:lstStyle/>
          <a:p>
            <a:pPr>
              <a:defRPr/>
            </a:pPr>
            <a:r>
              <a:rPr lang="zh-CN" altLang="en-US" sz="3200" dirty="0">
                <a:ea typeface="宋体" panose="02010600030101010101" pitchFamily="2" charset="-122"/>
              </a:rPr>
              <a:t>如何判断分解保持函数依赖？</a:t>
            </a:r>
            <a:endParaRPr lang="zh-CN" altLang="en-US" sz="3200" dirty="0">
              <a:ea typeface="宋体" panose="02010600030101010101" pitchFamily="2" charset="-122"/>
            </a:endParaRPr>
          </a:p>
          <a:p>
            <a:pPr>
              <a:buFont typeface="Wingdings" panose="05000000000000000000" pitchFamily="2" charset="2"/>
              <a:buNone/>
              <a:defRPr/>
            </a:pPr>
            <a:r>
              <a:rPr lang="zh-CN" altLang="en-US" sz="3200" dirty="0">
                <a:ea typeface="宋体" panose="02010600030101010101" pitchFamily="2" charset="-122"/>
              </a:rPr>
              <a:t>	</a:t>
            </a:r>
            <a:r>
              <a:rPr lang="en-US" altLang="zh-CN" sz="3200" dirty="0">
                <a:ea typeface="宋体" panose="02010600030101010101" pitchFamily="2" charset="-122"/>
                <a:sym typeface="Symbol" panose="05050102010706020507" pitchFamily="18" charset="2"/>
              </a:rPr>
              <a:t>F</a:t>
            </a:r>
            <a:r>
              <a:rPr lang="en-US" altLang="zh-CN" sz="3200" baseline="20000" dirty="0">
                <a:ea typeface="宋体" panose="02010600030101010101" pitchFamily="2" charset="-122"/>
                <a:sym typeface="Symbol" panose="05050102010706020507" pitchFamily="18" charset="2"/>
              </a:rPr>
              <a:t>+</a:t>
            </a:r>
            <a:r>
              <a:rPr lang="en-US" altLang="zh-CN" sz="3200" dirty="0">
                <a:ea typeface="宋体" panose="02010600030101010101" pitchFamily="2" charset="-122"/>
                <a:sym typeface="Symbol" panose="05050102010706020507" pitchFamily="18" charset="2"/>
              </a:rPr>
              <a:t> </a:t>
            </a:r>
            <a:r>
              <a:rPr lang="en-US" altLang="zh-CN" sz="3200" dirty="0">
                <a:ea typeface="宋体" panose="02010600030101010101" pitchFamily="2" charset="-122"/>
              </a:rPr>
              <a:t>= (    F</a:t>
            </a:r>
            <a:r>
              <a:rPr lang="en-US" altLang="zh-CN" sz="3200" baseline="-16000" dirty="0">
                <a:ea typeface="宋体" panose="02010600030101010101" pitchFamily="2" charset="-122"/>
              </a:rPr>
              <a:t>i</a:t>
            </a:r>
            <a:r>
              <a:rPr lang="en-US" altLang="zh-CN" sz="3200" dirty="0">
                <a:ea typeface="宋体" panose="02010600030101010101" pitchFamily="2" charset="-122"/>
              </a:rPr>
              <a:t>)</a:t>
            </a:r>
            <a:r>
              <a:rPr lang="en-US" altLang="zh-CN" sz="3200" baseline="20000" dirty="0">
                <a:ea typeface="宋体" panose="02010600030101010101" pitchFamily="2" charset="-122"/>
                <a:sym typeface="Symbol" panose="05050102010706020507" pitchFamily="18" charset="2"/>
              </a:rPr>
              <a:t>+</a:t>
            </a:r>
            <a:r>
              <a:rPr lang="en-US" altLang="zh-CN" sz="3200" dirty="0">
                <a:ea typeface="宋体" panose="02010600030101010101" pitchFamily="2" charset="-122"/>
              </a:rPr>
              <a:t> </a:t>
            </a:r>
            <a:r>
              <a:rPr lang="en-US" altLang="zh-CN" sz="3200" dirty="0">
                <a:ea typeface="宋体" panose="02010600030101010101" pitchFamily="2" charset="-122"/>
                <a:sym typeface="Symbol" panose="05050102010706020507" pitchFamily="18" charset="2"/>
              </a:rPr>
              <a:t> F</a:t>
            </a:r>
            <a:r>
              <a:rPr lang="en-US" altLang="zh-CN" sz="3200" baseline="20000" dirty="0">
                <a:ea typeface="宋体" panose="02010600030101010101" pitchFamily="2" charset="-122"/>
                <a:sym typeface="Symbol" panose="05050102010706020507" pitchFamily="18" charset="2"/>
              </a:rPr>
              <a:t>+</a:t>
            </a:r>
            <a:r>
              <a:rPr lang="en-US" altLang="zh-CN" sz="3200" dirty="0">
                <a:ea typeface="宋体" panose="02010600030101010101" pitchFamily="2" charset="-122"/>
                <a:sym typeface="Symbol" panose="05050102010706020507" pitchFamily="18" charset="2"/>
              </a:rPr>
              <a:t>  </a:t>
            </a:r>
            <a:r>
              <a:rPr lang="en-US" altLang="zh-CN" sz="3200" dirty="0">
                <a:ea typeface="宋体" panose="02010600030101010101" pitchFamily="2" charset="-122"/>
              </a:rPr>
              <a:t>(   F</a:t>
            </a:r>
            <a:r>
              <a:rPr lang="en-US" altLang="zh-CN" sz="3200" baseline="-16000" dirty="0">
                <a:ea typeface="宋体" panose="02010600030101010101" pitchFamily="2" charset="-122"/>
              </a:rPr>
              <a:t>i</a:t>
            </a:r>
            <a:r>
              <a:rPr lang="en-US" altLang="zh-CN" sz="3200" dirty="0">
                <a:ea typeface="宋体" panose="02010600030101010101" pitchFamily="2" charset="-122"/>
              </a:rPr>
              <a:t> )</a:t>
            </a:r>
            <a:r>
              <a:rPr lang="en-US" altLang="zh-CN" sz="3200" baseline="20000" dirty="0">
                <a:ea typeface="宋体" panose="02010600030101010101" pitchFamily="2" charset="-122"/>
                <a:sym typeface="Symbol" panose="05050102010706020507" pitchFamily="18" charset="2"/>
              </a:rPr>
              <a:t>+</a:t>
            </a:r>
            <a:r>
              <a:rPr lang="en-US" altLang="zh-CN" sz="3200" dirty="0">
                <a:ea typeface="宋体" panose="02010600030101010101" pitchFamily="2" charset="-122"/>
                <a:sym typeface="Symbol" panose="05050102010706020507" pitchFamily="18" charset="2"/>
              </a:rPr>
              <a:t>,</a:t>
            </a:r>
            <a:r>
              <a:rPr lang="en-US" altLang="zh-CN" sz="3200" dirty="0">
                <a:ea typeface="宋体" panose="02010600030101010101" pitchFamily="2" charset="-122"/>
              </a:rPr>
              <a:t> (   F</a:t>
            </a:r>
            <a:r>
              <a:rPr lang="en-US" altLang="zh-CN" sz="3200" baseline="-16000" dirty="0">
                <a:ea typeface="宋体" panose="02010600030101010101" pitchFamily="2" charset="-122"/>
              </a:rPr>
              <a:t>i</a:t>
            </a:r>
            <a:r>
              <a:rPr lang="en-US" altLang="zh-CN" sz="3200" dirty="0">
                <a:ea typeface="宋体" panose="02010600030101010101" pitchFamily="2" charset="-122"/>
              </a:rPr>
              <a:t> )</a:t>
            </a:r>
            <a:r>
              <a:rPr lang="en-US" altLang="zh-CN" sz="3200" baseline="20000" dirty="0">
                <a:ea typeface="宋体" panose="02010600030101010101" pitchFamily="2" charset="-122"/>
                <a:sym typeface="Symbol" panose="05050102010706020507" pitchFamily="18" charset="2"/>
              </a:rPr>
              <a:t>+</a:t>
            </a:r>
            <a:r>
              <a:rPr lang="zh-CN" altLang="en-US" sz="3200" dirty="0">
                <a:ea typeface="宋体" panose="02010600030101010101" pitchFamily="2" charset="-122"/>
                <a:sym typeface="Symbol" panose="05050102010706020507" pitchFamily="18" charset="2"/>
              </a:rPr>
              <a:t> </a:t>
            </a:r>
            <a:r>
              <a:rPr lang="en-US" altLang="zh-CN" sz="3200" dirty="0">
                <a:ea typeface="宋体" panose="02010600030101010101" pitchFamily="2" charset="-122"/>
                <a:sym typeface="Symbol" panose="05050102010706020507" pitchFamily="18" charset="2"/>
              </a:rPr>
              <a:t> F</a:t>
            </a:r>
            <a:r>
              <a:rPr lang="en-US" altLang="zh-CN" sz="3200" baseline="20000" dirty="0">
                <a:ea typeface="宋体" panose="02010600030101010101" pitchFamily="2" charset="-122"/>
                <a:sym typeface="Symbol" panose="05050102010706020507" pitchFamily="18" charset="2"/>
              </a:rPr>
              <a:t>+</a:t>
            </a:r>
            <a:endParaRPr lang="en-US" altLang="zh-CN" sz="3200" baseline="20000" dirty="0">
              <a:ea typeface="宋体" panose="02010600030101010101" pitchFamily="2" charset="-122"/>
              <a:sym typeface="Symbol" panose="05050102010706020507" pitchFamily="18" charset="2"/>
            </a:endParaRPr>
          </a:p>
          <a:p>
            <a:pPr>
              <a:buFont typeface="Wingdings" panose="05000000000000000000" pitchFamily="2" charset="2"/>
              <a:buNone/>
              <a:defRPr/>
            </a:pPr>
            <a:r>
              <a:rPr lang="en-US" altLang="zh-CN" sz="3200" dirty="0">
                <a:ea typeface="宋体" panose="02010600030101010101" pitchFamily="2" charset="-122"/>
                <a:sym typeface="Symbol" panose="05050102010706020507" pitchFamily="18" charset="2"/>
              </a:rPr>
              <a:t>	</a:t>
            </a:r>
            <a:r>
              <a:rPr lang="zh-CN" altLang="en-US" sz="3200" dirty="0">
                <a:ea typeface="宋体" panose="02010600030101010101" pitchFamily="2" charset="-122"/>
                <a:sym typeface="Symbol" panose="05050102010706020507" pitchFamily="18" charset="2"/>
              </a:rPr>
              <a:t>如对于</a:t>
            </a:r>
            <a:r>
              <a:rPr lang="en-US" altLang="zh-CN" sz="3200" dirty="0">
                <a:ea typeface="宋体" panose="02010600030101010101" pitchFamily="2" charset="-122"/>
                <a:sym typeface="Symbol" panose="05050102010706020507" pitchFamily="18" charset="2"/>
              </a:rPr>
              <a:t>{ABC</a:t>
            </a:r>
            <a:r>
              <a:rPr lang="zh-CN" altLang="en-US" sz="3200" dirty="0">
                <a:ea typeface="宋体" panose="02010600030101010101" pitchFamily="2" charset="-122"/>
                <a:sym typeface="Symbol" panose="05050102010706020507" pitchFamily="18" charset="2"/>
              </a:rPr>
              <a:t>，</a:t>
            </a:r>
            <a:r>
              <a:rPr lang="en-US" altLang="zh-CN" sz="3200" dirty="0">
                <a:ea typeface="宋体" panose="02010600030101010101" pitchFamily="2" charset="-122"/>
                <a:sym typeface="Symbol" panose="05050102010706020507" pitchFamily="18" charset="2"/>
              </a:rPr>
              <a:t>{</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rPr>
              <a:t>A</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sym typeface="Symbol" panose="05050102010706020507" pitchFamily="18" charset="2"/>
              </a:rPr>
              <a:t>B , BC</a:t>
            </a:r>
            <a:r>
              <a:rPr lang="en-US" altLang="zh-CN" sz="3200" dirty="0">
                <a:ea typeface="宋体" panose="02010600030101010101" pitchFamily="2" charset="-122"/>
                <a:sym typeface="Symbol" panose="05050102010706020507" pitchFamily="18" charset="2"/>
              </a:rPr>
              <a:t>}}</a:t>
            </a:r>
            <a:r>
              <a:rPr lang="zh-CN" altLang="en-US" sz="3200" dirty="0">
                <a:ea typeface="宋体" panose="02010600030101010101" pitchFamily="2" charset="-122"/>
                <a:sym typeface="Symbol" panose="05050102010706020507" pitchFamily="18" charset="2"/>
              </a:rPr>
              <a:t>的分解</a:t>
            </a:r>
            <a:br>
              <a:rPr lang="en-US" altLang="zh-CN" sz="3200" dirty="0">
                <a:ea typeface="宋体" panose="02010600030101010101" pitchFamily="2" charset="-122"/>
                <a:sym typeface="Symbol" panose="05050102010706020507" pitchFamily="18" charset="2"/>
              </a:rPr>
            </a:br>
            <a:r>
              <a:rPr lang="en-US" altLang="zh-CN" sz="3200" dirty="0">
                <a:ea typeface="宋体" panose="02010600030101010101" pitchFamily="2" charset="-122"/>
                <a:sym typeface="Symbol" panose="05050102010706020507" pitchFamily="18" charset="2"/>
              </a:rPr>
              <a:t>{&lt;AB, {</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rPr>
              <a:t>A</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sym typeface="Symbol" panose="05050102010706020507" pitchFamily="18" charset="2"/>
              </a:rPr>
              <a:t>B</a:t>
            </a:r>
            <a:r>
              <a:rPr lang="en-US" altLang="zh-CN" sz="3200" dirty="0">
                <a:ea typeface="宋体" panose="02010600030101010101" pitchFamily="2" charset="-122"/>
                <a:sym typeface="Symbol" panose="05050102010706020507" pitchFamily="18" charset="2"/>
              </a:rPr>
              <a:t>}&gt;</a:t>
            </a:r>
            <a:r>
              <a:rPr lang="zh-CN" altLang="en-US" sz="3200" dirty="0">
                <a:ea typeface="宋体" panose="02010600030101010101" pitchFamily="2" charset="-122"/>
                <a:sym typeface="Symbol" panose="05050102010706020507" pitchFamily="18" charset="2"/>
              </a:rPr>
              <a:t>，</a:t>
            </a:r>
            <a:r>
              <a:rPr lang="en-US" altLang="zh-CN" sz="3200" dirty="0">
                <a:ea typeface="宋体" panose="02010600030101010101" pitchFamily="2" charset="-122"/>
                <a:sym typeface="Symbol" panose="05050102010706020507" pitchFamily="18" charset="2"/>
              </a:rPr>
              <a:t>&lt;AC, {</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sym typeface="Symbol" panose="05050102010706020507" pitchFamily="18" charset="2"/>
              </a:rPr>
              <a:t>AC</a:t>
            </a:r>
            <a:r>
              <a:rPr lang="en-US" altLang="zh-CN" sz="3200" dirty="0">
                <a:ea typeface="宋体" panose="02010600030101010101" pitchFamily="2" charset="-122"/>
                <a:sym typeface="Symbol" panose="05050102010706020507" pitchFamily="18" charset="2"/>
              </a:rPr>
              <a:t>}&gt;}</a:t>
            </a:r>
            <a:endParaRPr lang="en-US" altLang="zh-CN" sz="3200" dirty="0">
              <a:ea typeface="宋体" panose="02010600030101010101" pitchFamily="2" charset="-122"/>
              <a:sym typeface="Symbol" panose="05050102010706020507" pitchFamily="18" charset="2"/>
            </a:endParaRPr>
          </a:p>
          <a:p>
            <a:pPr>
              <a:buFont typeface="Wingdings" panose="05000000000000000000" pitchFamily="2" charset="2"/>
              <a:buNone/>
              <a:defRPr/>
            </a:pPr>
            <a:r>
              <a:rPr lang="en-US" altLang="zh-CN" sz="3200" dirty="0">
                <a:ea typeface="宋体" panose="02010600030101010101" pitchFamily="2" charset="-122"/>
                <a:sym typeface="Symbol" panose="05050102010706020507" pitchFamily="18" charset="2"/>
              </a:rPr>
              <a:t>	</a:t>
            </a:r>
            <a:r>
              <a:rPr lang="zh-CN" altLang="en-US" sz="3200" dirty="0">
                <a:ea typeface="宋体" panose="02010600030101010101" pitchFamily="2" charset="-122"/>
                <a:sym typeface="Symbol" panose="05050102010706020507" pitchFamily="18" charset="2"/>
              </a:rPr>
              <a:t>思考：</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sym typeface="Symbol" panose="05050102010706020507" pitchFamily="18" charset="2"/>
              </a:rPr>
              <a:t>BC </a:t>
            </a:r>
            <a:r>
              <a:rPr lang="en-US" altLang="zh-CN" sz="3200" dirty="0">
                <a:ea typeface="宋体" panose="02010600030101010101" pitchFamily="2" charset="-122"/>
                <a:sym typeface="Symbol" panose="05050102010706020507" pitchFamily="18" charset="2"/>
              </a:rPr>
              <a:t> {</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rPr>
              <a:t>A</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sym typeface="Symbol" panose="05050102010706020507" pitchFamily="18" charset="2"/>
              </a:rPr>
              <a:t>B</a:t>
            </a:r>
            <a:r>
              <a:rPr lang="zh-CN" altLang="en-US" sz="3200" dirty="0">
                <a:solidFill>
                  <a:srgbClr val="990000"/>
                </a:solidFill>
                <a:effectLst>
                  <a:outerShdw blurRad="38100" dist="38100" dir="2700000" algn="tl">
                    <a:srgbClr val="000000">
                      <a:alpha val="43137"/>
                    </a:srgbClr>
                  </a:outerShdw>
                </a:effectLst>
                <a:ea typeface="宋体" panose="02010600030101010101" pitchFamily="2" charset="-122"/>
                <a:sym typeface="Symbol" panose="05050102010706020507" pitchFamily="18" charset="2"/>
              </a:rPr>
              <a:t>，</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sym typeface="Symbol" panose="05050102010706020507" pitchFamily="18" charset="2"/>
              </a:rPr>
              <a:t>AC</a:t>
            </a:r>
            <a:r>
              <a:rPr lang="en-US" altLang="zh-CN" sz="3200" dirty="0">
                <a:ea typeface="宋体" panose="02010600030101010101" pitchFamily="2" charset="-122"/>
                <a:sym typeface="Symbol" panose="05050102010706020507" pitchFamily="18" charset="2"/>
              </a:rPr>
              <a:t>}</a:t>
            </a:r>
            <a:r>
              <a:rPr lang="en-US" altLang="zh-CN" sz="3200" baseline="22000" dirty="0">
                <a:ea typeface="宋体" panose="02010600030101010101" pitchFamily="2" charset="-122"/>
                <a:sym typeface="Symbol" panose="05050102010706020507" pitchFamily="18" charset="2"/>
              </a:rPr>
              <a:t>+ </a:t>
            </a:r>
            <a:r>
              <a:rPr lang="en-US" altLang="zh-CN" sz="3200" dirty="0">
                <a:ea typeface="宋体" panose="02010600030101010101" pitchFamily="2" charset="-122"/>
                <a:sym typeface="Symbol" panose="05050102010706020507" pitchFamily="18" charset="2"/>
              </a:rPr>
              <a:t>?</a:t>
            </a:r>
            <a:endParaRPr lang="en-US" altLang="zh-CN" sz="3200" dirty="0">
              <a:ea typeface="宋体" panose="02010600030101010101" pitchFamily="2" charset="-122"/>
              <a:sym typeface="Symbol" panose="05050102010706020507" pitchFamily="18" charset="2"/>
            </a:endParaRPr>
          </a:p>
          <a:p>
            <a:pPr>
              <a:buFont typeface="Wingdings" panose="05000000000000000000" pitchFamily="2" charset="2"/>
              <a:buNone/>
              <a:defRPr/>
            </a:pPr>
            <a:r>
              <a:rPr lang="en-US" altLang="zh-CN" sz="3200" dirty="0">
                <a:ea typeface="宋体" panose="02010600030101010101" pitchFamily="2" charset="-122"/>
                <a:sym typeface="Symbol" panose="05050102010706020507" pitchFamily="18" charset="2"/>
              </a:rPr>
              <a:t>	</a:t>
            </a:r>
            <a:r>
              <a:rPr lang="zh-CN" altLang="en-US" sz="3200" dirty="0">
                <a:ea typeface="宋体" panose="02010600030101010101" pitchFamily="2" charset="-122"/>
                <a:sym typeface="Symbol" panose="05050102010706020507" pitchFamily="18" charset="2"/>
              </a:rPr>
              <a:t>检验：</a:t>
            </a:r>
            <a:r>
              <a:rPr lang="en-US" altLang="zh-CN" sz="3200" dirty="0">
                <a:ea typeface="宋体" panose="02010600030101010101" pitchFamily="2" charset="-122"/>
                <a:sym typeface="Symbol" panose="05050102010706020507" pitchFamily="18" charset="2"/>
              </a:rPr>
              <a:t>C                    </a:t>
            </a:r>
            <a:r>
              <a:rPr lang="zh-CN" altLang="en-US" sz="3200" dirty="0">
                <a:ea typeface="宋体" panose="02010600030101010101" pitchFamily="2" charset="-122"/>
                <a:sym typeface="Symbol" panose="05050102010706020507" pitchFamily="18" charset="2"/>
              </a:rPr>
              <a:t>？</a:t>
            </a:r>
            <a:endParaRPr lang="zh-CN" altLang="en-US" sz="3200" baseline="22000" dirty="0">
              <a:ea typeface="宋体" panose="02010600030101010101" pitchFamily="2" charset="-122"/>
              <a:sym typeface="Symbol" panose="05050102010706020507" pitchFamily="18" charset="2"/>
            </a:endParaRPr>
          </a:p>
          <a:p>
            <a:pPr>
              <a:defRPr/>
            </a:pPr>
            <a:endParaRPr lang="en-US" altLang="zh-CN" sz="3200" dirty="0">
              <a:ea typeface="宋体" panose="02010600030101010101" pitchFamily="2" charset="-122"/>
            </a:endParaRPr>
          </a:p>
        </p:txBody>
      </p:sp>
      <p:graphicFrame>
        <p:nvGraphicFramePr>
          <p:cNvPr id="29700" name="Object 2"/>
          <p:cNvGraphicFramePr>
            <a:graphicFrameLocks noChangeAspect="1"/>
          </p:cNvGraphicFramePr>
          <p:nvPr/>
        </p:nvGraphicFramePr>
        <p:xfrm>
          <a:off x="1710928" y="1755587"/>
          <a:ext cx="600075" cy="671512"/>
        </p:xfrm>
        <a:graphic>
          <a:graphicData uri="http://schemas.openxmlformats.org/presentationml/2006/ole">
            <mc:AlternateContent xmlns:mc="http://schemas.openxmlformats.org/markup-compatibility/2006">
              <mc:Choice xmlns:v="urn:schemas-microsoft-com:vml" Requires="v">
                <p:oleObj spid="_x0000_s2222" name="" r:id="rId1" imgW="279400" imgH="431800" progId="Equation.3">
                  <p:embed/>
                </p:oleObj>
              </mc:Choice>
              <mc:Fallback>
                <p:oleObj name="" r:id="rId1" imgW="279400" imgH="4318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0928" y="1755587"/>
                        <a:ext cx="600075"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701" name="Object 3"/>
          <p:cNvGraphicFramePr>
            <a:graphicFrameLocks noChangeAspect="1"/>
          </p:cNvGraphicFramePr>
          <p:nvPr/>
        </p:nvGraphicFramePr>
        <p:xfrm>
          <a:off x="5781676" y="1739900"/>
          <a:ext cx="600075" cy="671512"/>
        </p:xfrm>
        <a:graphic>
          <a:graphicData uri="http://schemas.openxmlformats.org/presentationml/2006/ole">
            <mc:AlternateContent xmlns:mc="http://schemas.openxmlformats.org/markup-compatibility/2006">
              <mc:Choice xmlns:v="urn:schemas-microsoft-com:vml" Requires="v">
                <p:oleObj spid="_x0000_s2223" name="" r:id="rId3" imgW="279400" imgH="431800" progId="Equation.3">
                  <p:embed/>
                </p:oleObj>
              </mc:Choice>
              <mc:Fallback>
                <p:oleObj name="" r:id="rId3" imgW="279400" imgH="4318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1676" y="1739900"/>
                        <a:ext cx="600075"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3" name="Object 5"/>
          <p:cNvGraphicFramePr>
            <a:graphicFrameLocks noChangeAspect="1"/>
          </p:cNvGraphicFramePr>
          <p:nvPr/>
        </p:nvGraphicFramePr>
        <p:xfrm>
          <a:off x="2654300" y="4302125"/>
          <a:ext cx="1700213" cy="650875"/>
        </p:xfrm>
        <a:graphic>
          <a:graphicData uri="http://schemas.openxmlformats.org/presentationml/2006/ole">
            <mc:AlternateContent xmlns:mc="http://schemas.openxmlformats.org/markup-compatibility/2006">
              <mc:Choice xmlns:v="urn:schemas-microsoft-com:vml" Requires="v">
                <p:oleObj spid="_x0000_s2224" name="Equation" r:id="rId4" imgW="673100" imgH="254000" progId="Equation.3">
                  <p:embed/>
                </p:oleObj>
              </mc:Choice>
              <mc:Fallback>
                <p:oleObj name="Equation" r:id="rId4" imgW="673100" imgH="254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4300" y="4302125"/>
                        <a:ext cx="1700213"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3"/>
          <p:cNvGraphicFramePr>
            <a:graphicFrameLocks noChangeAspect="1"/>
          </p:cNvGraphicFramePr>
          <p:nvPr/>
        </p:nvGraphicFramePr>
        <p:xfrm>
          <a:off x="4393407" y="1745313"/>
          <a:ext cx="600075" cy="671512"/>
        </p:xfrm>
        <a:graphic>
          <a:graphicData uri="http://schemas.openxmlformats.org/presentationml/2006/ole">
            <mc:AlternateContent xmlns:mc="http://schemas.openxmlformats.org/markup-compatibility/2006">
              <mc:Choice xmlns:v="urn:schemas-microsoft-com:vml" Requires="v">
                <p:oleObj spid="_x0000_s2225" name="" r:id="rId6" imgW="279400" imgH="431800" progId="Equation.3">
                  <p:embed/>
                </p:oleObj>
              </mc:Choice>
              <mc:Fallback>
                <p:oleObj name="" r:id="rId6" imgW="279400" imgH="4318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3407" y="1745313"/>
                        <a:ext cx="600075"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2"/>
          <p:cNvSpPr>
            <a:spLocks noGrp="1" noChangeArrowheads="1"/>
          </p:cNvSpPr>
          <p:nvPr>
            <p:ph type="title"/>
          </p:nvPr>
        </p:nvSpPr>
        <p:spPr>
          <a:xfrm>
            <a:off x="395288" y="260350"/>
            <a:ext cx="8229600" cy="606425"/>
          </a:xfrm>
        </p:spPr>
        <p:txBody>
          <a:bodyPr/>
          <a:lstStyle/>
          <a:p>
            <a:pPr>
              <a:defRPr/>
            </a:pPr>
            <a:r>
              <a:rPr lang="zh-CN" altLang="en-US">
                <a:ea typeface="宋体" panose="02010600030101010101" pitchFamily="2" charset="-122"/>
              </a:rPr>
              <a:t>模式的分解</a:t>
            </a:r>
            <a:endParaRPr lang="zh-CN" altLang="en-US">
              <a:ea typeface="宋体" panose="02010600030101010101" pitchFamily="2" charset="-122"/>
            </a:endParaRPr>
          </a:p>
        </p:txBody>
      </p:sp>
      <p:sp>
        <p:nvSpPr>
          <p:cNvPr id="731139" name="Rectangle 3"/>
          <p:cNvSpPr>
            <a:spLocks noGrp="1" noChangeArrowheads="1"/>
          </p:cNvSpPr>
          <p:nvPr>
            <p:ph type="body" idx="1"/>
          </p:nvPr>
        </p:nvSpPr>
        <p:spPr>
          <a:xfrm>
            <a:off x="468313" y="1196975"/>
            <a:ext cx="8135937" cy="4895850"/>
          </a:xfrm>
        </p:spPr>
        <p:txBody>
          <a:bodyPr/>
          <a:lstStyle/>
          <a:p>
            <a:pPr>
              <a:defRPr/>
            </a:pPr>
            <a:r>
              <a:rPr lang="zh-CN" altLang="en-US">
                <a:ea typeface="宋体" panose="02010600030101010101" pitchFamily="2" charset="-122"/>
              </a:rPr>
              <a:t>如果一个分解具有无损连接性，则它能够保证不丢失信息。</a:t>
            </a:r>
            <a:endParaRPr lang="zh-CN" altLang="en-US">
              <a:ea typeface="宋体" panose="02010600030101010101" pitchFamily="2" charset="-122"/>
            </a:endParaRPr>
          </a:p>
          <a:p>
            <a:pPr>
              <a:defRPr/>
            </a:pPr>
            <a:r>
              <a:rPr lang="zh-CN" altLang="en-US">
                <a:ea typeface="宋体" panose="02010600030101010101" pitchFamily="2" charset="-122"/>
              </a:rPr>
              <a:t>如果一个分解保持了函数依赖，则它可以减轻或解决各种异常情况。</a:t>
            </a:r>
            <a:endParaRPr lang="zh-CN" altLang="en-US">
              <a:ea typeface="宋体" panose="02010600030101010101" pitchFamily="2" charset="-122"/>
            </a:endParaRPr>
          </a:p>
          <a:p>
            <a:pPr>
              <a:defRPr/>
            </a:pPr>
            <a:r>
              <a:rPr lang="zh-CN" altLang="en-US">
                <a:ea typeface="宋体" panose="02010600030101010101" pitchFamily="2" charset="-122"/>
              </a:rPr>
              <a:t>分解具有</a:t>
            </a:r>
            <a:r>
              <a:rPr lang="zh-CN" altLang="en-US" b="1">
                <a:solidFill>
                  <a:srgbClr val="0000CC"/>
                </a:solidFill>
                <a:effectLst>
                  <a:outerShdw blurRad="38100" dist="38100" dir="2700000" algn="tl">
                    <a:srgbClr val="000000"/>
                  </a:outerShdw>
                </a:effectLst>
                <a:ea typeface="黑体" panose="02010609060101010101" pitchFamily="49" charset="-122"/>
              </a:rPr>
              <a:t>无损连接性</a:t>
            </a:r>
            <a:r>
              <a:rPr lang="zh-CN" altLang="en-US">
                <a:ea typeface="宋体" panose="02010600030101010101" pitchFamily="2" charset="-122"/>
              </a:rPr>
              <a:t>和分解</a:t>
            </a:r>
            <a:r>
              <a:rPr lang="zh-CN" altLang="en-US" b="1">
                <a:solidFill>
                  <a:srgbClr val="0000CC"/>
                </a:solidFill>
                <a:effectLst>
                  <a:outerShdw blurRad="38100" dist="38100" dir="2700000" algn="tl">
                    <a:srgbClr val="000000"/>
                  </a:outerShdw>
                </a:effectLst>
                <a:ea typeface="黑体" panose="02010609060101010101" pitchFamily="49" charset="-122"/>
              </a:rPr>
              <a:t>保持函数依赖</a:t>
            </a:r>
            <a:r>
              <a:rPr lang="zh-CN" altLang="en-US">
                <a:ea typeface="宋体" panose="02010600030101010101" pitchFamily="2" charset="-122"/>
              </a:rPr>
              <a:t>是两个互相独立的标准。具有无损连接性的分解不一定能够保持函数依赖。同样，保持函数依赖的分解也不一定具有无损连接性。</a:t>
            </a:r>
            <a:endParaRPr lang="zh-CN" altLang="en-US" sz="3400">
              <a:ea typeface="宋体" panose="02010600030101010101"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type="title"/>
          </p:nvPr>
        </p:nvSpPr>
        <p:spPr/>
        <p:txBody>
          <a:bodyPr/>
          <a:lstStyle/>
          <a:p>
            <a:pPr>
              <a:defRPr/>
            </a:pPr>
            <a:r>
              <a:rPr lang="zh-CN" altLang="en-US">
                <a:ea typeface="宋体" panose="02010600030101010101" pitchFamily="2" charset="-122"/>
              </a:rPr>
              <a:t>保持函数依赖的分解</a:t>
            </a:r>
            <a:endParaRPr lang="zh-CN" altLang="en-US">
              <a:ea typeface="宋体" panose="02010600030101010101" pitchFamily="2" charset="-122"/>
            </a:endParaRPr>
          </a:p>
        </p:txBody>
      </p:sp>
      <p:sp>
        <p:nvSpPr>
          <p:cNvPr id="29699" name="Rectangle 3"/>
          <p:cNvSpPr>
            <a:spLocks noGrp="1" noChangeArrowheads="1"/>
          </p:cNvSpPr>
          <p:nvPr>
            <p:ph idx="1"/>
          </p:nvPr>
        </p:nvSpPr>
        <p:spPr/>
        <p:txBody>
          <a:bodyPr>
            <a:normAutofit lnSpcReduction="10000"/>
          </a:bodyPr>
          <a:lstStyle/>
          <a:p>
            <a:pPr lvl="1">
              <a:lnSpc>
                <a:spcPct val="115000"/>
              </a:lnSpc>
              <a:buFont typeface="Wingdings" panose="05000000000000000000" pitchFamily="2" charset="2"/>
              <a:buNone/>
              <a:defRPr/>
            </a:pPr>
            <a:r>
              <a:rPr lang="zh-CN" altLang="en-US" sz="2800" dirty="0">
                <a:ea typeface="宋体" panose="02010600030101010101" pitchFamily="2" charset="-122"/>
              </a:rPr>
              <a:t>关系模式</a:t>
            </a:r>
            <a:r>
              <a:rPr lang="en-US" altLang="zh-CN" sz="2800" dirty="0">
                <a:ea typeface="宋体" panose="02010600030101010101" pitchFamily="2" charset="-122"/>
              </a:rPr>
              <a:t>R&lt;U, F&gt;</a:t>
            </a:r>
            <a:endParaRPr lang="en-US" altLang="zh-CN" sz="2800" dirty="0">
              <a:ea typeface="宋体" panose="02010600030101010101" pitchFamily="2" charset="-122"/>
            </a:endParaRPr>
          </a:p>
          <a:p>
            <a:pPr lvl="1">
              <a:lnSpc>
                <a:spcPct val="115000"/>
              </a:lnSpc>
              <a:buFont typeface="Wingdings" panose="05000000000000000000" pitchFamily="2" charset="2"/>
              <a:buNone/>
              <a:defRPr/>
            </a:pPr>
            <a:r>
              <a:rPr lang="en-US" altLang="zh-CN" sz="2800" dirty="0">
                <a:ea typeface="宋体" panose="02010600030101010101" pitchFamily="2" charset="-122"/>
              </a:rPr>
              <a:t>U = {CITY, ST, ZIP},</a:t>
            </a:r>
            <a:endParaRPr lang="en-US" altLang="zh-CN" sz="2800" dirty="0">
              <a:ea typeface="宋体" panose="02010600030101010101" pitchFamily="2" charset="-122"/>
            </a:endParaRPr>
          </a:p>
          <a:p>
            <a:pPr lvl="1">
              <a:lnSpc>
                <a:spcPct val="115000"/>
              </a:lnSpc>
              <a:buFont typeface="Wingdings" panose="05000000000000000000" pitchFamily="2" charset="2"/>
              <a:buNone/>
              <a:defRPr/>
            </a:pPr>
            <a:r>
              <a:rPr lang="en-US" altLang="zh-CN" sz="2800" dirty="0">
                <a:ea typeface="宋体" panose="02010600030101010101" pitchFamily="2" charset="-122"/>
              </a:rPr>
              <a:t>F = </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rPr>
              <a:t>{(CITY, ST) </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sym typeface="Symbol" panose="05050102010706020507" pitchFamily="18" charset="2"/>
              </a:rPr>
              <a:t></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rPr>
              <a:t> ZIP</a:t>
            </a:r>
            <a:r>
              <a:rPr lang="en-US" altLang="zh-CN" sz="2800" dirty="0">
                <a:ea typeface="宋体" panose="02010600030101010101" pitchFamily="2" charset="-122"/>
              </a:rPr>
              <a:t>, </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rPr>
              <a:t>ZIP </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sym typeface="Symbol" panose="05050102010706020507" pitchFamily="18" charset="2"/>
              </a:rPr>
              <a:t></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rPr>
              <a:t> CITY</a:t>
            </a:r>
            <a:r>
              <a:rPr lang="en-US" altLang="zh-CN" sz="2800" dirty="0">
                <a:ea typeface="宋体" panose="02010600030101010101" pitchFamily="2" charset="-122"/>
              </a:rPr>
              <a:t>}</a:t>
            </a:r>
            <a:endParaRPr lang="en-US" altLang="zh-CN" sz="2800" dirty="0">
              <a:ea typeface="宋体" panose="02010600030101010101" pitchFamily="2" charset="-122"/>
            </a:endParaRPr>
          </a:p>
          <a:p>
            <a:pPr lvl="1">
              <a:lnSpc>
                <a:spcPct val="115000"/>
              </a:lnSpc>
              <a:buFont typeface="Symbol" panose="05050102010706020507" pitchFamily="18" charset="2"/>
              <a:buNone/>
              <a:defRPr/>
            </a:pPr>
            <a:r>
              <a:rPr lang="en-US" altLang="zh-CN" sz="2800" dirty="0">
                <a:ea typeface="宋体" panose="02010600030101010101" pitchFamily="2" charset="-122"/>
                <a:sym typeface="Symbol" panose="05050102010706020507" pitchFamily="18" charset="2"/>
              </a:rPr>
              <a:t> = {</a:t>
            </a:r>
            <a:r>
              <a:rPr lang="en-US" altLang="zh-CN" sz="2800" dirty="0">
                <a:ea typeface="宋体" panose="02010600030101010101" pitchFamily="2" charset="-122"/>
              </a:rPr>
              <a:t>R</a:t>
            </a:r>
            <a:r>
              <a:rPr lang="en-US" altLang="zh-CN" sz="2800" baseline="-16000" dirty="0">
                <a:ea typeface="宋体" panose="02010600030101010101" pitchFamily="2" charset="-122"/>
              </a:rPr>
              <a:t>1 </a:t>
            </a:r>
            <a:r>
              <a:rPr lang="en-US" altLang="zh-CN" sz="2800" dirty="0">
                <a:ea typeface="宋体" panose="02010600030101010101" pitchFamily="2" charset="-122"/>
                <a:sym typeface="Symbol" panose="05050102010706020507" pitchFamily="18" charset="2"/>
              </a:rPr>
              <a:t>= {ST, ZIP}, </a:t>
            </a:r>
            <a:r>
              <a:rPr lang="en-US" altLang="zh-CN" sz="2800" dirty="0">
                <a:ea typeface="宋体" panose="02010600030101010101" pitchFamily="2" charset="-122"/>
              </a:rPr>
              <a:t>R</a:t>
            </a:r>
            <a:r>
              <a:rPr lang="en-US" altLang="zh-CN" sz="2800" baseline="-16000" dirty="0">
                <a:ea typeface="宋体" panose="02010600030101010101" pitchFamily="2" charset="-122"/>
              </a:rPr>
              <a:t>2</a:t>
            </a:r>
            <a:r>
              <a:rPr lang="en-US" altLang="zh-CN" sz="2800" dirty="0">
                <a:ea typeface="宋体" panose="02010600030101010101" pitchFamily="2" charset="-122"/>
                <a:sym typeface="Symbol" panose="05050102010706020507" pitchFamily="18" charset="2"/>
              </a:rPr>
              <a:t> = {CITY, ZIP}}</a:t>
            </a:r>
            <a:endParaRPr lang="en-US" altLang="zh-CN" sz="2800" dirty="0">
              <a:ea typeface="宋体" panose="02010600030101010101" pitchFamily="2" charset="-122"/>
              <a:sym typeface="Symbol" panose="05050102010706020507" pitchFamily="18" charset="2"/>
            </a:endParaRPr>
          </a:p>
          <a:p>
            <a:pPr lvl="1">
              <a:lnSpc>
                <a:spcPct val="115000"/>
              </a:lnSpc>
              <a:buFont typeface="Symbol" panose="05050102010706020507" pitchFamily="18" charset="2"/>
              <a:buNone/>
              <a:defRPr/>
            </a:pPr>
            <a:r>
              <a:rPr lang="en-US" altLang="zh-CN" sz="2800" dirty="0">
                <a:ea typeface="宋体" panose="02010600030101010101" pitchFamily="2" charset="-122"/>
              </a:rPr>
              <a:t>R</a:t>
            </a:r>
            <a:r>
              <a:rPr lang="en-US" altLang="zh-CN" sz="2800" baseline="-16000" dirty="0">
                <a:ea typeface="宋体" panose="02010600030101010101" pitchFamily="2" charset="-122"/>
              </a:rPr>
              <a:t>1</a:t>
            </a:r>
            <a:r>
              <a:rPr lang="en-US" altLang="zh-CN" sz="2800" dirty="0">
                <a:ea typeface="宋体" panose="02010600030101010101" pitchFamily="2" charset="-122"/>
              </a:rPr>
              <a:t>∩R</a:t>
            </a:r>
            <a:r>
              <a:rPr lang="en-US" altLang="zh-CN" sz="2800" baseline="-16000" dirty="0">
                <a:ea typeface="宋体" panose="02010600030101010101" pitchFamily="2" charset="-122"/>
              </a:rPr>
              <a:t>2</a:t>
            </a:r>
            <a:r>
              <a:rPr lang="en-US" altLang="zh-CN" sz="2800" dirty="0">
                <a:ea typeface="宋体" panose="02010600030101010101" pitchFamily="2" charset="-122"/>
                <a:sym typeface="Symbol" panose="05050102010706020507" pitchFamily="18" charset="2"/>
              </a:rPr>
              <a:t> ={ZIP}, </a:t>
            </a:r>
            <a:r>
              <a:rPr lang="en-US" altLang="zh-CN" sz="2800" dirty="0">
                <a:ea typeface="宋体" panose="02010600030101010101" pitchFamily="2" charset="-122"/>
              </a:rPr>
              <a:t>R</a:t>
            </a:r>
            <a:r>
              <a:rPr lang="en-US" altLang="zh-CN" sz="2800" baseline="-16000" dirty="0">
                <a:ea typeface="宋体" panose="02010600030101010101" pitchFamily="2" charset="-122"/>
              </a:rPr>
              <a:t>2</a:t>
            </a:r>
            <a:r>
              <a:rPr lang="zh-CN" altLang="en-US" sz="2800" dirty="0">
                <a:ea typeface="宋体" panose="02010600030101010101" pitchFamily="2" charset="-122"/>
              </a:rPr>
              <a:t>－</a:t>
            </a:r>
            <a:r>
              <a:rPr lang="en-US" altLang="zh-CN" sz="2800" dirty="0">
                <a:ea typeface="宋体" panose="02010600030101010101" pitchFamily="2" charset="-122"/>
              </a:rPr>
              <a:t>R</a:t>
            </a:r>
            <a:r>
              <a:rPr lang="en-US" altLang="zh-CN" sz="2800" baseline="-16000" dirty="0">
                <a:ea typeface="宋体" panose="02010600030101010101" pitchFamily="2" charset="-122"/>
              </a:rPr>
              <a:t>1</a:t>
            </a:r>
            <a:r>
              <a:rPr lang="en-US" altLang="zh-CN" sz="2800" dirty="0">
                <a:ea typeface="宋体" panose="02010600030101010101" pitchFamily="2" charset="-122"/>
                <a:sym typeface="Symbol" panose="05050102010706020507" pitchFamily="18" charset="2"/>
              </a:rPr>
              <a:t> ={CITY}</a:t>
            </a:r>
            <a:endParaRPr lang="en-US" altLang="zh-CN" sz="2800" dirty="0">
              <a:ea typeface="宋体" panose="02010600030101010101" pitchFamily="2" charset="-122"/>
              <a:sym typeface="Symbol" panose="05050102010706020507" pitchFamily="18" charset="2"/>
            </a:endParaRPr>
          </a:p>
          <a:p>
            <a:pPr lvl="1">
              <a:lnSpc>
                <a:spcPct val="115000"/>
              </a:lnSpc>
              <a:buFont typeface="Symbol" panose="05050102010706020507" pitchFamily="18" charset="2"/>
              <a:buNone/>
              <a:defRPr/>
            </a:pPr>
            <a:r>
              <a:rPr lang="en-US" altLang="zh-CN" sz="2800" dirty="0">
                <a:ea typeface="宋体" panose="02010600030101010101" pitchFamily="2" charset="-122"/>
                <a:sym typeface="Symbol" panose="05050102010706020507" pitchFamily="18" charset="2"/>
              </a:rPr>
              <a:t>∵ </a:t>
            </a:r>
            <a:r>
              <a:rPr lang="en-US" altLang="zh-CN" sz="2800" dirty="0">
                <a:ea typeface="宋体" panose="02010600030101010101" pitchFamily="2" charset="-122"/>
              </a:rPr>
              <a:t>R</a:t>
            </a:r>
            <a:r>
              <a:rPr lang="en-US" altLang="zh-CN" sz="2800" baseline="-16000" dirty="0">
                <a:ea typeface="宋体" panose="02010600030101010101" pitchFamily="2" charset="-122"/>
              </a:rPr>
              <a:t>1</a:t>
            </a:r>
            <a:r>
              <a:rPr lang="en-US" altLang="zh-CN" sz="2800" dirty="0">
                <a:ea typeface="宋体" panose="02010600030101010101" pitchFamily="2" charset="-122"/>
              </a:rPr>
              <a:t>∩R</a:t>
            </a:r>
            <a:r>
              <a:rPr lang="en-US" altLang="zh-CN" sz="2800" baseline="-16000" dirty="0">
                <a:ea typeface="宋体" panose="02010600030101010101" pitchFamily="2" charset="-122"/>
              </a:rPr>
              <a:t>2</a:t>
            </a:r>
            <a:r>
              <a:rPr lang="en-US" altLang="zh-CN" sz="2800" dirty="0">
                <a:ea typeface="宋体" panose="02010600030101010101" pitchFamily="2" charset="-122"/>
                <a:sym typeface="Symbol" panose="05050102010706020507" pitchFamily="18" charset="2"/>
              </a:rPr>
              <a:t>  </a:t>
            </a:r>
            <a:r>
              <a:rPr lang="en-US" altLang="zh-CN" sz="2800" dirty="0">
                <a:ea typeface="宋体" panose="02010600030101010101" pitchFamily="2" charset="-122"/>
              </a:rPr>
              <a:t>R</a:t>
            </a:r>
            <a:r>
              <a:rPr lang="en-US" altLang="zh-CN" sz="2800" baseline="-16000" dirty="0">
                <a:ea typeface="宋体" panose="02010600030101010101" pitchFamily="2" charset="-122"/>
              </a:rPr>
              <a:t>2</a:t>
            </a:r>
            <a:r>
              <a:rPr lang="zh-CN" altLang="en-US" sz="2800" dirty="0">
                <a:ea typeface="宋体" panose="02010600030101010101" pitchFamily="2" charset="-122"/>
              </a:rPr>
              <a:t>－</a:t>
            </a:r>
            <a:r>
              <a:rPr lang="en-US" altLang="zh-CN" sz="2800" dirty="0">
                <a:ea typeface="宋体" panose="02010600030101010101" pitchFamily="2" charset="-122"/>
              </a:rPr>
              <a:t>R</a:t>
            </a:r>
            <a:r>
              <a:rPr lang="en-US" altLang="zh-CN" sz="2800" baseline="-16000" dirty="0">
                <a:ea typeface="宋体" panose="02010600030101010101" pitchFamily="2" charset="-122"/>
              </a:rPr>
              <a:t>1</a:t>
            </a:r>
            <a:r>
              <a:rPr lang="en-US" altLang="zh-CN" sz="2800" dirty="0">
                <a:ea typeface="宋体" panose="02010600030101010101" pitchFamily="2" charset="-122"/>
                <a:sym typeface="Symbol" panose="05050102010706020507" pitchFamily="18" charset="2"/>
              </a:rPr>
              <a:t>      ∴</a:t>
            </a:r>
            <a:r>
              <a:rPr lang="zh-CN" altLang="en-US" sz="2800" dirty="0">
                <a:ea typeface="宋体" panose="02010600030101010101" pitchFamily="2" charset="-122"/>
                <a:sym typeface="Symbol" panose="05050102010706020507" pitchFamily="18" charset="2"/>
              </a:rPr>
              <a:t>分解是无损的</a:t>
            </a:r>
            <a:endParaRPr lang="zh-CN" altLang="en-US" sz="2800" dirty="0">
              <a:ea typeface="宋体" panose="02010600030101010101" pitchFamily="2" charset="-122"/>
              <a:sym typeface="Symbol" panose="05050102010706020507" pitchFamily="18" charset="2"/>
            </a:endParaRPr>
          </a:p>
          <a:p>
            <a:pPr lvl="1">
              <a:lnSpc>
                <a:spcPct val="115000"/>
              </a:lnSpc>
              <a:buFont typeface="Symbol" panose="05050102010706020507" pitchFamily="18" charset="2"/>
              <a:buNone/>
              <a:defRPr/>
            </a:pPr>
            <a:r>
              <a:rPr lang="zh-CN" altLang="en-US" sz="2800" dirty="0">
                <a:ea typeface="宋体" panose="02010600030101010101" pitchFamily="2" charset="-122"/>
                <a:sym typeface="Symbol" panose="05050102010706020507" pitchFamily="18" charset="2"/>
              </a:rPr>
              <a:t>∏</a:t>
            </a:r>
            <a:r>
              <a:rPr lang="en-US" altLang="zh-CN" sz="1800" dirty="0">
                <a:ea typeface="宋体" panose="02010600030101010101" pitchFamily="2" charset="-122"/>
              </a:rPr>
              <a:t>R</a:t>
            </a:r>
            <a:r>
              <a:rPr lang="en-US" altLang="zh-CN" sz="1800" baseline="-16000" dirty="0">
                <a:ea typeface="宋体" panose="02010600030101010101" pitchFamily="2" charset="-122"/>
              </a:rPr>
              <a:t>1</a:t>
            </a:r>
            <a:r>
              <a:rPr lang="en-US" altLang="zh-CN" sz="2800" dirty="0">
                <a:ea typeface="宋体" panose="02010600030101010101" pitchFamily="2" charset="-122"/>
                <a:sym typeface="Symbol" panose="05050102010706020507" pitchFamily="18" charset="2"/>
              </a:rPr>
              <a:t>(F) = {}</a:t>
            </a:r>
            <a:r>
              <a:rPr lang="zh-CN" altLang="en-US" sz="2800" dirty="0">
                <a:ea typeface="宋体" panose="02010600030101010101" pitchFamily="2" charset="-122"/>
                <a:sym typeface="Symbol" panose="05050102010706020507" pitchFamily="18" charset="2"/>
              </a:rPr>
              <a:t>， ∏</a:t>
            </a:r>
            <a:r>
              <a:rPr lang="en-US" altLang="zh-CN" sz="1800" dirty="0">
                <a:ea typeface="宋体" panose="02010600030101010101" pitchFamily="2" charset="-122"/>
              </a:rPr>
              <a:t>R</a:t>
            </a:r>
            <a:r>
              <a:rPr lang="en-US" altLang="zh-CN" sz="1800" baseline="-16000" dirty="0">
                <a:ea typeface="宋体" panose="02010600030101010101" pitchFamily="2" charset="-122"/>
              </a:rPr>
              <a:t>2</a:t>
            </a:r>
            <a:r>
              <a:rPr lang="en-US" altLang="zh-CN" sz="2800" dirty="0">
                <a:ea typeface="宋体" panose="02010600030101010101" pitchFamily="2" charset="-122"/>
                <a:sym typeface="Symbol" panose="05050102010706020507" pitchFamily="18" charset="2"/>
              </a:rPr>
              <a:t>(F) = {</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rPr>
              <a:t>ZIP </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sym typeface="Symbol" panose="05050102010706020507" pitchFamily="18" charset="2"/>
              </a:rPr>
              <a:t></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rPr>
              <a:t> CITY</a:t>
            </a:r>
            <a:r>
              <a:rPr lang="en-US" altLang="zh-CN" sz="2800" dirty="0">
                <a:ea typeface="宋体" panose="02010600030101010101" pitchFamily="2" charset="-122"/>
              </a:rPr>
              <a:t>}</a:t>
            </a:r>
            <a:endParaRPr lang="en-US" altLang="zh-CN" sz="2800" dirty="0">
              <a:ea typeface="宋体" panose="02010600030101010101" pitchFamily="2" charset="-122"/>
            </a:endParaRPr>
          </a:p>
          <a:p>
            <a:pPr lvl="1">
              <a:lnSpc>
                <a:spcPct val="115000"/>
              </a:lnSpc>
              <a:buFont typeface="Symbol" panose="05050102010706020507" pitchFamily="18" charset="2"/>
              <a:buNone/>
              <a:defRPr/>
            </a:pPr>
            <a:r>
              <a:rPr lang="en-US" altLang="zh-CN" sz="2800" dirty="0">
                <a:ea typeface="宋体" panose="02010600030101010101" pitchFamily="2" charset="-122"/>
                <a:sym typeface="Symbol" panose="05050102010706020507" pitchFamily="18" charset="2"/>
              </a:rPr>
              <a:t>∏</a:t>
            </a:r>
            <a:r>
              <a:rPr lang="en-US" altLang="zh-CN" sz="1800" dirty="0">
                <a:ea typeface="宋体" panose="02010600030101010101" pitchFamily="2" charset="-122"/>
              </a:rPr>
              <a:t>R</a:t>
            </a:r>
            <a:r>
              <a:rPr lang="en-US" altLang="zh-CN" sz="1800" baseline="-16000" dirty="0">
                <a:ea typeface="宋体" panose="02010600030101010101" pitchFamily="2" charset="-122"/>
              </a:rPr>
              <a:t>1</a:t>
            </a:r>
            <a:r>
              <a:rPr lang="en-US" altLang="zh-CN" sz="2800" dirty="0">
                <a:ea typeface="宋体" panose="02010600030101010101" pitchFamily="2" charset="-122"/>
                <a:sym typeface="Symbol" panose="05050102010706020507" pitchFamily="18" charset="2"/>
              </a:rPr>
              <a:t>(F) ∪ ∏</a:t>
            </a:r>
            <a:r>
              <a:rPr lang="en-US" altLang="zh-CN" sz="1800" dirty="0">
                <a:ea typeface="宋体" panose="02010600030101010101" pitchFamily="2" charset="-122"/>
              </a:rPr>
              <a:t>R</a:t>
            </a:r>
            <a:r>
              <a:rPr lang="en-US" altLang="zh-CN" sz="1800" baseline="-16000" dirty="0">
                <a:ea typeface="宋体" panose="02010600030101010101" pitchFamily="2" charset="-122"/>
              </a:rPr>
              <a:t>2</a:t>
            </a:r>
            <a:r>
              <a:rPr lang="en-US" altLang="zh-CN" sz="2800" dirty="0">
                <a:ea typeface="宋体" panose="02010600030101010101" pitchFamily="2" charset="-122"/>
                <a:sym typeface="Symbol" panose="05050102010706020507" pitchFamily="18" charset="2"/>
              </a:rPr>
              <a:t>(F) = {</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rPr>
              <a:t>ZIP </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sym typeface="Symbol" panose="05050102010706020507" pitchFamily="18" charset="2"/>
              </a:rPr>
              <a:t></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rPr>
              <a:t> CITY</a:t>
            </a:r>
            <a:r>
              <a:rPr lang="en-US" altLang="zh-CN" sz="2800" dirty="0">
                <a:ea typeface="宋体" panose="02010600030101010101" pitchFamily="2" charset="-122"/>
              </a:rPr>
              <a:t>}</a:t>
            </a:r>
            <a:endParaRPr lang="en-US" altLang="zh-CN" sz="2800" dirty="0">
              <a:ea typeface="宋体" panose="02010600030101010101" pitchFamily="2" charset="-122"/>
            </a:endParaRPr>
          </a:p>
          <a:p>
            <a:pPr lvl="1">
              <a:lnSpc>
                <a:spcPct val="115000"/>
              </a:lnSpc>
              <a:buFont typeface="Symbol" panose="05050102010706020507" pitchFamily="18" charset="2"/>
              <a:buNone/>
              <a:defRPr/>
            </a:pPr>
            <a:r>
              <a:rPr lang="zh-CN" altLang="en-US" sz="2800" dirty="0">
                <a:ea typeface="宋体" panose="02010600030101010101" pitchFamily="2" charset="-122"/>
              </a:rPr>
              <a:t>丢失了函数依赖</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rPr>
              <a:t>(CITY, ST) </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sym typeface="Symbol" panose="05050102010706020507" pitchFamily="18" charset="2"/>
              </a:rPr>
              <a:t></a:t>
            </a:r>
            <a:r>
              <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rPr>
              <a:t> ZIP</a:t>
            </a:r>
            <a:endParaRPr lang="en-US" altLang="zh-CN" sz="3200" dirty="0">
              <a:solidFill>
                <a:srgbClr val="990000"/>
              </a:solidFill>
              <a:effectLst>
                <a:outerShdw blurRad="38100" dist="38100" dir="2700000" algn="tl">
                  <a:srgbClr val="000000">
                    <a:alpha val="43137"/>
                  </a:srgbClr>
                </a:outerShdw>
              </a:effectLst>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69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699">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969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p:nvPr>
        </p:nvSpPr>
        <p:spPr>
          <a:xfrm>
            <a:off x="539750" y="260350"/>
            <a:ext cx="1600200" cy="541338"/>
          </a:xfrm>
        </p:spPr>
        <p:txBody>
          <a:bodyPr/>
          <a:lstStyle/>
          <a:p>
            <a:pPr>
              <a:defRPr/>
            </a:pPr>
            <a:r>
              <a:rPr lang="zh-CN" altLang="en-US" sz="2900">
                <a:ea typeface="宋体" panose="02010600030101010101" pitchFamily="2" charset="-122"/>
              </a:rPr>
              <a:t>练习</a:t>
            </a:r>
            <a:endParaRPr lang="zh-CN" altLang="en-US" sz="2900">
              <a:ea typeface="宋体" panose="02010600030101010101" pitchFamily="2" charset="-122"/>
            </a:endParaRPr>
          </a:p>
        </p:txBody>
      </p:sp>
      <p:sp>
        <p:nvSpPr>
          <p:cNvPr id="32771" name="Rectangle 3"/>
          <p:cNvSpPr>
            <a:spLocks noGrp="1" noChangeArrowheads="1"/>
          </p:cNvSpPr>
          <p:nvPr>
            <p:ph type="body" idx="1"/>
          </p:nvPr>
        </p:nvSpPr>
        <p:spPr>
          <a:xfrm>
            <a:off x="468313" y="1052513"/>
            <a:ext cx="8207375" cy="3168650"/>
          </a:xfrm>
        </p:spPr>
        <p:txBody>
          <a:bodyPr/>
          <a:lstStyle/>
          <a:p>
            <a:pPr>
              <a:buFont typeface="Wingdings" panose="05000000000000000000" pitchFamily="2" charset="2"/>
              <a:buNone/>
            </a:pPr>
            <a:r>
              <a:rPr lang="zh-CN" altLang="en-US">
                <a:latin typeface="Times New Roman" panose="02020603050405020304" pitchFamily="18" charset="0"/>
                <a:ea typeface="楷体_GB2312" pitchFamily="49" charset="-122"/>
              </a:rPr>
              <a:t>分析下列分解是否具有无损连接和保持</a:t>
            </a:r>
            <a:r>
              <a:rPr lang="en-US" altLang="zh-CN">
                <a:latin typeface="Times New Roman" panose="02020603050405020304" pitchFamily="18" charset="0"/>
                <a:ea typeface="楷体_GB2312" pitchFamily="49" charset="-122"/>
              </a:rPr>
              <a:t>FD</a:t>
            </a:r>
            <a:r>
              <a:rPr lang="zh-CN" altLang="en-US">
                <a:latin typeface="Times New Roman" panose="02020603050405020304" pitchFamily="18" charset="0"/>
                <a:ea typeface="楷体_GB2312" pitchFamily="49" charset="-122"/>
              </a:rPr>
              <a:t>的特点。</a:t>
            </a:r>
            <a:endParaRPr lang="zh-CN" altLang="en-US">
              <a:latin typeface="Times New Roman" panose="02020603050405020304" pitchFamily="18" charset="0"/>
              <a:ea typeface="楷体_GB2312" pitchFamily="49" charset="-122"/>
            </a:endParaRPr>
          </a:p>
          <a:p>
            <a:pPr>
              <a:buFont typeface="Wingdings" panose="05000000000000000000" pitchFamily="2" charset="2"/>
              <a:buNone/>
            </a:pPr>
            <a:r>
              <a:rPr lang="en-US" altLang="zh-CN">
                <a:latin typeface="Times New Roman" panose="02020603050405020304" pitchFamily="18" charset="0"/>
                <a:ea typeface="楷体_GB2312" pitchFamily="49" charset="-122"/>
              </a:rPr>
              <a:t>1</a:t>
            </a:r>
            <a:r>
              <a:rPr lang="zh-CN" altLang="en-US">
                <a:latin typeface="Times New Roman" panose="02020603050405020304" pitchFamily="18" charset="0"/>
                <a:ea typeface="楷体_GB2312" pitchFamily="49" charset="-122"/>
              </a:rPr>
              <a:t>、</a:t>
            </a:r>
            <a:r>
              <a:rPr lang="en-US" altLang="zh-CN">
                <a:latin typeface="Times New Roman" panose="02020603050405020304" pitchFamily="18" charset="0"/>
                <a:ea typeface="楷体_GB2312" pitchFamily="49" charset="-122"/>
              </a:rPr>
              <a:t>R(ABC),F={C→A}, </a:t>
            </a:r>
            <a:r>
              <a:rPr lang="en-US" altLang="zh-CN">
                <a:latin typeface="Times New Roman" panose="02020603050405020304" pitchFamily="18" charset="0"/>
                <a:ea typeface="楷体_GB2312" pitchFamily="49" charset="-122"/>
                <a:sym typeface="Symbol" panose="05050102010706020507" pitchFamily="18" charset="2"/>
              </a:rPr>
              <a:t>={AC,BC}</a:t>
            </a:r>
            <a:endParaRPr lang="en-US" altLang="zh-CN">
              <a:latin typeface="Times New Roman" panose="02020603050405020304" pitchFamily="18" charset="0"/>
              <a:ea typeface="楷体_GB2312" pitchFamily="49" charset="-122"/>
              <a:sym typeface="Symbol" panose="05050102010706020507" pitchFamily="18" charset="2"/>
            </a:endParaRPr>
          </a:p>
          <a:p>
            <a:pPr>
              <a:buFont typeface="Wingdings" panose="05000000000000000000" pitchFamily="2" charset="2"/>
              <a:buNone/>
            </a:pPr>
            <a:r>
              <a:rPr lang="en-US" altLang="zh-CN">
                <a:latin typeface="Times New Roman" panose="02020603050405020304" pitchFamily="18" charset="0"/>
                <a:ea typeface="楷体_GB2312" pitchFamily="49" charset="-122"/>
                <a:sym typeface="Symbol" panose="05050102010706020507" pitchFamily="18" charset="2"/>
              </a:rPr>
              <a:t>2</a:t>
            </a:r>
            <a:r>
              <a:rPr lang="zh-CN" altLang="en-US">
                <a:latin typeface="Times New Roman" panose="02020603050405020304" pitchFamily="18" charset="0"/>
                <a:ea typeface="楷体_GB2312" pitchFamily="49" charset="-122"/>
                <a:sym typeface="Symbol" panose="05050102010706020507" pitchFamily="18" charset="2"/>
              </a:rPr>
              <a:t>、</a:t>
            </a:r>
            <a:r>
              <a:rPr lang="en-US" altLang="zh-CN">
                <a:latin typeface="Times New Roman" panose="02020603050405020304" pitchFamily="18" charset="0"/>
                <a:ea typeface="楷体_GB2312" pitchFamily="49" charset="-122"/>
              </a:rPr>
              <a:t>R(ABC),F={C→B,A→B}, </a:t>
            </a:r>
            <a:r>
              <a:rPr lang="en-US" altLang="zh-CN">
                <a:latin typeface="Times New Roman" panose="02020603050405020304" pitchFamily="18" charset="0"/>
                <a:ea typeface="楷体_GB2312" pitchFamily="49" charset="-122"/>
                <a:sym typeface="Symbol" panose="05050102010706020507" pitchFamily="18" charset="2"/>
              </a:rPr>
              <a:t>={AC,BC}</a:t>
            </a:r>
            <a:endParaRPr lang="en-US" altLang="zh-CN">
              <a:latin typeface="Times New Roman" panose="02020603050405020304" pitchFamily="18" charset="0"/>
              <a:ea typeface="楷体_GB2312" pitchFamily="49" charset="-122"/>
              <a:sym typeface="Symbol" panose="05050102010706020507" pitchFamily="18" charset="2"/>
            </a:endParaRPr>
          </a:p>
          <a:p>
            <a:pPr>
              <a:buFont typeface="Wingdings" panose="05000000000000000000" pitchFamily="2" charset="2"/>
              <a:buNone/>
            </a:pPr>
            <a:r>
              <a:rPr lang="en-US" altLang="zh-CN">
                <a:latin typeface="Times New Roman" panose="02020603050405020304" pitchFamily="18" charset="0"/>
                <a:ea typeface="楷体_GB2312" pitchFamily="49" charset="-122"/>
                <a:sym typeface="Symbol" panose="05050102010706020507" pitchFamily="18" charset="2"/>
              </a:rPr>
              <a:t>3</a:t>
            </a:r>
            <a:r>
              <a:rPr lang="zh-CN" altLang="en-US">
                <a:latin typeface="Times New Roman" panose="02020603050405020304" pitchFamily="18" charset="0"/>
                <a:ea typeface="楷体_GB2312" pitchFamily="49" charset="-122"/>
                <a:sym typeface="Symbol" panose="05050102010706020507" pitchFamily="18" charset="2"/>
              </a:rPr>
              <a:t>、</a:t>
            </a:r>
            <a:r>
              <a:rPr lang="en-US" altLang="zh-CN">
                <a:latin typeface="Times New Roman" panose="02020603050405020304" pitchFamily="18" charset="0"/>
                <a:ea typeface="楷体_GB2312" pitchFamily="49" charset="-122"/>
              </a:rPr>
              <a:t>R(ABC),F={C→A}, </a:t>
            </a:r>
            <a:r>
              <a:rPr lang="en-US" altLang="zh-CN">
                <a:latin typeface="Times New Roman" panose="02020603050405020304" pitchFamily="18" charset="0"/>
                <a:ea typeface="楷体_GB2312" pitchFamily="49" charset="-122"/>
                <a:sym typeface="Symbol" panose="05050102010706020507" pitchFamily="18" charset="2"/>
              </a:rPr>
              <a:t>={AB,AC}</a:t>
            </a:r>
            <a:endParaRPr lang="en-US" altLang="zh-CN">
              <a:latin typeface="Times New Roman" panose="02020603050405020304" pitchFamily="18" charset="0"/>
              <a:ea typeface="楷体_GB2312" pitchFamily="49" charset="-122"/>
              <a:sym typeface="Symbol" panose="05050102010706020507" pitchFamily="18" charset="2"/>
            </a:endParaRPr>
          </a:p>
          <a:p>
            <a:pPr>
              <a:buFont typeface="Wingdings" panose="05000000000000000000" pitchFamily="2" charset="2"/>
              <a:buNone/>
            </a:pPr>
            <a:r>
              <a:rPr lang="en-US" altLang="zh-CN">
                <a:latin typeface="Times New Roman" panose="02020603050405020304" pitchFamily="18" charset="0"/>
                <a:ea typeface="楷体_GB2312" pitchFamily="49" charset="-122"/>
                <a:sym typeface="Symbol" panose="05050102010706020507" pitchFamily="18" charset="2"/>
              </a:rPr>
              <a:t>4</a:t>
            </a:r>
            <a:r>
              <a:rPr lang="zh-CN" altLang="en-US">
                <a:latin typeface="Times New Roman" panose="02020603050405020304" pitchFamily="18" charset="0"/>
                <a:ea typeface="楷体_GB2312" pitchFamily="49" charset="-122"/>
                <a:sym typeface="Symbol" panose="05050102010706020507" pitchFamily="18" charset="2"/>
              </a:rPr>
              <a:t>、</a:t>
            </a:r>
            <a:r>
              <a:rPr lang="en-US" altLang="zh-CN">
                <a:latin typeface="Times New Roman" panose="02020603050405020304" pitchFamily="18" charset="0"/>
                <a:ea typeface="楷体_GB2312" pitchFamily="49" charset="-122"/>
              </a:rPr>
              <a:t>R(ABC),F={C→A,B→C}, </a:t>
            </a:r>
            <a:r>
              <a:rPr lang="en-US" altLang="zh-CN">
                <a:latin typeface="Times New Roman" panose="02020603050405020304" pitchFamily="18" charset="0"/>
                <a:ea typeface="楷体_GB2312" pitchFamily="49" charset="-122"/>
                <a:sym typeface="Symbol" panose="05050102010706020507" pitchFamily="18" charset="2"/>
              </a:rPr>
              <a:t>={AB,AC}</a:t>
            </a:r>
            <a:endParaRPr lang="en-US" altLang="zh-CN">
              <a:latin typeface="Times New Roman" panose="02020603050405020304" pitchFamily="18" charset="0"/>
              <a:ea typeface="楷体_GB2312" pitchFamily="49" charset="-122"/>
              <a:sym typeface="Symbol" panose="05050102010706020507" pitchFamily="18" charset="2"/>
            </a:endParaRPr>
          </a:p>
        </p:txBody>
      </p:sp>
      <p:sp>
        <p:nvSpPr>
          <p:cNvPr id="668676" name="Text Box 4"/>
          <p:cNvSpPr txBox="1">
            <a:spLocks noChangeArrowheads="1"/>
          </p:cNvSpPr>
          <p:nvPr/>
        </p:nvSpPr>
        <p:spPr bwMode="auto">
          <a:xfrm>
            <a:off x="1476375" y="4365625"/>
            <a:ext cx="5187950" cy="1816100"/>
          </a:xfrm>
          <a:prstGeom prst="rect">
            <a:avLst/>
          </a:prstGeom>
          <a:solidFill>
            <a:srgbClr val="FFFF00"/>
          </a:solidFill>
          <a:ln w="9525">
            <a:solidFill>
              <a:schemeClr val="hlink"/>
            </a:solidFill>
            <a:miter lim="800000"/>
          </a:ln>
        </p:spPr>
        <p:txBody>
          <a:bodyPr wrap="none">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lang="en-US" altLang="zh-CN" b="1">
                <a:solidFill>
                  <a:srgbClr val="0000FF"/>
                </a:solidFill>
                <a:latin typeface="Times New Roman" panose="02020603050405020304" pitchFamily="18" charset="0"/>
                <a:ea typeface="楷体_GB2312" pitchFamily="49" charset="-122"/>
              </a:rPr>
              <a:t>1</a:t>
            </a:r>
            <a:r>
              <a:rPr lang="zh-CN" altLang="en-US" b="1">
                <a:solidFill>
                  <a:srgbClr val="0000FF"/>
                </a:solidFill>
                <a:latin typeface="Times New Roman" panose="02020603050405020304" pitchFamily="18" charset="0"/>
                <a:ea typeface="楷体_GB2312" pitchFamily="49" charset="-122"/>
              </a:rPr>
              <a:t>、无损，保持</a:t>
            </a:r>
            <a:r>
              <a:rPr lang="en-US" altLang="zh-CN" b="1">
                <a:solidFill>
                  <a:srgbClr val="0000FF"/>
                </a:solidFill>
                <a:latin typeface="Times New Roman" panose="02020603050405020304" pitchFamily="18" charset="0"/>
                <a:ea typeface="楷体_GB2312" pitchFamily="49" charset="-122"/>
              </a:rPr>
              <a:t>FD</a:t>
            </a:r>
            <a:endParaRPr lang="en-US" altLang="zh-CN" b="1">
              <a:solidFill>
                <a:srgbClr val="0000FF"/>
              </a:solidFill>
              <a:latin typeface="Times New Roman" panose="02020603050405020304" pitchFamily="18" charset="0"/>
              <a:ea typeface="楷体_GB2312" pitchFamily="49" charset="-122"/>
            </a:endParaRPr>
          </a:p>
          <a:p>
            <a:pPr>
              <a:lnSpc>
                <a:spcPct val="100000"/>
              </a:lnSpc>
              <a:spcBef>
                <a:spcPct val="0"/>
              </a:spcBef>
              <a:buClrTx/>
              <a:buSzTx/>
              <a:buFontTx/>
              <a:buNone/>
            </a:pPr>
            <a:r>
              <a:rPr lang="en-US" altLang="zh-CN" b="1">
                <a:solidFill>
                  <a:srgbClr val="0000FF"/>
                </a:solidFill>
                <a:latin typeface="Times New Roman" panose="02020603050405020304" pitchFamily="18" charset="0"/>
                <a:ea typeface="楷体_GB2312" pitchFamily="49" charset="-122"/>
              </a:rPr>
              <a:t>2</a:t>
            </a:r>
            <a:r>
              <a:rPr lang="zh-CN" altLang="en-US" b="1">
                <a:solidFill>
                  <a:srgbClr val="0000FF"/>
                </a:solidFill>
                <a:latin typeface="Times New Roman" panose="02020603050405020304" pitchFamily="18" charset="0"/>
                <a:ea typeface="楷体_GB2312" pitchFamily="49" charset="-122"/>
              </a:rPr>
              <a:t>、无损，不保持</a:t>
            </a:r>
            <a:r>
              <a:rPr lang="en-US" altLang="zh-CN" b="1">
                <a:solidFill>
                  <a:srgbClr val="0000FF"/>
                </a:solidFill>
                <a:latin typeface="Times New Roman" panose="02020603050405020304" pitchFamily="18" charset="0"/>
                <a:ea typeface="楷体_GB2312" pitchFamily="49" charset="-122"/>
              </a:rPr>
              <a:t>FD,</a:t>
            </a:r>
            <a:r>
              <a:rPr lang="zh-CN" altLang="en-US" b="1">
                <a:solidFill>
                  <a:srgbClr val="0000FF"/>
                </a:solidFill>
                <a:latin typeface="Times New Roman" panose="02020603050405020304" pitchFamily="18" charset="0"/>
                <a:ea typeface="楷体_GB2312" pitchFamily="49" charset="-122"/>
              </a:rPr>
              <a:t>丢失</a:t>
            </a:r>
            <a:r>
              <a:rPr lang="en-US" altLang="zh-CN" b="1">
                <a:solidFill>
                  <a:srgbClr val="0000FF"/>
                </a:solidFill>
                <a:latin typeface="Times New Roman" panose="02020603050405020304" pitchFamily="18" charset="0"/>
                <a:ea typeface="楷体_GB2312" pitchFamily="49" charset="-122"/>
              </a:rPr>
              <a:t>A→B</a:t>
            </a:r>
            <a:endParaRPr lang="en-US" altLang="zh-CN" b="1">
              <a:solidFill>
                <a:srgbClr val="0000FF"/>
              </a:solidFill>
              <a:latin typeface="Times New Roman" panose="02020603050405020304" pitchFamily="18" charset="0"/>
              <a:ea typeface="楷体_GB2312" pitchFamily="49" charset="-122"/>
            </a:endParaRPr>
          </a:p>
          <a:p>
            <a:pPr>
              <a:lnSpc>
                <a:spcPct val="100000"/>
              </a:lnSpc>
              <a:spcBef>
                <a:spcPct val="0"/>
              </a:spcBef>
              <a:buClrTx/>
              <a:buSzTx/>
              <a:buFontTx/>
              <a:buNone/>
            </a:pPr>
            <a:r>
              <a:rPr lang="en-US" altLang="zh-CN" b="1">
                <a:solidFill>
                  <a:srgbClr val="0000FF"/>
                </a:solidFill>
                <a:latin typeface="Times New Roman" panose="02020603050405020304" pitchFamily="18" charset="0"/>
                <a:ea typeface="楷体_GB2312" pitchFamily="49" charset="-122"/>
              </a:rPr>
              <a:t>3</a:t>
            </a:r>
            <a:r>
              <a:rPr lang="zh-CN" altLang="en-US" b="1">
                <a:solidFill>
                  <a:srgbClr val="0000FF"/>
                </a:solidFill>
                <a:latin typeface="Times New Roman" panose="02020603050405020304" pitchFamily="18" charset="0"/>
                <a:ea typeface="楷体_GB2312" pitchFamily="49" charset="-122"/>
              </a:rPr>
              <a:t>、有损分解，保持</a:t>
            </a:r>
            <a:r>
              <a:rPr lang="en-US" altLang="zh-CN" b="1">
                <a:solidFill>
                  <a:srgbClr val="0000FF"/>
                </a:solidFill>
                <a:latin typeface="Times New Roman" panose="02020603050405020304" pitchFamily="18" charset="0"/>
                <a:ea typeface="楷体_GB2312" pitchFamily="49" charset="-122"/>
              </a:rPr>
              <a:t>FD</a:t>
            </a:r>
            <a:endParaRPr lang="en-US" altLang="zh-CN" b="1">
              <a:solidFill>
                <a:srgbClr val="0000FF"/>
              </a:solidFill>
              <a:latin typeface="Times New Roman" panose="02020603050405020304" pitchFamily="18" charset="0"/>
              <a:ea typeface="楷体_GB2312" pitchFamily="49" charset="-122"/>
            </a:endParaRPr>
          </a:p>
          <a:p>
            <a:pPr>
              <a:lnSpc>
                <a:spcPct val="100000"/>
              </a:lnSpc>
              <a:spcBef>
                <a:spcPct val="0"/>
              </a:spcBef>
              <a:buClrTx/>
              <a:buSzTx/>
              <a:buFontTx/>
              <a:buNone/>
            </a:pPr>
            <a:r>
              <a:rPr lang="en-US" altLang="zh-CN" b="1">
                <a:solidFill>
                  <a:srgbClr val="0000FF"/>
                </a:solidFill>
                <a:latin typeface="Times New Roman" panose="02020603050405020304" pitchFamily="18" charset="0"/>
                <a:ea typeface="楷体_GB2312" pitchFamily="49" charset="-122"/>
              </a:rPr>
              <a:t>4</a:t>
            </a:r>
            <a:r>
              <a:rPr lang="zh-CN" altLang="en-US" b="1">
                <a:solidFill>
                  <a:srgbClr val="0000FF"/>
                </a:solidFill>
                <a:latin typeface="Times New Roman" panose="02020603050405020304" pitchFamily="18" charset="0"/>
                <a:ea typeface="楷体_GB2312" pitchFamily="49" charset="-122"/>
              </a:rPr>
              <a:t>、有损，不保持</a:t>
            </a:r>
            <a:r>
              <a:rPr lang="en-US" altLang="zh-CN" b="1">
                <a:solidFill>
                  <a:srgbClr val="0000FF"/>
                </a:solidFill>
                <a:latin typeface="Times New Roman" panose="02020603050405020304" pitchFamily="18" charset="0"/>
                <a:ea typeface="楷体_GB2312" pitchFamily="49" charset="-122"/>
              </a:rPr>
              <a:t>FD(</a:t>
            </a:r>
            <a:r>
              <a:rPr lang="zh-CN" altLang="en-US" b="1">
                <a:solidFill>
                  <a:srgbClr val="0000FF"/>
                </a:solidFill>
                <a:latin typeface="Times New Roman" panose="02020603050405020304" pitchFamily="18" charset="0"/>
                <a:ea typeface="楷体_GB2312" pitchFamily="49" charset="-122"/>
              </a:rPr>
              <a:t>丢失</a:t>
            </a:r>
            <a:r>
              <a:rPr lang="en-US" altLang="zh-CN" b="1">
                <a:solidFill>
                  <a:srgbClr val="0000FF"/>
                </a:solidFill>
                <a:latin typeface="Times New Roman" panose="02020603050405020304" pitchFamily="18" charset="0"/>
                <a:ea typeface="楷体_GB2312" pitchFamily="49" charset="-122"/>
              </a:rPr>
              <a:t>B→C)</a:t>
            </a:r>
            <a:endParaRPr lang="en-US" altLang="zh-CN" b="1">
              <a:solidFill>
                <a:srgbClr val="0000FF"/>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68676"/>
                                        </p:tgtEl>
                                        <p:attrNameLst>
                                          <p:attrName>style.visibility</p:attrName>
                                        </p:attrNameLst>
                                      </p:cBhvr>
                                      <p:to>
                                        <p:strVal val="visible"/>
                                      </p:to>
                                    </p:set>
                                    <p:animEffect transition="in" filter="strips(downLeft)">
                                      <p:cBhvr>
                                        <p:cTn id="7" dur="500"/>
                                        <p:tgtEl>
                                          <p:spTgt spid="668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8676"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type="body" idx="1"/>
          </p:nvPr>
        </p:nvSpPr>
        <p:spPr>
          <a:xfrm>
            <a:off x="827088" y="3644900"/>
            <a:ext cx="6927850" cy="2173288"/>
          </a:xfrm>
        </p:spPr>
        <p:txBody>
          <a:bodyPr/>
          <a:lstStyle/>
          <a:p>
            <a:pPr>
              <a:lnSpc>
                <a:spcPct val="90000"/>
              </a:lnSpc>
            </a:pPr>
            <a:r>
              <a:rPr lang="en-US" altLang="zh-CN" sz="3200" dirty="0">
                <a:ea typeface="宋体" panose="02010600030101010101" pitchFamily="2" charset="-122"/>
              </a:rPr>
              <a:t>F</a:t>
            </a:r>
            <a:r>
              <a:rPr lang="zh-CN" altLang="en-US" sz="3200" dirty="0">
                <a:ea typeface="宋体" panose="02010600030101010101" pitchFamily="2" charset="-122"/>
              </a:rPr>
              <a:t>在</a:t>
            </a:r>
            <a:r>
              <a:rPr lang="en-US" altLang="zh-CN" sz="3200" dirty="0">
                <a:ea typeface="宋体" panose="02010600030101010101" pitchFamily="2" charset="-122"/>
              </a:rPr>
              <a:t>AB,AC, BD,CD</a:t>
            </a:r>
            <a:r>
              <a:rPr lang="zh-CN" altLang="en-US" sz="3200" dirty="0">
                <a:ea typeface="宋体" panose="02010600030101010101" pitchFamily="2" charset="-122"/>
              </a:rPr>
              <a:t>上的投影分别为｛</a:t>
            </a:r>
            <a:r>
              <a:rPr lang="en-US" altLang="zh-CN" sz="3200" dirty="0">
                <a:ea typeface="宋体" panose="02010600030101010101" pitchFamily="2" charset="-122"/>
              </a:rPr>
              <a:t>A→B</a:t>
            </a:r>
            <a:r>
              <a:rPr lang="zh-CN" altLang="en-US" sz="3200" dirty="0">
                <a:ea typeface="宋体" panose="02010600030101010101" pitchFamily="2" charset="-122"/>
              </a:rPr>
              <a:t>｝</a:t>
            </a:r>
            <a:r>
              <a:rPr lang="en-US" altLang="zh-CN" sz="3200" dirty="0">
                <a:ea typeface="宋体" panose="02010600030101010101" pitchFamily="2" charset="-122"/>
              </a:rPr>
              <a:t>,</a:t>
            </a:r>
            <a:r>
              <a:rPr lang="zh-CN" altLang="en-US" sz="3200" dirty="0">
                <a:ea typeface="宋体" panose="02010600030101010101" pitchFamily="2" charset="-122"/>
              </a:rPr>
              <a:t>｛</a:t>
            </a:r>
            <a:r>
              <a:rPr lang="en-US" altLang="zh-CN" sz="3200" dirty="0">
                <a:ea typeface="宋体" panose="02010600030101010101" pitchFamily="2" charset="-122"/>
              </a:rPr>
              <a:t>A→C</a:t>
            </a:r>
            <a:r>
              <a:rPr lang="zh-CN" altLang="en-US" sz="3200" dirty="0">
                <a:ea typeface="宋体" panose="02010600030101010101" pitchFamily="2" charset="-122"/>
              </a:rPr>
              <a:t>｝</a:t>
            </a:r>
            <a:r>
              <a:rPr lang="en-US" altLang="zh-CN" sz="3200" dirty="0">
                <a:ea typeface="宋体" panose="02010600030101010101" pitchFamily="2" charset="-122"/>
              </a:rPr>
              <a:t>,</a:t>
            </a:r>
            <a:r>
              <a:rPr lang="en-US" altLang="zh-CN" sz="3600" dirty="0">
                <a:ea typeface="宋体" panose="02010600030101010101" pitchFamily="2" charset="-122"/>
              </a:rPr>
              <a:t>ø</a:t>
            </a:r>
            <a:r>
              <a:rPr lang="en-US" altLang="zh-CN" sz="3200" dirty="0">
                <a:ea typeface="宋体" panose="02010600030101010101" pitchFamily="2" charset="-122"/>
              </a:rPr>
              <a:t>,</a:t>
            </a:r>
            <a:r>
              <a:rPr lang="zh-CN" altLang="en-US" sz="3200" dirty="0">
                <a:ea typeface="宋体" panose="02010600030101010101" pitchFamily="2" charset="-122"/>
              </a:rPr>
              <a:t>｛</a:t>
            </a:r>
            <a:r>
              <a:rPr lang="en-US" altLang="zh-CN" sz="3200" dirty="0">
                <a:ea typeface="宋体" panose="02010600030101010101" pitchFamily="2" charset="-122"/>
              </a:rPr>
              <a:t>D→C</a:t>
            </a:r>
            <a:r>
              <a:rPr lang="zh-CN" altLang="en-US" sz="3200" dirty="0">
                <a:ea typeface="宋体" panose="02010600030101010101" pitchFamily="2" charset="-122"/>
              </a:rPr>
              <a:t>｝</a:t>
            </a:r>
            <a:r>
              <a:rPr lang="zh-CN" altLang="en-US" sz="3200" b="1" dirty="0">
                <a:ea typeface="楷体_GB2312" pitchFamily="49" charset="-122"/>
              </a:rPr>
              <a:t>丢失了</a:t>
            </a:r>
            <a:r>
              <a:rPr lang="en-US" altLang="zh-CN" sz="3200" dirty="0">
                <a:ea typeface="宋体" panose="02010600030101010101" pitchFamily="2" charset="-122"/>
              </a:rPr>
              <a:t>B→C,A→D,</a:t>
            </a:r>
            <a:endParaRPr lang="en-US" altLang="zh-CN" sz="3200" dirty="0">
              <a:ea typeface="宋体" panose="02010600030101010101" pitchFamily="2" charset="-122"/>
            </a:endParaRPr>
          </a:p>
          <a:p>
            <a:pPr>
              <a:lnSpc>
                <a:spcPct val="90000"/>
              </a:lnSpc>
            </a:pPr>
            <a:r>
              <a:rPr lang="zh-CN" altLang="en-US" sz="3200" dirty="0">
                <a:ea typeface="宋体" panose="02010600030101010101" pitchFamily="2" charset="-122"/>
              </a:rPr>
              <a:t>所以此分解不保持函数依赖</a:t>
            </a:r>
            <a:endParaRPr lang="en-US" altLang="zh-CN" sz="3200" dirty="0">
              <a:ea typeface="宋体" panose="02010600030101010101" pitchFamily="2" charset="-122"/>
            </a:endParaRPr>
          </a:p>
        </p:txBody>
      </p:sp>
      <p:sp>
        <p:nvSpPr>
          <p:cNvPr id="33795" name="Rectangle 3"/>
          <p:cNvSpPr>
            <a:spLocks noChangeArrowheads="1"/>
          </p:cNvSpPr>
          <p:nvPr/>
        </p:nvSpPr>
        <p:spPr bwMode="auto">
          <a:xfrm>
            <a:off x="395288" y="260350"/>
            <a:ext cx="80645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20000"/>
              </a:spcBef>
              <a:buClr>
                <a:schemeClr val="folHlink"/>
              </a:buClr>
              <a:buSzPct val="60000"/>
              <a:buFont typeface="Wingdings" panose="05000000000000000000" pitchFamily="2" charset="2"/>
              <a:buNone/>
            </a:pPr>
            <a:r>
              <a:rPr lang="zh-CN" altLang="en-US" sz="3200">
                <a:ea typeface="宋体" panose="02010600030101010101" pitchFamily="2" charset="-122"/>
              </a:rPr>
              <a:t>题目：设关系模式</a:t>
            </a:r>
            <a:r>
              <a:rPr lang="en-US" altLang="zh-CN" sz="3200">
                <a:ea typeface="宋体" panose="02010600030101010101" pitchFamily="2" charset="-122"/>
              </a:rPr>
              <a:t>R(A,B,C,D)F</a:t>
            </a:r>
            <a:r>
              <a:rPr lang="zh-CN" altLang="en-US" sz="3200">
                <a:ea typeface="宋体" panose="02010600030101010101" pitchFamily="2" charset="-122"/>
              </a:rPr>
              <a:t>是</a:t>
            </a:r>
            <a:r>
              <a:rPr lang="en-US" altLang="zh-CN" sz="3200">
                <a:ea typeface="宋体" panose="02010600030101010101" pitchFamily="2" charset="-122"/>
              </a:rPr>
              <a:t>R</a:t>
            </a:r>
            <a:r>
              <a:rPr lang="zh-CN" altLang="en-US" sz="3200">
                <a:ea typeface="宋体" panose="02010600030101010101" pitchFamily="2" charset="-122"/>
              </a:rPr>
              <a:t>上成立的</a:t>
            </a:r>
            <a:r>
              <a:rPr lang="en-US" altLang="zh-CN" sz="3200">
                <a:ea typeface="宋体" panose="02010600030101010101" pitchFamily="2" charset="-122"/>
              </a:rPr>
              <a:t>FD</a:t>
            </a:r>
            <a:r>
              <a:rPr lang="zh-CN" altLang="en-US" sz="3200">
                <a:ea typeface="宋体" panose="02010600030101010101" pitchFamily="2" charset="-122"/>
              </a:rPr>
              <a:t>集，</a:t>
            </a:r>
            <a:r>
              <a:rPr lang="en-US" altLang="zh-CN" sz="3200">
                <a:ea typeface="宋体" panose="02010600030101010101" pitchFamily="2" charset="-122"/>
              </a:rPr>
              <a:t>F={A→B,B→C,A→D,D→C}</a:t>
            </a:r>
            <a:r>
              <a:rPr lang="en-US" altLang="zh-CN" sz="3200">
                <a:ea typeface="楷体_GB2312" pitchFamily="49" charset="-122"/>
              </a:rPr>
              <a:t>, </a:t>
            </a:r>
            <a:r>
              <a:rPr lang="en-US" altLang="zh-CN" sz="3200">
                <a:ea typeface="楷体_GB2312" pitchFamily="49" charset="-122"/>
                <a:sym typeface="Symbol" panose="05050102010706020507" pitchFamily="18" charset="2"/>
              </a:rPr>
              <a:t>={AB,AC,BD,CD}</a:t>
            </a:r>
            <a:r>
              <a:rPr lang="zh-CN" altLang="en-US" sz="3200">
                <a:ea typeface="楷体_GB2312" pitchFamily="49" charset="-122"/>
                <a:sym typeface="Symbol" panose="05050102010706020507" pitchFamily="18" charset="2"/>
              </a:rPr>
              <a:t>是</a:t>
            </a:r>
            <a:r>
              <a:rPr lang="en-US" altLang="zh-CN" sz="3200">
                <a:ea typeface="楷体_GB2312" pitchFamily="49" charset="-122"/>
                <a:sym typeface="Symbol" panose="05050102010706020507" pitchFamily="18" charset="2"/>
              </a:rPr>
              <a:t>R</a:t>
            </a:r>
            <a:r>
              <a:rPr lang="zh-CN" altLang="en-US" sz="3200">
                <a:ea typeface="楷体_GB2312" pitchFamily="49" charset="-122"/>
                <a:sym typeface="Symbol" panose="05050102010706020507" pitchFamily="18" charset="2"/>
              </a:rPr>
              <a:t>的一个分解。</a:t>
            </a:r>
            <a:endParaRPr lang="zh-CN" altLang="en-US" sz="3200">
              <a:ea typeface="楷体_GB2312" pitchFamily="49" charset="-122"/>
              <a:sym typeface="Symbol" panose="05050102010706020507" pitchFamily="18" charset="2"/>
            </a:endParaRPr>
          </a:p>
        </p:txBody>
      </p:sp>
      <p:sp>
        <p:nvSpPr>
          <p:cNvPr id="672772" name="Rectangle 4"/>
          <p:cNvSpPr>
            <a:spLocks noGrp="1" noChangeArrowheads="1"/>
          </p:cNvSpPr>
          <p:nvPr>
            <p:ph type="title"/>
          </p:nvPr>
        </p:nvSpPr>
        <p:spPr>
          <a:xfrm>
            <a:off x="468313" y="2060575"/>
            <a:ext cx="8064500" cy="865188"/>
          </a:xfrm>
        </p:spPr>
        <p:txBody>
          <a:bodyPr>
            <a:normAutofit fontScale="90000"/>
          </a:bodyPr>
          <a:lstStyle/>
          <a:p>
            <a:pPr>
              <a:defRPr/>
            </a:pPr>
            <a:r>
              <a:rPr lang="en-US" altLang="zh-CN" dirty="0">
                <a:ea typeface="楷体_GB2312" pitchFamily="49" charset="-122"/>
                <a:sym typeface="Symbol" panose="05050102010706020507" pitchFamily="18" charset="2"/>
              </a:rPr>
              <a:t>1</a:t>
            </a:r>
            <a:r>
              <a:rPr lang="zh-CN" altLang="en-US" dirty="0">
                <a:ea typeface="楷体_GB2312" pitchFamily="49" charset="-122"/>
                <a:sym typeface="Symbol" panose="05050102010706020507" pitchFamily="18" charset="2"/>
              </a:rPr>
              <a:t>、试求</a:t>
            </a:r>
            <a:r>
              <a:rPr lang="en-US" altLang="zh-CN" dirty="0">
                <a:ea typeface="楷体_GB2312" pitchFamily="49" charset="-122"/>
                <a:sym typeface="Symbol" panose="05050102010706020507" pitchFamily="18" charset="2"/>
              </a:rPr>
              <a:t>F</a:t>
            </a:r>
            <a:r>
              <a:rPr lang="zh-CN" altLang="en-US" dirty="0">
                <a:ea typeface="楷体_GB2312" pitchFamily="49" charset="-122"/>
                <a:sym typeface="Symbol" panose="05050102010706020507" pitchFamily="18" charset="2"/>
              </a:rPr>
              <a:t>在的每个模式上的投影？</a:t>
            </a:r>
            <a:br>
              <a:rPr lang="zh-CN" altLang="en-US" dirty="0">
                <a:ea typeface="楷体_GB2312" pitchFamily="49" charset="-122"/>
                <a:sym typeface="Symbol" panose="05050102010706020507" pitchFamily="18" charset="2"/>
              </a:rPr>
            </a:br>
            <a:r>
              <a:rPr lang="en-US" altLang="zh-CN" dirty="0">
                <a:ea typeface="楷体_GB2312" pitchFamily="49" charset="-122"/>
                <a:sym typeface="Symbol" panose="05050102010706020507" pitchFamily="18" charset="2"/>
              </a:rPr>
              <a:t>2</a:t>
            </a:r>
            <a:r>
              <a:rPr lang="zh-CN" altLang="en-US" dirty="0">
                <a:ea typeface="楷体_GB2312" pitchFamily="49" charset="-122"/>
                <a:sym typeface="Symbol" panose="05050102010706020507" pitchFamily="18" charset="2"/>
              </a:rPr>
              <a:t>、保持函数依赖吗？为什么？</a:t>
            </a:r>
            <a:endParaRPr lang="zh-CN" altLang="en-US" dirty="0">
              <a:ea typeface="楷体_GB2312" pitchFamily="49" charset="-122"/>
              <a:sym typeface="Symbol" panose="05050102010706020507" pitchFamily="18"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27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277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277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6" name="AutoShape 14"/>
          <p:cNvSpPr>
            <a:spLocks noChangeArrowheads="1"/>
          </p:cNvSpPr>
          <p:nvPr/>
        </p:nvSpPr>
        <p:spPr bwMode="auto">
          <a:xfrm>
            <a:off x="1573213" y="1933703"/>
            <a:ext cx="360363" cy="759948"/>
          </a:xfrm>
          <a:prstGeom prst="downArrow">
            <a:avLst>
              <a:gd name="adj1" fmla="val 50000"/>
              <a:gd name="adj2" fmla="val 43722"/>
            </a:avLst>
          </a:prstGeom>
          <a:noFill/>
          <a:ln w="9525">
            <a:solidFill>
              <a:schemeClr val="tx1"/>
            </a:solidFill>
            <a:miter lim="800000"/>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13328" name="AutoShape 16"/>
          <p:cNvSpPr>
            <a:spLocks noChangeArrowheads="1"/>
          </p:cNvSpPr>
          <p:nvPr/>
        </p:nvSpPr>
        <p:spPr bwMode="auto">
          <a:xfrm>
            <a:off x="1573212" y="4597853"/>
            <a:ext cx="360363" cy="929154"/>
          </a:xfrm>
          <a:prstGeom prst="downArrow">
            <a:avLst>
              <a:gd name="adj1" fmla="val 50000"/>
              <a:gd name="adj2" fmla="val 43722"/>
            </a:avLst>
          </a:prstGeom>
          <a:noFill/>
          <a:ln w="9525">
            <a:solidFill>
              <a:schemeClr val="tx1"/>
            </a:solidFill>
            <a:miter lim="800000"/>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13315" name="Rectangle 3"/>
          <p:cNvSpPr>
            <a:spLocks noChangeArrowheads="1"/>
          </p:cNvSpPr>
          <p:nvPr/>
        </p:nvSpPr>
        <p:spPr bwMode="auto">
          <a:xfrm>
            <a:off x="611188" y="362687"/>
            <a:ext cx="2196000" cy="504000"/>
          </a:xfrm>
          <a:prstGeom prst="rect">
            <a:avLst/>
          </a:prstGeom>
          <a:solidFill>
            <a:schemeClr val="accent5">
              <a:lumMod val="85000"/>
            </a:schemeClr>
          </a:solidFill>
          <a:ln w="9525">
            <a:solidFill>
              <a:schemeClr val="tx1"/>
            </a:solidFill>
            <a:miter lim="800000"/>
          </a:ln>
        </p:spPr>
        <p:txBody>
          <a:bodyPr wrap="none" anchor="ct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dirty="0">
                <a:latin typeface="Times New Roman" panose="02020603050405020304" pitchFamily="18" charset="0"/>
                <a:ea typeface="宋体" panose="02010600030101010101" pitchFamily="2" charset="-122"/>
              </a:rPr>
              <a:t>不良的模式设计</a:t>
            </a:r>
            <a:endParaRPr lang="zh-CN" altLang="en-US" sz="2400" dirty="0">
              <a:latin typeface="Times New Roman" panose="02020603050405020304" pitchFamily="18" charset="0"/>
              <a:ea typeface="宋体" panose="02010600030101010101" pitchFamily="2" charset="-122"/>
            </a:endParaRPr>
          </a:p>
        </p:txBody>
      </p:sp>
      <p:sp>
        <p:nvSpPr>
          <p:cNvPr id="13316" name="Rectangle 4"/>
          <p:cNvSpPr>
            <a:spLocks noChangeArrowheads="1"/>
          </p:cNvSpPr>
          <p:nvPr/>
        </p:nvSpPr>
        <p:spPr bwMode="auto">
          <a:xfrm>
            <a:off x="611188" y="1429703"/>
            <a:ext cx="2196000" cy="504000"/>
          </a:xfrm>
          <a:prstGeom prst="rect">
            <a:avLst/>
          </a:prstGeom>
          <a:solidFill>
            <a:schemeClr val="accent5">
              <a:lumMod val="85000"/>
            </a:schemeClr>
          </a:solidFill>
          <a:ln w="9525">
            <a:solidFill>
              <a:schemeClr val="tx1"/>
            </a:solidFill>
            <a:miter lim="800000"/>
          </a:ln>
        </p:spPr>
        <p:txBody>
          <a:bodyPr wrap="none" anchor="ct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dirty="0">
                <a:latin typeface="Times New Roman" panose="02020603050405020304" pitchFamily="18" charset="0"/>
                <a:ea typeface="宋体" panose="02010600030101010101" pitchFamily="2" charset="-122"/>
              </a:rPr>
              <a:t>不良的数据依赖</a:t>
            </a:r>
            <a:endParaRPr lang="zh-CN" altLang="en-US" sz="2400" dirty="0">
              <a:latin typeface="Times New Roman" panose="02020603050405020304" pitchFamily="18" charset="0"/>
              <a:ea typeface="宋体" panose="02010600030101010101" pitchFamily="2" charset="-122"/>
            </a:endParaRPr>
          </a:p>
        </p:txBody>
      </p:sp>
      <p:sp>
        <p:nvSpPr>
          <p:cNvPr id="13317" name="Rectangle 5"/>
          <p:cNvSpPr>
            <a:spLocks noChangeArrowheads="1"/>
          </p:cNvSpPr>
          <p:nvPr/>
        </p:nvSpPr>
        <p:spPr bwMode="auto">
          <a:xfrm>
            <a:off x="592809" y="5532506"/>
            <a:ext cx="2339102" cy="461665"/>
          </a:xfrm>
          <a:prstGeom prst="rect">
            <a:avLst/>
          </a:prstGeom>
          <a:solidFill>
            <a:schemeClr val="accent2">
              <a:lumMod val="40000"/>
              <a:lumOff val="60000"/>
            </a:schemeClr>
          </a:solidFill>
          <a:ln w="9525">
            <a:solidFill>
              <a:schemeClr val="tx1"/>
            </a:solidFill>
            <a:miter lim="800000"/>
          </a:ln>
        </p:spPr>
        <p:txBody>
          <a:bodyPr wrap="none" anchor="ct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dirty="0">
                <a:latin typeface="Times New Roman" panose="02020603050405020304" pitchFamily="18" charset="0"/>
                <a:ea typeface="宋体" panose="02010600030101010101" pitchFamily="2" charset="-122"/>
              </a:rPr>
              <a:t>良好的模式设计</a:t>
            </a:r>
            <a:endParaRPr lang="zh-CN" altLang="en-US" sz="2400" dirty="0">
              <a:latin typeface="Times New Roman" panose="02020603050405020304" pitchFamily="18" charset="0"/>
              <a:ea typeface="宋体" panose="02010600030101010101" pitchFamily="2" charset="-122"/>
            </a:endParaRPr>
          </a:p>
        </p:txBody>
      </p:sp>
      <p:sp>
        <p:nvSpPr>
          <p:cNvPr id="13319" name="Rectangle 7"/>
          <p:cNvSpPr>
            <a:spLocks noChangeArrowheads="1"/>
          </p:cNvSpPr>
          <p:nvPr/>
        </p:nvSpPr>
        <p:spPr bwMode="auto">
          <a:xfrm>
            <a:off x="622303" y="4096602"/>
            <a:ext cx="2196000" cy="504000"/>
          </a:xfrm>
          <a:prstGeom prst="rect">
            <a:avLst/>
          </a:prstGeom>
          <a:solidFill>
            <a:schemeClr val="accent5">
              <a:lumMod val="85000"/>
            </a:schemeClr>
          </a:solidFill>
          <a:ln w="9525">
            <a:solidFill>
              <a:schemeClr val="tx1"/>
            </a:solidFill>
            <a:miter lim="800000"/>
          </a:ln>
        </p:spPr>
        <p:txBody>
          <a:bodyPr wrap="none" anchor="ct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a:latin typeface="Times New Roman" panose="02020603050405020304" pitchFamily="18" charset="0"/>
                <a:ea typeface="宋体" panose="02010600030101010101" pitchFamily="2" charset="-122"/>
              </a:rPr>
              <a:t>模式分解</a:t>
            </a:r>
            <a:endParaRPr lang="zh-CN" altLang="en-US" sz="2400">
              <a:latin typeface="Times New Roman" panose="02020603050405020304" pitchFamily="18" charset="0"/>
              <a:ea typeface="宋体" panose="02010600030101010101" pitchFamily="2" charset="-122"/>
            </a:endParaRPr>
          </a:p>
        </p:txBody>
      </p:sp>
      <p:sp>
        <p:nvSpPr>
          <p:cNvPr id="13320" name="AutoShape 8"/>
          <p:cNvSpPr>
            <a:spLocks noChangeArrowheads="1"/>
          </p:cNvSpPr>
          <p:nvPr/>
        </p:nvSpPr>
        <p:spPr bwMode="auto">
          <a:xfrm>
            <a:off x="3779839" y="260350"/>
            <a:ext cx="1873250" cy="493626"/>
          </a:xfrm>
          <a:prstGeom prst="wedgeRoundRectCallout">
            <a:avLst>
              <a:gd name="adj1" fmla="val -99286"/>
              <a:gd name="adj2" fmla="val 23342"/>
              <a:gd name="adj3" fmla="val 16667"/>
            </a:avLst>
          </a:prstGeom>
          <a:solidFill>
            <a:schemeClr val="accent5">
              <a:lumMod val="85000"/>
            </a:schemeClr>
          </a:solidFill>
          <a:ln w="9525">
            <a:solidFill>
              <a:schemeClr val="tx1"/>
            </a:solidFill>
            <a:miter lim="800000"/>
          </a:ln>
        </p:spPr>
        <p:txBody>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dirty="0">
                <a:latin typeface="Times New Roman" panose="02020603050405020304" pitchFamily="18" charset="0"/>
                <a:ea typeface="宋体" panose="02010600030101010101" pitchFamily="2" charset="-122"/>
              </a:rPr>
              <a:t>各种异常</a:t>
            </a:r>
            <a:endParaRPr lang="zh-CN" altLang="en-US" sz="2400" dirty="0">
              <a:latin typeface="Times New Roman" panose="02020603050405020304" pitchFamily="18" charset="0"/>
              <a:ea typeface="宋体" panose="02010600030101010101" pitchFamily="2" charset="-122"/>
            </a:endParaRPr>
          </a:p>
        </p:txBody>
      </p:sp>
      <p:sp>
        <p:nvSpPr>
          <p:cNvPr id="13321" name="AutoShape 9"/>
          <p:cNvSpPr>
            <a:spLocks noChangeArrowheads="1"/>
          </p:cNvSpPr>
          <p:nvPr/>
        </p:nvSpPr>
        <p:spPr bwMode="auto">
          <a:xfrm>
            <a:off x="3802064" y="1079047"/>
            <a:ext cx="4332943" cy="576000"/>
          </a:xfrm>
          <a:prstGeom prst="wedgeRoundRectCallout">
            <a:avLst>
              <a:gd name="adj1" fmla="val -72345"/>
              <a:gd name="adj2" fmla="val 50947"/>
              <a:gd name="adj3" fmla="val 16667"/>
            </a:avLst>
          </a:prstGeom>
          <a:solidFill>
            <a:schemeClr val="accent5">
              <a:lumMod val="85000"/>
            </a:schemeClr>
          </a:solidFill>
          <a:ln w="9525">
            <a:solidFill>
              <a:schemeClr val="tx1"/>
            </a:solidFill>
            <a:miter lim="800000"/>
          </a:ln>
        </p:spPr>
        <p:txBody>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dirty="0">
                <a:latin typeface="Times New Roman" panose="02020603050405020304" pitchFamily="18" charset="0"/>
                <a:ea typeface="宋体" panose="02010600030101010101" pitchFamily="2" charset="-122"/>
              </a:rPr>
              <a:t>部分函数依赖、传递函数依赖</a:t>
            </a:r>
            <a:endParaRPr lang="zh-CN" altLang="en-US" sz="2400" dirty="0">
              <a:latin typeface="Times New Roman" panose="02020603050405020304" pitchFamily="18" charset="0"/>
              <a:ea typeface="宋体" panose="02010600030101010101" pitchFamily="2" charset="-122"/>
            </a:endParaRPr>
          </a:p>
        </p:txBody>
      </p:sp>
      <p:sp>
        <p:nvSpPr>
          <p:cNvPr id="13322" name="AutoShape 10"/>
          <p:cNvSpPr>
            <a:spLocks noChangeArrowheads="1"/>
          </p:cNvSpPr>
          <p:nvPr/>
        </p:nvSpPr>
        <p:spPr bwMode="auto">
          <a:xfrm>
            <a:off x="3655349" y="5527006"/>
            <a:ext cx="4752976" cy="496636"/>
          </a:xfrm>
          <a:prstGeom prst="wedgeRoundRectCallout">
            <a:avLst>
              <a:gd name="adj1" fmla="val -65768"/>
              <a:gd name="adj2" fmla="val -19760"/>
              <a:gd name="adj3" fmla="val 16667"/>
            </a:avLst>
          </a:prstGeom>
          <a:solidFill>
            <a:schemeClr val="accent2">
              <a:lumMod val="40000"/>
              <a:lumOff val="60000"/>
            </a:schemeClr>
          </a:solidFill>
          <a:ln w="9525">
            <a:solidFill>
              <a:schemeClr val="tx1"/>
            </a:solidFill>
            <a:miter lim="800000"/>
          </a:ln>
        </p:spPr>
        <p:txBody>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en-US" altLang="zh-CN" sz="2400">
                <a:latin typeface="Times New Roman" panose="02020603050405020304" pitchFamily="18" charset="0"/>
                <a:ea typeface="宋体" panose="02010600030101010101" pitchFamily="2" charset="-122"/>
              </a:rPr>
              <a:t>1NF</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2NF</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3NF</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BCNF</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4NF</a:t>
            </a:r>
            <a:endParaRPr lang="en-US" altLang="zh-CN" sz="2400">
              <a:latin typeface="Times New Roman" panose="02020603050405020304" pitchFamily="18" charset="0"/>
              <a:ea typeface="宋体" panose="02010600030101010101" pitchFamily="2" charset="-122"/>
            </a:endParaRPr>
          </a:p>
        </p:txBody>
      </p:sp>
      <p:sp>
        <p:nvSpPr>
          <p:cNvPr id="13324" name="AutoShape 12"/>
          <p:cNvSpPr>
            <a:spLocks noChangeArrowheads="1"/>
          </p:cNvSpPr>
          <p:nvPr/>
        </p:nvSpPr>
        <p:spPr bwMode="auto">
          <a:xfrm>
            <a:off x="3666465" y="3752049"/>
            <a:ext cx="4866348" cy="1255135"/>
          </a:xfrm>
          <a:prstGeom prst="wedgeRoundRectCallout">
            <a:avLst>
              <a:gd name="adj1" fmla="val -67259"/>
              <a:gd name="adj2" fmla="val -1725"/>
              <a:gd name="adj3" fmla="val 16667"/>
            </a:avLst>
          </a:prstGeom>
          <a:solidFill>
            <a:schemeClr val="accent5">
              <a:lumMod val="85000"/>
            </a:schemeClr>
          </a:solidFill>
          <a:ln w="9525">
            <a:solidFill>
              <a:schemeClr val="tx1"/>
            </a:solidFill>
            <a:miter lim="800000"/>
          </a:ln>
        </p:spPr>
        <p:txBody>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r>
              <a:rPr lang="zh-CN" altLang="en-US" sz="2400" dirty="0">
                <a:latin typeface="Times New Roman" panose="02020603050405020304" pitchFamily="18" charset="0"/>
                <a:ea typeface="宋体" panose="02010600030101010101" pitchFamily="2" charset="-122"/>
              </a:rPr>
              <a:t>模式分解的定义、保持函数依赖分解和保持无损连接分解的判定和分解算法</a:t>
            </a:r>
            <a:endParaRPr lang="zh-CN" altLang="en-US" sz="2400" dirty="0">
              <a:latin typeface="Times New Roman" panose="02020603050405020304" pitchFamily="18" charset="0"/>
              <a:ea typeface="宋体" panose="02010600030101010101" pitchFamily="2" charset="-122"/>
            </a:endParaRPr>
          </a:p>
        </p:txBody>
      </p:sp>
      <p:sp>
        <p:nvSpPr>
          <p:cNvPr id="13325" name="AutoShape 13"/>
          <p:cNvSpPr>
            <a:spLocks noChangeArrowheads="1"/>
          </p:cNvSpPr>
          <p:nvPr/>
        </p:nvSpPr>
        <p:spPr bwMode="auto">
          <a:xfrm>
            <a:off x="1573213" y="864710"/>
            <a:ext cx="360363" cy="576000"/>
          </a:xfrm>
          <a:prstGeom prst="downArrow">
            <a:avLst>
              <a:gd name="adj1" fmla="val 50000"/>
              <a:gd name="adj2" fmla="val 43722"/>
            </a:avLst>
          </a:prstGeom>
          <a:noFill/>
          <a:ln w="9525">
            <a:solidFill>
              <a:schemeClr val="tx1"/>
            </a:solidFill>
            <a:miter lim="800000"/>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13327" name="AutoShape 15"/>
          <p:cNvSpPr>
            <a:spLocks noChangeArrowheads="1"/>
          </p:cNvSpPr>
          <p:nvPr/>
        </p:nvSpPr>
        <p:spPr bwMode="auto">
          <a:xfrm>
            <a:off x="1573212" y="3203151"/>
            <a:ext cx="360363" cy="890701"/>
          </a:xfrm>
          <a:prstGeom prst="downArrow">
            <a:avLst>
              <a:gd name="adj1" fmla="val 50000"/>
              <a:gd name="adj2" fmla="val 43722"/>
            </a:avLst>
          </a:prstGeom>
          <a:noFill/>
          <a:ln w="9525">
            <a:solidFill>
              <a:schemeClr val="tx1"/>
            </a:solidFill>
            <a:miter lim="800000"/>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zh-CN" altLang="en-US" sz="1600">
              <a:ea typeface="宋体" panose="02010600030101010101" pitchFamily="2" charset="-122"/>
            </a:endParaRPr>
          </a:p>
        </p:txBody>
      </p:sp>
      <p:sp>
        <p:nvSpPr>
          <p:cNvPr id="19" name="Rectangle 6"/>
          <p:cNvSpPr>
            <a:spLocks noChangeArrowheads="1"/>
          </p:cNvSpPr>
          <p:nvPr/>
        </p:nvSpPr>
        <p:spPr bwMode="auto">
          <a:xfrm>
            <a:off x="611188" y="2699151"/>
            <a:ext cx="2196000" cy="504000"/>
          </a:xfrm>
          <a:prstGeom prst="rect">
            <a:avLst/>
          </a:prstGeom>
          <a:solidFill>
            <a:schemeClr val="accent5">
              <a:lumMod val="85000"/>
            </a:schemeClr>
          </a:solidFill>
          <a:ln w="9525">
            <a:solidFill>
              <a:schemeClr val="tx1"/>
            </a:solidFill>
            <a:miter lim="800000"/>
          </a:ln>
        </p:spPr>
        <p:txBody>
          <a:bodyPr wrap="none" anchor="ctr">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zh-CN" altLang="en-US" sz="2400" dirty="0">
                <a:latin typeface="Times New Roman" panose="02020603050405020304" pitchFamily="18" charset="0"/>
                <a:ea typeface="宋体" panose="02010600030101010101" pitchFamily="2" charset="-122"/>
              </a:rPr>
              <a:t>函数依赖的运算</a:t>
            </a:r>
            <a:endParaRPr lang="zh-CN" altLang="en-US" sz="2400" dirty="0">
              <a:latin typeface="Times New Roman" panose="02020603050405020304" pitchFamily="18" charset="0"/>
              <a:ea typeface="宋体" panose="02010600030101010101" pitchFamily="2" charset="-122"/>
            </a:endParaRPr>
          </a:p>
        </p:txBody>
      </p:sp>
      <p:sp>
        <p:nvSpPr>
          <p:cNvPr id="20" name="AutoShape 11"/>
          <p:cNvSpPr>
            <a:spLocks noChangeArrowheads="1"/>
          </p:cNvSpPr>
          <p:nvPr/>
        </p:nvSpPr>
        <p:spPr bwMode="auto">
          <a:xfrm>
            <a:off x="3666465" y="2039007"/>
            <a:ext cx="4855232" cy="1329082"/>
          </a:xfrm>
          <a:prstGeom prst="wedgeRoundRectCallout">
            <a:avLst>
              <a:gd name="adj1" fmla="val -67522"/>
              <a:gd name="adj2" fmla="val 19425"/>
              <a:gd name="adj3" fmla="val 16667"/>
            </a:avLst>
          </a:prstGeom>
          <a:solidFill>
            <a:schemeClr val="accent5">
              <a:lumMod val="85000"/>
            </a:schemeClr>
          </a:solidFill>
          <a:ln w="9525">
            <a:solidFill>
              <a:schemeClr val="tx1"/>
            </a:solidFill>
            <a:miter lim="800000"/>
          </a:ln>
        </p:spPr>
        <p:txBody>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lang="en-US" altLang="zh-CN" sz="2400" dirty="0">
                <a:latin typeface="Times New Roman" panose="02020603050405020304" pitchFamily="18" charset="0"/>
                <a:ea typeface="宋体" panose="02010600030101010101" pitchFamily="2" charset="-122"/>
              </a:rPr>
              <a:t>Armstrong</a:t>
            </a:r>
            <a:r>
              <a:rPr lang="zh-CN" altLang="en-US" sz="2400" dirty="0">
                <a:latin typeface="Times New Roman" panose="02020603050405020304" pitchFamily="18" charset="0"/>
                <a:ea typeface="宋体" panose="02010600030101010101" pitchFamily="2" charset="-122"/>
              </a:rPr>
              <a:t>公理、属性集的闭包、函数依赖的推导、候选码的计算、函数依赖集的等价和最小覆盖</a:t>
            </a:r>
            <a:endParaRPr lang="zh-CN" altLang="en-US" sz="2400" dirty="0">
              <a:latin typeface="Times New Roman" panose="02020603050405020304" pitchFamily="18" charset="0"/>
              <a:ea typeface="宋体" panose="02010600030101010101" pitchFamily="2" charset="-122"/>
            </a:endParaRPr>
          </a:p>
        </p:txBody>
      </p:sp>
      <p:sp>
        <p:nvSpPr>
          <p:cNvPr id="2" name="文本框 1"/>
          <p:cNvSpPr txBox="1"/>
          <p:nvPr/>
        </p:nvSpPr>
        <p:spPr>
          <a:xfrm>
            <a:off x="5671017" y="311305"/>
            <a:ext cx="697627" cy="400110"/>
          </a:xfrm>
          <a:prstGeom prst="rect">
            <a:avLst/>
          </a:prstGeom>
          <a:noFill/>
        </p:spPr>
        <p:txBody>
          <a:bodyPr wrap="none" rtlCol="0">
            <a:spAutoFit/>
          </a:bodyPr>
          <a:lstStyle/>
          <a:p>
            <a:r>
              <a:rPr lang="zh-CN" altLang="en-US" sz="2000" dirty="0">
                <a:solidFill>
                  <a:srgbClr val="FF0000"/>
                </a:solidFill>
              </a:rPr>
              <a:t>现象</a:t>
            </a:r>
            <a:endParaRPr lang="zh-CN" altLang="en-US" sz="2000" dirty="0">
              <a:solidFill>
                <a:srgbClr val="FF0000"/>
              </a:solidFill>
            </a:endParaRPr>
          </a:p>
        </p:txBody>
      </p:sp>
      <p:sp>
        <p:nvSpPr>
          <p:cNvPr id="17" name="文本框 16"/>
          <p:cNvSpPr txBox="1"/>
          <p:nvPr/>
        </p:nvSpPr>
        <p:spPr>
          <a:xfrm>
            <a:off x="8183998" y="1134565"/>
            <a:ext cx="697627" cy="400110"/>
          </a:xfrm>
          <a:prstGeom prst="rect">
            <a:avLst/>
          </a:prstGeom>
          <a:noFill/>
        </p:spPr>
        <p:txBody>
          <a:bodyPr wrap="none" rtlCol="0">
            <a:spAutoFit/>
          </a:bodyPr>
          <a:lstStyle/>
          <a:p>
            <a:r>
              <a:rPr lang="zh-CN" altLang="en-US" sz="2000" dirty="0">
                <a:solidFill>
                  <a:srgbClr val="FF0000"/>
                </a:solidFill>
              </a:rPr>
              <a:t>症由</a:t>
            </a:r>
            <a:endParaRPr lang="zh-CN" altLang="en-US" sz="2000" dirty="0">
              <a:solidFill>
                <a:srgbClr val="FF0000"/>
              </a:solidFill>
            </a:endParaRPr>
          </a:p>
        </p:txBody>
      </p:sp>
      <p:sp>
        <p:nvSpPr>
          <p:cNvPr id="18" name="文本框 17"/>
          <p:cNvSpPr txBox="1"/>
          <p:nvPr/>
        </p:nvSpPr>
        <p:spPr>
          <a:xfrm>
            <a:off x="8521697" y="2303438"/>
            <a:ext cx="697627" cy="400110"/>
          </a:xfrm>
          <a:prstGeom prst="rect">
            <a:avLst/>
          </a:prstGeom>
          <a:noFill/>
        </p:spPr>
        <p:txBody>
          <a:bodyPr wrap="none" rtlCol="0">
            <a:spAutoFit/>
          </a:bodyPr>
          <a:lstStyle/>
          <a:p>
            <a:r>
              <a:rPr lang="zh-CN" altLang="en-US" sz="2000" dirty="0">
                <a:solidFill>
                  <a:srgbClr val="FF0000"/>
                </a:solidFill>
              </a:rPr>
              <a:t>工具</a:t>
            </a:r>
            <a:endParaRPr lang="zh-CN" altLang="en-US" sz="2000" dirty="0">
              <a:solidFill>
                <a:srgbClr val="FF0000"/>
              </a:solidFill>
            </a:endParaRPr>
          </a:p>
        </p:txBody>
      </p:sp>
      <p:sp>
        <p:nvSpPr>
          <p:cNvPr id="21" name="文本框 20"/>
          <p:cNvSpPr txBox="1"/>
          <p:nvPr/>
        </p:nvSpPr>
        <p:spPr>
          <a:xfrm>
            <a:off x="8521697" y="4085022"/>
            <a:ext cx="697627" cy="400110"/>
          </a:xfrm>
          <a:prstGeom prst="rect">
            <a:avLst/>
          </a:prstGeom>
          <a:noFill/>
        </p:spPr>
        <p:txBody>
          <a:bodyPr wrap="none" rtlCol="0">
            <a:spAutoFit/>
          </a:bodyPr>
          <a:lstStyle/>
          <a:p>
            <a:r>
              <a:rPr lang="zh-CN" altLang="en-US" sz="2000" dirty="0">
                <a:solidFill>
                  <a:srgbClr val="FF0000"/>
                </a:solidFill>
              </a:rPr>
              <a:t>方法</a:t>
            </a:r>
            <a:endParaRPr lang="zh-CN" altLang="en-US" sz="2000" dirty="0">
              <a:solidFill>
                <a:srgbClr val="FF0000"/>
              </a:solidFill>
            </a:endParaRPr>
          </a:p>
        </p:txBody>
      </p:sp>
      <p:sp>
        <p:nvSpPr>
          <p:cNvPr id="22" name="文本框 21"/>
          <p:cNvSpPr txBox="1"/>
          <p:nvPr/>
        </p:nvSpPr>
        <p:spPr>
          <a:xfrm>
            <a:off x="8446373" y="5563283"/>
            <a:ext cx="697627" cy="400110"/>
          </a:xfrm>
          <a:prstGeom prst="rect">
            <a:avLst/>
          </a:prstGeom>
          <a:noFill/>
        </p:spPr>
        <p:txBody>
          <a:bodyPr wrap="none" rtlCol="0">
            <a:spAutoFit/>
          </a:bodyPr>
          <a:lstStyle/>
          <a:p>
            <a:r>
              <a:rPr lang="zh-CN" altLang="en-US" sz="2000" dirty="0">
                <a:solidFill>
                  <a:srgbClr val="FF0000"/>
                </a:solidFill>
              </a:rPr>
              <a:t>规范</a:t>
            </a:r>
            <a:endParaRPr lang="zh-CN" altLang="en-US" sz="2000"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p:txBody>
          <a:bodyPr/>
          <a:lstStyle/>
          <a:p>
            <a:pPr>
              <a:defRPr/>
            </a:pPr>
            <a:r>
              <a:rPr lang="zh-CN" altLang="en-US">
                <a:ea typeface="宋体" panose="02010600030101010101" pitchFamily="2" charset="-122"/>
              </a:rPr>
              <a:t>范式</a:t>
            </a:r>
            <a:endParaRPr lang="zh-CN" altLang="en-US">
              <a:ea typeface="宋体" panose="02010600030101010101" pitchFamily="2" charset="-122"/>
            </a:endParaRPr>
          </a:p>
        </p:txBody>
      </p:sp>
      <p:sp>
        <p:nvSpPr>
          <p:cNvPr id="35843" name="Rectangle 3"/>
          <p:cNvSpPr>
            <a:spLocks noGrp="1" noChangeArrowheads="1"/>
          </p:cNvSpPr>
          <p:nvPr>
            <p:ph type="body" idx="1"/>
          </p:nvPr>
        </p:nvSpPr>
        <p:spPr>
          <a:xfrm>
            <a:off x="228600" y="1052513"/>
            <a:ext cx="5314950" cy="4711700"/>
          </a:xfrm>
          <a:noFill/>
        </p:spPr>
        <p:txBody>
          <a:bodyPr/>
          <a:lstStyle/>
          <a:p>
            <a:pPr>
              <a:lnSpc>
                <a:spcPct val="100000"/>
              </a:lnSpc>
            </a:pPr>
            <a:r>
              <a:rPr lang="zh-CN" altLang="en-US" sz="3600">
                <a:ea typeface="宋体" panose="02010600030101010101" pitchFamily="2" charset="-122"/>
              </a:rPr>
              <a:t>定义</a:t>
            </a:r>
            <a:endParaRPr lang="zh-CN" altLang="en-US" sz="3600">
              <a:ea typeface="宋体" panose="02010600030101010101" pitchFamily="2" charset="-122"/>
            </a:endParaRPr>
          </a:p>
          <a:p>
            <a:pPr lvl="1">
              <a:lnSpc>
                <a:spcPct val="100000"/>
              </a:lnSpc>
            </a:pPr>
            <a:r>
              <a:rPr lang="zh-CN" altLang="en-US" sz="3200">
                <a:ea typeface="宋体" panose="02010600030101010101" pitchFamily="2" charset="-122"/>
              </a:rPr>
              <a:t>范式是对关系的不同</a:t>
            </a:r>
            <a:r>
              <a:rPr lang="zh-CN" altLang="en-US" sz="3200" u="sng">
                <a:ea typeface="宋体" panose="02010600030101010101" pitchFamily="2" charset="-122"/>
              </a:rPr>
              <a:t>数据依赖程度</a:t>
            </a:r>
            <a:r>
              <a:rPr lang="zh-CN" altLang="en-US" sz="3200">
                <a:ea typeface="宋体" panose="02010600030101010101" pitchFamily="2" charset="-122"/>
              </a:rPr>
              <a:t>的要求</a:t>
            </a:r>
            <a:endParaRPr lang="zh-CN" altLang="en-US" sz="3200">
              <a:ea typeface="宋体" panose="02010600030101010101" pitchFamily="2" charset="-122"/>
            </a:endParaRPr>
          </a:p>
          <a:p>
            <a:pPr lvl="1">
              <a:lnSpc>
                <a:spcPct val="100000"/>
              </a:lnSpc>
            </a:pPr>
            <a:r>
              <a:rPr lang="zh-CN" altLang="en-US" sz="3200">
                <a:ea typeface="宋体" panose="02010600030101010101" pitchFamily="2" charset="-122"/>
              </a:rPr>
              <a:t>通过模式分解将一个低级范式转换为若干个高级范式的过程称作规范化（</a:t>
            </a:r>
            <a:r>
              <a:rPr lang="zh-CN" altLang="en-US" sz="3200">
                <a:solidFill>
                  <a:srgbClr val="0000FF"/>
                </a:solidFill>
                <a:ea typeface="宋体" panose="02010600030101010101" pitchFamily="2" charset="-122"/>
              </a:rPr>
              <a:t>概念的纯粹化</a:t>
            </a:r>
            <a:r>
              <a:rPr lang="zh-CN" altLang="en-US" sz="3200">
                <a:ea typeface="宋体" panose="02010600030101010101" pitchFamily="2" charset="-122"/>
              </a:rPr>
              <a:t>）</a:t>
            </a:r>
            <a:endParaRPr lang="zh-CN" altLang="en-US" sz="3200">
              <a:ea typeface="宋体" panose="02010600030101010101" pitchFamily="2" charset="-122"/>
            </a:endParaRPr>
          </a:p>
        </p:txBody>
      </p:sp>
      <p:grpSp>
        <p:nvGrpSpPr>
          <p:cNvPr id="35844" name="Group 4"/>
          <p:cNvGrpSpPr/>
          <p:nvPr/>
        </p:nvGrpSpPr>
        <p:grpSpPr bwMode="auto">
          <a:xfrm>
            <a:off x="5337175" y="2492375"/>
            <a:ext cx="3806825" cy="3657600"/>
            <a:chOff x="1632" y="1824"/>
            <a:chExt cx="2446" cy="2448"/>
          </a:xfrm>
        </p:grpSpPr>
        <p:sp>
          <p:nvSpPr>
            <p:cNvPr id="35845" name="Oval 5"/>
            <p:cNvSpPr>
              <a:spLocks noChangeArrowheads="1"/>
            </p:cNvSpPr>
            <p:nvPr/>
          </p:nvSpPr>
          <p:spPr bwMode="auto">
            <a:xfrm>
              <a:off x="2592" y="2834"/>
              <a:ext cx="576" cy="576"/>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35846" name="Oval 6"/>
            <p:cNvSpPr>
              <a:spLocks noChangeAspect="1" noChangeArrowheads="1"/>
            </p:cNvSpPr>
            <p:nvPr/>
          </p:nvSpPr>
          <p:spPr bwMode="auto">
            <a:xfrm>
              <a:off x="2400" y="2629"/>
              <a:ext cx="973" cy="973"/>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35847" name="Oval 7"/>
            <p:cNvSpPr>
              <a:spLocks noChangeAspect="1" noChangeArrowheads="1"/>
            </p:cNvSpPr>
            <p:nvPr/>
          </p:nvSpPr>
          <p:spPr bwMode="auto">
            <a:xfrm>
              <a:off x="2237" y="2431"/>
              <a:ext cx="1315" cy="131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35848" name="Oval 8"/>
            <p:cNvSpPr>
              <a:spLocks noChangeAspect="1" noChangeArrowheads="1"/>
            </p:cNvSpPr>
            <p:nvPr/>
          </p:nvSpPr>
          <p:spPr bwMode="auto">
            <a:xfrm>
              <a:off x="2064" y="2249"/>
              <a:ext cx="1650" cy="165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35849" name="Oval 9"/>
            <p:cNvSpPr>
              <a:spLocks noChangeAspect="1" noChangeArrowheads="1"/>
            </p:cNvSpPr>
            <p:nvPr/>
          </p:nvSpPr>
          <p:spPr bwMode="auto">
            <a:xfrm>
              <a:off x="1850" y="2044"/>
              <a:ext cx="2038" cy="2038"/>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35850" name="Oval 10"/>
            <p:cNvSpPr>
              <a:spLocks noChangeAspect="1" noChangeArrowheads="1"/>
            </p:cNvSpPr>
            <p:nvPr/>
          </p:nvSpPr>
          <p:spPr bwMode="auto">
            <a:xfrm>
              <a:off x="1632" y="1826"/>
              <a:ext cx="2446" cy="2446"/>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35851" name="Text Box 11"/>
            <p:cNvSpPr txBox="1">
              <a:spLocks noChangeArrowheads="1"/>
            </p:cNvSpPr>
            <p:nvPr/>
          </p:nvSpPr>
          <p:spPr bwMode="auto">
            <a:xfrm>
              <a:off x="2688" y="1824"/>
              <a:ext cx="528"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en-US" altLang="zh-CN" sz="2400">
                  <a:latin typeface="Times New Roman" panose="02020603050405020304" pitchFamily="18" charset="0"/>
                  <a:ea typeface="宋体" panose="02010600030101010101" pitchFamily="2" charset="-122"/>
                </a:rPr>
                <a:t>1NF</a:t>
              </a:r>
              <a:endParaRPr lang="en-US" altLang="zh-CN" sz="2400">
                <a:latin typeface="Times New Roman" panose="02020603050405020304" pitchFamily="18" charset="0"/>
                <a:ea typeface="宋体" panose="02010600030101010101" pitchFamily="2" charset="-122"/>
              </a:endParaRPr>
            </a:p>
          </p:txBody>
        </p:sp>
        <p:sp>
          <p:nvSpPr>
            <p:cNvPr id="35852" name="Text Box 12"/>
            <p:cNvSpPr txBox="1">
              <a:spLocks noChangeArrowheads="1"/>
            </p:cNvSpPr>
            <p:nvPr/>
          </p:nvSpPr>
          <p:spPr bwMode="auto">
            <a:xfrm>
              <a:off x="2688" y="2018"/>
              <a:ext cx="528"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en-US" altLang="zh-CN" sz="2400">
                  <a:latin typeface="Times New Roman" panose="02020603050405020304" pitchFamily="18" charset="0"/>
                  <a:ea typeface="宋体" panose="02010600030101010101" pitchFamily="2" charset="-122"/>
                </a:rPr>
                <a:t>2NF</a:t>
              </a:r>
              <a:endParaRPr lang="en-US" altLang="zh-CN" sz="2400">
                <a:latin typeface="Times New Roman" panose="02020603050405020304" pitchFamily="18" charset="0"/>
                <a:ea typeface="宋体" panose="02010600030101010101" pitchFamily="2" charset="-122"/>
              </a:endParaRPr>
            </a:p>
          </p:txBody>
        </p:sp>
        <p:sp>
          <p:nvSpPr>
            <p:cNvPr id="35853" name="Text Box 13"/>
            <p:cNvSpPr txBox="1">
              <a:spLocks noChangeArrowheads="1"/>
            </p:cNvSpPr>
            <p:nvPr/>
          </p:nvSpPr>
          <p:spPr bwMode="auto">
            <a:xfrm>
              <a:off x="2688" y="2208"/>
              <a:ext cx="528"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en-US" altLang="zh-CN" sz="2400">
                  <a:latin typeface="Times New Roman" panose="02020603050405020304" pitchFamily="18" charset="0"/>
                  <a:ea typeface="宋体" panose="02010600030101010101" pitchFamily="2" charset="-122"/>
                </a:rPr>
                <a:t>3NF</a:t>
              </a:r>
              <a:endParaRPr lang="en-US" altLang="zh-CN" sz="2400">
                <a:latin typeface="Times New Roman" panose="02020603050405020304" pitchFamily="18" charset="0"/>
                <a:ea typeface="宋体" panose="02010600030101010101" pitchFamily="2" charset="-122"/>
              </a:endParaRPr>
            </a:p>
          </p:txBody>
        </p:sp>
        <p:sp>
          <p:nvSpPr>
            <p:cNvPr id="35854" name="Text Box 14"/>
            <p:cNvSpPr txBox="1">
              <a:spLocks noChangeArrowheads="1"/>
            </p:cNvSpPr>
            <p:nvPr/>
          </p:nvSpPr>
          <p:spPr bwMode="auto">
            <a:xfrm>
              <a:off x="2688" y="2594"/>
              <a:ext cx="528"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en-US" altLang="zh-CN" sz="2400">
                  <a:latin typeface="Times New Roman" panose="02020603050405020304" pitchFamily="18" charset="0"/>
                  <a:ea typeface="宋体" panose="02010600030101010101" pitchFamily="2" charset="-122"/>
                </a:rPr>
                <a:t>4NF</a:t>
              </a:r>
              <a:endParaRPr lang="en-US" altLang="zh-CN" sz="2400">
                <a:latin typeface="Times New Roman" panose="02020603050405020304" pitchFamily="18" charset="0"/>
                <a:ea typeface="宋体" panose="02010600030101010101" pitchFamily="2" charset="-122"/>
              </a:endParaRPr>
            </a:p>
          </p:txBody>
        </p:sp>
        <p:sp>
          <p:nvSpPr>
            <p:cNvPr id="35855" name="Text Box 15"/>
            <p:cNvSpPr txBox="1">
              <a:spLocks noChangeArrowheads="1"/>
            </p:cNvSpPr>
            <p:nvPr/>
          </p:nvSpPr>
          <p:spPr bwMode="auto">
            <a:xfrm>
              <a:off x="2592" y="2402"/>
              <a:ext cx="720"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en-US" altLang="zh-CN" sz="2400">
                  <a:latin typeface="Times New Roman" panose="02020603050405020304" pitchFamily="18" charset="0"/>
                  <a:ea typeface="宋体" panose="02010600030101010101" pitchFamily="2" charset="-122"/>
                </a:rPr>
                <a:t>BCNF</a:t>
              </a:r>
              <a:endParaRPr lang="en-US" altLang="zh-CN" sz="2400">
                <a:latin typeface="Times New Roman" panose="02020603050405020304" pitchFamily="18" charset="0"/>
                <a:ea typeface="宋体" panose="02010600030101010101" pitchFamily="2" charset="-122"/>
              </a:endParaRPr>
            </a:p>
          </p:txBody>
        </p:sp>
        <p:sp>
          <p:nvSpPr>
            <p:cNvPr id="35856" name="Text Box 16"/>
            <p:cNvSpPr txBox="1">
              <a:spLocks noChangeArrowheads="1"/>
            </p:cNvSpPr>
            <p:nvPr/>
          </p:nvSpPr>
          <p:spPr bwMode="auto">
            <a:xfrm>
              <a:off x="2688" y="2978"/>
              <a:ext cx="528"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en-US" altLang="zh-CN" sz="2400">
                  <a:latin typeface="Times New Roman" panose="02020603050405020304" pitchFamily="18" charset="0"/>
                  <a:ea typeface="宋体" panose="02010600030101010101" pitchFamily="2" charset="-122"/>
                </a:rPr>
                <a:t>5NF</a:t>
              </a:r>
              <a:endParaRPr lang="en-US" altLang="zh-CN" sz="2400">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范式的作用</a:t>
            </a:r>
            <a:endParaRPr lang="zh-CN" altLang="en-US">
              <a:ea typeface="宋体" panose="02010600030101010101" pitchFamily="2" charset="-122"/>
            </a:endParaRPr>
          </a:p>
        </p:txBody>
      </p:sp>
      <p:grpSp>
        <p:nvGrpSpPr>
          <p:cNvPr id="36867" name="组合 6"/>
          <p:cNvGrpSpPr/>
          <p:nvPr/>
        </p:nvGrpSpPr>
        <p:grpSpPr bwMode="auto">
          <a:xfrm>
            <a:off x="588963" y="727075"/>
            <a:ext cx="2360612" cy="1709738"/>
            <a:chOff x="588963" y="727075"/>
            <a:chExt cx="2360299" cy="1710484"/>
          </a:xfrm>
        </p:grpSpPr>
        <p:pic>
          <p:nvPicPr>
            <p:cNvPr id="3689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63868" y="1352003"/>
              <a:ext cx="6270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95"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448080" y="1352003"/>
              <a:ext cx="625475"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96"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126736" y="1352003"/>
              <a:ext cx="627063"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97" name="文本框 9"/>
            <p:cNvSpPr txBox="1">
              <a:spLocks noChangeArrowheads="1"/>
            </p:cNvSpPr>
            <p:nvPr/>
          </p:nvSpPr>
          <p:spPr bwMode="auto">
            <a:xfrm>
              <a:off x="1316318" y="732084"/>
              <a:ext cx="10064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kumimoji="0" lang="zh-CN" altLang="en-US" sz="1600">
                  <a:latin typeface="黑体" panose="02010609060101010101" pitchFamily="49" charset="-122"/>
                  <a:ea typeface="黑体" panose="02010609060101010101" pitchFamily="49" charset="-122"/>
                </a:rPr>
                <a:t>数据需求</a:t>
              </a:r>
              <a:endParaRPr kumimoji="0" lang="zh-CN" altLang="en-US" sz="1600">
                <a:latin typeface="黑体" panose="02010609060101010101" pitchFamily="49" charset="-122"/>
                <a:ea typeface="黑体" panose="02010609060101010101" pitchFamily="49" charset="-122"/>
              </a:endParaRPr>
            </a:p>
          </p:txBody>
        </p:sp>
        <p:sp>
          <p:nvSpPr>
            <p:cNvPr id="36898" name="矩形 5"/>
            <p:cNvSpPr>
              <a:spLocks noChangeArrowheads="1"/>
            </p:cNvSpPr>
            <p:nvPr/>
          </p:nvSpPr>
          <p:spPr bwMode="auto">
            <a:xfrm>
              <a:off x="588963" y="727075"/>
              <a:ext cx="2360299" cy="171048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grpSp>
      <p:grpSp>
        <p:nvGrpSpPr>
          <p:cNvPr id="8" name="组合 7"/>
          <p:cNvGrpSpPr/>
          <p:nvPr/>
        </p:nvGrpSpPr>
        <p:grpSpPr bwMode="auto">
          <a:xfrm>
            <a:off x="3419475" y="727075"/>
            <a:ext cx="4713288" cy="1774825"/>
            <a:chOff x="3418961" y="727075"/>
            <a:chExt cx="4714048" cy="1775534"/>
          </a:xfrm>
        </p:grpSpPr>
        <p:pic>
          <p:nvPicPr>
            <p:cNvPr id="36890"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06948" y="888310"/>
              <a:ext cx="3097215" cy="1549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91" name="文本框 10"/>
            <p:cNvSpPr txBox="1">
              <a:spLocks noChangeArrowheads="1"/>
            </p:cNvSpPr>
            <p:nvPr/>
          </p:nvSpPr>
          <p:spPr bwMode="auto">
            <a:xfrm>
              <a:off x="4375942" y="732084"/>
              <a:ext cx="9028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kumimoji="0" lang="en-US" altLang="zh-CN" sz="1600">
                  <a:latin typeface="黑体" panose="02010609060101010101" pitchFamily="49" charset="-122"/>
                  <a:ea typeface="黑体" panose="02010609060101010101" pitchFamily="49" charset="-122"/>
                </a:rPr>
                <a:t>E-R</a:t>
              </a:r>
              <a:r>
                <a:rPr kumimoji="0" lang="zh-CN" altLang="en-US" sz="1600">
                  <a:latin typeface="黑体" panose="02010609060101010101" pitchFamily="49" charset="-122"/>
                  <a:ea typeface="黑体" panose="02010609060101010101" pitchFamily="49" charset="-122"/>
                </a:rPr>
                <a:t>设计</a:t>
              </a:r>
              <a:endParaRPr kumimoji="0" lang="zh-CN" altLang="en-US" sz="1600">
                <a:latin typeface="黑体" panose="02010609060101010101" pitchFamily="49" charset="-122"/>
                <a:ea typeface="黑体" panose="02010609060101010101" pitchFamily="49" charset="-122"/>
              </a:endParaRPr>
            </a:p>
          </p:txBody>
        </p:sp>
        <p:sp>
          <p:nvSpPr>
            <p:cNvPr id="36892" name="下箭头 16"/>
            <p:cNvSpPr>
              <a:spLocks noChangeArrowheads="1"/>
            </p:cNvSpPr>
            <p:nvPr/>
          </p:nvSpPr>
          <p:spPr bwMode="auto">
            <a:xfrm rot="-5400000">
              <a:off x="3528499" y="1242465"/>
              <a:ext cx="360362" cy="579437"/>
            </a:xfrm>
            <a:prstGeom prst="downArrow">
              <a:avLst>
                <a:gd name="adj1" fmla="val 50000"/>
                <a:gd name="adj2" fmla="val 49972"/>
              </a:avLst>
            </a:prstGeom>
            <a:solidFill>
              <a:srgbClr val="00B0F0"/>
            </a:solidFill>
            <a:ln w="9525" algn="ctr">
              <a:solidFill>
                <a:schemeClr val="tx1"/>
              </a:solidFill>
              <a:round/>
            </a:ln>
          </p:spPr>
          <p:txBody>
            <a:bodyPr wrap="none"/>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36893" name="矩形 23"/>
            <p:cNvSpPr>
              <a:spLocks noChangeArrowheads="1"/>
            </p:cNvSpPr>
            <p:nvPr/>
          </p:nvSpPr>
          <p:spPr bwMode="auto">
            <a:xfrm>
              <a:off x="4323837" y="727075"/>
              <a:ext cx="3809172" cy="177553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grpSp>
      <p:grpSp>
        <p:nvGrpSpPr>
          <p:cNvPr id="10" name="组合 9"/>
          <p:cNvGrpSpPr/>
          <p:nvPr/>
        </p:nvGrpSpPr>
        <p:grpSpPr bwMode="auto">
          <a:xfrm>
            <a:off x="4270375" y="2519363"/>
            <a:ext cx="4208463" cy="2039937"/>
            <a:chOff x="4269634" y="2519412"/>
            <a:chExt cx="4208945" cy="2040512"/>
          </a:xfrm>
        </p:grpSpPr>
        <p:sp>
          <p:nvSpPr>
            <p:cNvPr id="36886" name="矩形 8"/>
            <p:cNvSpPr>
              <a:spLocks noChangeArrowheads="1"/>
            </p:cNvSpPr>
            <p:nvPr/>
          </p:nvSpPr>
          <p:spPr bwMode="auto">
            <a:xfrm>
              <a:off x="4309804" y="3196082"/>
              <a:ext cx="416877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instructor (</a:t>
              </a:r>
              <a:r>
                <a:rPr kumimoji="0" lang="en-US" altLang="zh-CN" sz="2000" b="1" u="sng">
                  <a:latin typeface="Microsoft Yi Baiti" panose="03000500000000000000" pitchFamily="66" charset="0"/>
                  <a:ea typeface="宋体" panose="02010600030101010101" pitchFamily="2" charset="-122"/>
                </a:rPr>
                <a:t>ID</a:t>
              </a:r>
              <a:r>
                <a:rPr kumimoji="0" lang="en-US" altLang="zh-CN" sz="2000" b="1">
                  <a:latin typeface="Microsoft Yi Baiti" panose="03000500000000000000" pitchFamily="66" charset="0"/>
                  <a:ea typeface="宋体" panose="02010600030101010101" pitchFamily="2" charset="-122"/>
                </a:rPr>
                <a:t>, name, dept_name, salary )</a:t>
              </a:r>
              <a:endParaRPr kumimoji="0" lang="zh-CN" altLang="en-US" sz="2000" b="1">
                <a:latin typeface="Microsoft Yi Baiti" panose="03000500000000000000" pitchFamily="66" charset="0"/>
                <a:ea typeface="宋体" panose="02010600030101010101" pitchFamily="2" charset="-122"/>
              </a:endParaRPr>
            </a:p>
            <a:p>
              <a:pPr>
                <a:lnSpc>
                  <a:spcPct val="100000"/>
                </a:lnSpc>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student(</a:t>
              </a:r>
              <a:r>
                <a:rPr kumimoji="0" lang="en-US" altLang="zh-CN" sz="2000" b="1" u="sng">
                  <a:latin typeface="Microsoft Yi Baiti" panose="03000500000000000000" pitchFamily="66" charset="0"/>
                  <a:ea typeface="宋体" panose="02010600030101010101" pitchFamily="2" charset="-122"/>
                </a:rPr>
                <a:t>ID</a:t>
              </a:r>
              <a:r>
                <a:rPr kumimoji="0" lang="en-US" altLang="zh-CN" sz="2000" b="1">
                  <a:latin typeface="Microsoft Yi Baiti" panose="03000500000000000000" pitchFamily="66" charset="0"/>
                  <a:ea typeface="宋体" panose="02010600030101010101" pitchFamily="2" charset="-122"/>
                </a:rPr>
                <a:t>, name, dept_name,tot_cred)</a:t>
              </a:r>
              <a:endParaRPr kumimoji="0" lang="zh-CN" altLang="en-US" sz="2000" b="1">
                <a:latin typeface="Microsoft Yi Baiti" panose="03000500000000000000" pitchFamily="66" charset="0"/>
                <a:ea typeface="宋体" panose="02010600030101010101" pitchFamily="2" charset="-122"/>
              </a:endParaRPr>
            </a:p>
            <a:p>
              <a:pPr>
                <a:lnSpc>
                  <a:spcPct val="100000"/>
                </a:lnSpc>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advisor(</a:t>
              </a:r>
              <a:r>
                <a:rPr kumimoji="0" lang="en-US" altLang="zh-CN" sz="2000" b="1" u="sng">
                  <a:latin typeface="Microsoft Yi Baiti" panose="03000500000000000000" pitchFamily="66" charset="0"/>
                  <a:ea typeface="宋体" panose="02010600030101010101" pitchFamily="2" charset="-122"/>
                </a:rPr>
                <a:t>s_ID,i_ID</a:t>
              </a:r>
              <a:r>
                <a:rPr kumimoji="0" lang="en-US" altLang="zh-CN" sz="2000" b="1">
                  <a:latin typeface="Microsoft Yi Baiti" panose="03000500000000000000" pitchFamily="66" charset="0"/>
                  <a:ea typeface="宋体" panose="02010600030101010101" pitchFamily="2" charset="-122"/>
                </a:rPr>
                <a:t>)</a:t>
              </a:r>
              <a:endParaRPr kumimoji="0" lang="zh-CN" altLang="en-US" sz="2000" b="1">
                <a:latin typeface="Microsoft Yi Baiti" panose="03000500000000000000" pitchFamily="66" charset="0"/>
                <a:ea typeface="宋体" panose="02010600030101010101" pitchFamily="2" charset="-122"/>
              </a:endParaRPr>
            </a:p>
            <a:p>
              <a:pPr>
                <a:lnSpc>
                  <a:spcPct val="100000"/>
                </a:lnSpc>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department(</a:t>
              </a:r>
              <a:r>
                <a:rPr kumimoji="0" lang="en-US" altLang="zh-CN" sz="2000" b="1" u="sng">
                  <a:latin typeface="Microsoft Yi Baiti" panose="03000500000000000000" pitchFamily="66" charset="0"/>
                  <a:ea typeface="宋体" panose="02010600030101010101" pitchFamily="2" charset="-122"/>
                </a:rPr>
                <a:t>dept_name</a:t>
              </a:r>
              <a:r>
                <a:rPr kumimoji="0" lang="en-US" altLang="zh-CN" sz="2000" b="1">
                  <a:latin typeface="Microsoft Yi Baiti" panose="03000500000000000000" pitchFamily="66" charset="0"/>
                  <a:ea typeface="宋体" panose="02010600030101010101" pitchFamily="2" charset="-122"/>
                </a:rPr>
                <a:t>,building, budget)</a:t>
              </a:r>
              <a:endParaRPr kumimoji="0" lang="zh-CN" altLang="en-US" sz="2000" b="1">
                <a:latin typeface="Microsoft Yi Baiti" panose="03000500000000000000" pitchFamily="66" charset="0"/>
                <a:ea typeface="宋体" panose="02010600030101010101" pitchFamily="2" charset="-122"/>
              </a:endParaRPr>
            </a:p>
          </p:txBody>
        </p:sp>
        <p:sp>
          <p:nvSpPr>
            <p:cNvPr id="36887" name="文本框 11"/>
            <p:cNvSpPr txBox="1">
              <a:spLocks noChangeArrowheads="1"/>
            </p:cNvSpPr>
            <p:nvPr/>
          </p:nvSpPr>
          <p:spPr bwMode="auto">
            <a:xfrm>
              <a:off x="4309804" y="2853310"/>
              <a:ext cx="14319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kumimoji="0" lang="zh-CN" altLang="en-US" sz="1600">
                  <a:latin typeface="黑体" panose="02010609060101010101" pitchFamily="49" charset="-122"/>
                  <a:ea typeface="黑体" panose="02010609060101010101" pitchFamily="49" charset="-122"/>
                </a:rPr>
                <a:t>关系模式设计</a:t>
              </a:r>
              <a:endParaRPr kumimoji="0" lang="zh-CN" altLang="en-US" sz="1600">
                <a:latin typeface="黑体" panose="02010609060101010101" pitchFamily="49" charset="-122"/>
                <a:ea typeface="黑体" panose="02010609060101010101" pitchFamily="49" charset="-122"/>
              </a:endParaRPr>
            </a:p>
          </p:txBody>
        </p:sp>
        <p:sp>
          <p:nvSpPr>
            <p:cNvPr id="36888" name="下箭头 15"/>
            <p:cNvSpPr>
              <a:spLocks noChangeArrowheads="1"/>
            </p:cNvSpPr>
            <p:nvPr/>
          </p:nvSpPr>
          <p:spPr bwMode="auto">
            <a:xfrm>
              <a:off x="6175372" y="2519412"/>
              <a:ext cx="360363" cy="244987"/>
            </a:xfrm>
            <a:prstGeom prst="downArrow">
              <a:avLst>
                <a:gd name="adj1" fmla="val 50000"/>
                <a:gd name="adj2" fmla="val 49972"/>
              </a:avLst>
            </a:prstGeom>
            <a:solidFill>
              <a:srgbClr val="00B0F0"/>
            </a:solidFill>
            <a:ln w="9525" algn="ctr">
              <a:solidFill>
                <a:schemeClr val="tx1"/>
              </a:solidFill>
              <a:round/>
            </a:ln>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sp>
          <p:nvSpPr>
            <p:cNvPr id="36889" name="矩形 24"/>
            <p:cNvSpPr>
              <a:spLocks noChangeArrowheads="1"/>
            </p:cNvSpPr>
            <p:nvPr/>
          </p:nvSpPr>
          <p:spPr bwMode="auto">
            <a:xfrm>
              <a:off x="4269634" y="2784390"/>
              <a:ext cx="4017920" cy="177553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grpSp>
      <p:grpSp>
        <p:nvGrpSpPr>
          <p:cNvPr id="15" name="组合 14"/>
          <p:cNvGrpSpPr/>
          <p:nvPr/>
        </p:nvGrpSpPr>
        <p:grpSpPr bwMode="auto">
          <a:xfrm>
            <a:off x="393700" y="2763838"/>
            <a:ext cx="3622675" cy="1795462"/>
            <a:chOff x="393731" y="2764399"/>
            <a:chExt cx="3623269" cy="1795525"/>
          </a:xfrm>
        </p:grpSpPr>
        <p:sp>
          <p:nvSpPr>
            <p:cNvPr id="36882" name="文本框 12"/>
            <p:cNvSpPr txBox="1">
              <a:spLocks noChangeArrowheads="1"/>
            </p:cNvSpPr>
            <p:nvPr/>
          </p:nvSpPr>
          <p:spPr bwMode="auto">
            <a:xfrm>
              <a:off x="997329" y="2764399"/>
              <a:ext cx="16208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kumimoji="0" lang="zh-CN" altLang="en-US" sz="1600">
                  <a:solidFill>
                    <a:srgbClr val="FF0000"/>
                  </a:solidFill>
                  <a:latin typeface="黑体" panose="02010609060101010101" pitchFamily="49" charset="-122"/>
                  <a:ea typeface="黑体" panose="02010609060101010101" pitchFamily="49" charset="-122"/>
                </a:rPr>
                <a:t>关系模式规范化</a:t>
              </a:r>
              <a:endParaRPr kumimoji="0" lang="zh-CN" altLang="en-US" sz="1600">
                <a:solidFill>
                  <a:srgbClr val="FF0000"/>
                </a:solidFill>
                <a:latin typeface="黑体" panose="02010609060101010101" pitchFamily="49" charset="-122"/>
                <a:ea typeface="黑体" panose="02010609060101010101" pitchFamily="49" charset="-122"/>
              </a:endParaRPr>
            </a:p>
          </p:txBody>
        </p:sp>
        <p:sp>
          <p:nvSpPr>
            <p:cNvPr id="36883" name="文本框 13"/>
            <p:cNvSpPr txBox="1">
              <a:spLocks noChangeArrowheads="1"/>
            </p:cNvSpPr>
            <p:nvPr/>
          </p:nvSpPr>
          <p:spPr bwMode="auto">
            <a:xfrm>
              <a:off x="530787" y="3067274"/>
              <a:ext cx="2652837" cy="1438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25000"/>
                </a:lnSpc>
                <a:spcBef>
                  <a:spcPct val="0"/>
                </a:spcBef>
                <a:buClrTx/>
                <a:buSzTx/>
                <a:buFontTx/>
                <a:buNone/>
              </a:pPr>
              <a:r>
                <a:rPr kumimoji="0" lang="en-US" altLang="zh-CN" sz="1400">
                  <a:solidFill>
                    <a:srgbClr val="FF0000"/>
                  </a:solidFill>
                  <a:ea typeface="宋体" panose="02010600030101010101" pitchFamily="2" charset="-122"/>
                </a:rPr>
                <a:t>1</a:t>
              </a:r>
              <a:r>
                <a:rPr kumimoji="0" lang="zh-CN" altLang="en-US" sz="1400">
                  <a:solidFill>
                    <a:srgbClr val="FF0000"/>
                  </a:solidFill>
                  <a:ea typeface="宋体" panose="02010600030101010101" pitchFamily="2" charset="-122"/>
                </a:rPr>
                <a:t>、有无各种数据异常？</a:t>
              </a:r>
              <a:endParaRPr kumimoji="0" lang="en-US" altLang="zh-CN" sz="1400">
                <a:solidFill>
                  <a:srgbClr val="FF0000"/>
                </a:solidFill>
                <a:ea typeface="宋体" panose="02010600030101010101" pitchFamily="2" charset="-122"/>
              </a:endParaRPr>
            </a:p>
            <a:p>
              <a:pPr>
                <a:lnSpc>
                  <a:spcPct val="125000"/>
                </a:lnSpc>
                <a:spcBef>
                  <a:spcPct val="0"/>
                </a:spcBef>
                <a:buClrTx/>
                <a:buSzTx/>
                <a:buFontTx/>
                <a:buNone/>
              </a:pPr>
              <a:r>
                <a:rPr kumimoji="0" lang="en-US" altLang="zh-CN" sz="1400">
                  <a:solidFill>
                    <a:srgbClr val="FF0000"/>
                  </a:solidFill>
                  <a:ea typeface="宋体" panose="02010600030101010101" pitchFamily="2" charset="-122"/>
                </a:rPr>
                <a:t>2</a:t>
              </a:r>
              <a:r>
                <a:rPr kumimoji="0" lang="zh-CN" altLang="en-US" sz="1400">
                  <a:solidFill>
                    <a:srgbClr val="FF0000"/>
                  </a:solidFill>
                  <a:ea typeface="宋体" panose="02010600030101010101" pitchFamily="2" charset="-122"/>
                </a:rPr>
                <a:t>、符合哪级范式？</a:t>
              </a:r>
              <a:endParaRPr kumimoji="0" lang="en-US" altLang="zh-CN" sz="1400">
                <a:solidFill>
                  <a:srgbClr val="FF0000"/>
                </a:solidFill>
                <a:ea typeface="宋体" panose="02010600030101010101" pitchFamily="2" charset="-122"/>
              </a:endParaRPr>
            </a:p>
            <a:p>
              <a:pPr>
                <a:lnSpc>
                  <a:spcPct val="125000"/>
                </a:lnSpc>
                <a:spcBef>
                  <a:spcPct val="0"/>
                </a:spcBef>
                <a:buClrTx/>
                <a:buSzTx/>
                <a:buFontTx/>
                <a:buNone/>
              </a:pPr>
              <a:r>
                <a:rPr kumimoji="0" lang="en-US" altLang="zh-CN" sz="1400">
                  <a:solidFill>
                    <a:srgbClr val="FF0000"/>
                  </a:solidFill>
                  <a:ea typeface="宋体" panose="02010600030101010101" pitchFamily="2" charset="-122"/>
                </a:rPr>
                <a:t>3</a:t>
              </a:r>
              <a:r>
                <a:rPr kumimoji="0" lang="zh-CN" altLang="en-US" sz="1400">
                  <a:solidFill>
                    <a:srgbClr val="FF0000"/>
                  </a:solidFill>
                  <a:ea typeface="宋体" panose="02010600030101010101" pitchFamily="2" charset="-122"/>
                </a:rPr>
                <a:t>、是否需要改造为更高范式？</a:t>
              </a:r>
              <a:endParaRPr kumimoji="0" lang="en-US" altLang="zh-CN" sz="1400">
                <a:solidFill>
                  <a:srgbClr val="FF0000"/>
                </a:solidFill>
                <a:ea typeface="宋体" panose="02010600030101010101" pitchFamily="2" charset="-122"/>
              </a:endParaRPr>
            </a:p>
            <a:p>
              <a:pPr>
                <a:lnSpc>
                  <a:spcPct val="125000"/>
                </a:lnSpc>
                <a:spcBef>
                  <a:spcPct val="0"/>
                </a:spcBef>
                <a:buClrTx/>
                <a:buSzTx/>
                <a:buFontTx/>
                <a:buNone/>
              </a:pPr>
              <a:r>
                <a:rPr kumimoji="0" lang="en-US" altLang="zh-CN" sz="1400">
                  <a:solidFill>
                    <a:srgbClr val="FF0000"/>
                  </a:solidFill>
                  <a:ea typeface="宋体" panose="02010600030101010101" pitchFamily="2" charset="-122"/>
                </a:rPr>
                <a:t>4</a:t>
              </a:r>
              <a:r>
                <a:rPr kumimoji="0" lang="zh-CN" altLang="en-US" sz="1400">
                  <a:solidFill>
                    <a:srgbClr val="FF0000"/>
                  </a:solidFill>
                  <a:ea typeface="宋体" panose="02010600030101010101" pitchFamily="2" charset="-122"/>
                </a:rPr>
                <a:t>、进一步改造修正关系模式的设计直至符合要求。</a:t>
              </a:r>
              <a:endParaRPr kumimoji="0" lang="zh-CN" altLang="en-US" sz="1400">
                <a:solidFill>
                  <a:srgbClr val="FF0000"/>
                </a:solidFill>
                <a:ea typeface="宋体" panose="02010600030101010101" pitchFamily="2" charset="-122"/>
              </a:endParaRPr>
            </a:p>
          </p:txBody>
        </p:sp>
        <p:sp>
          <p:nvSpPr>
            <p:cNvPr id="36884" name="下箭头 17"/>
            <p:cNvSpPr>
              <a:spLocks noChangeArrowheads="1"/>
            </p:cNvSpPr>
            <p:nvPr/>
          </p:nvSpPr>
          <p:spPr bwMode="auto">
            <a:xfrm rot="5400000">
              <a:off x="3547893" y="3456135"/>
              <a:ext cx="360363" cy="577850"/>
            </a:xfrm>
            <a:prstGeom prst="downArrow">
              <a:avLst>
                <a:gd name="adj1" fmla="val 50000"/>
                <a:gd name="adj2" fmla="val 49835"/>
              </a:avLst>
            </a:prstGeom>
            <a:solidFill>
              <a:srgbClr val="FF0000"/>
            </a:solidFill>
            <a:ln w="9525" algn="ctr">
              <a:solidFill>
                <a:schemeClr val="tx1"/>
              </a:solidFill>
              <a:round/>
            </a:ln>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sp>
          <p:nvSpPr>
            <p:cNvPr id="36885" name="矩形 25"/>
            <p:cNvSpPr>
              <a:spLocks noChangeArrowheads="1"/>
            </p:cNvSpPr>
            <p:nvPr/>
          </p:nvSpPr>
          <p:spPr bwMode="auto">
            <a:xfrm>
              <a:off x="393731" y="2784390"/>
              <a:ext cx="2975299" cy="1775534"/>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grpSp>
      <p:grpSp>
        <p:nvGrpSpPr>
          <p:cNvPr id="29" name="组合 28"/>
          <p:cNvGrpSpPr/>
          <p:nvPr/>
        </p:nvGrpSpPr>
        <p:grpSpPr bwMode="auto">
          <a:xfrm>
            <a:off x="369888" y="4649788"/>
            <a:ext cx="4829175" cy="1630362"/>
            <a:chOff x="370060" y="4650204"/>
            <a:chExt cx="4829206" cy="1629872"/>
          </a:xfrm>
        </p:grpSpPr>
        <p:sp>
          <p:nvSpPr>
            <p:cNvPr id="3" name="直角上箭头 2"/>
            <p:cNvSpPr/>
            <p:nvPr/>
          </p:nvSpPr>
          <p:spPr bwMode="auto">
            <a:xfrm rot="5400000">
              <a:off x="256663" y="4814385"/>
              <a:ext cx="717334" cy="490540"/>
            </a:xfrm>
            <a:prstGeom prst="bentUpArrow">
              <a:avLst>
                <a:gd name="adj1" fmla="val 35431"/>
                <a:gd name="adj2" fmla="val 25000"/>
                <a:gd name="adj3" fmla="val 25000"/>
              </a:avLst>
            </a:prstGeom>
            <a:solidFill>
              <a:srgbClr val="00B0F0"/>
            </a:solidFill>
            <a:ln w="9525" algn="ctr">
              <a:solidFill>
                <a:schemeClr val="tx1"/>
              </a:solidFill>
              <a:round/>
            </a:ln>
          </p:spPr>
          <p:txBody>
            <a:bodyPr wrap="none"/>
            <a:lstStyle/>
            <a:p>
              <a:pPr>
                <a:defRPr/>
              </a:pPr>
              <a:endParaRPr lang="zh-CN" altLang="en-US">
                <a:ea typeface="宋体" panose="02010600030101010101" pitchFamily="2" charset="-122"/>
              </a:endParaRPr>
            </a:p>
          </p:txBody>
        </p:sp>
        <p:sp>
          <p:nvSpPr>
            <p:cNvPr id="36879" name="矩形 18"/>
            <p:cNvSpPr>
              <a:spLocks noChangeArrowheads="1"/>
            </p:cNvSpPr>
            <p:nvPr/>
          </p:nvSpPr>
          <p:spPr bwMode="auto">
            <a:xfrm>
              <a:off x="913859" y="4956637"/>
              <a:ext cx="428540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create table </a:t>
              </a:r>
              <a:r>
                <a:rPr kumimoji="0" lang="en-US" altLang="zh-CN" sz="2000" b="1" i="1">
                  <a:latin typeface="Microsoft Yi Baiti" panose="03000500000000000000" pitchFamily="66" charset="0"/>
                  <a:ea typeface="宋体" panose="02010600030101010101" pitchFamily="2" charset="-122"/>
                </a:rPr>
                <a:t>instructor</a:t>
              </a:r>
              <a:r>
                <a:rPr kumimoji="0" lang="en-US" altLang="zh-CN" sz="2000" b="1">
                  <a:latin typeface="Microsoft Yi Baiti" panose="03000500000000000000" pitchFamily="66" charset="0"/>
                  <a:ea typeface="宋体" panose="02010600030101010101" pitchFamily="2" charset="-122"/>
                </a:rPr>
                <a:t> (ID varchar(5),……)</a:t>
              </a:r>
              <a:endParaRPr kumimoji="0" lang="en-US" altLang="zh-CN" sz="2000" b="1">
                <a:latin typeface="Microsoft Yi Baiti" panose="03000500000000000000" pitchFamily="66" charset="0"/>
                <a:ea typeface="宋体" panose="02010600030101010101" pitchFamily="2" charset="-122"/>
              </a:endParaRPr>
            </a:p>
            <a:p>
              <a:pPr>
                <a:lnSpc>
                  <a:spcPct val="100000"/>
                </a:lnSpc>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create table </a:t>
              </a:r>
              <a:r>
                <a:rPr kumimoji="0" lang="en-US" altLang="zh-CN" sz="2000" b="1" i="1">
                  <a:latin typeface="Microsoft Yi Baiti" panose="03000500000000000000" pitchFamily="66" charset="0"/>
                  <a:ea typeface="宋体" panose="02010600030101010101" pitchFamily="2" charset="-122"/>
                </a:rPr>
                <a:t>student</a:t>
              </a:r>
              <a:r>
                <a:rPr kumimoji="0" lang="en-US" altLang="zh-CN" sz="2000" b="1">
                  <a:latin typeface="Microsoft Yi Baiti" panose="03000500000000000000" pitchFamily="66" charset="0"/>
                  <a:ea typeface="宋体" panose="02010600030101010101" pitchFamily="2" charset="-122"/>
                </a:rPr>
                <a:t>(ID varchar(5),……)</a:t>
              </a:r>
              <a:endParaRPr kumimoji="0" lang="en-US" altLang="zh-CN" sz="2000" b="1">
                <a:latin typeface="Microsoft Yi Baiti" panose="03000500000000000000" pitchFamily="66" charset="0"/>
                <a:ea typeface="宋体" panose="02010600030101010101" pitchFamily="2" charset="-122"/>
              </a:endParaRPr>
            </a:p>
            <a:p>
              <a:pPr>
                <a:lnSpc>
                  <a:spcPct val="100000"/>
                </a:lnSpc>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create table </a:t>
              </a:r>
              <a:r>
                <a:rPr kumimoji="0" lang="en-US" altLang="zh-CN" sz="2000" b="1" i="1">
                  <a:latin typeface="Microsoft Yi Baiti" panose="03000500000000000000" pitchFamily="66" charset="0"/>
                  <a:ea typeface="宋体" panose="02010600030101010101" pitchFamily="2" charset="-122"/>
                </a:rPr>
                <a:t>advisor</a:t>
              </a:r>
              <a:r>
                <a:rPr kumimoji="0" lang="en-US" altLang="zh-CN" sz="2000" b="1">
                  <a:latin typeface="Microsoft Yi Baiti" panose="03000500000000000000" pitchFamily="66" charset="0"/>
                  <a:ea typeface="宋体" panose="02010600030101010101" pitchFamily="2" charset="-122"/>
                </a:rPr>
                <a:t>(s_ID varchar(5),……)</a:t>
              </a:r>
              <a:endParaRPr kumimoji="0" lang="en-US" altLang="zh-CN" sz="2000" b="1">
                <a:latin typeface="Microsoft Yi Baiti" panose="03000500000000000000" pitchFamily="66" charset="0"/>
                <a:ea typeface="宋体" panose="02010600030101010101" pitchFamily="2" charset="-122"/>
              </a:endParaRPr>
            </a:p>
            <a:p>
              <a:pPr>
                <a:lnSpc>
                  <a:spcPct val="100000"/>
                </a:lnSpc>
                <a:spcBef>
                  <a:spcPct val="0"/>
                </a:spcBef>
                <a:buClrTx/>
                <a:buSzTx/>
                <a:buFontTx/>
                <a:buNone/>
              </a:pPr>
              <a:r>
                <a:rPr kumimoji="0" lang="en-US" altLang="zh-CN" sz="2000" b="1">
                  <a:latin typeface="Microsoft Yi Baiti" panose="03000500000000000000" pitchFamily="66" charset="0"/>
                  <a:ea typeface="宋体" panose="02010600030101010101" pitchFamily="2" charset="-122"/>
                </a:rPr>
                <a:t>create table </a:t>
              </a:r>
              <a:r>
                <a:rPr kumimoji="0" lang="en-US" altLang="zh-CN" sz="2000" b="1" i="1">
                  <a:latin typeface="Microsoft Yi Baiti" panose="03000500000000000000" pitchFamily="66" charset="0"/>
                  <a:ea typeface="宋体" panose="02010600030101010101" pitchFamily="2" charset="-122"/>
                </a:rPr>
                <a:t>department</a:t>
              </a:r>
              <a:r>
                <a:rPr kumimoji="0" lang="en-US" altLang="zh-CN" sz="2000" b="1">
                  <a:latin typeface="Microsoft Yi Baiti" panose="03000500000000000000" pitchFamily="66" charset="0"/>
                  <a:ea typeface="宋体" panose="02010600030101010101" pitchFamily="2" charset="-122"/>
                </a:rPr>
                <a:t>(dept_name……)</a:t>
              </a:r>
              <a:endParaRPr kumimoji="0" lang="zh-CN" altLang="en-US" sz="2000" b="1">
                <a:latin typeface="Microsoft Yi Baiti" panose="03000500000000000000" pitchFamily="66" charset="0"/>
                <a:ea typeface="宋体" panose="02010600030101010101" pitchFamily="2" charset="-122"/>
              </a:endParaRPr>
            </a:p>
          </p:txBody>
        </p:sp>
        <p:sp>
          <p:nvSpPr>
            <p:cNvPr id="36880" name="文本框 20"/>
            <p:cNvSpPr txBox="1">
              <a:spLocks noChangeArrowheads="1"/>
            </p:cNvSpPr>
            <p:nvPr/>
          </p:nvSpPr>
          <p:spPr bwMode="auto">
            <a:xfrm>
              <a:off x="2088435" y="4650204"/>
              <a:ext cx="1210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kumimoji="0" lang="zh-CN" altLang="en-US" sz="1600">
                  <a:latin typeface="黑体" panose="02010609060101010101" pitchFamily="49" charset="-122"/>
                  <a:ea typeface="黑体" panose="02010609060101010101" pitchFamily="49" charset="-122"/>
                </a:rPr>
                <a:t>数据库定义</a:t>
              </a:r>
              <a:endParaRPr kumimoji="0" lang="zh-CN" altLang="en-US" sz="1600">
                <a:latin typeface="黑体" panose="02010609060101010101" pitchFamily="49" charset="-122"/>
                <a:ea typeface="黑体" panose="02010609060101010101" pitchFamily="49" charset="-122"/>
              </a:endParaRPr>
            </a:p>
          </p:txBody>
        </p:sp>
        <p:sp>
          <p:nvSpPr>
            <p:cNvPr id="36881" name="矩形 26"/>
            <p:cNvSpPr>
              <a:spLocks noChangeArrowheads="1"/>
            </p:cNvSpPr>
            <p:nvPr/>
          </p:nvSpPr>
          <p:spPr bwMode="auto">
            <a:xfrm>
              <a:off x="940302" y="4700504"/>
              <a:ext cx="4095337" cy="157957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grpSp>
      <p:grpSp>
        <p:nvGrpSpPr>
          <p:cNvPr id="30" name="组合 29"/>
          <p:cNvGrpSpPr/>
          <p:nvPr/>
        </p:nvGrpSpPr>
        <p:grpSpPr bwMode="auto">
          <a:xfrm>
            <a:off x="5468938" y="4649788"/>
            <a:ext cx="2819400" cy="1630362"/>
            <a:chOff x="5469126" y="4650204"/>
            <a:chExt cx="2818429" cy="1629872"/>
          </a:xfrm>
        </p:grpSpPr>
        <p:pic>
          <p:nvPicPr>
            <p:cNvPr id="36873" name="Picture 8" descr="2"/>
            <p:cNvPicPr>
              <a:picLocks noChangeAspect="1" noChangeArrowheads="1"/>
            </p:cNvPicPr>
            <p:nvPr/>
          </p:nvPicPr>
          <p:blipFill>
            <a:blip r:embed="rId3">
              <a:extLst>
                <a:ext uri="{28A0092B-C50C-407E-A947-70E740481C1C}">
                  <a14:useLocalDpi xmlns:a14="http://schemas.microsoft.com/office/drawing/2010/main" val="0"/>
                </a:ext>
              </a:extLst>
            </a:blip>
            <a:srcRect b="50357"/>
            <a:stretch>
              <a:fillRect/>
            </a:stretch>
          </p:blipFill>
          <p:spPr bwMode="auto">
            <a:xfrm>
              <a:off x="6306751" y="5170793"/>
              <a:ext cx="1836753" cy="684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下箭头 19"/>
            <p:cNvSpPr>
              <a:spLocks noChangeArrowheads="1"/>
            </p:cNvSpPr>
            <p:nvPr/>
          </p:nvSpPr>
          <p:spPr bwMode="auto">
            <a:xfrm rot="-5400000">
              <a:off x="5578664" y="5230018"/>
              <a:ext cx="360362" cy="579437"/>
            </a:xfrm>
            <a:prstGeom prst="downArrow">
              <a:avLst>
                <a:gd name="adj1" fmla="val 50000"/>
                <a:gd name="adj2" fmla="val 49972"/>
              </a:avLst>
            </a:prstGeom>
            <a:solidFill>
              <a:srgbClr val="00B0F0"/>
            </a:solidFill>
            <a:ln w="9525" algn="ctr">
              <a:solidFill>
                <a:schemeClr val="tx1"/>
              </a:solidFill>
              <a:round/>
            </a:ln>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sp>
          <p:nvSpPr>
            <p:cNvPr id="4" name="流程图: 磁盘 3"/>
            <p:cNvSpPr/>
            <p:nvPr/>
          </p:nvSpPr>
          <p:spPr bwMode="auto">
            <a:xfrm>
              <a:off x="6622841" y="5413562"/>
              <a:ext cx="1255281" cy="698290"/>
            </a:xfrm>
            <a:prstGeom prst="flowChartMagneticDisk">
              <a:avLst/>
            </a:prstGeom>
            <a:solidFill>
              <a:schemeClr val="bg1">
                <a:lumMod val="75000"/>
              </a:schemeClr>
            </a:solidFill>
            <a:ln w="28575" cap="flat" cmpd="sng" algn="ctr">
              <a:solidFill>
                <a:schemeClr val="bg1">
                  <a:lumMod val="25000"/>
                </a:schemeClr>
              </a:solidFill>
              <a:prstDash val="solid"/>
              <a:round/>
              <a:headEnd type="none" w="med" len="med"/>
              <a:tailEnd type="none" w="med" len="med"/>
            </a:ln>
            <a:effec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sp>
          <p:nvSpPr>
            <p:cNvPr id="36876" name="文本框 21"/>
            <p:cNvSpPr txBox="1">
              <a:spLocks noChangeArrowheads="1"/>
            </p:cNvSpPr>
            <p:nvPr/>
          </p:nvSpPr>
          <p:spPr bwMode="auto">
            <a:xfrm>
              <a:off x="6417886" y="4650204"/>
              <a:ext cx="1210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kumimoji="0" lang="zh-CN" altLang="en-US" sz="1600">
                  <a:latin typeface="黑体" panose="02010609060101010101" pitchFamily="49" charset="-122"/>
                  <a:ea typeface="黑体" panose="02010609060101010101" pitchFamily="49" charset="-122"/>
                </a:rPr>
                <a:t>数据库存储</a:t>
              </a:r>
              <a:endParaRPr kumimoji="0" lang="zh-CN" altLang="en-US" sz="1600">
                <a:latin typeface="黑体" panose="02010609060101010101" pitchFamily="49" charset="-122"/>
                <a:ea typeface="黑体" panose="02010609060101010101" pitchFamily="49" charset="-122"/>
              </a:endParaRPr>
            </a:p>
          </p:txBody>
        </p:sp>
        <p:sp>
          <p:nvSpPr>
            <p:cNvPr id="36877" name="矩形 27"/>
            <p:cNvSpPr>
              <a:spLocks noChangeArrowheads="1"/>
            </p:cNvSpPr>
            <p:nvPr/>
          </p:nvSpPr>
          <p:spPr bwMode="auto">
            <a:xfrm>
              <a:off x="6183773" y="4700504"/>
              <a:ext cx="2103782" cy="1579572"/>
            </a:xfrm>
            <a:prstGeom prst="rect">
              <a:avLst/>
            </a:prstGeom>
            <a:noFill/>
            <a:ln w="12700" algn="ctr">
              <a:solidFill>
                <a:schemeClr val="tx1"/>
              </a:solidFill>
              <a:round/>
            </a:ln>
            <a:extLst>
              <a:ext uri="{909E8E84-426E-40DD-AFC4-6F175D3DCCD1}">
                <a14:hiddenFill xmlns:a14="http://schemas.microsoft.com/office/drawing/2010/main">
                  <a:solidFill>
                    <a:srgbClr val="FFFFFF"/>
                  </a:solidFill>
                </a14:hiddenFill>
              </a:ext>
            </a:extLst>
          </p:spPr>
          <p:txBody>
            <a:bodyPr wrap="none"/>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endParaRPr lang="zh-CN" altLang="en-US">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righ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主属性与非主属性</a:t>
            </a:r>
            <a:endParaRPr lang="zh-CN" altLang="en-US">
              <a:ea typeface="宋体" panose="02010600030101010101" pitchFamily="2" charset="-122"/>
            </a:endParaRPr>
          </a:p>
        </p:txBody>
      </p:sp>
      <p:sp>
        <p:nvSpPr>
          <p:cNvPr id="3" name="内容占位符 2"/>
          <p:cNvSpPr>
            <a:spLocks noGrp="1"/>
          </p:cNvSpPr>
          <p:nvPr>
            <p:ph idx="1"/>
          </p:nvPr>
        </p:nvSpPr>
        <p:spPr/>
        <p:txBody>
          <a:bodyPr/>
          <a:lstStyle/>
          <a:p>
            <a:r>
              <a:rPr lang="zh-CN" altLang="en-US" dirty="0">
                <a:ea typeface="宋体" panose="02010600030101010101" pitchFamily="2" charset="-122"/>
              </a:rPr>
              <a:t>主属性：候选码中的属性</a:t>
            </a:r>
            <a:endParaRPr lang="zh-CN" altLang="en-US" dirty="0">
              <a:ea typeface="宋体" panose="02010600030101010101" pitchFamily="2" charset="-122"/>
            </a:endParaRPr>
          </a:p>
          <a:p>
            <a:r>
              <a:rPr lang="zh-CN" altLang="en-US" dirty="0">
                <a:ea typeface="宋体" panose="02010600030101010101" pitchFamily="2" charset="-122"/>
              </a:rPr>
              <a:t>非主属性：不包含在任何一个候选码中的属性称为非主属性</a:t>
            </a:r>
            <a:endParaRPr lang="zh-CN" altLang="en-US" dirty="0">
              <a:ea typeface="宋体" panose="02010600030101010101" pitchFamily="2" charset="-122"/>
            </a:endParaRPr>
          </a:p>
          <a:p>
            <a:r>
              <a:rPr lang="zh-CN" altLang="en-US" dirty="0">
                <a:ea typeface="宋体" panose="02010600030101010101" pitchFamily="2" charset="-122"/>
              </a:rPr>
              <a:t>例子：</a:t>
            </a:r>
            <a:endParaRPr lang="en-US" altLang="zh-CN" dirty="0">
              <a:ea typeface="宋体" panose="02010600030101010101" pitchFamily="2" charset="-122"/>
            </a:endParaRPr>
          </a:p>
          <a:p>
            <a:pPr lvl="1"/>
            <a:r>
              <a:rPr lang="zh-CN" altLang="en-US" dirty="0">
                <a:ea typeface="宋体" panose="02010600030101010101" pitchFamily="2" charset="-122"/>
              </a:rPr>
              <a:t>学生（</a:t>
            </a:r>
            <a:r>
              <a:rPr lang="zh-CN" altLang="en-US" u="sng" dirty="0">
                <a:ea typeface="宋体" panose="02010600030101010101" pitchFamily="2" charset="-122"/>
              </a:rPr>
              <a:t>学号</a:t>
            </a:r>
            <a:r>
              <a:rPr lang="zh-CN" altLang="en-US" dirty="0">
                <a:ea typeface="宋体" panose="02010600030101010101" pitchFamily="2" charset="-122"/>
              </a:rPr>
              <a:t>、姓名、性别、年龄）</a:t>
            </a:r>
            <a:endParaRPr lang="en-US" altLang="zh-CN" dirty="0">
              <a:ea typeface="宋体" panose="02010600030101010101" pitchFamily="2" charset="-122"/>
            </a:endParaRPr>
          </a:p>
          <a:p>
            <a:pPr lvl="1"/>
            <a:r>
              <a:rPr lang="zh-CN" altLang="en-US" dirty="0">
                <a:ea typeface="宋体" panose="02010600030101010101" pitchFamily="2" charset="-122"/>
              </a:rPr>
              <a:t>选修（</a:t>
            </a:r>
            <a:r>
              <a:rPr lang="zh-CN" altLang="en-US" u="sng" dirty="0">
                <a:ea typeface="宋体" panose="02010600030101010101" pitchFamily="2" charset="-122"/>
              </a:rPr>
              <a:t>学号、课程号</a:t>
            </a:r>
            <a:r>
              <a:rPr lang="zh-CN" altLang="en-US" dirty="0">
                <a:ea typeface="宋体" panose="02010600030101010101" pitchFamily="2" charset="-122"/>
              </a:rPr>
              <a:t>、成绩）</a:t>
            </a:r>
            <a:endParaRPr lang="en-US" altLang="zh-CN" dirty="0">
              <a:ea typeface="宋体" panose="02010600030101010101" pitchFamily="2" charset="-122"/>
            </a:endParaRPr>
          </a:p>
          <a:p>
            <a:pPr lvl="1"/>
            <a:r>
              <a:rPr lang="zh-CN" altLang="en-US" dirty="0">
                <a:ea typeface="宋体" panose="02010600030101010101" pitchFamily="2" charset="-122"/>
              </a:rPr>
              <a:t>使用（</a:t>
            </a:r>
            <a:r>
              <a:rPr lang="zh-CN" altLang="en-US" u="sng" dirty="0">
                <a:ea typeface="宋体" panose="02010600030101010101" pitchFamily="2" charset="-122"/>
              </a:rPr>
              <a:t>职工编号、项目编号、机器编号</a:t>
            </a:r>
            <a:r>
              <a:rPr lang="zh-CN" altLang="en-US" dirty="0">
                <a:ea typeface="宋体" panose="02010600030101010101" pitchFamily="2" charset="-122"/>
              </a:rPr>
              <a:t>）</a:t>
            </a:r>
            <a:endParaRPr lang="en-US" altLang="zh-CN" dirty="0">
              <a:ea typeface="宋体" panose="02010600030101010101" pitchFamily="2" charset="-122"/>
            </a:endParaRPr>
          </a:p>
          <a:p>
            <a:pPr lvl="1"/>
            <a:r>
              <a:rPr lang="zh-CN" altLang="en-US" dirty="0">
                <a:ea typeface="宋体" panose="02010600030101010101" pitchFamily="2" charset="-122"/>
              </a:rPr>
              <a:t>设关系</a:t>
            </a:r>
            <a:r>
              <a:rPr lang="en-US" altLang="zh-CN" dirty="0">
                <a:ea typeface="宋体" panose="02010600030101010101" pitchFamily="2" charset="-122"/>
              </a:rPr>
              <a:t>R</a:t>
            </a:r>
            <a:r>
              <a:rPr lang="zh-CN" altLang="en-US" dirty="0">
                <a:ea typeface="宋体" panose="02010600030101010101" pitchFamily="2" charset="-122"/>
              </a:rPr>
              <a:t>（</a:t>
            </a:r>
            <a:r>
              <a:rPr lang="en-US" altLang="zh-CN" dirty="0">
                <a:ea typeface="宋体" panose="02010600030101010101" pitchFamily="2" charset="-122"/>
              </a:rPr>
              <a:t>A,B,C,D),</a:t>
            </a:r>
            <a:r>
              <a:rPr lang="zh-CN" altLang="en-US" dirty="0">
                <a:ea typeface="宋体" panose="02010600030101010101" pitchFamily="2" charset="-122"/>
              </a:rPr>
              <a:t>同时满足</a:t>
            </a:r>
            <a:r>
              <a:rPr lang="en-US" altLang="zh-CN" dirty="0">
                <a:ea typeface="宋体" panose="02010600030101010101" pitchFamily="2" charset="-122"/>
              </a:rPr>
              <a:t>AB</a:t>
            </a:r>
            <a:r>
              <a:rPr lang="en-US" altLang="zh-CN" dirty="0">
                <a:ea typeface="宋体" panose="02010600030101010101" pitchFamily="2" charset="-122"/>
                <a:sym typeface="Wingdings" panose="05000000000000000000" pitchFamily="2" charset="2"/>
              </a:rPr>
              <a:t></a:t>
            </a:r>
            <a:r>
              <a:rPr lang="en-US" altLang="zh-CN" dirty="0">
                <a:ea typeface="宋体" panose="02010600030101010101" pitchFamily="2" charset="-122"/>
              </a:rPr>
              <a:t>C, C</a:t>
            </a:r>
            <a:r>
              <a:rPr lang="en-US" altLang="zh-CN" dirty="0">
                <a:ea typeface="宋体" panose="02010600030101010101" pitchFamily="2" charset="-122"/>
                <a:sym typeface="Wingdings" panose="05000000000000000000" pitchFamily="2" charset="2"/>
              </a:rPr>
              <a:t></a:t>
            </a:r>
            <a:r>
              <a:rPr lang="en-US" altLang="zh-CN" dirty="0">
                <a:ea typeface="宋体" panose="02010600030101010101" pitchFamily="2" charset="-122"/>
              </a:rPr>
              <a:t>D, D</a:t>
            </a:r>
            <a:r>
              <a:rPr lang="en-US" altLang="zh-CN" dirty="0">
                <a:ea typeface="宋体" panose="02010600030101010101" pitchFamily="2" charset="-122"/>
                <a:sym typeface="Wingdings" panose="05000000000000000000" pitchFamily="2" charset="2"/>
              </a:rPr>
              <a:t></a:t>
            </a:r>
            <a:r>
              <a:rPr lang="en-US" altLang="zh-CN" dirty="0">
                <a:ea typeface="宋体" panose="02010600030101010101" pitchFamily="2" charset="-122"/>
              </a:rPr>
              <a:t>A,</a:t>
            </a:r>
            <a:r>
              <a:rPr lang="zh-CN" altLang="en-US" dirty="0">
                <a:ea typeface="宋体" panose="02010600030101010101" pitchFamily="2" charset="-122"/>
              </a:rPr>
              <a:t>请问其主属性和非主属性分别是什么？</a:t>
            </a:r>
            <a:endParaRPr lang="en-US" altLang="zh-CN" dirty="0">
              <a:ea typeface="宋体" panose="02010600030101010101" pitchFamily="2" charset="-122"/>
            </a:endParaRPr>
          </a:p>
          <a:p>
            <a:pPr lvl="2"/>
            <a:r>
              <a:rPr lang="zh-CN" altLang="en-US" dirty="0">
                <a:ea typeface="宋体" panose="02010600030101010101" pitchFamily="2" charset="-122"/>
              </a:rPr>
              <a:t>由于其候选码是</a:t>
            </a:r>
            <a:r>
              <a:rPr lang="en-US" altLang="zh-CN" dirty="0">
                <a:ea typeface="宋体" panose="02010600030101010101" pitchFamily="2" charset="-122"/>
              </a:rPr>
              <a:t>AB,BC</a:t>
            </a:r>
            <a:r>
              <a:rPr lang="zh-CN" altLang="en-US" dirty="0">
                <a:ea typeface="宋体" panose="02010600030101010101" pitchFamily="2" charset="-122"/>
              </a:rPr>
              <a:t>和</a:t>
            </a:r>
            <a:r>
              <a:rPr lang="en-US" altLang="zh-CN" dirty="0">
                <a:ea typeface="宋体" panose="02010600030101010101" pitchFamily="2" charset="-122"/>
              </a:rPr>
              <a:t>BD</a:t>
            </a:r>
            <a:r>
              <a:rPr lang="zh-CN" altLang="en-US" dirty="0">
                <a:ea typeface="宋体" panose="02010600030101010101" pitchFamily="2" charset="-122"/>
              </a:rPr>
              <a:t>，因此</a:t>
            </a:r>
            <a:r>
              <a:rPr lang="en-US" altLang="zh-CN" dirty="0">
                <a:ea typeface="宋体" panose="02010600030101010101" pitchFamily="2" charset="-122"/>
              </a:rPr>
              <a:t>A,B,C,D</a:t>
            </a:r>
            <a:r>
              <a:rPr lang="zh-CN" altLang="en-US" dirty="0">
                <a:ea typeface="宋体" panose="02010600030101010101" pitchFamily="2" charset="-122"/>
              </a:rPr>
              <a:t>均为主属性。</a:t>
            </a:r>
            <a:endParaRPr lang="en-US" altLang="zh-CN"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p:cNvSpPr>
            <a:spLocks noGrp="1" noChangeArrowheads="1"/>
          </p:cNvSpPr>
          <p:nvPr>
            <p:ph type="title"/>
          </p:nvPr>
        </p:nvSpPr>
        <p:spPr/>
        <p:txBody>
          <a:bodyPr/>
          <a:lstStyle/>
          <a:p>
            <a:pPr>
              <a:defRPr/>
            </a:pPr>
            <a:r>
              <a:rPr lang="en-US" altLang="zh-CN"/>
              <a:t>1NF</a:t>
            </a:r>
            <a:endParaRPr lang="en-US" altLang="zh-CN"/>
          </a:p>
        </p:txBody>
      </p:sp>
      <p:sp>
        <p:nvSpPr>
          <p:cNvPr id="38915" name="Rectangle 3"/>
          <p:cNvSpPr>
            <a:spLocks noGrp="1" noChangeArrowheads="1"/>
          </p:cNvSpPr>
          <p:nvPr>
            <p:ph type="body" idx="1"/>
          </p:nvPr>
        </p:nvSpPr>
        <p:spPr>
          <a:xfrm>
            <a:off x="457200" y="1052513"/>
            <a:ext cx="8229600" cy="2510744"/>
          </a:xfrm>
        </p:spPr>
        <p:txBody>
          <a:bodyPr>
            <a:noAutofit/>
          </a:bodyPr>
          <a:lstStyle/>
          <a:p>
            <a:pPr algn="l"/>
            <a:r>
              <a:rPr lang="zh-CN" altLang="en-US" sz="1800" b="1" i="0" dirty="0">
                <a:solidFill>
                  <a:srgbClr val="0F1115"/>
                </a:solidFill>
                <a:effectLst/>
                <a:latin typeface="quote-cjk-patch"/>
              </a:rPr>
              <a:t>定义</a:t>
            </a:r>
            <a:r>
              <a:rPr lang="zh-CN" altLang="en-US" sz="1800" b="0" i="0" dirty="0">
                <a:solidFill>
                  <a:srgbClr val="0F1115"/>
                </a:solidFill>
                <a:effectLst/>
                <a:latin typeface="quote-cjk-patch"/>
              </a:rPr>
              <a:t>：一个关系模式 </a:t>
            </a:r>
            <a:r>
              <a:rPr lang="en-US" altLang="zh-CN" sz="1800" b="0" i="0" dirty="0">
                <a:solidFill>
                  <a:srgbClr val="0F1115"/>
                </a:solidFill>
                <a:effectLst/>
                <a:latin typeface="quote-cjk-patch"/>
              </a:rPr>
              <a:t>R </a:t>
            </a:r>
            <a:r>
              <a:rPr lang="zh-CN" altLang="en-US" sz="1800" b="0" i="0" dirty="0">
                <a:solidFill>
                  <a:srgbClr val="0F1115"/>
                </a:solidFill>
                <a:effectLst/>
                <a:latin typeface="quote-cjk-patch"/>
              </a:rPr>
              <a:t>满足第一范式，当且仅当 </a:t>
            </a:r>
            <a:r>
              <a:rPr lang="en-US" altLang="zh-CN" sz="1800" b="0" i="0" dirty="0">
                <a:solidFill>
                  <a:srgbClr val="0F1115"/>
                </a:solidFill>
                <a:effectLst/>
                <a:latin typeface="quote-cjk-patch"/>
              </a:rPr>
              <a:t>R </a:t>
            </a:r>
            <a:r>
              <a:rPr lang="zh-CN" altLang="en-US" sz="1800" b="0" i="0" dirty="0">
                <a:solidFill>
                  <a:srgbClr val="0F1115"/>
                </a:solidFill>
                <a:effectLst/>
                <a:latin typeface="quote-cjk-patch"/>
              </a:rPr>
              <a:t>中每个属性的域都是原子的（不可再分的），即所有属性的值都是标量。</a:t>
            </a:r>
            <a:endParaRPr lang="zh-CN" altLang="en-US" sz="1800" b="0" i="0" dirty="0">
              <a:solidFill>
                <a:srgbClr val="0F1115"/>
              </a:solidFill>
              <a:effectLst/>
              <a:latin typeface="quote-cjk-patch"/>
            </a:endParaRPr>
          </a:p>
          <a:p>
            <a:pPr algn="l"/>
            <a:r>
              <a:rPr lang="zh-CN" altLang="en-US" sz="1800" b="1" i="0" dirty="0">
                <a:solidFill>
                  <a:srgbClr val="0F1115"/>
                </a:solidFill>
                <a:effectLst/>
                <a:latin typeface="quote-cjk-patch"/>
              </a:rPr>
              <a:t>核心要求</a:t>
            </a:r>
            <a:r>
              <a:rPr lang="zh-CN" altLang="en-US" sz="1800" b="0" i="0" dirty="0">
                <a:solidFill>
                  <a:srgbClr val="0F1115"/>
                </a:solidFill>
                <a:effectLst/>
                <a:latin typeface="quote-cjk-patch"/>
              </a:rPr>
              <a:t>：</a:t>
            </a:r>
            <a:endParaRPr lang="zh-CN" altLang="en-US" sz="1800" b="0" i="0" dirty="0">
              <a:solidFill>
                <a:srgbClr val="0F1115"/>
              </a:solidFill>
              <a:effectLst/>
              <a:latin typeface="quote-cjk-patch"/>
            </a:endParaRPr>
          </a:p>
          <a:p>
            <a:pPr lvl="1">
              <a:buFont typeface="+mj-lt"/>
              <a:buAutoNum type="arabicPeriod"/>
            </a:pPr>
            <a:r>
              <a:rPr lang="zh-CN" altLang="en-US" sz="1600" b="0" i="0" dirty="0">
                <a:solidFill>
                  <a:srgbClr val="0F1115"/>
                </a:solidFill>
                <a:effectLst/>
                <a:latin typeface="quote-cjk-patch"/>
              </a:rPr>
              <a:t>表中无重复组。</a:t>
            </a:r>
            <a:endParaRPr lang="zh-CN" altLang="en-US" sz="1600" b="0" i="0" dirty="0">
              <a:solidFill>
                <a:srgbClr val="0F1115"/>
              </a:solidFill>
              <a:effectLst/>
              <a:latin typeface="quote-cjk-patch"/>
            </a:endParaRPr>
          </a:p>
          <a:p>
            <a:pPr lvl="1">
              <a:buFont typeface="+mj-lt"/>
              <a:buAutoNum type="arabicPeriod"/>
            </a:pPr>
            <a:r>
              <a:rPr lang="zh-CN" altLang="en-US" sz="1600" b="0" i="0" dirty="0">
                <a:solidFill>
                  <a:srgbClr val="0F1115"/>
                </a:solidFill>
                <a:effectLst/>
                <a:latin typeface="quote-cjk-patch"/>
              </a:rPr>
              <a:t>每一列都是单一数据类型的最小数据单元。</a:t>
            </a:r>
            <a:endParaRPr lang="zh-CN" altLang="en-US" sz="1600" b="0" i="0" dirty="0">
              <a:solidFill>
                <a:srgbClr val="0F1115"/>
              </a:solidFill>
              <a:effectLst/>
              <a:latin typeface="quote-cjk-patch"/>
            </a:endParaRPr>
          </a:p>
          <a:p>
            <a:pPr lvl="1">
              <a:buFont typeface="+mj-lt"/>
              <a:buAutoNum type="arabicPeriod"/>
            </a:pPr>
            <a:r>
              <a:rPr lang="zh-CN" altLang="en-US" sz="1600" b="0" i="0" dirty="0">
                <a:solidFill>
                  <a:srgbClr val="0F1115"/>
                </a:solidFill>
                <a:effectLst/>
                <a:latin typeface="quote-cjk-patch"/>
              </a:rPr>
              <a:t>通常需要有一个主码来确保行的唯一性。</a:t>
            </a:r>
            <a:endParaRPr lang="zh-CN" altLang="en-US" sz="1600" b="0" i="0" dirty="0">
              <a:solidFill>
                <a:srgbClr val="0F1115"/>
              </a:solidFill>
              <a:effectLst/>
              <a:latin typeface="quote-cjk-patch"/>
            </a:endParaRPr>
          </a:p>
        </p:txBody>
      </p:sp>
      <p:graphicFrame>
        <p:nvGraphicFramePr>
          <p:cNvPr id="675844" name="Group 4"/>
          <p:cNvGraphicFramePr>
            <a:graphicFrameLocks noGrp="1"/>
          </p:cNvGraphicFramePr>
          <p:nvPr/>
        </p:nvGraphicFramePr>
        <p:xfrm>
          <a:off x="847725" y="3668040"/>
          <a:ext cx="3505200" cy="1041400"/>
        </p:xfrm>
        <a:graphic>
          <a:graphicData uri="http://schemas.openxmlformats.org/drawingml/2006/table">
            <a:tbl>
              <a:tblPr/>
              <a:tblGrid>
                <a:gridCol w="990600"/>
                <a:gridCol w="2514600"/>
              </a:tblGrid>
              <a:tr h="5207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SNO</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07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S1</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{C1</a:t>
                      </a:r>
                      <a:r>
                        <a:rPr kumimoji="0" lang="zh-CN" altLang="en-US"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C2</a:t>
                      </a:r>
                      <a:r>
                        <a:rPr kumimoji="0" lang="zh-CN" altLang="en-US"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C3}</a:t>
                      </a:r>
                      <a:endParaRPr kumimoji="0"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75855" name="Group 15"/>
          <p:cNvGraphicFramePr>
            <a:graphicFrameLocks noGrp="1"/>
          </p:cNvGraphicFramePr>
          <p:nvPr/>
        </p:nvGraphicFramePr>
        <p:xfrm>
          <a:off x="5873750" y="2796399"/>
          <a:ext cx="2971800" cy="2336800"/>
        </p:xfrm>
        <a:graphic>
          <a:graphicData uri="http://schemas.openxmlformats.org/drawingml/2006/table">
            <a:tbl>
              <a:tblPr/>
              <a:tblGrid>
                <a:gridCol w="1524000"/>
                <a:gridCol w="1447800"/>
              </a:tblGrid>
              <a:tr h="5842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SNO</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42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S1</a:t>
                      </a:r>
                      <a:endParaRPr kumimoji="0"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C1</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42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S1</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C2</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42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S1</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C3</a:t>
                      </a:r>
                      <a:endParaRPr kumimoji="0"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8944" name="AutoShape 32"/>
          <p:cNvSpPr>
            <a:spLocks noChangeArrowheads="1"/>
          </p:cNvSpPr>
          <p:nvPr/>
        </p:nvSpPr>
        <p:spPr bwMode="auto">
          <a:xfrm>
            <a:off x="4537075" y="3964799"/>
            <a:ext cx="1152525" cy="647700"/>
          </a:xfrm>
          <a:prstGeom prst="rightArrow">
            <a:avLst>
              <a:gd name="adj1" fmla="val 50000"/>
              <a:gd name="adj2" fmla="val 44485"/>
            </a:avLst>
          </a:prstGeom>
          <a:solidFill>
            <a:schemeClr val="accent1"/>
          </a:solidFill>
          <a:ln w="9525">
            <a:solidFill>
              <a:schemeClr val="tx1"/>
            </a:solidFill>
            <a:miter lim="800000"/>
          </a:ln>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r>
              <a:rPr lang="en-US" altLang="zh-CN" sz="2400">
                <a:latin typeface="Tahoma" panose="020B0604030504040204" pitchFamily="34" charset="0"/>
                <a:ea typeface="宋体" panose="02010600030101010101" pitchFamily="2" charset="-122"/>
              </a:rPr>
              <a:t>1NF</a:t>
            </a:r>
            <a:endParaRPr lang="en-US" altLang="zh-CN" sz="2400">
              <a:latin typeface="Tahoma" panose="020B0604030504040204" pitchFamily="34" charset="0"/>
              <a:ea typeface="宋体" panose="02010600030101010101" pitchFamily="2" charset="-122"/>
            </a:endParaRPr>
          </a:p>
        </p:txBody>
      </p:sp>
      <p:sp>
        <p:nvSpPr>
          <p:cNvPr id="38945" name="AutoShape 33"/>
          <p:cNvSpPr>
            <a:spLocks noChangeArrowheads="1"/>
          </p:cNvSpPr>
          <p:nvPr/>
        </p:nvSpPr>
        <p:spPr bwMode="auto">
          <a:xfrm>
            <a:off x="776514" y="5316261"/>
            <a:ext cx="2952750" cy="865187"/>
          </a:xfrm>
          <a:prstGeom prst="wedgeRoundRectCallout">
            <a:avLst>
              <a:gd name="adj1" fmla="val 24625"/>
              <a:gd name="adj2" fmla="val -125046"/>
              <a:gd name="adj3" fmla="val 16667"/>
            </a:avLst>
          </a:prstGeom>
          <a:solidFill>
            <a:schemeClr val="accent1"/>
          </a:solidFill>
          <a:ln w="9525">
            <a:solidFill>
              <a:schemeClr val="tx1"/>
            </a:solidFill>
            <a:miter lim="800000"/>
          </a:ln>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r>
              <a:rPr lang="zh-CN" altLang="en-US" sz="2400" dirty="0">
                <a:solidFill>
                  <a:srgbClr val="0000FF"/>
                </a:solidFill>
                <a:latin typeface="Tahoma" panose="020B0604030504040204" pitchFamily="34" charset="0"/>
                <a:ea typeface="华文新魏" panose="02010800040101010101" pitchFamily="2" charset="-122"/>
              </a:rPr>
              <a:t>对象－关系数据库</a:t>
            </a:r>
            <a:endParaRPr lang="zh-CN" altLang="en-US" sz="2400" dirty="0">
              <a:solidFill>
                <a:srgbClr val="0000FF"/>
              </a:solidFill>
              <a:latin typeface="Tahoma" panose="020B0604030504040204" pitchFamily="34" charset="0"/>
              <a:ea typeface="华文新魏" panose="02010800040101010101" pitchFamily="2" charset="-122"/>
            </a:endParaRPr>
          </a:p>
          <a:p>
            <a:pPr algn="ctr">
              <a:lnSpc>
                <a:spcPct val="100000"/>
              </a:lnSpc>
              <a:spcBef>
                <a:spcPct val="0"/>
              </a:spcBef>
              <a:buClrTx/>
              <a:buSzTx/>
              <a:buFontTx/>
              <a:buNone/>
            </a:pPr>
            <a:r>
              <a:rPr lang="zh-CN" altLang="en-US" sz="2400" dirty="0">
                <a:solidFill>
                  <a:srgbClr val="0000FF"/>
                </a:solidFill>
                <a:latin typeface="Tahoma" panose="020B0604030504040204" pitchFamily="34" charset="0"/>
                <a:ea typeface="华文新魏" panose="02010800040101010101" pitchFamily="2" charset="-122"/>
              </a:rPr>
              <a:t>嵌套关系</a:t>
            </a:r>
            <a:endParaRPr lang="zh-CN" altLang="en-US" sz="2400" dirty="0">
              <a:solidFill>
                <a:srgbClr val="0000FF"/>
              </a:solidFill>
              <a:latin typeface="Tahoma" panose="020B0604030504040204" pitchFamily="34" charset="0"/>
              <a:ea typeface="华文新魏" panose="02010800040101010101" pitchFamily="2" charset="-122"/>
            </a:endParaRPr>
          </a:p>
        </p:txBody>
      </p:sp>
      <p:sp>
        <p:nvSpPr>
          <p:cNvPr id="38946" name="AutoShape 34"/>
          <p:cNvSpPr>
            <a:spLocks noChangeArrowheads="1"/>
          </p:cNvSpPr>
          <p:nvPr/>
        </p:nvSpPr>
        <p:spPr bwMode="auto">
          <a:xfrm>
            <a:off x="5651600" y="5316262"/>
            <a:ext cx="1943100" cy="865187"/>
          </a:xfrm>
          <a:prstGeom prst="wedgeRoundRectCallout">
            <a:avLst>
              <a:gd name="adj1" fmla="val 38481"/>
              <a:gd name="adj2" fmla="val -107431"/>
              <a:gd name="adj3" fmla="val 16667"/>
            </a:avLst>
          </a:prstGeom>
          <a:solidFill>
            <a:schemeClr val="accent1"/>
          </a:solidFill>
          <a:ln w="9525">
            <a:solidFill>
              <a:schemeClr val="tx1"/>
            </a:solidFill>
            <a:miter lim="800000"/>
          </a:ln>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r>
              <a:rPr lang="zh-CN" altLang="en-US" sz="2400">
                <a:solidFill>
                  <a:srgbClr val="0000FF"/>
                </a:solidFill>
                <a:latin typeface="Tahoma" panose="020B0604030504040204" pitchFamily="34" charset="0"/>
                <a:ea typeface="华文新魏" panose="02010800040101010101" pitchFamily="2" charset="-122"/>
              </a:rPr>
              <a:t>传统数据库</a:t>
            </a:r>
            <a:endParaRPr lang="zh-CN" altLang="en-US" sz="2400">
              <a:solidFill>
                <a:srgbClr val="0000FF"/>
              </a:solidFill>
              <a:latin typeface="Tahoma" panose="020B0604030504040204" pitchFamily="34" charset="0"/>
              <a:ea typeface="华文新魏" panose="02010800040101010101" pitchFamily="2" charset="-122"/>
            </a:endParaRPr>
          </a:p>
          <a:p>
            <a:pPr algn="ctr">
              <a:lnSpc>
                <a:spcPct val="100000"/>
              </a:lnSpc>
              <a:spcBef>
                <a:spcPct val="0"/>
              </a:spcBef>
              <a:buClrTx/>
              <a:buSzTx/>
              <a:buFontTx/>
              <a:buNone/>
            </a:pPr>
            <a:r>
              <a:rPr lang="zh-CN" altLang="en-US" sz="2400">
                <a:solidFill>
                  <a:srgbClr val="0000FF"/>
                </a:solidFill>
                <a:latin typeface="Tahoma" panose="020B0604030504040204" pitchFamily="34" charset="0"/>
                <a:ea typeface="华文新魏" panose="02010800040101010101" pitchFamily="2" charset="-122"/>
              </a:rPr>
              <a:t>平面关系</a:t>
            </a:r>
            <a:endParaRPr lang="zh-CN" altLang="en-US" sz="2400">
              <a:solidFill>
                <a:srgbClr val="0000FF"/>
              </a:solidFill>
              <a:latin typeface="Tahoma" panose="020B0604030504040204" pitchFamily="34" charset="0"/>
              <a:ea typeface="华文新魏" panose="0201080004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p:cNvSpPr>
            <a:spLocks noGrp="1" noChangeArrowheads="1"/>
          </p:cNvSpPr>
          <p:nvPr>
            <p:ph type="title"/>
          </p:nvPr>
        </p:nvSpPr>
        <p:spPr/>
        <p:txBody>
          <a:bodyPr/>
          <a:lstStyle/>
          <a:p>
            <a:pPr>
              <a:defRPr/>
            </a:pPr>
            <a:r>
              <a:rPr lang="en-US" altLang="zh-CN"/>
              <a:t>1NF</a:t>
            </a:r>
            <a:endParaRPr lang="en-US" altLang="zh-CN"/>
          </a:p>
        </p:txBody>
      </p:sp>
      <p:graphicFrame>
        <p:nvGraphicFramePr>
          <p:cNvPr id="676867" name="Group 3"/>
          <p:cNvGraphicFramePr>
            <a:graphicFrameLocks noGrp="1"/>
          </p:cNvGraphicFramePr>
          <p:nvPr/>
        </p:nvGraphicFramePr>
        <p:xfrm>
          <a:off x="973138" y="3355975"/>
          <a:ext cx="3024187" cy="1041400"/>
        </p:xfrm>
        <a:graphic>
          <a:graphicData uri="http://schemas.openxmlformats.org/drawingml/2006/table">
            <a:tbl>
              <a:tblPr/>
              <a:tblGrid>
                <a:gridCol w="854075"/>
                <a:gridCol w="2170112"/>
              </a:tblGrid>
              <a:tr h="5207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SNO</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07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S1</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{C1</a:t>
                      </a: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C2</a:t>
                      </a: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C3}</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9950" name="AutoShape 14"/>
          <p:cNvSpPr>
            <a:spLocks noChangeArrowheads="1"/>
          </p:cNvSpPr>
          <p:nvPr/>
        </p:nvSpPr>
        <p:spPr bwMode="auto">
          <a:xfrm>
            <a:off x="1189038" y="1484313"/>
            <a:ext cx="2519362" cy="865187"/>
          </a:xfrm>
          <a:prstGeom prst="wedgeRoundRectCallout">
            <a:avLst>
              <a:gd name="adj1" fmla="val -282"/>
              <a:gd name="adj2" fmla="val 158074"/>
              <a:gd name="adj3" fmla="val 16667"/>
            </a:avLst>
          </a:prstGeom>
          <a:solidFill>
            <a:schemeClr val="accent1"/>
          </a:solidFill>
          <a:ln w="9525">
            <a:solidFill>
              <a:schemeClr val="tx1"/>
            </a:solidFill>
            <a:miter lim="800000"/>
          </a:ln>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r>
              <a:rPr lang="zh-CN" altLang="en-US" sz="2400">
                <a:solidFill>
                  <a:srgbClr val="0000FF"/>
                </a:solidFill>
                <a:latin typeface="Tahoma" panose="020B0604030504040204" pitchFamily="34" charset="0"/>
                <a:ea typeface="华文新魏" panose="02010800040101010101" pitchFamily="2" charset="-122"/>
              </a:rPr>
              <a:t>适合于查询每个学生的选修课程</a:t>
            </a:r>
            <a:endParaRPr lang="zh-CN" altLang="en-US" sz="2400">
              <a:solidFill>
                <a:srgbClr val="0000FF"/>
              </a:solidFill>
              <a:latin typeface="Tahoma" panose="020B0604030504040204" pitchFamily="34" charset="0"/>
              <a:ea typeface="华文新魏" panose="02010800040101010101" pitchFamily="2" charset="-122"/>
            </a:endParaRPr>
          </a:p>
        </p:txBody>
      </p:sp>
      <p:graphicFrame>
        <p:nvGraphicFramePr>
          <p:cNvPr id="676892" name="Group 28"/>
          <p:cNvGraphicFramePr>
            <a:graphicFrameLocks noGrp="1"/>
          </p:cNvGraphicFramePr>
          <p:nvPr/>
        </p:nvGraphicFramePr>
        <p:xfrm>
          <a:off x="5005388" y="3355975"/>
          <a:ext cx="3618848" cy="1041400"/>
        </p:xfrm>
        <a:graphic>
          <a:graphicData uri="http://schemas.openxmlformats.org/drawingml/2006/table">
            <a:tbl>
              <a:tblPr/>
              <a:tblGrid>
                <a:gridCol w="2295374"/>
                <a:gridCol w="1323474"/>
              </a:tblGrid>
              <a:tr h="5207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SNO</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07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{S1, S2, S3}</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C1</a:t>
                      </a:r>
                      <a:endParaRPr kumimoji="0" lang="en-US" altLang="zh-CN" sz="2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9962" name="AutoShape 26"/>
          <p:cNvSpPr>
            <a:spLocks noChangeArrowheads="1"/>
          </p:cNvSpPr>
          <p:nvPr/>
        </p:nvSpPr>
        <p:spPr bwMode="auto">
          <a:xfrm>
            <a:off x="5221288" y="1484313"/>
            <a:ext cx="2519362" cy="865187"/>
          </a:xfrm>
          <a:prstGeom prst="wedgeRoundRectCallout">
            <a:avLst>
              <a:gd name="adj1" fmla="val -282"/>
              <a:gd name="adj2" fmla="val 158074"/>
              <a:gd name="adj3" fmla="val 16667"/>
            </a:avLst>
          </a:prstGeom>
          <a:solidFill>
            <a:schemeClr val="accent1"/>
          </a:solidFill>
          <a:ln w="9525">
            <a:solidFill>
              <a:schemeClr val="tx1"/>
            </a:solidFill>
            <a:miter lim="800000"/>
          </a:ln>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r>
              <a:rPr lang="zh-CN" altLang="en-US" sz="2400">
                <a:solidFill>
                  <a:srgbClr val="0000FF"/>
                </a:solidFill>
                <a:latin typeface="Tahoma" panose="020B0604030504040204" pitchFamily="34" charset="0"/>
                <a:ea typeface="华文新魏" panose="02010800040101010101" pitchFamily="2" charset="-122"/>
              </a:rPr>
              <a:t>适合于查询每门课程的选修学生</a:t>
            </a:r>
            <a:endParaRPr lang="zh-CN" altLang="en-US" sz="2400">
              <a:solidFill>
                <a:srgbClr val="0000FF"/>
              </a:solidFill>
              <a:latin typeface="Tahoma" panose="020B0604030504040204" pitchFamily="34" charset="0"/>
              <a:ea typeface="华文新魏" panose="02010800040101010101" pitchFamily="2" charset="-122"/>
            </a:endParaRPr>
          </a:p>
        </p:txBody>
      </p:sp>
      <p:sp>
        <p:nvSpPr>
          <p:cNvPr id="39963" name="Text Box 27"/>
          <p:cNvSpPr txBox="1">
            <a:spLocks noChangeArrowheads="1"/>
          </p:cNvSpPr>
          <p:nvPr/>
        </p:nvSpPr>
        <p:spPr bwMode="auto">
          <a:xfrm>
            <a:off x="2195513" y="4872038"/>
            <a:ext cx="5040312"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Char char="•"/>
            </a:pPr>
            <a:r>
              <a:rPr lang="zh-CN" altLang="en-US" sz="2400">
                <a:latin typeface="Tahoma" panose="020B0604030504040204" pitchFamily="34" charset="0"/>
                <a:ea typeface="华文新魏" panose="02010800040101010101" pitchFamily="2" charset="-122"/>
              </a:rPr>
              <a:t>两个都保存，数据冗余，更新困难</a:t>
            </a:r>
            <a:endParaRPr lang="zh-CN" altLang="en-US" sz="2400">
              <a:latin typeface="Tahoma" panose="020B0604030504040204" pitchFamily="34" charset="0"/>
              <a:ea typeface="华文新魏" panose="02010800040101010101" pitchFamily="2" charset="-122"/>
            </a:endParaRPr>
          </a:p>
          <a:p>
            <a:pPr>
              <a:lnSpc>
                <a:spcPct val="100000"/>
              </a:lnSpc>
              <a:spcBef>
                <a:spcPct val="50000"/>
              </a:spcBef>
              <a:buClrTx/>
              <a:buSzTx/>
              <a:buFontTx/>
              <a:buChar char="•"/>
            </a:pPr>
            <a:r>
              <a:rPr lang="zh-CN" altLang="en-US" sz="2400">
                <a:latin typeface="Tahoma" panose="020B0604030504040204" pitchFamily="34" charset="0"/>
                <a:ea typeface="华文新魏" panose="02010800040101010101" pitchFamily="2" charset="-122"/>
              </a:rPr>
              <a:t>只保存一个，某些查询困难</a:t>
            </a:r>
            <a:endParaRPr lang="zh-CN" altLang="en-US" sz="2400">
              <a:latin typeface="Tahoma" panose="020B0604030504040204" pitchFamily="34" charset="0"/>
              <a:ea typeface="华文新魏" panose="0201080004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0" name="Rectangle 2"/>
          <p:cNvSpPr>
            <a:spLocks noGrp="1" noChangeArrowheads="1"/>
          </p:cNvSpPr>
          <p:nvPr>
            <p:ph type="title"/>
          </p:nvPr>
        </p:nvSpPr>
        <p:spPr/>
        <p:txBody>
          <a:bodyPr/>
          <a:lstStyle/>
          <a:p>
            <a:pPr>
              <a:defRPr/>
            </a:pPr>
            <a:r>
              <a:rPr lang="en-US" altLang="zh-CN"/>
              <a:t>1NF</a:t>
            </a:r>
            <a:endParaRPr lang="en-US" altLang="zh-CN"/>
          </a:p>
        </p:txBody>
      </p:sp>
      <p:sp>
        <p:nvSpPr>
          <p:cNvPr id="40963" name="Rectangle 3"/>
          <p:cNvSpPr>
            <a:spLocks noGrp="1" noChangeArrowheads="1"/>
          </p:cNvSpPr>
          <p:nvPr>
            <p:ph type="body" idx="1"/>
          </p:nvPr>
        </p:nvSpPr>
        <p:spPr>
          <a:xfrm>
            <a:off x="457200" y="1052513"/>
            <a:ext cx="8229600" cy="4530725"/>
          </a:xfrm>
        </p:spPr>
        <p:txBody>
          <a:bodyPr/>
          <a:lstStyle/>
          <a:p>
            <a:r>
              <a:rPr lang="zh-CN" altLang="en-US" dirty="0">
                <a:ea typeface="宋体" panose="02010600030101010101" pitchFamily="2" charset="-122"/>
              </a:rPr>
              <a:t>原子粒度的选择</a:t>
            </a:r>
            <a:endParaRPr lang="zh-CN" altLang="en-US" dirty="0">
              <a:ea typeface="宋体" panose="02010600030101010101" pitchFamily="2" charset="-122"/>
            </a:endParaRPr>
          </a:p>
          <a:p>
            <a:pPr lvl="1"/>
            <a:r>
              <a:rPr lang="zh-CN" altLang="en-US" dirty="0">
                <a:ea typeface="宋体" panose="02010600030101010101" pitchFamily="2" charset="-122"/>
              </a:rPr>
              <a:t>分量是否需要再分，与具体应用有关。如果用到值的一部分，则需要进一步分割</a:t>
            </a:r>
            <a:endParaRPr lang="zh-CN" altLang="en-US" dirty="0">
              <a:ea typeface="宋体" panose="02010600030101010101" pitchFamily="2" charset="-122"/>
            </a:endParaRPr>
          </a:p>
          <a:p>
            <a:pPr lvl="1"/>
            <a:r>
              <a:rPr lang="zh-CN" altLang="en-US" dirty="0">
                <a:ea typeface="宋体" panose="02010600030101010101" pitchFamily="2" charset="-122"/>
              </a:rPr>
              <a:t>否则需要应用编码解析</a:t>
            </a:r>
            <a:endParaRPr lang="zh-CN" altLang="en-US" dirty="0">
              <a:ea typeface="宋体" panose="02010600030101010101" pitchFamily="2" charset="-122"/>
            </a:endParaRPr>
          </a:p>
          <a:p>
            <a:endParaRPr lang="en-US" altLang="zh-CN" dirty="0">
              <a:ea typeface="宋体" panose="02010600030101010101" pitchFamily="2" charset="-122"/>
            </a:endParaRPr>
          </a:p>
        </p:txBody>
      </p:sp>
      <p:graphicFrame>
        <p:nvGraphicFramePr>
          <p:cNvPr id="677892" name="Group 4"/>
          <p:cNvGraphicFramePr>
            <a:graphicFrameLocks noGrp="1"/>
          </p:cNvGraphicFramePr>
          <p:nvPr/>
        </p:nvGraphicFramePr>
        <p:xfrm>
          <a:off x="779463" y="4378325"/>
          <a:ext cx="1995487" cy="1822452"/>
        </p:xfrm>
        <a:graphic>
          <a:graphicData uri="http://schemas.openxmlformats.org/drawingml/2006/table">
            <a:tbl>
              <a:tblPr/>
              <a:tblGrid>
                <a:gridCol w="793750"/>
                <a:gridCol w="1201737"/>
              </a:tblGrid>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姓名</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生日</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王军</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68.7.10</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张立</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69.7.10</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李明</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80.3.28</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77909" name="Group 21"/>
          <p:cNvGraphicFramePr>
            <a:graphicFrameLocks noGrp="1"/>
          </p:cNvGraphicFramePr>
          <p:nvPr/>
        </p:nvGraphicFramePr>
        <p:xfrm>
          <a:off x="3427413" y="4400550"/>
          <a:ext cx="2105025" cy="1830389"/>
        </p:xfrm>
        <a:graphic>
          <a:graphicData uri="http://schemas.openxmlformats.org/drawingml/2006/table">
            <a:tbl>
              <a:tblPr/>
              <a:tblGrid>
                <a:gridCol w="793750"/>
                <a:gridCol w="517525"/>
                <a:gridCol w="793750"/>
              </a:tblGrid>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姓名</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年</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月日</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87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王军</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68</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7.10</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03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张立</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69</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7.10</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李明</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80</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3.28</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1003" name="AutoShape 43"/>
          <p:cNvSpPr>
            <a:spLocks noChangeArrowheads="1"/>
          </p:cNvSpPr>
          <p:nvPr/>
        </p:nvSpPr>
        <p:spPr bwMode="auto">
          <a:xfrm>
            <a:off x="779463" y="3103563"/>
            <a:ext cx="1584325" cy="865187"/>
          </a:xfrm>
          <a:prstGeom prst="wedgeRoundRectCallout">
            <a:avLst>
              <a:gd name="adj1" fmla="val 33167"/>
              <a:gd name="adj2" fmla="val 94403"/>
              <a:gd name="adj3" fmla="val 16667"/>
            </a:avLst>
          </a:prstGeom>
          <a:solidFill>
            <a:schemeClr val="accent1"/>
          </a:solidFill>
          <a:ln w="9525">
            <a:solidFill>
              <a:schemeClr val="tx1"/>
            </a:solidFill>
            <a:miter lim="800000"/>
          </a:ln>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r>
              <a:rPr lang="zh-CN" altLang="en-US" sz="2400">
                <a:solidFill>
                  <a:srgbClr val="0000FF"/>
                </a:solidFill>
                <a:latin typeface="Tahoma" panose="020B0604030504040204" pitchFamily="34" charset="0"/>
                <a:ea typeface="华文新魏" panose="02010800040101010101" pitchFamily="2" charset="-122"/>
              </a:rPr>
              <a:t>只是查询出生日期</a:t>
            </a:r>
            <a:endParaRPr lang="zh-CN" altLang="en-US" sz="2400">
              <a:solidFill>
                <a:srgbClr val="0000FF"/>
              </a:solidFill>
              <a:latin typeface="Tahoma" panose="020B0604030504040204" pitchFamily="34" charset="0"/>
              <a:ea typeface="华文新魏" panose="02010800040101010101" pitchFamily="2" charset="-122"/>
            </a:endParaRPr>
          </a:p>
        </p:txBody>
      </p:sp>
      <p:sp>
        <p:nvSpPr>
          <p:cNvPr id="41004" name="AutoShape 44"/>
          <p:cNvSpPr>
            <a:spLocks noChangeArrowheads="1"/>
          </p:cNvSpPr>
          <p:nvPr/>
        </p:nvSpPr>
        <p:spPr bwMode="auto">
          <a:xfrm>
            <a:off x="3416300" y="3175000"/>
            <a:ext cx="1871663" cy="865188"/>
          </a:xfrm>
          <a:prstGeom prst="wedgeRoundRectCallout">
            <a:avLst>
              <a:gd name="adj1" fmla="val 20398"/>
              <a:gd name="adj2" fmla="val 94403"/>
              <a:gd name="adj3" fmla="val 16667"/>
            </a:avLst>
          </a:prstGeom>
          <a:solidFill>
            <a:schemeClr val="accent1"/>
          </a:solidFill>
          <a:ln w="9525">
            <a:solidFill>
              <a:schemeClr val="tx1"/>
            </a:solidFill>
            <a:miter lim="800000"/>
          </a:ln>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r>
              <a:rPr lang="zh-CN" altLang="en-US" sz="2400">
                <a:solidFill>
                  <a:srgbClr val="0000FF"/>
                </a:solidFill>
                <a:latin typeface="Tahoma" panose="020B0604030504040204" pitchFamily="34" charset="0"/>
                <a:ea typeface="华文新魏" panose="02010800040101010101" pitchFamily="2" charset="-122"/>
              </a:rPr>
              <a:t>比较两人生肖是否相同</a:t>
            </a:r>
            <a:endParaRPr lang="zh-CN" altLang="en-US" sz="2400">
              <a:solidFill>
                <a:srgbClr val="0000FF"/>
              </a:solidFill>
              <a:latin typeface="Tahoma" panose="020B0604030504040204" pitchFamily="34" charset="0"/>
              <a:ea typeface="华文新魏" panose="02010800040101010101" pitchFamily="2" charset="-122"/>
            </a:endParaRPr>
          </a:p>
        </p:txBody>
      </p:sp>
      <p:graphicFrame>
        <p:nvGraphicFramePr>
          <p:cNvPr id="677933" name="Group 45"/>
          <p:cNvGraphicFramePr>
            <a:graphicFrameLocks noGrp="1"/>
          </p:cNvGraphicFramePr>
          <p:nvPr/>
        </p:nvGraphicFramePr>
        <p:xfrm>
          <a:off x="6235700" y="4402138"/>
          <a:ext cx="2319338" cy="1830387"/>
        </p:xfrm>
        <a:graphic>
          <a:graphicData uri="http://schemas.openxmlformats.org/drawingml/2006/table">
            <a:tbl>
              <a:tblPr/>
              <a:tblGrid>
                <a:gridCol w="793750"/>
                <a:gridCol w="519113"/>
                <a:gridCol w="488950"/>
                <a:gridCol w="517525"/>
              </a:tblGrid>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姓名</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年</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月</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日</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8787">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王军</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68</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7</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10</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0374">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张立</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69</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7</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10</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李明</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80</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28</a:t>
                      </a:r>
                      <a:endParaRPr kumimoji="0" lang="en-US" altLang="zh-CN"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1032" name="AutoShape 72"/>
          <p:cNvSpPr>
            <a:spLocks noChangeArrowheads="1"/>
          </p:cNvSpPr>
          <p:nvPr/>
        </p:nvSpPr>
        <p:spPr bwMode="auto">
          <a:xfrm>
            <a:off x="6684963" y="3176588"/>
            <a:ext cx="1871662" cy="865187"/>
          </a:xfrm>
          <a:prstGeom prst="wedgeRoundRectCallout">
            <a:avLst>
              <a:gd name="adj1" fmla="val 20398"/>
              <a:gd name="adj2" fmla="val 94403"/>
              <a:gd name="adj3" fmla="val 16667"/>
            </a:avLst>
          </a:prstGeom>
          <a:solidFill>
            <a:schemeClr val="accent1"/>
          </a:solidFill>
          <a:ln w="9525">
            <a:solidFill>
              <a:schemeClr val="tx1"/>
            </a:solidFill>
            <a:miter lim="800000"/>
          </a:ln>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r>
              <a:rPr lang="zh-CN" altLang="en-US" sz="2400">
                <a:solidFill>
                  <a:srgbClr val="0000FF"/>
                </a:solidFill>
                <a:latin typeface="Tahoma" panose="020B0604030504040204" pitchFamily="34" charset="0"/>
                <a:ea typeface="华文新魏" panose="02010800040101010101" pitchFamily="2" charset="-122"/>
              </a:rPr>
              <a:t>比较两人生日是否相同</a:t>
            </a:r>
            <a:endParaRPr lang="zh-CN" altLang="en-US" sz="2400">
              <a:solidFill>
                <a:srgbClr val="0000FF"/>
              </a:solidFill>
              <a:latin typeface="Tahoma" panose="020B0604030504040204" pitchFamily="34" charset="0"/>
              <a:ea typeface="华文新魏" panose="0201080004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Rectangle 2"/>
          <p:cNvSpPr>
            <a:spLocks noGrp="1" noChangeArrowheads="1"/>
          </p:cNvSpPr>
          <p:nvPr>
            <p:ph type="title"/>
          </p:nvPr>
        </p:nvSpPr>
        <p:spPr/>
        <p:txBody>
          <a:bodyPr/>
          <a:lstStyle/>
          <a:p>
            <a:pPr>
              <a:defRPr/>
            </a:pPr>
            <a:r>
              <a:rPr lang="en-US" altLang="zh-CN"/>
              <a:t>1NF</a:t>
            </a:r>
            <a:endParaRPr lang="en-US" altLang="zh-CN"/>
          </a:p>
        </p:txBody>
      </p:sp>
      <p:sp>
        <p:nvSpPr>
          <p:cNvPr id="41987" name="Rectangle 3"/>
          <p:cNvSpPr>
            <a:spLocks noGrp="1" noChangeArrowheads="1"/>
          </p:cNvSpPr>
          <p:nvPr>
            <p:ph type="body" idx="1"/>
          </p:nvPr>
        </p:nvSpPr>
        <p:spPr/>
        <p:txBody>
          <a:bodyPr/>
          <a:lstStyle/>
          <a:p>
            <a:r>
              <a:rPr lang="zh-CN" altLang="en-US">
                <a:ea typeface="宋体" panose="02010600030101010101" pitchFamily="2" charset="-122"/>
              </a:rPr>
              <a:t>较细的原子粒度有助于标准化，施加约束，避免输入错误，从而提高数据质量</a:t>
            </a:r>
            <a:endParaRPr lang="zh-CN" altLang="en-US">
              <a:ea typeface="宋体" panose="02010600030101010101" pitchFamily="2" charset="-122"/>
            </a:endParaRPr>
          </a:p>
        </p:txBody>
      </p:sp>
      <p:sp>
        <p:nvSpPr>
          <p:cNvPr id="41988" name="Text Box 4"/>
          <p:cNvSpPr txBox="1">
            <a:spLocks noChangeArrowheads="1"/>
          </p:cNvSpPr>
          <p:nvPr/>
        </p:nvSpPr>
        <p:spPr bwMode="auto">
          <a:xfrm>
            <a:off x="1187450" y="2781300"/>
            <a:ext cx="6624638"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zh-CN" altLang="en-US" sz="2400">
                <a:latin typeface="华文新魏" panose="02010800040101010101" pitchFamily="2" charset="-122"/>
                <a:ea typeface="华文新魏" panose="02010800040101010101" pitchFamily="2" charset="-122"/>
              </a:rPr>
              <a:t>北京大学，北京，中国，</a:t>
            </a:r>
            <a:r>
              <a:rPr lang="en-US" altLang="zh-CN" sz="2400">
                <a:latin typeface="华文新魏" panose="02010800040101010101" pitchFamily="2" charset="-122"/>
                <a:ea typeface="华文新魏" panose="02010800040101010101" pitchFamily="2" charset="-122"/>
              </a:rPr>
              <a:t>100871</a:t>
            </a:r>
            <a:r>
              <a:rPr lang="zh-CN" altLang="en-US" sz="2400">
                <a:latin typeface="华文新魏" panose="02010800040101010101" pitchFamily="2" charset="-122"/>
                <a:ea typeface="华文新魏" panose="02010800040101010101" pitchFamily="2" charset="-122"/>
              </a:rPr>
              <a:t>，</a:t>
            </a:r>
            <a:r>
              <a:rPr lang="en-US" altLang="zh-CN" sz="2400">
                <a:latin typeface="华文新魏" panose="02010800040101010101" pitchFamily="2" charset="-122"/>
                <a:ea typeface="华文新魏" panose="02010800040101010101" pitchFamily="2" charset="-122"/>
              </a:rPr>
              <a:t>11/25/2006</a:t>
            </a:r>
            <a:endParaRPr lang="en-US" altLang="zh-CN" sz="2400">
              <a:latin typeface="华文新魏" panose="02010800040101010101" pitchFamily="2" charset="-122"/>
              <a:ea typeface="华文新魏" panose="02010800040101010101" pitchFamily="2" charset="-122"/>
            </a:endParaRPr>
          </a:p>
        </p:txBody>
      </p:sp>
      <p:sp>
        <p:nvSpPr>
          <p:cNvPr id="41989" name="Text Box 5"/>
          <p:cNvSpPr txBox="1">
            <a:spLocks noChangeArrowheads="1"/>
          </p:cNvSpPr>
          <p:nvPr/>
        </p:nvSpPr>
        <p:spPr bwMode="auto">
          <a:xfrm>
            <a:off x="1187450" y="3970338"/>
            <a:ext cx="6624638"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zh-CN" altLang="en-US" sz="2400">
                <a:latin typeface="华文新魏" panose="02010800040101010101" pitchFamily="2" charset="-122"/>
                <a:ea typeface="华文新魏" panose="02010800040101010101" pitchFamily="2" charset="-122"/>
              </a:rPr>
              <a:t>中国，北京，北京大学，</a:t>
            </a:r>
            <a:r>
              <a:rPr lang="en-US" altLang="zh-CN" sz="2400">
                <a:latin typeface="华文新魏" panose="02010800040101010101" pitchFamily="2" charset="-122"/>
                <a:ea typeface="华文新魏" panose="02010800040101010101" pitchFamily="2" charset="-122"/>
              </a:rPr>
              <a:t>100871</a:t>
            </a:r>
            <a:r>
              <a:rPr lang="zh-CN" altLang="en-US" sz="2400">
                <a:latin typeface="华文新魏" panose="02010800040101010101" pitchFamily="2" charset="-122"/>
                <a:ea typeface="华文新魏" panose="02010800040101010101" pitchFamily="2" charset="-122"/>
              </a:rPr>
              <a:t>，</a:t>
            </a:r>
            <a:r>
              <a:rPr lang="en-US" altLang="zh-CN" sz="2400">
                <a:latin typeface="华文新魏" panose="02010800040101010101" pitchFamily="2" charset="-122"/>
                <a:ea typeface="华文新魏" panose="02010800040101010101" pitchFamily="2" charset="-122"/>
              </a:rPr>
              <a:t>25/11/2006</a:t>
            </a:r>
            <a:endParaRPr lang="en-US" altLang="zh-CN" sz="2400">
              <a:latin typeface="华文新魏" panose="02010800040101010101" pitchFamily="2" charset="-122"/>
              <a:ea typeface="华文新魏" panose="02010800040101010101" pitchFamily="2" charset="-122"/>
            </a:endParaRPr>
          </a:p>
        </p:txBody>
      </p:sp>
      <p:graphicFrame>
        <p:nvGraphicFramePr>
          <p:cNvPr id="678918" name="Group 6"/>
          <p:cNvGraphicFramePr>
            <a:graphicFrameLocks noGrp="1"/>
          </p:cNvGraphicFramePr>
          <p:nvPr/>
        </p:nvGraphicFramePr>
        <p:xfrm>
          <a:off x="1116013" y="5084763"/>
          <a:ext cx="6848475" cy="908050"/>
        </p:xfrm>
        <a:graphic>
          <a:graphicData uri="http://schemas.openxmlformats.org/drawingml/2006/table">
            <a:tbl>
              <a:tblPr/>
              <a:tblGrid>
                <a:gridCol w="854075"/>
                <a:gridCol w="854075"/>
                <a:gridCol w="1403350"/>
                <a:gridCol w="1130300"/>
                <a:gridCol w="898525"/>
                <a:gridCol w="854075"/>
                <a:gridCol w="854075"/>
              </a:tblGrid>
              <a:tr h="426869">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国家</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城市</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单位</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邮编</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年</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月</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rPr>
                        <a:t>日</a:t>
                      </a:r>
                      <a:endParaRPr kumimoji="0" lang="zh-CN" altLang="en-US" sz="2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8118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中国</a:t>
                      </a:r>
                      <a:endParaRPr kumimoji="0" lang="zh-CN" altLang="en-US"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45736" marB="4573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北京</a:t>
                      </a:r>
                      <a:endParaRPr kumimoji="0" lang="zh-CN" altLang="en-US"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en-US"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北京大学</a:t>
                      </a:r>
                      <a:endParaRPr kumimoji="0" lang="zh-CN" altLang="en-US"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100871</a:t>
                      </a:r>
                      <a:endPar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2006</a:t>
                      </a:r>
                      <a:endPar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11</a:t>
                      </a:r>
                      <a:endPar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25</a:t>
                      </a:r>
                      <a:endPar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45736" marB="4573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p:cNvSpPr>
            <a:spLocks noGrp="1" noChangeArrowheads="1"/>
          </p:cNvSpPr>
          <p:nvPr>
            <p:ph type="title"/>
          </p:nvPr>
        </p:nvSpPr>
        <p:spPr/>
        <p:txBody>
          <a:bodyPr/>
          <a:lstStyle/>
          <a:p>
            <a:pPr>
              <a:defRPr/>
            </a:pPr>
            <a:r>
              <a:rPr lang="en-US" altLang="zh-CN"/>
              <a:t>2NF</a:t>
            </a:r>
            <a:endParaRPr lang="en-US" altLang="zh-CN"/>
          </a:p>
        </p:txBody>
      </p:sp>
      <p:graphicFrame>
        <p:nvGraphicFramePr>
          <p:cNvPr id="680048" name="Group 112"/>
          <p:cNvGraphicFramePr>
            <a:graphicFrameLocks noGrp="1"/>
          </p:cNvGraphicFramePr>
          <p:nvPr/>
        </p:nvGraphicFramePr>
        <p:xfrm>
          <a:off x="503238" y="5002213"/>
          <a:ext cx="8640762" cy="457200"/>
        </p:xfrm>
        <a:graphic>
          <a:graphicData uri="http://schemas.openxmlformats.org/drawingml/2006/table">
            <a:tbl>
              <a:tblPr/>
              <a:tblGrid>
                <a:gridCol w="1441450"/>
                <a:gridCol w="304800"/>
                <a:gridCol w="1133475"/>
                <a:gridCol w="277812"/>
                <a:gridCol w="1163638"/>
                <a:gridCol w="249237"/>
                <a:gridCol w="1190625"/>
                <a:gridCol w="306388"/>
                <a:gridCol w="1133475"/>
                <a:gridCol w="277812"/>
                <a:gridCol w="1162050"/>
              </a:tblGrid>
              <a:tr h="2317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400" b="0" i="0" u="none" strike="noStrike" cap="none" normalizeH="0" baseline="0">
                          <a:ln>
                            <a:noFill/>
                          </a:ln>
                          <a:solidFill>
                            <a:schemeClr val="hlink"/>
                          </a:solidFill>
                          <a:effectLst/>
                          <a:latin typeface="Arial" panose="020B0604020202020204" pitchFamily="34" charset="0"/>
                          <a:ea typeface="宋体" panose="02010600030101010101" pitchFamily="2" charset="-122"/>
                        </a:rPr>
                        <a:t>SNO</a:t>
                      </a:r>
                      <a:endParaRPr kumimoji="0" lang="en-US" altLang="zh-CN" sz="24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SN</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SD</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DEAN</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zh-CN" sz="24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400" b="0" i="0" u="none" strike="noStrike" cap="none" normalizeH="0" baseline="0" dirty="0">
                          <a:ln>
                            <a:noFill/>
                          </a:ln>
                          <a:solidFill>
                            <a:schemeClr val="hlink"/>
                          </a:solidFill>
                          <a:effectLst/>
                          <a:latin typeface="Arial" panose="020B0604020202020204" pitchFamily="34" charset="0"/>
                          <a:ea typeface="宋体" panose="02010600030101010101" pitchFamily="2" charset="-122"/>
                        </a:rPr>
                        <a:t>CNO</a:t>
                      </a:r>
                      <a:endParaRPr kumimoji="0" lang="en-US" altLang="zh-CN" sz="2400" b="0" i="0" u="none" strike="noStrike" cap="none" normalizeH="0" baseline="0" dirty="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a:t>
                      </a:r>
                      <a:endPar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cxnSp>
        <p:nvCxnSpPr>
          <p:cNvPr id="43047" name="AutoShape 49"/>
          <p:cNvCxnSpPr>
            <a:cxnSpLocks noChangeShapeType="1"/>
          </p:cNvCxnSpPr>
          <p:nvPr/>
        </p:nvCxnSpPr>
        <p:spPr bwMode="auto">
          <a:xfrm rot="5400000" flipV="1">
            <a:off x="2019300" y="4206876"/>
            <a:ext cx="1587" cy="1592262"/>
          </a:xfrm>
          <a:prstGeom prst="bentConnector3">
            <a:avLst>
              <a:gd name="adj1" fmla="val -14400005"/>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43048" name="AutoShape 50"/>
          <p:cNvCxnSpPr>
            <a:cxnSpLocks noChangeShapeType="1"/>
          </p:cNvCxnSpPr>
          <p:nvPr/>
        </p:nvCxnSpPr>
        <p:spPr bwMode="auto">
          <a:xfrm rot="16200000" flipH="1">
            <a:off x="4892675" y="1789113"/>
            <a:ext cx="1588" cy="7339012"/>
          </a:xfrm>
          <a:prstGeom prst="bentConnector3">
            <a:avLst>
              <a:gd name="adj1" fmla="val 14300005"/>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43049" name="AutoShape 51"/>
          <p:cNvCxnSpPr>
            <a:cxnSpLocks noChangeShapeType="1"/>
          </p:cNvCxnSpPr>
          <p:nvPr/>
        </p:nvCxnSpPr>
        <p:spPr bwMode="auto">
          <a:xfrm rot="16200000" flipH="1">
            <a:off x="7849394" y="4745831"/>
            <a:ext cx="1588" cy="1425575"/>
          </a:xfrm>
          <a:prstGeom prst="bentConnector3">
            <a:avLst>
              <a:gd name="adj1" fmla="val 14300005"/>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43050" name="AutoShape 52"/>
          <p:cNvCxnSpPr>
            <a:cxnSpLocks noChangeShapeType="1"/>
          </p:cNvCxnSpPr>
          <p:nvPr/>
        </p:nvCxnSpPr>
        <p:spPr bwMode="auto">
          <a:xfrm rot="10800000" flipH="1" flipV="1">
            <a:off x="503238" y="5230813"/>
            <a:ext cx="3740150" cy="227012"/>
          </a:xfrm>
          <a:prstGeom prst="bentConnector4">
            <a:avLst>
              <a:gd name="adj1" fmla="val -6111"/>
              <a:gd name="adj2" fmla="val 200000"/>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graphicFrame>
        <p:nvGraphicFramePr>
          <p:cNvPr id="679989" name="Group 53"/>
          <p:cNvGraphicFramePr>
            <a:graphicFrameLocks noGrp="1"/>
          </p:cNvGraphicFramePr>
          <p:nvPr/>
        </p:nvGraphicFramePr>
        <p:xfrm>
          <a:off x="1655763" y="1114425"/>
          <a:ext cx="6408737" cy="3200400"/>
        </p:xfrm>
        <a:graphic>
          <a:graphicData uri="http://schemas.openxmlformats.org/drawingml/2006/table">
            <a:tbl>
              <a:tblPr/>
              <a:tblGrid>
                <a:gridCol w="1068387"/>
                <a:gridCol w="1068388"/>
                <a:gridCol w="1068387"/>
                <a:gridCol w="1066800"/>
                <a:gridCol w="1068388"/>
                <a:gridCol w="1068387"/>
              </a:tblGrid>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hlink"/>
                          </a:solidFill>
                          <a:effectLst/>
                          <a:latin typeface="Times New Roman" panose="02020603050405020304" pitchFamily="18" charset="0"/>
                          <a:ea typeface="楷体_GB2312" pitchFamily="49" charset="-122"/>
                        </a:rPr>
                        <a:t>SNO</a:t>
                      </a:r>
                      <a:endParaRPr kumimoji="0" lang="en-US" altLang="zh-CN" sz="22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SN</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SD</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DEAN</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hlink"/>
                          </a:solidFill>
                          <a:effectLst/>
                          <a:latin typeface="Times New Roman" panose="02020603050405020304" pitchFamily="18" charset="0"/>
                          <a:ea typeface="楷体_GB2312" pitchFamily="49" charset="-122"/>
                        </a:rPr>
                        <a:t>CNO</a:t>
                      </a:r>
                      <a:endParaRPr kumimoji="0" lang="en-US" altLang="zh-CN" sz="22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rgbClr val="98469E"/>
                          </a:solidFill>
                          <a:effectLst/>
                          <a:latin typeface="Times New Roman" panose="02020603050405020304" pitchFamily="18" charset="0"/>
                          <a:ea typeface="楷体_GB2312" pitchFamily="49" charset="-122"/>
                        </a:rPr>
                        <a:t>G</a:t>
                      </a:r>
                      <a:endParaRPr kumimoji="0" lang="en-US" altLang="zh-CN" sz="2200" b="0" i="0" u="none" strike="noStrike" cap="none" normalizeH="0" baseline="0">
                        <a:ln>
                          <a:noFill/>
                        </a:ln>
                        <a:solidFill>
                          <a:srgbClr val="98469E"/>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杨明</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D01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思齐</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C01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90</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李婉</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D01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思齐</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C01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87</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杨明</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D01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思齐</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C02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92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S03</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刘海</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D02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述圣</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C01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95</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S04</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安然</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D02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述圣</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C02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78</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S05</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乐天</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D03</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省身</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C01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82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cxnSp>
        <p:nvCxnSpPr>
          <p:cNvPr id="43109" name="AutoShape 111"/>
          <p:cNvCxnSpPr>
            <a:cxnSpLocks noChangeShapeType="1"/>
          </p:cNvCxnSpPr>
          <p:nvPr/>
        </p:nvCxnSpPr>
        <p:spPr bwMode="auto">
          <a:xfrm rot="10800000" flipH="1">
            <a:off x="503238" y="5002213"/>
            <a:ext cx="5165725" cy="228600"/>
          </a:xfrm>
          <a:prstGeom prst="bentConnector4">
            <a:avLst>
              <a:gd name="adj1" fmla="val -4426"/>
              <a:gd name="adj2" fmla="val 200000"/>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p:txBody>
          <a:bodyPr/>
          <a:lstStyle/>
          <a:p>
            <a:pPr>
              <a:defRPr/>
            </a:pPr>
            <a:r>
              <a:rPr lang="en-US" altLang="zh-CN"/>
              <a:t>2NF</a:t>
            </a:r>
            <a:endParaRPr lang="en-US" altLang="zh-CN"/>
          </a:p>
        </p:txBody>
      </p:sp>
      <p:sp>
        <p:nvSpPr>
          <p:cNvPr id="44035" name="Rectangle 3"/>
          <p:cNvSpPr>
            <a:spLocks noGrp="1" noChangeArrowheads="1"/>
          </p:cNvSpPr>
          <p:nvPr>
            <p:ph type="body" idx="1"/>
          </p:nvPr>
        </p:nvSpPr>
        <p:spPr>
          <a:xfrm>
            <a:off x="457200" y="1979613"/>
            <a:ext cx="8229600" cy="4248150"/>
          </a:xfrm>
        </p:spPr>
        <p:txBody>
          <a:bodyPr/>
          <a:lstStyle/>
          <a:p>
            <a:r>
              <a:rPr lang="zh-CN" altLang="en-US">
                <a:ea typeface="宋体" panose="02010600030101010101" pitchFamily="2" charset="-122"/>
              </a:rPr>
              <a:t>不良特性</a:t>
            </a:r>
            <a:endParaRPr lang="zh-CN" altLang="en-US">
              <a:ea typeface="宋体" panose="02010600030101010101" pitchFamily="2" charset="-122"/>
            </a:endParaRPr>
          </a:p>
          <a:p>
            <a:pPr lvl="1">
              <a:lnSpc>
                <a:spcPct val="105000"/>
              </a:lnSpc>
              <a:spcBef>
                <a:spcPct val="30000"/>
              </a:spcBef>
            </a:pPr>
            <a:r>
              <a:rPr lang="zh-CN" altLang="en-US">
                <a:ea typeface="宋体" panose="02010600030101010101" pitchFamily="2" charset="-122"/>
              </a:rPr>
              <a:t>插入异常：如果学生没有选课，关于他的个人信息及所在系的信息就无法插入</a:t>
            </a:r>
            <a:endParaRPr lang="zh-CN" altLang="en-US">
              <a:ea typeface="宋体" panose="02010600030101010101" pitchFamily="2" charset="-122"/>
            </a:endParaRPr>
          </a:p>
          <a:p>
            <a:pPr lvl="1">
              <a:lnSpc>
                <a:spcPct val="105000"/>
              </a:lnSpc>
              <a:spcBef>
                <a:spcPct val="30000"/>
              </a:spcBef>
            </a:pPr>
            <a:r>
              <a:rPr lang="zh-CN" altLang="en-US">
                <a:ea typeface="宋体" panose="02010600030101010101" pitchFamily="2" charset="-122"/>
              </a:rPr>
              <a:t>删除异常：如果删除学生的选课信息，则有关他的个人信息及所在系的信息也随之删除了</a:t>
            </a:r>
            <a:endParaRPr lang="zh-CN" altLang="en-US">
              <a:ea typeface="宋体" panose="02010600030101010101" pitchFamily="2" charset="-122"/>
            </a:endParaRPr>
          </a:p>
          <a:p>
            <a:pPr lvl="1">
              <a:lnSpc>
                <a:spcPct val="105000"/>
              </a:lnSpc>
              <a:spcBef>
                <a:spcPct val="30000"/>
              </a:spcBef>
            </a:pPr>
            <a:r>
              <a:rPr lang="zh-CN" altLang="en-US">
                <a:ea typeface="宋体" panose="02010600030101010101" pitchFamily="2" charset="-122"/>
              </a:rPr>
              <a:t>更新异常：如果学生转系，若他选修了</a:t>
            </a:r>
            <a:r>
              <a:rPr lang="en-US" altLang="zh-CN">
                <a:ea typeface="宋体" panose="02010600030101010101" pitchFamily="2" charset="-122"/>
              </a:rPr>
              <a:t>k</a:t>
            </a:r>
            <a:r>
              <a:rPr lang="zh-CN" altLang="en-US">
                <a:ea typeface="宋体" panose="02010600030101010101" pitchFamily="2" charset="-122"/>
              </a:rPr>
              <a:t>门课，则需要修改</a:t>
            </a:r>
            <a:r>
              <a:rPr lang="en-US" altLang="zh-CN">
                <a:ea typeface="宋体" panose="02010600030101010101" pitchFamily="2" charset="-122"/>
              </a:rPr>
              <a:t>k</a:t>
            </a:r>
            <a:r>
              <a:rPr lang="zh-CN" altLang="en-US">
                <a:ea typeface="宋体" panose="02010600030101010101" pitchFamily="2" charset="-122"/>
              </a:rPr>
              <a:t>次</a:t>
            </a:r>
            <a:endParaRPr lang="zh-CN" altLang="en-US">
              <a:ea typeface="宋体" panose="02010600030101010101" pitchFamily="2" charset="-122"/>
            </a:endParaRPr>
          </a:p>
          <a:p>
            <a:pPr lvl="1">
              <a:lnSpc>
                <a:spcPct val="105000"/>
              </a:lnSpc>
              <a:spcBef>
                <a:spcPct val="30000"/>
              </a:spcBef>
            </a:pPr>
            <a:r>
              <a:rPr lang="zh-CN" altLang="en-US">
                <a:ea typeface="宋体" panose="02010600030101010101" pitchFamily="2" charset="-122"/>
              </a:rPr>
              <a:t>数据冗余：如果一个学生选修了</a:t>
            </a:r>
            <a:r>
              <a:rPr lang="en-US" altLang="zh-CN">
                <a:ea typeface="宋体" panose="02010600030101010101" pitchFamily="2" charset="-122"/>
              </a:rPr>
              <a:t>k</a:t>
            </a:r>
            <a:r>
              <a:rPr lang="zh-CN" altLang="en-US">
                <a:ea typeface="宋体" panose="02010600030101010101" pitchFamily="2" charset="-122"/>
              </a:rPr>
              <a:t>门课，则有关他的所在系的信息重复</a:t>
            </a:r>
            <a:endParaRPr lang="zh-CN" altLang="en-US">
              <a:ea typeface="宋体" panose="02010600030101010101" pitchFamily="2" charset="-122"/>
            </a:endParaRPr>
          </a:p>
        </p:txBody>
      </p:sp>
      <p:sp>
        <p:nvSpPr>
          <p:cNvPr id="2" name="文本框 1"/>
          <p:cNvSpPr txBox="1"/>
          <p:nvPr/>
        </p:nvSpPr>
        <p:spPr>
          <a:xfrm>
            <a:off x="1312133" y="943428"/>
            <a:ext cx="6519734" cy="646331"/>
          </a:xfrm>
          <a:prstGeom prst="rect">
            <a:avLst/>
          </a:prstGeom>
          <a:noFill/>
        </p:spPr>
        <p:txBody>
          <a:bodyPr wrap="none" rtlCol="0">
            <a:spAutoFit/>
          </a:bodyPr>
          <a:lstStyle/>
          <a:p>
            <a:r>
              <a:rPr lang="en-US" altLang="zh-CN" sz="3600" dirty="0"/>
              <a:t>S(</a:t>
            </a:r>
            <a:r>
              <a:rPr lang="en-US" altLang="zh-CN" sz="3600" b="1" u="sng" dirty="0">
                <a:solidFill>
                  <a:schemeClr val="hlink"/>
                </a:solidFill>
                <a:latin typeface="Arial" panose="020B0604020202020204" pitchFamily="34" charset="0"/>
                <a:ea typeface="宋体" panose="02010600030101010101" pitchFamily="2" charset="-122"/>
              </a:rPr>
              <a:t>SNO</a:t>
            </a:r>
            <a:r>
              <a:rPr lang="en-US" altLang="zh-CN" sz="3600" dirty="0"/>
              <a:t>, SN,SD,DEAN,</a:t>
            </a:r>
            <a:r>
              <a:rPr lang="en-US" altLang="zh-CN" sz="3600" b="1" u="sng" dirty="0">
                <a:solidFill>
                  <a:schemeClr val="hlink"/>
                </a:solidFill>
                <a:latin typeface="Arial" panose="020B0604020202020204" pitchFamily="34" charset="0"/>
                <a:ea typeface="宋体" panose="02010600030101010101" pitchFamily="2" charset="-122"/>
              </a:rPr>
              <a:t>CNO</a:t>
            </a:r>
            <a:r>
              <a:rPr lang="en-US" altLang="zh-CN" sz="3600" dirty="0"/>
              <a:t>,G)</a:t>
            </a:r>
            <a:endParaRPr lang="zh-CN" altLang="en-US" sz="3600"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p:txBody>
          <a:bodyPr/>
          <a:lstStyle/>
          <a:p>
            <a:pPr>
              <a:defRPr/>
            </a:pPr>
            <a:r>
              <a:rPr lang="en-US" altLang="zh-CN"/>
              <a:t>2NF</a:t>
            </a:r>
            <a:endParaRPr lang="en-US" altLang="zh-CN"/>
          </a:p>
        </p:txBody>
      </p:sp>
      <p:sp>
        <p:nvSpPr>
          <p:cNvPr id="45059" name="Rectangle 3"/>
          <p:cNvSpPr>
            <a:spLocks noGrp="1" noChangeArrowheads="1"/>
          </p:cNvSpPr>
          <p:nvPr>
            <p:ph idx="1"/>
          </p:nvPr>
        </p:nvSpPr>
        <p:spPr/>
        <p:txBody>
          <a:bodyPr>
            <a:normAutofit/>
          </a:bodyPr>
          <a:lstStyle/>
          <a:p>
            <a:pPr algn="l"/>
            <a:r>
              <a:rPr lang="zh-CN" altLang="en-US" b="1" i="0" dirty="0">
                <a:solidFill>
                  <a:srgbClr val="0F1115"/>
                </a:solidFill>
                <a:effectLst/>
                <a:latin typeface="quote-cjk-patch"/>
              </a:rPr>
              <a:t>定义</a:t>
            </a:r>
            <a:r>
              <a:rPr lang="zh-CN" altLang="en-US" b="0" i="0" dirty="0">
                <a:solidFill>
                  <a:srgbClr val="0F1115"/>
                </a:solidFill>
                <a:effectLst/>
                <a:latin typeface="quote-cjk-patch"/>
              </a:rPr>
              <a:t>：一个关系模式 </a:t>
            </a:r>
            <a:r>
              <a:rPr lang="en-US" altLang="zh-CN" b="0" i="0" dirty="0">
                <a:solidFill>
                  <a:srgbClr val="0F1115"/>
                </a:solidFill>
                <a:effectLst/>
                <a:latin typeface="quote-cjk-patch"/>
              </a:rPr>
              <a:t>R </a:t>
            </a:r>
            <a:r>
              <a:rPr lang="zh-CN" altLang="en-US" b="0" i="0" dirty="0">
                <a:solidFill>
                  <a:srgbClr val="0F1115"/>
                </a:solidFill>
                <a:effectLst/>
                <a:latin typeface="quote-cjk-patch"/>
              </a:rPr>
              <a:t>满足第二范式，当且仅当：</a:t>
            </a:r>
            <a:endParaRPr lang="zh-CN" altLang="en-US" b="0" i="0" dirty="0">
              <a:solidFill>
                <a:srgbClr val="0F1115"/>
              </a:solidFill>
              <a:effectLst/>
              <a:latin typeface="quote-cjk-patch"/>
            </a:endParaRPr>
          </a:p>
          <a:p>
            <a:pPr lvl="1">
              <a:buFont typeface="+mj-lt"/>
              <a:buAutoNum type="arabicPeriod"/>
            </a:pPr>
            <a:r>
              <a:rPr lang="en-US" altLang="zh-CN" b="0" i="0" dirty="0">
                <a:solidFill>
                  <a:srgbClr val="0F1115"/>
                </a:solidFill>
                <a:effectLst/>
                <a:latin typeface="quote-cjk-patch"/>
              </a:rPr>
              <a:t>R </a:t>
            </a:r>
            <a:r>
              <a:rPr lang="zh-CN" altLang="en-US" b="0" i="0" dirty="0">
                <a:solidFill>
                  <a:srgbClr val="0F1115"/>
                </a:solidFill>
                <a:effectLst/>
                <a:latin typeface="quote-cjk-patch"/>
              </a:rPr>
              <a:t>满足第一范式。</a:t>
            </a:r>
            <a:endParaRPr lang="zh-CN" altLang="en-US" b="0" i="0" dirty="0">
              <a:solidFill>
                <a:srgbClr val="0F1115"/>
              </a:solidFill>
              <a:effectLst/>
              <a:latin typeface="quote-cjk-patch"/>
            </a:endParaRPr>
          </a:p>
          <a:p>
            <a:pPr lvl="1">
              <a:buFont typeface="+mj-lt"/>
              <a:buAutoNum type="arabicPeriod"/>
            </a:pPr>
            <a:r>
              <a:rPr lang="zh-CN" altLang="en-US" b="0" i="0" dirty="0">
                <a:solidFill>
                  <a:srgbClr val="0F1115"/>
                </a:solidFill>
                <a:effectLst/>
                <a:latin typeface="quote-cjk-patch"/>
              </a:rPr>
              <a:t>每一个</a:t>
            </a:r>
            <a:r>
              <a:rPr lang="zh-CN" altLang="en-US" b="1" i="0" dirty="0">
                <a:solidFill>
                  <a:srgbClr val="0F1115"/>
                </a:solidFill>
                <a:effectLst/>
                <a:latin typeface="quote-cjk-patch"/>
              </a:rPr>
              <a:t>非主属性</a:t>
            </a:r>
            <a:r>
              <a:rPr lang="zh-CN" altLang="en-US" b="0" i="0" dirty="0">
                <a:solidFill>
                  <a:srgbClr val="0F1115"/>
                </a:solidFill>
                <a:effectLst/>
                <a:latin typeface="quote-cjk-patch"/>
              </a:rPr>
              <a:t>都</a:t>
            </a:r>
            <a:r>
              <a:rPr lang="zh-CN" altLang="en-US" b="1" i="0" dirty="0">
                <a:solidFill>
                  <a:srgbClr val="0F1115"/>
                </a:solidFill>
                <a:effectLst/>
                <a:latin typeface="quote-cjk-patch"/>
              </a:rPr>
              <a:t>完全函数依赖</a:t>
            </a:r>
            <a:r>
              <a:rPr lang="zh-CN" altLang="en-US" b="0" i="0" dirty="0">
                <a:solidFill>
                  <a:srgbClr val="0F1115"/>
                </a:solidFill>
                <a:effectLst/>
                <a:latin typeface="quote-cjk-patch"/>
              </a:rPr>
              <a:t>于 </a:t>
            </a:r>
            <a:r>
              <a:rPr lang="en-US" altLang="zh-CN" b="0" i="0" dirty="0">
                <a:solidFill>
                  <a:srgbClr val="0F1115"/>
                </a:solidFill>
                <a:effectLst/>
                <a:latin typeface="quote-cjk-patch"/>
              </a:rPr>
              <a:t>R </a:t>
            </a:r>
            <a:r>
              <a:rPr lang="zh-CN" altLang="en-US" b="0" i="0" dirty="0">
                <a:solidFill>
                  <a:srgbClr val="0F1115"/>
                </a:solidFill>
                <a:effectLst/>
                <a:latin typeface="quote-cjk-patch"/>
              </a:rPr>
              <a:t>的</a:t>
            </a:r>
            <a:r>
              <a:rPr lang="zh-CN" altLang="en-US" b="1" i="0" dirty="0">
                <a:solidFill>
                  <a:srgbClr val="0F1115"/>
                </a:solidFill>
                <a:effectLst/>
                <a:latin typeface="quote-cjk-patch"/>
              </a:rPr>
              <a:t>每一个候选码</a:t>
            </a:r>
            <a:r>
              <a:rPr lang="zh-CN" altLang="en-US" b="0" i="0" dirty="0">
                <a:solidFill>
                  <a:srgbClr val="0F1115"/>
                </a:solidFill>
                <a:effectLst/>
                <a:latin typeface="quote-cjk-patch"/>
              </a:rPr>
              <a:t>。</a:t>
            </a:r>
            <a:endParaRPr lang="zh-CN" altLang="en-US" b="0" i="0" dirty="0">
              <a:solidFill>
                <a:srgbClr val="0F1115"/>
              </a:solidFill>
              <a:effectLst/>
              <a:latin typeface="quote-cjk-patch"/>
            </a:endParaRPr>
          </a:p>
          <a:p>
            <a:pPr algn="l"/>
            <a:r>
              <a:rPr lang="zh-CN" altLang="en-US" b="1" i="0" dirty="0">
                <a:solidFill>
                  <a:srgbClr val="0F1115"/>
                </a:solidFill>
                <a:effectLst/>
                <a:latin typeface="quote-cjk-patch"/>
              </a:rPr>
              <a:t>核心要求</a:t>
            </a:r>
            <a:r>
              <a:rPr lang="zh-CN" altLang="en-US" b="0" i="0" dirty="0">
                <a:solidFill>
                  <a:srgbClr val="0F1115"/>
                </a:solidFill>
                <a:effectLst/>
                <a:latin typeface="quote-cjk-patch"/>
              </a:rPr>
              <a:t>：</a:t>
            </a:r>
            <a:endParaRPr lang="zh-CN" altLang="en-US" b="0" i="0" dirty="0">
              <a:solidFill>
                <a:srgbClr val="0F1115"/>
              </a:solidFill>
              <a:effectLst/>
              <a:latin typeface="quote-cjk-patch"/>
            </a:endParaRPr>
          </a:p>
          <a:p>
            <a:pPr marL="857250" lvl="1" indent="-457200">
              <a:buFont typeface="+mj-lt"/>
              <a:buAutoNum type="arabicPeriod"/>
            </a:pPr>
            <a:r>
              <a:rPr lang="zh-CN" altLang="en-US" b="0" i="0" dirty="0">
                <a:solidFill>
                  <a:srgbClr val="0F1115"/>
                </a:solidFill>
                <a:effectLst/>
                <a:latin typeface="quote-cjk-patch"/>
              </a:rPr>
              <a:t>消除非主属性对任何候选码的</a:t>
            </a:r>
            <a:r>
              <a:rPr lang="zh-CN" altLang="en-US" b="1" i="0" dirty="0">
                <a:solidFill>
                  <a:srgbClr val="0F1115"/>
                </a:solidFill>
                <a:effectLst/>
                <a:latin typeface="quote-cjk-patch"/>
              </a:rPr>
              <a:t>部分函数依赖</a:t>
            </a:r>
            <a:r>
              <a:rPr lang="zh-CN" altLang="en-US" b="0" i="0" dirty="0">
                <a:solidFill>
                  <a:srgbClr val="0F1115"/>
                </a:solidFill>
                <a:effectLst/>
                <a:latin typeface="quote-cjk-patch"/>
              </a:rPr>
              <a:t>。</a:t>
            </a:r>
            <a:endParaRPr lang="zh-CN" altLang="en-US" b="0" i="0" dirty="0">
              <a:solidFill>
                <a:srgbClr val="0F1115"/>
              </a:solidFill>
              <a:effectLst/>
              <a:latin typeface="quote-cjk-patch"/>
            </a:endParaRPr>
          </a:p>
          <a:p>
            <a:pPr marL="857250" lvl="1" indent="-457200">
              <a:buFont typeface="+mj-lt"/>
              <a:buAutoNum type="arabicPeriod"/>
            </a:pPr>
            <a:r>
              <a:rPr lang="zh-CN" altLang="en-US" b="0" i="0" dirty="0">
                <a:solidFill>
                  <a:srgbClr val="0F1115"/>
                </a:solidFill>
                <a:effectLst/>
                <a:latin typeface="quote-cjk-patch"/>
              </a:rPr>
              <a:t>此范式主要针对含有</a:t>
            </a:r>
            <a:r>
              <a:rPr lang="zh-CN" altLang="en-US" b="1" i="0" dirty="0">
                <a:solidFill>
                  <a:srgbClr val="0F1115"/>
                </a:solidFill>
                <a:effectLst/>
                <a:latin typeface="quote-cjk-patch"/>
              </a:rPr>
              <a:t>复合候选码</a:t>
            </a:r>
            <a:r>
              <a:rPr lang="zh-CN" altLang="en-US" b="0" i="0" dirty="0">
                <a:solidFill>
                  <a:srgbClr val="0F1115"/>
                </a:solidFill>
                <a:effectLst/>
                <a:latin typeface="quote-cjk-patch"/>
              </a:rPr>
              <a:t>的关系。</a:t>
            </a:r>
            <a:endParaRPr lang="zh-CN" altLang="en-US" b="0" i="0" dirty="0">
              <a:solidFill>
                <a:srgbClr val="0F1115"/>
              </a:solidFill>
              <a:effectLst/>
              <a:latin typeface="quote-cjk-patch"/>
            </a:endParaRPr>
          </a:p>
          <a:p>
            <a:pPr lvl="1">
              <a:spcBef>
                <a:spcPct val="35000"/>
              </a:spcBef>
              <a:buFont typeface="Wingdings" panose="05000000000000000000" pitchFamily="2" charset="2"/>
              <a:buNone/>
            </a:pPr>
            <a:r>
              <a:rPr lang="zh-CN" altLang="en-US" sz="3600" dirty="0">
                <a:ea typeface="宋体" panose="02010600030101010101" pitchFamily="2" charset="-122"/>
              </a:rPr>
              <a:t>	上述</a:t>
            </a:r>
            <a:r>
              <a:rPr lang="en-US" altLang="zh-CN" sz="3600" dirty="0">
                <a:ea typeface="宋体" panose="02010600030101010101" pitchFamily="2" charset="-122"/>
              </a:rPr>
              <a:t>S</a:t>
            </a:r>
            <a:r>
              <a:rPr lang="en-US" altLang="zh-CN" sz="3600" dirty="0">
                <a:ea typeface="宋体" panose="02010600030101010101" pitchFamily="2" charset="-122"/>
                <a:sym typeface="Symbol" panose="05050102010706020507" pitchFamily="18" charset="2"/>
              </a:rPr>
              <a:t>2NF</a:t>
            </a:r>
            <a:r>
              <a:rPr lang="zh-CN" altLang="en-US" sz="3600" dirty="0">
                <a:ea typeface="宋体" panose="02010600030101010101" pitchFamily="2" charset="-122"/>
                <a:sym typeface="Symbol" panose="05050102010706020507" pitchFamily="18" charset="2"/>
              </a:rPr>
              <a:t>，因为</a:t>
            </a:r>
            <a:endParaRPr lang="zh-CN" altLang="en-US" sz="3600" dirty="0">
              <a:ea typeface="宋体" panose="02010600030101010101" pitchFamily="2" charset="-122"/>
              <a:sym typeface="Symbol" panose="05050102010706020507" pitchFamily="18" charset="2"/>
            </a:endParaRPr>
          </a:p>
        </p:txBody>
      </p:sp>
      <p:grpSp>
        <p:nvGrpSpPr>
          <p:cNvPr id="45060" name="Group 10"/>
          <p:cNvGrpSpPr/>
          <p:nvPr/>
        </p:nvGrpSpPr>
        <p:grpSpPr bwMode="auto">
          <a:xfrm>
            <a:off x="1427080" y="5244106"/>
            <a:ext cx="5159375" cy="1420219"/>
            <a:chOff x="1327" y="2647"/>
            <a:chExt cx="2880" cy="1252"/>
          </a:xfrm>
        </p:grpSpPr>
        <p:graphicFrame>
          <p:nvGraphicFramePr>
            <p:cNvPr id="45061" name="Object 2"/>
            <p:cNvGraphicFramePr>
              <a:graphicFrameLocks noChangeAspect="1"/>
            </p:cNvGraphicFramePr>
            <p:nvPr/>
          </p:nvGraphicFramePr>
          <p:xfrm>
            <a:off x="3024" y="2688"/>
            <a:ext cx="528" cy="326"/>
          </p:xfrm>
          <a:graphic>
            <a:graphicData uri="http://schemas.openxmlformats.org/presentationml/2006/ole">
              <mc:AlternateContent xmlns:mc="http://schemas.openxmlformats.org/markup-compatibility/2006">
                <mc:Choice xmlns:v="urn:schemas-microsoft-com:vml" Requires="v">
                  <p:oleObj spid="_x0000_s3164" name="" r:id="rId1" imgW="457200" imgH="279400" progId="Equation.3">
                    <p:embed/>
                  </p:oleObj>
                </mc:Choice>
                <mc:Fallback>
                  <p:oleObj name="" r:id="rId1" imgW="457200" imgH="2794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 y="2688"/>
                          <a:ext cx="52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2" name="Object 3"/>
            <p:cNvGraphicFramePr>
              <a:graphicFrameLocks noChangeAspect="1"/>
            </p:cNvGraphicFramePr>
            <p:nvPr/>
          </p:nvGraphicFramePr>
          <p:xfrm>
            <a:off x="3024" y="3072"/>
            <a:ext cx="528" cy="326"/>
          </p:xfrm>
          <a:graphic>
            <a:graphicData uri="http://schemas.openxmlformats.org/presentationml/2006/ole">
              <mc:AlternateContent xmlns:mc="http://schemas.openxmlformats.org/markup-compatibility/2006">
                <mc:Choice xmlns:v="urn:schemas-microsoft-com:vml" Requires="v">
                  <p:oleObj spid="_x0000_s3165" name="" r:id="rId3" imgW="457200" imgH="279400" progId="Equation.3">
                    <p:embed/>
                  </p:oleObj>
                </mc:Choice>
                <mc:Fallback>
                  <p:oleObj name="" r:id="rId3" imgW="457200" imgH="2794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 y="3072"/>
                          <a:ext cx="52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3" name="Rectangle 9"/>
            <p:cNvSpPr>
              <a:spLocks noChangeArrowheads="1"/>
            </p:cNvSpPr>
            <p:nvPr/>
          </p:nvSpPr>
          <p:spPr bwMode="auto">
            <a:xfrm>
              <a:off x="1327" y="2647"/>
              <a:ext cx="2880" cy="1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lvl="1">
                <a:lnSpc>
                  <a:spcPct val="100000"/>
                </a:lnSpc>
                <a:spcBef>
                  <a:spcPct val="40000"/>
                </a:spcBef>
                <a:buClrTx/>
                <a:buSzTx/>
                <a:buFontTx/>
                <a:buNone/>
              </a:pPr>
              <a:r>
                <a:rPr lang="zh-CN" altLang="en-US" sz="2800" dirty="0">
                  <a:ea typeface="宋体" panose="02010600030101010101" pitchFamily="2" charset="-122"/>
                  <a:sym typeface="Wingdings" panose="05000000000000000000" pitchFamily="2" charset="2"/>
                </a:rPr>
                <a:t>（</a:t>
              </a:r>
              <a:r>
                <a:rPr lang="en-US" altLang="zh-CN" sz="2800" dirty="0">
                  <a:ea typeface="宋体" panose="02010600030101010101" pitchFamily="2" charset="-122"/>
                  <a:sym typeface="Wingdings" panose="05000000000000000000" pitchFamily="2" charset="2"/>
                </a:rPr>
                <a:t>SNO</a:t>
              </a:r>
              <a:r>
                <a:rPr lang="zh-CN" altLang="en-US" sz="2800" dirty="0">
                  <a:ea typeface="宋体" panose="02010600030101010101" pitchFamily="2" charset="-122"/>
                  <a:sym typeface="Wingdings" panose="05000000000000000000" pitchFamily="2" charset="2"/>
                </a:rPr>
                <a:t>，</a:t>
              </a:r>
              <a:r>
                <a:rPr lang="en-US" altLang="zh-CN" sz="2800" dirty="0">
                  <a:ea typeface="宋体" panose="02010600030101010101" pitchFamily="2" charset="-122"/>
                  <a:sym typeface="Wingdings" panose="05000000000000000000" pitchFamily="2" charset="2"/>
                </a:rPr>
                <a:t>CNO</a:t>
              </a:r>
              <a:r>
                <a:rPr lang="zh-CN" altLang="en-US" sz="2800" dirty="0">
                  <a:ea typeface="宋体" panose="02010600030101010101" pitchFamily="2" charset="-122"/>
                  <a:sym typeface="Wingdings" panose="05000000000000000000" pitchFamily="2" charset="2"/>
                </a:rPr>
                <a:t>）         </a:t>
              </a:r>
              <a:r>
                <a:rPr lang="en-US" altLang="zh-CN" sz="2800" dirty="0">
                  <a:ea typeface="宋体" panose="02010600030101010101" pitchFamily="2" charset="-122"/>
                  <a:sym typeface="Wingdings" panose="05000000000000000000" pitchFamily="2" charset="2"/>
                </a:rPr>
                <a:t>SN </a:t>
              </a:r>
              <a:endParaRPr lang="en-US" altLang="zh-CN" sz="2800" dirty="0">
                <a:ea typeface="宋体" panose="02010600030101010101" pitchFamily="2" charset="-122"/>
                <a:sym typeface="Wingdings" panose="05000000000000000000" pitchFamily="2" charset="2"/>
              </a:endParaRPr>
            </a:p>
            <a:p>
              <a:pPr lvl="1">
                <a:lnSpc>
                  <a:spcPct val="100000"/>
                </a:lnSpc>
                <a:spcBef>
                  <a:spcPct val="40000"/>
                </a:spcBef>
                <a:buClrTx/>
                <a:buSzTx/>
                <a:buFontTx/>
                <a:buNone/>
              </a:pPr>
              <a:r>
                <a:rPr lang="zh-CN" altLang="en-US" sz="2800" dirty="0">
                  <a:ea typeface="宋体" panose="02010600030101010101" pitchFamily="2" charset="-122"/>
                  <a:sym typeface="Wingdings" panose="05000000000000000000" pitchFamily="2" charset="2"/>
                </a:rPr>
                <a:t>（</a:t>
              </a:r>
              <a:r>
                <a:rPr lang="en-US" altLang="zh-CN" sz="2800" dirty="0">
                  <a:ea typeface="宋体" panose="02010600030101010101" pitchFamily="2" charset="-122"/>
                  <a:sym typeface="Wingdings" panose="05000000000000000000" pitchFamily="2" charset="2"/>
                </a:rPr>
                <a:t>SNO</a:t>
              </a:r>
              <a:r>
                <a:rPr lang="zh-CN" altLang="en-US" sz="2800" dirty="0">
                  <a:ea typeface="宋体" panose="02010600030101010101" pitchFamily="2" charset="-122"/>
                  <a:sym typeface="Wingdings" panose="05000000000000000000" pitchFamily="2" charset="2"/>
                </a:rPr>
                <a:t>，</a:t>
              </a:r>
              <a:r>
                <a:rPr lang="en-US" altLang="zh-CN" sz="2800" dirty="0">
                  <a:ea typeface="宋体" panose="02010600030101010101" pitchFamily="2" charset="-122"/>
                  <a:sym typeface="Wingdings" panose="05000000000000000000" pitchFamily="2" charset="2"/>
                </a:rPr>
                <a:t>CNO</a:t>
              </a:r>
              <a:r>
                <a:rPr lang="zh-CN" altLang="en-US" sz="2800" dirty="0">
                  <a:ea typeface="宋体" panose="02010600030101010101" pitchFamily="2" charset="-122"/>
                  <a:sym typeface="Wingdings" panose="05000000000000000000" pitchFamily="2" charset="2"/>
                </a:rPr>
                <a:t>）         </a:t>
              </a:r>
              <a:r>
                <a:rPr lang="en-US" altLang="zh-CN" sz="2800" dirty="0">
                  <a:ea typeface="宋体" panose="02010600030101010101" pitchFamily="2" charset="-122"/>
                  <a:sym typeface="Wingdings" panose="05000000000000000000" pitchFamily="2" charset="2"/>
                </a:rPr>
                <a:t>SD</a:t>
              </a:r>
              <a:endParaRPr lang="en-US" altLang="zh-CN" sz="2800" dirty="0">
                <a:ea typeface="宋体" panose="02010600030101010101" pitchFamily="2" charset="-122"/>
                <a:sym typeface="Wingdings" panose="05000000000000000000" pitchFamily="2" charset="2"/>
              </a:endParaRPr>
            </a:p>
          </p:txBody>
        </p:sp>
      </p:gr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Rectangle 2"/>
          <p:cNvSpPr>
            <a:spLocks noGrp="1" noChangeArrowheads="1"/>
          </p:cNvSpPr>
          <p:nvPr>
            <p:ph type="title"/>
          </p:nvPr>
        </p:nvSpPr>
        <p:spPr/>
        <p:txBody>
          <a:bodyPr/>
          <a:lstStyle/>
          <a:p>
            <a:pPr>
              <a:defRPr/>
            </a:pPr>
            <a:r>
              <a:rPr lang="en-US" altLang="zh-CN"/>
              <a:t>2NF</a:t>
            </a:r>
            <a:endParaRPr lang="en-US" altLang="zh-CN"/>
          </a:p>
        </p:txBody>
      </p:sp>
      <p:sp>
        <p:nvSpPr>
          <p:cNvPr id="44035" name="Rectangle 3"/>
          <p:cNvSpPr>
            <a:spLocks noGrp="1" noChangeArrowheads="1"/>
          </p:cNvSpPr>
          <p:nvPr>
            <p:ph idx="1"/>
          </p:nvPr>
        </p:nvSpPr>
        <p:spPr/>
        <p:txBody>
          <a:bodyPr>
            <a:normAutofit lnSpcReduction="10000"/>
          </a:bodyPr>
          <a:lstStyle/>
          <a:p>
            <a:pPr>
              <a:lnSpc>
                <a:spcPct val="110000"/>
              </a:lnSpc>
            </a:pPr>
            <a:r>
              <a:rPr lang="zh-CN" altLang="en-US" dirty="0">
                <a:ea typeface="宋体" panose="02010600030101010101" pitchFamily="2" charset="-122"/>
                <a:sym typeface="Wingdings" panose="05000000000000000000" pitchFamily="2" charset="2"/>
              </a:rPr>
              <a:t>改造</a:t>
            </a:r>
            <a:endParaRPr lang="zh-CN" altLang="en-US" dirty="0">
              <a:ea typeface="宋体" panose="02010600030101010101" pitchFamily="2" charset="-122"/>
              <a:sym typeface="Wingdings" panose="05000000000000000000" pitchFamily="2" charset="2"/>
            </a:endParaRPr>
          </a:p>
          <a:p>
            <a:pPr lvl="1">
              <a:lnSpc>
                <a:spcPct val="110000"/>
              </a:lnSpc>
              <a:buFont typeface="Wingdings" panose="05000000000000000000" pitchFamily="2" charset="2"/>
              <a:buNone/>
            </a:pPr>
            <a:r>
              <a:rPr lang="zh-CN" altLang="en-US" dirty="0">
                <a:ea typeface="宋体" panose="02010600030101010101" pitchFamily="2" charset="-122"/>
                <a:sym typeface="Wingdings" panose="05000000000000000000" pitchFamily="2" charset="2"/>
              </a:rPr>
              <a:t>	非主属性有两种，一种完全依赖于候选码，一种部分依赖于候选码</a:t>
            </a:r>
            <a:endParaRPr lang="zh-CN" altLang="en-US" dirty="0">
              <a:ea typeface="宋体" panose="02010600030101010101" pitchFamily="2" charset="-122"/>
              <a:sym typeface="Wingdings" panose="05000000000000000000" pitchFamily="2" charset="2"/>
            </a:endParaRPr>
          </a:p>
          <a:p>
            <a:pPr lvl="1">
              <a:lnSpc>
                <a:spcPct val="110000"/>
              </a:lnSpc>
              <a:buFont typeface="Wingdings" panose="05000000000000000000" pitchFamily="2" charset="2"/>
              <a:buNone/>
            </a:pPr>
            <a:r>
              <a:rPr lang="zh-CN" altLang="en-US" dirty="0">
                <a:ea typeface="宋体" panose="02010600030101010101" pitchFamily="2" charset="-122"/>
                <a:sym typeface="Wingdings" panose="05000000000000000000" pitchFamily="2" charset="2"/>
              </a:rPr>
              <a:t>	将</a:t>
            </a:r>
            <a:r>
              <a:rPr lang="en-US" altLang="zh-CN" dirty="0">
                <a:ea typeface="宋体" panose="02010600030101010101" pitchFamily="2" charset="-122"/>
                <a:sym typeface="Wingdings" panose="05000000000000000000" pitchFamily="2" charset="2"/>
              </a:rPr>
              <a:t>S</a:t>
            </a:r>
            <a:r>
              <a:rPr lang="zh-CN" altLang="en-US" dirty="0">
                <a:ea typeface="宋体" panose="02010600030101010101" pitchFamily="2" charset="-122"/>
                <a:sym typeface="Wingdings" panose="05000000000000000000" pitchFamily="2" charset="2"/>
              </a:rPr>
              <a:t>分解为：</a:t>
            </a:r>
            <a:endParaRPr lang="zh-CN" altLang="en-US" dirty="0">
              <a:ea typeface="宋体" panose="02010600030101010101" pitchFamily="2" charset="-122"/>
              <a:sym typeface="Wingdings" panose="05000000000000000000" pitchFamily="2" charset="2"/>
            </a:endParaRPr>
          </a:p>
          <a:p>
            <a:pPr lvl="1">
              <a:lnSpc>
                <a:spcPct val="110000"/>
              </a:lnSpc>
              <a:buFont typeface="Wingdings" panose="05000000000000000000" pitchFamily="2" charset="2"/>
              <a:buNone/>
            </a:pPr>
            <a:r>
              <a:rPr lang="zh-CN" altLang="en-US" dirty="0">
                <a:ea typeface="宋体" panose="02010600030101010101" pitchFamily="2" charset="-122"/>
                <a:sym typeface="Wingdings" panose="05000000000000000000" pitchFamily="2" charset="2"/>
              </a:rPr>
              <a:t>				</a:t>
            </a:r>
            <a:r>
              <a:rPr lang="en-US" altLang="zh-CN" dirty="0">
                <a:ea typeface="宋体" panose="02010600030101010101" pitchFamily="2" charset="-122"/>
                <a:sym typeface="Wingdings" panose="05000000000000000000" pitchFamily="2" charset="2"/>
              </a:rPr>
              <a:t>SC(</a:t>
            </a:r>
            <a:r>
              <a:rPr lang="en-US" altLang="zh-CN" u="sng" dirty="0">
                <a:ea typeface="宋体" panose="02010600030101010101" pitchFamily="2" charset="-122"/>
                <a:sym typeface="Wingdings" panose="05000000000000000000" pitchFamily="2" charset="2"/>
              </a:rPr>
              <a:t>SNO</a:t>
            </a:r>
            <a:r>
              <a:rPr lang="en-US" altLang="zh-CN" dirty="0">
                <a:ea typeface="宋体" panose="02010600030101010101" pitchFamily="2" charset="-122"/>
                <a:sym typeface="Wingdings" panose="05000000000000000000" pitchFamily="2" charset="2"/>
              </a:rPr>
              <a:t> , </a:t>
            </a:r>
            <a:r>
              <a:rPr lang="en-US" altLang="zh-CN" u="sng" dirty="0">
                <a:ea typeface="宋体" panose="02010600030101010101" pitchFamily="2" charset="-122"/>
                <a:sym typeface="Wingdings" panose="05000000000000000000" pitchFamily="2" charset="2"/>
              </a:rPr>
              <a:t>CNO</a:t>
            </a:r>
            <a:r>
              <a:rPr lang="en-US" altLang="zh-CN" dirty="0">
                <a:ea typeface="宋体" panose="02010600030101010101" pitchFamily="2" charset="-122"/>
                <a:sym typeface="Wingdings" panose="05000000000000000000" pitchFamily="2" charset="2"/>
              </a:rPr>
              <a:t> , G)</a:t>
            </a:r>
            <a:endParaRPr lang="en-US" altLang="zh-CN" dirty="0">
              <a:ea typeface="宋体" panose="02010600030101010101" pitchFamily="2" charset="-122"/>
              <a:sym typeface="Wingdings" panose="05000000000000000000" pitchFamily="2" charset="2"/>
            </a:endParaRPr>
          </a:p>
          <a:p>
            <a:pPr lvl="1">
              <a:lnSpc>
                <a:spcPct val="110000"/>
              </a:lnSpc>
              <a:buFont typeface="Wingdings" panose="05000000000000000000" pitchFamily="2" charset="2"/>
              <a:buNone/>
            </a:pPr>
            <a:r>
              <a:rPr lang="en-US" altLang="zh-CN" dirty="0">
                <a:ea typeface="宋体" panose="02010600030101010101" pitchFamily="2" charset="-122"/>
                <a:sym typeface="Wingdings" panose="05000000000000000000" pitchFamily="2" charset="2"/>
              </a:rPr>
              <a:t>				S_SD(</a:t>
            </a:r>
            <a:r>
              <a:rPr lang="en-US" altLang="zh-CN" u="sng" dirty="0">
                <a:ea typeface="宋体" panose="02010600030101010101" pitchFamily="2" charset="-122"/>
                <a:sym typeface="Wingdings" panose="05000000000000000000" pitchFamily="2" charset="2"/>
              </a:rPr>
              <a:t>SNO</a:t>
            </a:r>
            <a:r>
              <a:rPr lang="en-US" altLang="zh-CN" dirty="0">
                <a:ea typeface="宋体" panose="02010600030101010101" pitchFamily="2" charset="-122"/>
                <a:sym typeface="Wingdings" panose="05000000000000000000" pitchFamily="2" charset="2"/>
              </a:rPr>
              <a:t>, SN , SD , DEAN)</a:t>
            </a:r>
            <a:endParaRPr lang="en-US" altLang="zh-CN" dirty="0">
              <a:ea typeface="宋体" panose="02010600030101010101" pitchFamily="2" charset="-122"/>
              <a:sym typeface="Wingdings" panose="05000000000000000000" pitchFamily="2" charset="2"/>
            </a:endParaRPr>
          </a:p>
          <a:p>
            <a:pPr>
              <a:lnSpc>
                <a:spcPct val="110000"/>
              </a:lnSpc>
            </a:pPr>
            <a:r>
              <a:rPr lang="zh-CN" altLang="en-US" dirty="0">
                <a:ea typeface="宋体" panose="02010600030101010101" pitchFamily="2" charset="-122"/>
              </a:rPr>
              <a:t>快速热身</a:t>
            </a:r>
            <a:endParaRPr lang="zh-CN" altLang="en-US" dirty="0">
              <a:ea typeface="宋体" panose="02010600030101010101" pitchFamily="2" charset="-122"/>
            </a:endParaRPr>
          </a:p>
          <a:p>
            <a:pPr lvl="1">
              <a:buFont typeface="Wingdings" panose="05000000000000000000" pitchFamily="2" charset="2"/>
              <a:buNone/>
            </a:pPr>
            <a:r>
              <a:rPr lang="zh-CN" altLang="en-US" dirty="0">
                <a:ea typeface="宋体" panose="02010600030101010101" pitchFamily="2" charset="-122"/>
              </a:rPr>
              <a:t>	关系模式</a:t>
            </a:r>
            <a:r>
              <a:rPr lang="en-US" altLang="zh-CN" dirty="0">
                <a:ea typeface="宋体" panose="02010600030101010101" pitchFamily="2" charset="-122"/>
              </a:rPr>
              <a:t>R</a:t>
            </a:r>
            <a:r>
              <a:rPr lang="zh-CN" altLang="en-US" dirty="0">
                <a:ea typeface="宋体" panose="02010600030101010101" pitchFamily="2" charset="-122"/>
              </a:rPr>
              <a:t>（</a:t>
            </a:r>
            <a:r>
              <a:rPr lang="en-US" altLang="zh-CN" dirty="0">
                <a:ea typeface="宋体" panose="02010600030101010101" pitchFamily="2" charset="-122"/>
              </a:rPr>
              <a:t>A</a:t>
            </a:r>
            <a:r>
              <a:rPr lang="zh-CN" altLang="en-US" dirty="0">
                <a:ea typeface="宋体" panose="02010600030101010101" pitchFamily="2" charset="-122"/>
              </a:rPr>
              <a:t>，</a:t>
            </a:r>
            <a:r>
              <a:rPr lang="en-US" altLang="zh-CN" dirty="0">
                <a:ea typeface="宋体" panose="02010600030101010101" pitchFamily="2" charset="-122"/>
              </a:rPr>
              <a:t>B</a:t>
            </a:r>
            <a:r>
              <a:rPr lang="zh-CN" altLang="en-US" dirty="0">
                <a:ea typeface="宋体" panose="02010600030101010101" pitchFamily="2" charset="-122"/>
              </a:rPr>
              <a:t>，</a:t>
            </a:r>
            <a:r>
              <a:rPr lang="en-US" altLang="zh-CN" dirty="0">
                <a:ea typeface="宋体" panose="02010600030101010101" pitchFamily="2" charset="-122"/>
              </a:rPr>
              <a:t>C</a:t>
            </a:r>
            <a:r>
              <a:rPr lang="zh-CN" altLang="en-US" dirty="0">
                <a:ea typeface="宋体" panose="02010600030101010101" pitchFamily="2" charset="-122"/>
              </a:rPr>
              <a:t>，</a:t>
            </a:r>
            <a:r>
              <a:rPr lang="en-US" altLang="zh-CN" dirty="0">
                <a:ea typeface="宋体" panose="02010600030101010101" pitchFamily="2" charset="-122"/>
              </a:rPr>
              <a:t>D</a:t>
            </a:r>
            <a:r>
              <a:rPr lang="zh-CN" altLang="en-US" dirty="0">
                <a:ea typeface="宋体" panose="02010600030101010101" pitchFamily="2" charset="-122"/>
              </a:rPr>
              <a:t>），唯一候选码为</a:t>
            </a:r>
            <a:r>
              <a:rPr lang="en-US" altLang="zh-CN" dirty="0">
                <a:ea typeface="宋体" panose="02010600030101010101" pitchFamily="2" charset="-122"/>
              </a:rPr>
              <a:t>AB</a:t>
            </a:r>
            <a:r>
              <a:rPr lang="zh-CN" altLang="en-US" dirty="0">
                <a:ea typeface="宋体" panose="02010600030101010101" pitchFamily="2" charset="-122"/>
              </a:rPr>
              <a:t>，给出它的一个函数依赖集，使得</a:t>
            </a:r>
            <a:r>
              <a:rPr lang="en-US" altLang="zh-CN" dirty="0">
                <a:ea typeface="宋体" panose="02010600030101010101" pitchFamily="2" charset="-122"/>
              </a:rPr>
              <a:t>R</a:t>
            </a:r>
            <a:r>
              <a:rPr lang="zh-CN" altLang="en-US" dirty="0">
                <a:ea typeface="宋体" panose="02010600030101010101" pitchFamily="2" charset="-122"/>
              </a:rPr>
              <a:t>属于</a:t>
            </a:r>
            <a:r>
              <a:rPr lang="en-US" altLang="zh-CN" dirty="0">
                <a:ea typeface="宋体" panose="02010600030101010101" pitchFamily="2" charset="-122"/>
              </a:rPr>
              <a:t>1NF</a:t>
            </a:r>
            <a:r>
              <a:rPr lang="zh-CN" altLang="en-US" dirty="0">
                <a:ea typeface="宋体" panose="02010600030101010101" pitchFamily="2" charset="-122"/>
              </a:rPr>
              <a:t>而不属于</a:t>
            </a:r>
            <a:r>
              <a:rPr lang="en-US" altLang="zh-CN" dirty="0">
                <a:ea typeface="宋体" panose="02010600030101010101" pitchFamily="2" charset="-122"/>
              </a:rPr>
              <a:t>2NF</a:t>
            </a:r>
            <a:endParaRPr lang="en-US" altLang="zh-CN" dirty="0">
              <a:ea typeface="宋体" panose="02010600030101010101" pitchFamily="2" charset="-122"/>
            </a:endParaRPr>
          </a:p>
          <a:p>
            <a:pPr lvl="1">
              <a:buFont typeface="Wingdings" panose="05000000000000000000" pitchFamily="2" charset="2"/>
              <a:buNone/>
            </a:pPr>
            <a:r>
              <a:rPr lang="en-US" altLang="zh-CN" dirty="0">
                <a:solidFill>
                  <a:srgbClr val="FF0000"/>
                </a:solidFill>
                <a:ea typeface="宋体" panose="02010600030101010101" pitchFamily="2" charset="-122"/>
              </a:rPr>
              <a:t>	F = {……, A</a:t>
            </a:r>
            <a:r>
              <a:rPr lang="en-US" altLang="zh-CN" dirty="0">
                <a:solidFill>
                  <a:srgbClr val="FF0000"/>
                </a:solidFill>
                <a:ea typeface="宋体" panose="02010600030101010101" pitchFamily="2" charset="-122"/>
                <a:sym typeface="Wingdings" panose="05000000000000000000" pitchFamily="2" charset="2"/>
              </a:rPr>
              <a:t>C,…...</a:t>
            </a:r>
            <a:r>
              <a:rPr lang="en-US" altLang="zh-CN"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或 </a:t>
            </a:r>
            <a:r>
              <a:rPr lang="en-US" altLang="zh-CN" dirty="0">
                <a:solidFill>
                  <a:srgbClr val="FF0000"/>
                </a:solidFill>
                <a:ea typeface="宋体" panose="02010600030101010101" pitchFamily="2" charset="-122"/>
              </a:rPr>
              <a:t>F = {……, B</a:t>
            </a:r>
            <a:r>
              <a:rPr lang="en-US" altLang="zh-CN" dirty="0">
                <a:solidFill>
                  <a:srgbClr val="FF0000"/>
                </a:solidFill>
                <a:ea typeface="宋体" panose="02010600030101010101" pitchFamily="2" charset="-122"/>
                <a:sym typeface="Wingdings" panose="05000000000000000000" pitchFamily="2" charset="2"/>
              </a:rPr>
              <a:t>C,…...</a:t>
            </a:r>
            <a:r>
              <a:rPr lang="en-US" altLang="zh-CN" dirty="0">
                <a:solidFill>
                  <a:srgbClr val="FF0000"/>
                </a:solidFill>
                <a:ea typeface="宋体" panose="02010600030101010101" pitchFamily="2" charset="-122"/>
              </a:rPr>
              <a:t>} </a:t>
            </a:r>
            <a:endParaRPr lang="en-US" altLang="zh-CN" dirty="0">
              <a:solidFill>
                <a:srgbClr val="FF0000"/>
              </a:solidFill>
              <a:ea typeface="宋体" panose="02010600030101010101" pitchFamily="2" charset="-122"/>
            </a:endParaRPr>
          </a:p>
          <a:p>
            <a:pPr lvl="1">
              <a:buFont typeface="Wingdings" panose="05000000000000000000" pitchFamily="2" charset="2"/>
              <a:buNone/>
            </a:pPr>
            <a:r>
              <a:rPr lang="zh-CN" altLang="en-US" dirty="0">
                <a:solidFill>
                  <a:srgbClr val="FF0000"/>
                </a:solidFill>
                <a:ea typeface="宋体" panose="02010600030101010101" pitchFamily="2" charset="-122"/>
              </a:rPr>
              <a:t>或 </a:t>
            </a:r>
            <a:r>
              <a:rPr lang="en-US" altLang="zh-CN" dirty="0">
                <a:solidFill>
                  <a:srgbClr val="FF0000"/>
                </a:solidFill>
                <a:ea typeface="宋体" panose="02010600030101010101" pitchFamily="2" charset="-122"/>
              </a:rPr>
              <a:t>F = {……, A</a:t>
            </a:r>
            <a:r>
              <a:rPr lang="en-US" altLang="zh-CN" dirty="0">
                <a:solidFill>
                  <a:srgbClr val="FF0000"/>
                </a:solidFill>
                <a:ea typeface="宋体" panose="02010600030101010101" pitchFamily="2" charset="-122"/>
                <a:sym typeface="Wingdings" panose="05000000000000000000" pitchFamily="2" charset="2"/>
              </a:rPr>
              <a:t>D,…...</a:t>
            </a:r>
            <a:r>
              <a:rPr lang="en-US" altLang="zh-CN"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或 </a:t>
            </a:r>
            <a:r>
              <a:rPr lang="en-US" altLang="zh-CN" dirty="0">
                <a:solidFill>
                  <a:srgbClr val="FF0000"/>
                </a:solidFill>
                <a:ea typeface="宋体" panose="02010600030101010101" pitchFamily="2" charset="-122"/>
              </a:rPr>
              <a:t>F = {……, B</a:t>
            </a:r>
            <a:r>
              <a:rPr lang="en-US" altLang="zh-CN" dirty="0">
                <a:solidFill>
                  <a:srgbClr val="FF0000"/>
                </a:solidFill>
                <a:ea typeface="宋体" panose="02010600030101010101" pitchFamily="2" charset="-122"/>
                <a:sym typeface="Wingdings" panose="05000000000000000000" pitchFamily="2" charset="2"/>
              </a:rPr>
              <a:t>D,…...</a:t>
            </a:r>
            <a:r>
              <a:rPr lang="en-US" altLang="zh-CN" dirty="0">
                <a:solidFill>
                  <a:srgbClr val="FF0000"/>
                </a:solidFill>
                <a:ea typeface="宋体" panose="02010600030101010101" pitchFamily="2" charset="-122"/>
              </a:rPr>
              <a:t>} </a:t>
            </a:r>
            <a:endParaRPr lang="en-US" altLang="zh-CN" dirty="0">
              <a:solidFill>
                <a:srgbClr val="FF0000"/>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0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0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0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03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03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03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03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0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p:txBody>
          <a:bodyPr/>
          <a:lstStyle/>
          <a:p>
            <a:pPr>
              <a:defRPr/>
            </a:pPr>
            <a:r>
              <a:rPr lang="zh-CN" altLang="en-US">
                <a:ea typeface="宋体" panose="02010600030101010101" pitchFamily="2" charset="-122"/>
              </a:rPr>
              <a:t>分解说明</a:t>
            </a:r>
            <a:endParaRPr lang="zh-CN" altLang="en-US">
              <a:ea typeface="宋体" panose="02010600030101010101" pitchFamily="2" charset="-122"/>
            </a:endParaRPr>
          </a:p>
        </p:txBody>
      </p:sp>
      <p:sp>
        <p:nvSpPr>
          <p:cNvPr id="41987" name="Rectangle 3"/>
          <p:cNvSpPr>
            <a:spLocks noGrp="1" noChangeArrowheads="1"/>
          </p:cNvSpPr>
          <p:nvPr>
            <p:ph type="body" idx="1"/>
          </p:nvPr>
        </p:nvSpPr>
        <p:spPr>
          <a:xfrm>
            <a:off x="395288" y="1268413"/>
            <a:ext cx="8280400" cy="5062537"/>
          </a:xfrm>
        </p:spPr>
        <p:txBody>
          <a:bodyPr>
            <a:normAutofit lnSpcReduction="10000"/>
          </a:bodyPr>
          <a:lstStyle/>
          <a:p>
            <a:pPr>
              <a:defRPr/>
            </a:pPr>
            <a:r>
              <a:rPr lang="zh-CN" altLang="en-US" dirty="0">
                <a:ea typeface="宋体" panose="02010600030101010101" pitchFamily="2" charset="-122"/>
              </a:rPr>
              <a:t>一个</a:t>
            </a:r>
            <a:r>
              <a:rPr lang="en-US" altLang="zh-CN" dirty="0">
                <a:ea typeface="宋体" panose="02010600030101010101" pitchFamily="2" charset="-122"/>
              </a:rPr>
              <a:t>1NF</a:t>
            </a:r>
            <a:r>
              <a:rPr lang="zh-CN" altLang="en-US" dirty="0">
                <a:ea typeface="宋体" panose="02010600030101010101" pitchFamily="2" charset="-122"/>
              </a:rPr>
              <a:t>，但非</a:t>
            </a:r>
            <a:r>
              <a:rPr lang="en-US" altLang="zh-CN" dirty="0">
                <a:ea typeface="宋体" panose="02010600030101010101" pitchFamily="2" charset="-122"/>
              </a:rPr>
              <a:t>2NF</a:t>
            </a:r>
            <a:r>
              <a:rPr lang="zh-CN" altLang="en-US" dirty="0">
                <a:ea typeface="宋体" panose="02010600030101010101" pitchFamily="2" charset="-122"/>
              </a:rPr>
              <a:t>的关系总是可以被分解成为一组</a:t>
            </a:r>
            <a:r>
              <a:rPr lang="en-US" altLang="zh-CN" dirty="0">
                <a:ea typeface="宋体" panose="02010600030101010101" pitchFamily="2" charset="-122"/>
              </a:rPr>
              <a:t>2NF</a:t>
            </a:r>
            <a:r>
              <a:rPr lang="zh-CN" altLang="en-US" dirty="0">
                <a:ea typeface="宋体" panose="02010600030101010101" pitchFamily="2" charset="-122"/>
              </a:rPr>
              <a:t>的关系</a:t>
            </a:r>
            <a:endParaRPr lang="zh-CN" altLang="en-US" dirty="0">
              <a:ea typeface="宋体" panose="02010600030101010101" pitchFamily="2" charset="-122"/>
            </a:endParaRPr>
          </a:p>
          <a:p>
            <a:pPr>
              <a:defRPr/>
            </a:pPr>
            <a:r>
              <a:rPr lang="zh-CN" altLang="en-US" dirty="0">
                <a:ea typeface="宋体" panose="02010600030101010101" pitchFamily="2" charset="-122"/>
              </a:rPr>
              <a:t>规范化过程中通过一组投影运算消除部分依赖，建议作如下分解</a:t>
            </a:r>
            <a:r>
              <a:rPr lang="en-US" altLang="zh-CN" dirty="0">
                <a:ea typeface="宋体" panose="02010600030101010101" pitchFamily="2" charset="-122"/>
              </a:rPr>
              <a:t>(</a:t>
            </a:r>
            <a:r>
              <a:rPr lang="zh-CN" altLang="en-US" dirty="0">
                <a:solidFill>
                  <a:srgbClr val="FF0000"/>
                </a:solidFill>
                <a:ea typeface="宋体" panose="02010600030101010101" pitchFamily="2" charset="-122"/>
              </a:rPr>
              <a:t>第一步分解</a:t>
            </a:r>
            <a:r>
              <a:rPr lang="en-US" altLang="zh-CN" dirty="0">
                <a:ea typeface="宋体" panose="02010600030101010101" pitchFamily="2" charset="-122"/>
              </a:rPr>
              <a:t>)</a:t>
            </a:r>
            <a:endParaRPr lang="en-US" altLang="zh-CN" dirty="0">
              <a:ea typeface="宋体" panose="02010600030101010101" pitchFamily="2" charset="-122"/>
            </a:endParaRPr>
          </a:p>
          <a:p>
            <a:pPr lvl="1">
              <a:defRPr/>
            </a:pPr>
            <a:r>
              <a:rPr lang="zh-CN" altLang="en-US" dirty="0">
                <a:ea typeface="宋体" panose="02010600030101010101" pitchFamily="2" charset="-122"/>
              </a:rPr>
              <a:t>已知关系</a:t>
            </a:r>
            <a:r>
              <a:rPr lang="en-US" altLang="zh-CN" dirty="0">
                <a:ea typeface="宋体" panose="02010600030101010101" pitchFamily="2" charset="-122"/>
              </a:rPr>
              <a:t>R(A,B,C,D), (A,B)</a:t>
            </a:r>
            <a:r>
              <a:rPr lang="zh-CN" altLang="en-US" dirty="0">
                <a:ea typeface="宋体" panose="02010600030101010101" pitchFamily="2" charset="-122"/>
              </a:rPr>
              <a:t>为唯一候选码，即</a:t>
            </a:r>
            <a:r>
              <a:rPr lang="en-US" altLang="zh-CN" dirty="0">
                <a:ea typeface="宋体" panose="02010600030101010101" pitchFamily="2" charset="-122"/>
              </a:rPr>
              <a:t>(A,B) </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 C, (A,B) </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 D</a:t>
            </a:r>
            <a:r>
              <a:rPr lang="zh-CN" altLang="en-US" dirty="0">
                <a:ea typeface="宋体" panose="02010600030101010101" pitchFamily="2" charset="-122"/>
              </a:rPr>
              <a:t>，且</a:t>
            </a:r>
            <a:r>
              <a:rPr lang="en-US" altLang="zh-CN" dirty="0">
                <a:ea typeface="宋体" panose="02010600030101010101" pitchFamily="2" charset="-122"/>
              </a:rPr>
              <a:t>A </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 D, </a:t>
            </a:r>
            <a:r>
              <a:rPr lang="zh-CN" altLang="en-US" dirty="0">
                <a:ea typeface="宋体" panose="02010600030101010101" pitchFamily="2" charset="-122"/>
              </a:rPr>
              <a:t>则将</a:t>
            </a:r>
            <a:r>
              <a:rPr lang="en-US" altLang="zh-CN" dirty="0">
                <a:ea typeface="宋体" panose="02010600030101010101" pitchFamily="2" charset="-122"/>
              </a:rPr>
              <a:t>R</a:t>
            </a:r>
            <a:r>
              <a:rPr lang="zh-CN" altLang="en-US" dirty="0">
                <a:ea typeface="宋体" panose="02010600030101010101" pitchFamily="2" charset="-122"/>
              </a:rPr>
              <a:t>分解成为两个投影</a:t>
            </a:r>
            <a:r>
              <a:rPr lang="en-US" altLang="zh-CN" dirty="0">
                <a:ea typeface="宋体" panose="02010600030101010101" pitchFamily="2" charset="-122"/>
              </a:rPr>
              <a:t>:</a:t>
            </a:r>
            <a:endParaRPr lang="en-US" altLang="zh-CN" dirty="0">
              <a:ea typeface="宋体" panose="02010600030101010101" pitchFamily="2" charset="-122"/>
            </a:endParaRPr>
          </a:p>
          <a:p>
            <a:pPr lvl="1">
              <a:buFont typeface="Wingdings" panose="05000000000000000000" pitchFamily="2" charset="2"/>
              <a:buNone/>
              <a:defRPr/>
            </a:pPr>
            <a:r>
              <a:rPr lang="en-US" altLang="zh-CN" dirty="0">
                <a:ea typeface="宋体" panose="02010600030101010101" pitchFamily="2" charset="-122"/>
              </a:rPr>
              <a:t>		R1(</a:t>
            </a:r>
            <a:r>
              <a:rPr lang="en-US" altLang="zh-CN" u="sng" dirty="0">
                <a:ea typeface="宋体" panose="02010600030101010101" pitchFamily="2" charset="-122"/>
              </a:rPr>
              <a:t>A</a:t>
            </a:r>
            <a:r>
              <a:rPr lang="en-US" altLang="zh-CN" dirty="0">
                <a:ea typeface="宋体" panose="02010600030101010101" pitchFamily="2" charset="-122"/>
              </a:rPr>
              <a:t>,D), A</a:t>
            </a:r>
            <a:r>
              <a:rPr lang="zh-CN" altLang="en-US" dirty="0">
                <a:ea typeface="宋体" panose="02010600030101010101" pitchFamily="2" charset="-122"/>
              </a:rPr>
              <a:t>为唯一候选码</a:t>
            </a:r>
            <a:endParaRPr lang="zh-CN" altLang="en-US" dirty="0">
              <a:ea typeface="宋体" panose="02010600030101010101" pitchFamily="2" charset="-122"/>
            </a:endParaRPr>
          </a:p>
          <a:p>
            <a:pPr lvl="1">
              <a:buFont typeface="Wingdings" panose="05000000000000000000" pitchFamily="2" charset="2"/>
              <a:buNone/>
              <a:defRPr/>
            </a:pPr>
            <a:r>
              <a:rPr lang="zh-CN" altLang="en-US" dirty="0">
                <a:ea typeface="宋体" panose="02010600030101010101" pitchFamily="2" charset="-122"/>
              </a:rPr>
              <a:t>		</a:t>
            </a:r>
            <a:r>
              <a:rPr lang="en-US" altLang="zh-CN" dirty="0">
                <a:ea typeface="宋体" panose="02010600030101010101" pitchFamily="2" charset="-122"/>
              </a:rPr>
              <a:t>R2(</a:t>
            </a:r>
            <a:r>
              <a:rPr lang="en-US" altLang="zh-CN" u="sng" dirty="0">
                <a:ea typeface="宋体" panose="02010600030101010101" pitchFamily="2" charset="-122"/>
              </a:rPr>
              <a:t>A,B</a:t>
            </a:r>
            <a:r>
              <a:rPr lang="en-US" altLang="zh-CN" dirty="0">
                <a:ea typeface="宋体" panose="02010600030101010101" pitchFamily="2" charset="-122"/>
              </a:rPr>
              <a:t>,C), (A,B)</a:t>
            </a:r>
            <a:r>
              <a:rPr lang="zh-CN" altLang="en-US" dirty="0">
                <a:ea typeface="宋体" panose="02010600030101010101" pitchFamily="2" charset="-122"/>
              </a:rPr>
              <a:t>为唯一候选码，</a:t>
            </a:r>
            <a:r>
              <a:rPr lang="en-US" altLang="zh-CN" dirty="0">
                <a:ea typeface="宋体" panose="02010600030101010101" pitchFamily="2" charset="-122"/>
              </a:rPr>
              <a:t>A</a:t>
            </a:r>
            <a:r>
              <a:rPr lang="zh-CN" altLang="en-US" dirty="0">
                <a:ea typeface="宋体" panose="02010600030101010101" pitchFamily="2" charset="-122"/>
              </a:rPr>
              <a:t>为外码</a:t>
            </a:r>
            <a:endParaRPr lang="zh-CN" altLang="en-US" dirty="0">
              <a:ea typeface="宋体" panose="02010600030101010101" pitchFamily="2" charset="-122"/>
            </a:endParaRPr>
          </a:p>
          <a:p>
            <a:pPr lvl="1">
              <a:defRPr/>
            </a:pPr>
            <a:r>
              <a:rPr lang="zh-CN" altLang="en-US" dirty="0">
                <a:ea typeface="宋体" panose="02010600030101010101" pitchFamily="2" charset="-122"/>
              </a:rPr>
              <a:t>这样，</a:t>
            </a:r>
            <a:r>
              <a:rPr lang="en-US" altLang="zh-CN" dirty="0">
                <a:ea typeface="宋体" panose="02010600030101010101" pitchFamily="2" charset="-122"/>
              </a:rPr>
              <a:t>R</a:t>
            </a:r>
            <a:r>
              <a:rPr lang="zh-CN" altLang="en-US" dirty="0">
                <a:ea typeface="宋体" panose="02010600030101010101" pitchFamily="2" charset="-122"/>
              </a:rPr>
              <a:t>可以通过</a:t>
            </a:r>
            <a:r>
              <a:rPr lang="en-US" altLang="zh-CN" dirty="0">
                <a:ea typeface="宋体" panose="02010600030101010101" pitchFamily="2" charset="-122"/>
              </a:rPr>
              <a:t>R1</a:t>
            </a:r>
            <a:r>
              <a:rPr lang="zh-CN" altLang="en-US" dirty="0">
                <a:ea typeface="宋体" panose="02010600030101010101" pitchFamily="2" charset="-122"/>
              </a:rPr>
              <a:t>和</a:t>
            </a:r>
            <a:r>
              <a:rPr lang="en-US" altLang="zh-CN" dirty="0">
                <a:ea typeface="宋体" panose="02010600030101010101" pitchFamily="2" charset="-122"/>
              </a:rPr>
              <a:t>R2</a:t>
            </a:r>
            <a:r>
              <a:rPr lang="zh-CN" altLang="en-US" dirty="0">
                <a:ea typeface="宋体" panose="02010600030101010101" pitchFamily="2" charset="-122"/>
              </a:rPr>
              <a:t>的自然连接运算得以恢复</a:t>
            </a:r>
            <a:r>
              <a:rPr lang="zh-CN" altLang="en-US" dirty="0">
                <a:solidFill>
                  <a:schemeClr val="accent1"/>
                </a:solidFill>
                <a:ea typeface="宋体" panose="02010600030101010101" pitchFamily="2" charset="-122"/>
              </a:rPr>
              <a:t>解的无损连接性</a:t>
            </a:r>
            <a:endParaRPr lang="zh-CN" altLang="en-US" dirty="0">
              <a:solidFill>
                <a:schemeClr val="accent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98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98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9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习题</a:t>
            </a:r>
            <a:endParaRPr lang="zh-CN" altLang="en-US">
              <a:ea typeface="宋体" panose="02010600030101010101" pitchFamily="2" charset="-122"/>
            </a:endParaRPr>
          </a:p>
        </p:txBody>
      </p:sp>
      <p:sp>
        <p:nvSpPr>
          <p:cNvPr id="48131" name="内容占位符 2"/>
          <p:cNvSpPr>
            <a:spLocks noGrp="1"/>
          </p:cNvSpPr>
          <p:nvPr>
            <p:ph idx="1"/>
          </p:nvPr>
        </p:nvSpPr>
        <p:spPr/>
        <p:txBody>
          <a:bodyPr/>
          <a:lstStyle/>
          <a:p>
            <a:pPr marL="0" indent="0">
              <a:buFont typeface="Monotype Sorts" pitchFamily="2" charset="2"/>
              <a:buNone/>
            </a:pPr>
            <a:r>
              <a:rPr lang="zh-CN" altLang="en-US" b="1" dirty="0">
                <a:ea typeface="宋体" panose="02010600030101010101" pitchFamily="2" charset="-122"/>
              </a:rPr>
              <a:t>设有一个记录各个球队队员每场比赛进球的关系模式如下所示：</a:t>
            </a:r>
            <a:endParaRPr lang="zh-CN" altLang="en-US" b="1" dirty="0">
              <a:ea typeface="宋体" panose="02010600030101010101" pitchFamily="2" charset="-122"/>
            </a:endParaRPr>
          </a:p>
          <a:p>
            <a:pPr marL="0" indent="0" algn="ctr">
              <a:buFont typeface="Monotype Sorts" pitchFamily="2" charset="2"/>
              <a:buNone/>
            </a:pPr>
            <a:r>
              <a:rPr lang="en-US" altLang="zh-CN" dirty="0">
                <a:solidFill>
                  <a:srgbClr val="FF0000"/>
                </a:solidFill>
                <a:ea typeface="宋体" panose="02010600030101010101" pitchFamily="2" charset="-122"/>
              </a:rPr>
              <a:t>R(</a:t>
            </a:r>
            <a:r>
              <a:rPr lang="zh-CN" altLang="en-US" dirty="0">
                <a:solidFill>
                  <a:srgbClr val="FF0000"/>
                </a:solidFill>
                <a:ea typeface="宋体" panose="02010600030101010101" pitchFamily="2" charset="-122"/>
              </a:rPr>
              <a:t>队员</a:t>
            </a:r>
            <a:r>
              <a:rPr lang="en-US" altLang="zh-CN" dirty="0">
                <a:solidFill>
                  <a:srgbClr val="FF0000"/>
                </a:solidFill>
                <a:ea typeface="宋体" panose="02010600030101010101" pitchFamily="2" charset="-122"/>
              </a:rPr>
              <a:t>ID</a:t>
            </a:r>
            <a:r>
              <a:rPr lang="zh-CN" altLang="en-US" dirty="0">
                <a:solidFill>
                  <a:srgbClr val="FF0000"/>
                </a:solidFill>
                <a:ea typeface="宋体" panose="02010600030101010101" pitchFamily="2" charset="-122"/>
              </a:rPr>
              <a:t>，比赛场次，进球数，球队名，队长</a:t>
            </a:r>
            <a:r>
              <a:rPr lang="en-US" altLang="zh-CN" dirty="0">
                <a:solidFill>
                  <a:srgbClr val="FF0000"/>
                </a:solidFill>
                <a:ea typeface="宋体" panose="02010600030101010101" pitchFamily="2" charset="-122"/>
              </a:rPr>
              <a:t>ID)</a:t>
            </a:r>
            <a:endParaRPr lang="zh-CN" altLang="en-US" dirty="0">
              <a:solidFill>
                <a:srgbClr val="FF0000"/>
              </a:solidFill>
              <a:ea typeface="宋体" panose="02010600030101010101" pitchFamily="2" charset="-122"/>
            </a:endParaRPr>
          </a:p>
          <a:p>
            <a:pPr marL="0" indent="0">
              <a:buFont typeface="Monotype Sorts" pitchFamily="2" charset="2"/>
              <a:buNone/>
            </a:pPr>
            <a:r>
              <a:rPr lang="zh-CN" altLang="en-US" dirty="0">
                <a:ea typeface="宋体" panose="02010600030101010101" pitchFamily="2" charset="-122"/>
              </a:rPr>
              <a:t>若规定每个队员只能属于一个球队，每个球队只有一个队长，要求：</a:t>
            </a:r>
            <a:endParaRPr lang="zh-CN" altLang="en-US" dirty="0">
              <a:ea typeface="宋体" panose="02010600030101010101" pitchFamily="2" charset="-122"/>
            </a:endParaRPr>
          </a:p>
          <a:p>
            <a:pPr marL="0" indent="0">
              <a:buFont typeface="Monotype Sorts" pitchFamily="2" charset="2"/>
              <a:buNone/>
            </a:pPr>
            <a:r>
              <a:rPr lang="en-US" altLang="zh-CN" dirty="0">
                <a:ea typeface="宋体" panose="02010600030101010101" pitchFamily="2" charset="-122"/>
              </a:rPr>
              <a:t>1</a:t>
            </a:r>
            <a:r>
              <a:rPr lang="zh-CN" altLang="en-US" dirty="0">
                <a:ea typeface="宋体" panose="02010600030101010101" pitchFamily="2" charset="-122"/>
              </a:rPr>
              <a:t>）写出关系模式</a:t>
            </a:r>
            <a:r>
              <a:rPr lang="en-US" altLang="zh-CN" dirty="0">
                <a:ea typeface="宋体" panose="02010600030101010101" pitchFamily="2" charset="-122"/>
              </a:rPr>
              <a:t>R</a:t>
            </a:r>
            <a:r>
              <a:rPr lang="zh-CN" altLang="en-US" dirty="0">
                <a:ea typeface="宋体" panose="02010600030101010101" pitchFamily="2" charset="-122"/>
              </a:rPr>
              <a:t>的基本函数依赖和候选码。</a:t>
            </a:r>
            <a:endParaRPr lang="zh-CN" altLang="en-US" dirty="0">
              <a:ea typeface="宋体" panose="02010600030101010101" pitchFamily="2" charset="-122"/>
            </a:endParaRPr>
          </a:p>
          <a:p>
            <a:pPr marL="0" indent="0">
              <a:buFont typeface="Monotype Sorts" pitchFamily="2" charset="2"/>
              <a:buNone/>
            </a:pPr>
            <a:r>
              <a:rPr lang="en-US" altLang="zh-CN" dirty="0">
                <a:ea typeface="宋体" panose="02010600030101010101" pitchFamily="2" charset="-122"/>
              </a:rPr>
              <a:t>2</a:t>
            </a:r>
            <a:r>
              <a:rPr lang="zh-CN" altLang="en-US" dirty="0">
                <a:ea typeface="宋体" panose="02010600030101010101" pitchFamily="2" charset="-122"/>
              </a:rPr>
              <a:t>）说明</a:t>
            </a:r>
            <a:r>
              <a:rPr lang="en-US" altLang="zh-CN" dirty="0">
                <a:ea typeface="宋体" panose="02010600030101010101" pitchFamily="2" charset="-122"/>
              </a:rPr>
              <a:t>R</a:t>
            </a:r>
            <a:r>
              <a:rPr lang="zh-CN" altLang="en-US" dirty="0">
                <a:ea typeface="宋体" panose="02010600030101010101" pitchFamily="2" charset="-122"/>
              </a:rPr>
              <a:t>不是</a:t>
            </a:r>
            <a:r>
              <a:rPr lang="en-US" altLang="zh-CN" dirty="0">
                <a:ea typeface="宋体" panose="02010600030101010101" pitchFamily="2" charset="-122"/>
              </a:rPr>
              <a:t>2NF</a:t>
            </a:r>
            <a:r>
              <a:rPr lang="zh-CN" altLang="en-US" dirty="0">
                <a:ea typeface="宋体" panose="02010600030101010101" pitchFamily="2" charset="-122"/>
              </a:rPr>
              <a:t>模式的理由，并把</a:t>
            </a:r>
            <a:r>
              <a:rPr lang="en-US" altLang="zh-CN" dirty="0">
                <a:ea typeface="宋体" panose="02010600030101010101" pitchFamily="2" charset="-122"/>
              </a:rPr>
              <a:t>R</a:t>
            </a:r>
            <a:r>
              <a:rPr lang="zh-CN" altLang="en-US" dirty="0">
                <a:ea typeface="宋体" panose="02010600030101010101" pitchFamily="2" charset="-122"/>
              </a:rPr>
              <a:t>分解成</a:t>
            </a:r>
            <a:r>
              <a:rPr lang="en-US" altLang="zh-CN" dirty="0">
                <a:ea typeface="宋体" panose="02010600030101010101" pitchFamily="2" charset="-122"/>
              </a:rPr>
              <a:t>2NF</a:t>
            </a:r>
            <a:r>
              <a:rPr lang="zh-CN" altLang="en-US" dirty="0">
                <a:ea typeface="宋体" panose="02010600030101010101" pitchFamily="2" charset="-122"/>
              </a:rPr>
              <a:t>模式集。</a:t>
            </a:r>
            <a:endParaRPr lang="zh-CN" altLang="en-US" dirty="0">
              <a:ea typeface="宋体" panose="02010600030101010101" pitchFamily="2" charset="-122"/>
            </a:endParaRPr>
          </a:p>
          <a:p>
            <a:pPr marL="0" indent="0">
              <a:buFont typeface="Monotype Sorts" pitchFamily="2" charset="2"/>
              <a:buNone/>
            </a:pPr>
            <a:endParaRPr lang="zh-CN" altLang="en-US" dirty="0">
              <a:ea typeface="宋体" panose="02010600030101010101" pitchFamily="2"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习题</a:t>
            </a:r>
            <a:endParaRPr lang="zh-CN" altLang="en-US">
              <a:ea typeface="宋体" panose="02010600030101010101" pitchFamily="2" charset="-122"/>
            </a:endParaRPr>
          </a:p>
        </p:txBody>
      </p:sp>
      <p:sp>
        <p:nvSpPr>
          <p:cNvPr id="49155" name="内容占位符 2"/>
          <p:cNvSpPr>
            <a:spLocks noGrp="1"/>
          </p:cNvSpPr>
          <p:nvPr>
            <p:ph idx="1"/>
          </p:nvPr>
        </p:nvSpPr>
        <p:spPr/>
        <p:txBody>
          <a:bodyPr/>
          <a:lstStyle/>
          <a:p>
            <a:r>
              <a:rPr lang="zh-CN" altLang="en-US" dirty="0">
                <a:ea typeface="宋体" panose="02010600030101010101" pitchFamily="2" charset="-122"/>
              </a:rPr>
              <a:t>每个队员只能属于一个球队</a:t>
            </a:r>
            <a:endParaRPr lang="en-US" altLang="zh-CN" dirty="0">
              <a:ea typeface="宋体" panose="02010600030101010101" pitchFamily="2" charset="-122"/>
            </a:endParaRPr>
          </a:p>
          <a:p>
            <a:pPr lvl="1"/>
            <a:r>
              <a:rPr lang="zh-CN" altLang="en-US" dirty="0">
                <a:ea typeface="宋体" panose="02010600030101010101" pitchFamily="2" charset="-122"/>
              </a:rPr>
              <a:t>队员</a:t>
            </a:r>
            <a:r>
              <a:rPr lang="en-US" altLang="zh-CN" dirty="0">
                <a:ea typeface="宋体" panose="02010600030101010101" pitchFamily="2" charset="-122"/>
              </a:rPr>
              <a:t>ID</a:t>
            </a:r>
            <a:r>
              <a:rPr lang="en-US" altLang="zh-CN" dirty="0">
                <a:ea typeface="宋体" panose="02010600030101010101" pitchFamily="2" charset="-122"/>
                <a:sym typeface="Wingdings" panose="05000000000000000000" pitchFamily="2" charset="2"/>
              </a:rPr>
              <a:t></a:t>
            </a:r>
            <a:r>
              <a:rPr lang="zh-CN" altLang="en-US" dirty="0">
                <a:ea typeface="宋体" panose="02010600030101010101" pitchFamily="2" charset="-122"/>
                <a:sym typeface="Wingdings" panose="05000000000000000000" pitchFamily="2" charset="2"/>
              </a:rPr>
              <a:t>球队名</a:t>
            </a:r>
            <a:endParaRPr lang="en-US" altLang="zh-CN" dirty="0">
              <a:ea typeface="宋体" panose="02010600030101010101" pitchFamily="2" charset="-122"/>
              <a:sym typeface="Wingdings" panose="05000000000000000000" pitchFamily="2" charset="2"/>
            </a:endParaRPr>
          </a:p>
          <a:p>
            <a:r>
              <a:rPr lang="zh-CN" altLang="en-US" dirty="0">
                <a:ea typeface="宋体" panose="02010600030101010101" pitchFamily="2" charset="-122"/>
                <a:sym typeface="Wingdings" panose="05000000000000000000" pitchFamily="2" charset="2"/>
              </a:rPr>
              <a:t>每个球队只有一名队长</a:t>
            </a:r>
            <a:endParaRPr lang="en-US" altLang="zh-CN" dirty="0">
              <a:ea typeface="宋体" panose="02010600030101010101" pitchFamily="2" charset="-122"/>
              <a:sym typeface="Wingdings" panose="05000000000000000000" pitchFamily="2" charset="2"/>
            </a:endParaRPr>
          </a:p>
          <a:p>
            <a:pPr lvl="1"/>
            <a:r>
              <a:rPr lang="zh-CN" altLang="en-US" dirty="0">
                <a:ea typeface="宋体" panose="02010600030101010101" pitchFamily="2" charset="-122"/>
                <a:sym typeface="Wingdings" panose="05000000000000000000" pitchFamily="2" charset="2"/>
              </a:rPr>
              <a:t>球队名</a:t>
            </a:r>
            <a:r>
              <a:rPr lang="en-US" altLang="zh-CN" dirty="0">
                <a:ea typeface="宋体" panose="02010600030101010101" pitchFamily="2" charset="-122"/>
                <a:sym typeface="Wingdings" panose="05000000000000000000" pitchFamily="2" charset="2"/>
              </a:rPr>
              <a:t></a:t>
            </a:r>
            <a:r>
              <a:rPr lang="zh-CN" altLang="en-US" dirty="0">
                <a:ea typeface="宋体" panose="02010600030101010101" pitchFamily="2" charset="-122"/>
                <a:sym typeface="Wingdings" panose="05000000000000000000" pitchFamily="2" charset="2"/>
              </a:rPr>
              <a:t>队长</a:t>
            </a:r>
            <a:r>
              <a:rPr lang="en-US" altLang="zh-CN" dirty="0">
                <a:ea typeface="宋体" panose="02010600030101010101" pitchFamily="2" charset="-122"/>
                <a:sym typeface="Wingdings" panose="05000000000000000000" pitchFamily="2" charset="2"/>
              </a:rPr>
              <a:t>ID</a:t>
            </a:r>
            <a:endParaRPr lang="en-US" altLang="zh-CN" dirty="0">
              <a:ea typeface="宋体" panose="02010600030101010101" pitchFamily="2" charset="-122"/>
              <a:sym typeface="Wingdings" panose="05000000000000000000" pitchFamily="2" charset="2"/>
            </a:endParaRPr>
          </a:p>
          <a:p>
            <a:r>
              <a:rPr lang="zh-CN" altLang="en-US" dirty="0">
                <a:ea typeface="宋体" panose="02010600030101010101" pitchFamily="2" charset="-122"/>
                <a:sym typeface="Wingdings" panose="05000000000000000000" pitchFamily="2" charset="2"/>
              </a:rPr>
              <a:t>每个队员每场比赛只有一个进球数</a:t>
            </a:r>
            <a:endParaRPr lang="en-US" altLang="zh-CN" dirty="0">
              <a:ea typeface="宋体" panose="02010600030101010101" pitchFamily="2" charset="-122"/>
              <a:sym typeface="Wingdings" panose="05000000000000000000" pitchFamily="2" charset="2"/>
            </a:endParaRPr>
          </a:p>
          <a:p>
            <a:pPr lvl="1"/>
            <a:r>
              <a:rPr lang="zh-CN" altLang="en-US" dirty="0">
                <a:ea typeface="宋体" panose="02010600030101010101" pitchFamily="2" charset="-122"/>
                <a:sym typeface="Wingdings" panose="05000000000000000000" pitchFamily="2" charset="2"/>
              </a:rPr>
              <a:t>（队员</a:t>
            </a:r>
            <a:r>
              <a:rPr lang="en-US" altLang="zh-CN" dirty="0">
                <a:ea typeface="宋体" panose="02010600030101010101" pitchFamily="2" charset="-122"/>
                <a:sym typeface="Wingdings" panose="05000000000000000000" pitchFamily="2" charset="2"/>
              </a:rPr>
              <a:t>ID</a:t>
            </a:r>
            <a:r>
              <a:rPr lang="zh-CN" altLang="en-US" dirty="0">
                <a:ea typeface="宋体" panose="02010600030101010101" pitchFamily="2" charset="-122"/>
                <a:sym typeface="Wingdings" panose="05000000000000000000" pitchFamily="2" charset="2"/>
              </a:rPr>
              <a:t>，比赛场次）</a:t>
            </a:r>
            <a:r>
              <a:rPr lang="en-US" altLang="zh-CN" dirty="0">
                <a:ea typeface="宋体" panose="02010600030101010101" pitchFamily="2" charset="-122"/>
                <a:sym typeface="Wingdings" panose="05000000000000000000" pitchFamily="2" charset="2"/>
              </a:rPr>
              <a:t></a:t>
            </a:r>
            <a:r>
              <a:rPr lang="zh-CN" altLang="en-US" dirty="0">
                <a:ea typeface="宋体" panose="02010600030101010101" pitchFamily="2" charset="-122"/>
                <a:sym typeface="Wingdings" panose="05000000000000000000" pitchFamily="2" charset="2"/>
              </a:rPr>
              <a:t>进球数</a:t>
            </a:r>
            <a:endParaRPr lang="en-US" altLang="zh-CN" dirty="0">
              <a:ea typeface="宋体" panose="02010600030101010101" pitchFamily="2" charset="-122"/>
              <a:sym typeface="Wingdings" panose="05000000000000000000" pitchFamily="2" charset="2"/>
            </a:endParaRPr>
          </a:p>
          <a:p>
            <a:endParaRPr lang="en-US" altLang="zh-CN" dirty="0">
              <a:ea typeface="宋体" panose="02010600030101010101" pitchFamily="2" charset="-122"/>
              <a:sym typeface="Wingdings" panose="05000000000000000000" pitchFamily="2" charset="2"/>
            </a:endParaRPr>
          </a:p>
          <a:p>
            <a:r>
              <a:rPr lang="zh-CN" altLang="en-US" dirty="0">
                <a:ea typeface="宋体" panose="02010600030101010101" pitchFamily="2" charset="-122"/>
                <a:sym typeface="Wingdings" panose="05000000000000000000" pitchFamily="2" charset="2"/>
              </a:rPr>
              <a:t>因此，</a:t>
            </a:r>
            <a:r>
              <a:rPr lang="zh-CN" altLang="en-US" dirty="0">
                <a:ea typeface="宋体" panose="02010600030101010101" pitchFamily="2" charset="-122"/>
              </a:rPr>
              <a:t>唯一候选码</a:t>
            </a:r>
            <a:r>
              <a:rPr lang="zh-CN" altLang="en-US" dirty="0">
                <a:ea typeface="宋体" panose="02010600030101010101" pitchFamily="2" charset="-122"/>
                <a:sym typeface="Wingdings" panose="05000000000000000000" pitchFamily="2" charset="2"/>
              </a:rPr>
              <a:t>为（队员</a:t>
            </a:r>
            <a:r>
              <a:rPr lang="en-US" altLang="zh-CN" dirty="0">
                <a:ea typeface="宋体" panose="02010600030101010101" pitchFamily="2" charset="-122"/>
                <a:sym typeface="Wingdings" panose="05000000000000000000" pitchFamily="2" charset="2"/>
              </a:rPr>
              <a:t>ID</a:t>
            </a:r>
            <a:r>
              <a:rPr lang="zh-CN" altLang="en-US" dirty="0">
                <a:ea typeface="宋体" panose="02010600030101010101" pitchFamily="2" charset="-122"/>
                <a:sym typeface="Wingdings" panose="05000000000000000000" pitchFamily="2" charset="2"/>
              </a:rPr>
              <a:t>，比赛场次）</a:t>
            </a:r>
            <a:endParaRPr lang="zh-CN" altLang="en-US" dirty="0">
              <a:ea typeface="宋体" panose="0201060003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习题</a:t>
            </a:r>
            <a:endParaRPr lang="zh-CN" altLang="en-US">
              <a:ea typeface="宋体" panose="02010600030101010101" pitchFamily="2" charset="-122"/>
            </a:endParaRPr>
          </a:p>
        </p:txBody>
      </p:sp>
      <p:sp>
        <p:nvSpPr>
          <p:cNvPr id="50179" name="内容占位符 2"/>
          <p:cNvSpPr>
            <a:spLocks noGrp="1"/>
          </p:cNvSpPr>
          <p:nvPr>
            <p:ph idx="1"/>
          </p:nvPr>
        </p:nvSpPr>
        <p:spPr/>
        <p:txBody>
          <a:bodyPr/>
          <a:lstStyle/>
          <a:p>
            <a:r>
              <a:rPr lang="zh-CN" altLang="en-US" dirty="0">
                <a:ea typeface="宋体" panose="02010600030101010101" pitchFamily="2" charset="-122"/>
              </a:rPr>
              <a:t>因此，</a:t>
            </a:r>
            <a:r>
              <a:rPr lang="en-US" altLang="zh-CN" dirty="0">
                <a:ea typeface="宋体" panose="02010600030101010101" pitchFamily="2" charset="-122"/>
              </a:rPr>
              <a:t>R</a:t>
            </a:r>
            <a:r>
              <a:rPr lang="zh-CN" altLang="en-US" dirty="0">
                <a:ea typeface="宋体" panose="02010600030101010101" pitchFamily="2" charset="-122"/>
              </a:rPr>
              <a:t>中</a:t>
            </a:r>
            <a:r>
              <a:rPr lang="en-US" altLang="zh-CN" dirty="0">
                <a:ea typeface="宋体" panose="02010600030101010101" pitchFamily="2" charset="-122"/>
              </a:rPr>
              <a:t>F</a:t>
            </a:r>
            <a:r>
              <a:rPr lang="zh-CN" altLang="en-US" dirty="0">
                <a:ea typeface="宋体" panose="02010600030101010101" pitchFamily="2" charset="-122"/>
              </a:rPr>
              <a:t>的正则覆盖为：</a:t>
            </a:r>
            <a:endParaRPr lang="en-US" altLang="zh-CN" dirty="0">
              <a:ea typeface="宋体" panose="02010600030101010101" pitchFamily="2" charset="-122"/>
            </a:endParaRPr>
          </a:p>
          <a:p>
            <a:pPr lvl="1"/>
            <a:r>
              <a:rPr lang="zh-CN" altLang="en-US" dirty="0">
                <a:ea typeface="宋体" panose="02010600030101010101" pitchFamily="2" charset="-122"/>
              </a:rPr>
              <a:t>队员</a:t>
            </a:r>
            <a:r>
              <a:rPr lang="en-US" altLang="zh-CN" dirty="0">
                <a:ea typeface="宋体" panose="02010600030101010101" pitchFamily="2" charset="-122"/>
              </a:rPr>
              <a:t>ID</a:t>
            </a:r>
            <a:r>
              <a:rPr lang="en-US" altLang="zh-CN" dirty="0">
                <a:ea typeface="宋体" panose="02010600030101010101" pitchFamily="2" charset="-122"/>
                <a:sym typeface="Wingdings" panose="05000000000000000000" pitchFamily="2" charset="2"/>
              </a:rPr>
              <a:t></a:t>
            </a:r>
            <a:r>
              <a:rPr lang="zh-CN" altLang="en-US" dirty="0">
                <a:ea typeface="宋体" panose="02010600030101010101" pitchFamily="2" charset="-122"/>
                <a:sym typeface="Wingdings" panose="05000000000000000000" pitchFamily="2" charset="2"/>
              </a:rPr>
              <a:t>（球队名，队长</a:t>
            </a:r>
            <a:r>
              <a:rPr lang="en-US" altLang="zh-CN" dirty="0">
                <a:ea typeface="宋体" panose="02010600030101010101" pitchFamily="2" charset="-122"/>
                <a:sym typeface="Wingdings" panose="05000000000000000000" pitchFamily="2" charset="2"/>
              </a:rPr>
              <a:t>ID</a:t>
            </a:r>
            <a:r>
              <a:rPr lang="zh-CN" altLang="en-US" dirty="0">
                <a:ea typeface="宋体" panose="02010600030101010101" pitchFamily="2" charset="-122"/>
                <a:sym typeface="Wingdings" panose="05000000000000000000" pitchFamily="2" charset="2"/>
              </a:rPr>
              <a:t>）</a:t>
            </a:r>
            <a:endParaRPr lang="en-US" altLang="zh-CN" dirty="0">
              <a:ea typeface="宋体" panose="02010600030101010101" pitchFamily="2" charset="-122"/>
              <a:sym typeface="Wingdings" panose="05000000000000000000" pitchFamily="2" charset="2"/>
            </a:endParaRPr>
          </a:p>
          <a:p>
            <a:pPr lvl="1"/>
            <a:r>
              <a:rPr lang="zh-CN" altLang="en-US" dirty="0">
                <a:ea typeface="宋体" panose="02010600030101010101" pitchFamily="2" charset="-122"/>
                <a:sym typeface="Wingdings" panose="05000000000000000000" pitchFamily="2" charset="2"/>
              </a:rPr>
              <a:t>（队员</a:t>
            </a:r>
            <a:r>
              <a:rPr lang="en-US" altLang="zh-CN" dirty="0">
                <a:ea typeface="宋体" panose="02010600030101010101" pitchFamily="2" charset="-122"/>
                <a:sym typeface="Wingdings" panose="05000000000000000000" pitchFamily="2" charset="2"/>
              </a:rPr>
              <a:t>ID</a:t>
            </a:r>
            <a:r>
              <a:rPr lang="zh-CN" altLang="en-US" dirty="0">
                <a:ea typeface="宋体" panose="02010600030101010101" pitchFamily="2" charset="-122"/>
                <a:sym typeface="Wingdings" panose="05000000000000000000" pitchFamily="2" charset="2"/>
              </a:rPr>
              <a:t>，比赛场次）</a:t>
            </a:r>
            <a:r>
              <a:rPr lang="en-US" altLang="zh-CN" dirty="0">
                <a:ea typeface="宋体" panose="02010600030101010101" pitchFamily="2" charset="-122"/>
                <a:sym typeface="Wingdings" panose="05000000000000000000" pitchFamily="2" charset="2"/>
              </a:rPr>
              <a:t></a:t>
            </a:r>
            <a:r>
              <a:rPr lang="zh-CN" altLang="en-US" dirty="0">
                <a:ea typeface="宋体" panose="02010600030101010101" pitchFamily="2" charset="-122"/>
                <a:sym typeface="Wingdings" panose="05000000000000000000" pitchFamily="2" charset="2"/>
              </a:rPr>
              <a:t>进球数</a:t>
            </a:r>
            <a:endParaRPr lang="en-US" altLang="zh-CN" dirty="0">
              <a:ea typeface="宋体" panose="02010600030101010101" pitchFamily="2" charset="-122"/>
              <a:sym typeface="Wingdings" panose="05000000000000000000" pitchFamily="2" charset="2"/>
            </a:endParaRPr>
          </a:p>
          <a:p>
            <a:r>
              <a:rPr lang="zh-CN" altLang="en-US" dirty="0">
                <a:ea typeface="宋体" panose="02010600030101010101" pitchFamily="2" charset="-122"/>
                <a:sym typeface="Wingdings" panose="05000000000000000000" pitchFamily="2" charset="2"/>
              </a:rPr>
              <a:t>第一个</a:t>
            </a:r>
            <a:r>
              <a:rPr lang="en-US" altLang="zh-CN" dirty="0">
                <a:ea typeface="宋体" panose="02010600030101010101" pitchFamily="2" charset="-122"/>
                <a:sym typeface="Wingdings" panose="05000000000000000000" pitchFamily="2" charset="2"/>
              </a:rPr>
              <a:t>FD</a:t>
            </a:r>
            <a:r>
              <a:rPr lang="zh-CN" altLang="en-US" dirty="0">
                <a:ea typeface="宋体" panose="02010600030101010101" pitchFamily="2" charset="-122"/>
                <a:sym typeface="Wingdings" panose="05000000000000000000" pitchFamily="2" charset="2"/>
              </a:rPr>
              <a:t>是部分函数依赖，因此不是</a:t>
            </a:r>
            <a:r>
              <a:rPr lang="en-US" altLang="zh-CN" dirty="0">
                <a:ea typeface="宋体" panose="02010600030101010101" pitchFamily="2" charset="-122"/>
                <a:sym typeface="Wingdings" panose="05000000000000000000" pitchFamily="2" charset="2"/>
              </a:rPr>
              <a:t>2NF</a:t>
            </a:r>
            <a:endParaRPr lang="en-US" altLang="zh-CN" dirty="0">
              <a:ea typeface="宋体" panose="02010600030101010101" pitchFamily="2" charset="-122"/>
              <a:sym typeface="Wingdings" panose="05000000000000000000" pitchFamily="2" charset="2"/>
            </a:endParaRPr>
          </a:p>
          <a:p>
            <a:r>
              <a:rPr lang="zh-CN" altLang="en-US" dirty="0">
                <a:ea typeface="宋体" panose="02010600030101010101" pitchFamily="2" charset="-122"/>
                <a:sym typeface="Wingdings" panose="05000000000000000000" pitchFamily="2" charset="2"/>
              </a:rPr>
              <a:t>分解为：</a:t>
            </a:r>
            <a:endParaRPr lang="en-US" altLang="zh-CN" dirty="0">
              <a:ea typeface="宋体" panose="02010600030101010101" pitchFamily="2" charset="-122"/>
              <a:sym typeface="Wingdings" panose="05000000000000000000" pitchFamily="2" charset="2"/>
            </a:endParaRPr>
          </a:p>
          <a:p>
            <a:pPr lvl="1"/>
            <a:r>
              <a:rPr lang="en-US" altLang="zh-CN" dirty="0">
                <a:ea typeface="宋体" panose="02010600030101010101" pitchFamily="2" charset="-122"/>
                <a:sym typeface="Wingdings" panose="05000000000000000000" pitchFamily="2" charset="2"/>
              </a:rPr>
              <a:t>R1</a:t>
            </a:r>
            <a:r>
              <a:rPr lang="zh-CN" altLang="en-US" dirty="0">
                <a:ea typeface="宋体" panose="02010600030101010101" pitchFamily="2" charset="-122"/>
                <a:sym typeface="Wingdings" panose="05000000000000000000" pitchFamily="2" charset="2"/>
              </a:rPr>
              <a:t>（</a:t>
            </a:r>
            <a:r>
              <a:rPr lang="zh-CN" altLang="en-US" u="sng" dirty="0">
                <a:solidFill>
                  <a:srgbClr val="FF0000"/>
                </a:solidFill>
                <a:ea typeface="宋体" panose="02010600030101010101" pitchFamily="2" charset="-122"/>
              </a:rPr>
              <a:t>队员</a:t>
            </a:r>
            <a:r>
              <a:rPr lang="en-US" altLang="zh-CN" u="sng" dirty="0">
                <a:solidFill>
                  <a:srgbClr val="FF0000"/>
                </a:solidFill>
                <a:ea typeface="宋体" panose="02010600030101010101" pitchFamily="2" charset="-122"/>
              </a:rPr>
              <a:t>ID</a:t>
            </a:r>
            <a:r>
              <a:rPr lang="zh-CN" altLang="en-US" dirty="0">
                <a:solidFill>
                  <a:srgbClr val="FF0000"/>
                </a:solidFill>
                <a:ea typeface="宋体" panose="02010600030101010101" pitchFamily="2" charset="-122"/>
              </a:rPr>
              <a:t>，球队名，队长</a:t>
            </a:r>
            <a:r>
              <a:rPr lang="en-US" altLang="zh-CN" dirty="0">
                <a:solidFill>
                  <a:srgbClr val="FF0000"/>
                </a:solidFill>
                <a:ea typeface="宋体" panose="02010600030101010101" pitchFamily="2" charset="-122"/>
              </a:rPr>
              <a:t>ID</a:t>
            </a:r>
            <a:r>
              <a:rPr lang="zh-CN" altLang="en-US" dirty="0">
                <a:ea typeface="宋体" panose="02010600030101010101" pitchFamily="2" charset="-122"/>
                <a:sym typeface="Wingdings" panose="05000000000000000000" pitchFamily="2" charset="2"/>
              </a:rPr>
              <a:t>）</a:t>
            </a:r>
            <a:endParaRPr lang="en-US" altLang="zh-CN" dirty="0">
              <a:ea typeface="宋体" panose="02010600030101010101" pitchFamily="2" charset="-122"/>
              <a:sym typeface="Wingdings" panose="05000000000000000000" pitchFamily="2" charset="2"/>
            </a:endParaRPr>
          </a:p>
          <a:p>
            <a:pPr lvl="1"/>
            <a:r>
              <a:rPr lang="en-US" altLang="zh-CN" dirty="0">
                <a:ea typeface="宋体" panose="02010600030101010101" pitchFamily="2" charset="-122"/>
                <a:sym typeface="Wingdings" panose="05000000000000000000" pitchFamily="2" charset="2"/>
              </a:rPr>
              <a:t>R2</a:t>
            </a:r>
            <a:r>
              <a:rPr lang="zh-CN" altLang="en-US" dirty="0">
                <a:ea typeface="宋体" panose="02010600030101010101" pitchFamily="2" charset="-122"/>
                <a:sym typeface="Wingdings" panose="05000000000000000000" pitchFamily="2" charset="2"/>
              </a:rPr>
              <a:t>（</a:t>
            </a:r>
            <a:r>
              <a:rPr lang="zh-CN" altLang="en-US" u="sng" dirty="0">
                <a:solidFill>
                  <a:srgbClr val="FF0000"/>
                </a:solidFill>
                <a:ea typeface="宋体" panose="02010600030101010101" pitchFamily="2" charset="-122"/>
              </a:rPr>
              <a:t>队员</a:t>
            </a:r>
            <a:r>
              <a:rPr lang="en-US" altLang="zh-CN" u="sng" dirty="0">
                <a:solidFill>
                  <a:srgbClr val="FF0000"/>
                </a:solidFill>
                <a:ea typeface="宋体" panose="02010600030101010101" pitchFamily="2" charset="-122"/>
              </a:rPr>
              <a:t>ID</a:t>
            </a:r>
            <a:r>
              <a:rPr lang="zh-CN" altLang="en-US" u="sng" dirty="0">
                <a:solidFill>
                  <a:srgbClr val="FF0000"/>
                </a:solidFill>
                <a:ea typeface="宋体" panose="02010600030101010101" pitchFamily="2" charset="-122"/>
              </a:rPr>
              <a:t>，比赛场次</a:t>
            </a:r>
            <a:r>
              <a:rPr lang="zh-CN" altLang="en-US" dirty="0">
                <a:solidFill>
                  <a:srgbClr val="FF0000"/>
                </a:solidFill>
                <a:ea typeface="宋体" panose="02010600030101010101" pitchFamily="2" charset="-122"/>
              </a:rPr>
              <a:t>，进球数</a:t>
            </a:r>
            <a:r>
              <a:rPr lang="zh-CN" altLang="en-US" dirty="0">
                <a:ea typeface="宋体" panose="02010600030101010101" pitchFamily="2" charset="-122"/>
                <a:sym typeface="Wingdings" panose="05000000000000000000" pitchFamily="2" charset="2"/>
              </a:rPr>
              <a:t>）</a:t>
            </a:r>
            <a:endParaRPr lang="zh-CN" altLang="en-US" dirty="0">
              <a:ea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a:lstStyle/>
          <a:p>
            <a:pPr>
              <a:defRPr/>
            </a:pPr>
            <a:r>
              <a:rPr lang="en-US" altLang="zh-CN"/>
              <a:t>3NF</a:t>
            </a:r>
            <a:endParaRPr lang="en-US" altLang="zh-CN"/>
          </a:p>
        </p:txBody>
      </p:sp>
      <p:graphicFrame>
        <p:nvGraphicFramePr>
          <p:cNvPr id="685059" name="Group 3"/>
          <p:cNvGraphicFramePr>
            <a:graphicFrameLocks noGrp="1"/>
          </p:cNvGraphicFramePr>
          <p:nvPr/>
        </p:nvGraphicFramePr>
        <p:xfrm>
          <a:off x="468313" y="996950"/>
          <a:ext cx="4321175" cy="2743200"/>
        </p:xfrm>
        <a:graphic>
          <a:graphicData uri="http://schemas.openxmlformats.org/drawingml/2006/table">
            <a:tbl>
              <a:tblPr/>
              <a:tblGrid>
                <a:gridCol w="1081087"/>
                <a:gridCol w="1079500"/>
                <a:gridCol w="1081088"/>
                <a:gridCol w="1079500"/>
              </a:tblGrid>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hlink"/>
                          </a:solidFill>
                          <a:effectLst/>
                          <a:latin typeface="Times New Roman" panose="02020603050405020304" pitchFamily="18" charset="0"/>
                          <a:ea typeface="楷体_GB2312" pitchFamily="49" charset="-122"/>
                        </a:rPr>
                        <a:t>SNO</a:t>
                      </a:r>
                      <a:endParaRPr kumimoji="0" lang="en-US" altLang="zh-CN" sz="22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SN</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SD</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DEAN</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杨明</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D01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思齐</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李婉</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D01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思齐</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S03</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刘海</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D02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述圣</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S04</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安然</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D02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述圣</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S05</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乐天</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D03</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0" i="0" u="none" strike="noStrike" cap="none" normalizeH="0" baseline="0">
                          <a:ln>
                            <a:noFill/>
                          </a:ln>
                          <a:solidFill>
                            <a:schemeClr val="tx1"/>
                          </a:solidFill>
                          <a:effectLst/>
                          <a:latin typeface="Times New Roman" panose="02020603050405020304" pitchFamily="18" charset="0"/>
                          <a:ea typeface="楷体_GB2312" pitchFamily="49" charset="-122"/>
                        </a:rPr>
                        <a:t>省身</a:t>
                      </a:r>
                      <a:endPar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graphicFrame>
        <p:nvGraphicFramePr>
          <p:cNvPr id="685096" name="Group 40"/>
          <p:cNvGraphicFramePr>
            <a:graphicFrameLocks noGrp="1"/>
          </p:cNvGraphicFramePr>
          <p:nvPr/>
        </p:nvGraphicFramePr>
        <p:xfrm>
          <a:off x="5581650" y="787400"/>
          <a:ext cx="2662238" cy="3200400"/>
        </p:xfrm>
        <a:graphic>
          <a:graphicData uri="http://schemas.openxmlformats.org/drawingml/2006/table">
            <a:tbl>
              <a:tblPr/>
              <a:tblGrid>
                <a:gridCol w="887413"/>
                <a:gridCol w="887412"/>
                <a:gridCol w="887413"/>
              </a:tblGrid>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hlink"/>
                          </a:solidFill>
                          <a:effectLst/>
                          <a:latin typeface="Times New Roman" panose="02020603050405020304" pitchFamily="18" charset="0"/>
                          <a:ea typeface="楷体_GB2312" pitchFamily="49" charset="-122"/>
                        </a:rPr>
                        <a:t>SNO</a:t>
                      </a:r>
                      <a:endParaRPr kumimoji="0" lang="en-US" altLang="zh-CN" sz="22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hlink"/>
                          </a:solidFill>
                          <a:effectLst/>
                          <a:latin typeface="Times New Roman" panose="02020603050405020304" pitchFamily="18" charset="0"/>
                          <a:ea typeface="楷体_GB2312" pitchFamily="49" charset="-122"/>
                        </a:rPr>
                        <a:t>CNO</a:t>
                      </a:r>
                      <a:endParaRPr kumimoji="0" lang="en-US" altLang="zh-CN" sz="2200" b="0"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G</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C01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90</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C01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87</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C02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92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S03</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C01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95</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S04</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C02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78</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S05</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C01</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49" charset="-122"/>
                        </a:rPr>
                        <a:t>82</a:t>
                      </a:r>
                      <a:endParaRPr kumimoji="0" lang="en-US" altLang="zh-CN"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graphicFrame>
        <p:nvGraphicFramePr>
          <p:cNvPr id="685130" name="Group 74"/>
          <p:cNvGraphicFramePr>
            <a:graphicFrameLocks noGrp="1"/>
          </p:cNvGraphicFramePr>
          <p:nvPr/>
        </p:nvGraphicFramePr>
        <p:xfrm>
          <a:off x="1258888" y="4308475"/>
          <a:ext cx="6480175" cy="487368"/>
        </p:xfrm>
        <a:graphic>
          <a:graphicData uri="http://schemas.openxmlformats.org/drawingml/2006/table">
            <a:tbl>
              <a:tblPr/>
              <a:tblGrid>
                <a:gridCol w="1620837"/>
                <a:gridCol w="342900"/>
                <a:gridCol w="1274763"/>
                <a:gridCol w="312737"/>
                <a:gridCol w="1309688"/>
                <a:gridCol w="279400"/>
                <a:gridCol w="1339850"/>
              </a:tblGrid>
              <a:tr h="48736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hlink"/>
                          </a:solidFill>
                          <a:effectLst/>
                          <a:latin typeface="Arial" panose="020B0604020202020204" pitchFamily="34" charset="0"/>
                          <a:ea typeface="宋体" panose="02010600030101010101" pitchFamily="2" charset="-122"/>
                        </a:rPr>
                        <a:t>SNO</a:t>
                      </a:r>
                      <a:endParaRPr kumimoji="0" lang="en-US" altLang="zh-CN" sz="26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marT="45564" marB="4556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4" marB="4556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SN</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4" marB="4556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4" marB="4556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SD</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4" marB="4556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4" marB="4556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DEAN</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4" marB="4556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cxnSp>
        <p:nvCxnSpPr>
          <p:cNvPr id="51298" name="AutoShape 104"/>
          <p:cNvCxnSpPr>
            <a:cxnSpLocks noChangeShapeType="1"/>
          </p:cNvCxnSpPr>
          <p:nvPr/>
        </p:nvCxnSpPr>
        <p:spPr bwMode="auto">
          <a:xfrm rot="5400000" flipV="1">
            <a:off x="2964656" y="3413919"/>
            <a:ext cx="1588" cy="1790700"/>
          </a:xfrm>
          <a:prstGeom prst="bentConnector3">
            <a:avLst>
              <a:gd name="adj1" fmla="val -14400005"/>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51299" name="AutoShape 105"/>
          <p:cNvCxnSpPr>
            <a:cxnSpLocks noChangeShapeType="1"/>
          </p:cNvCxnSpPr>
          <p:nvPr/>
        </p:nvCxnSpPr>
        <p:spPr bwMode="auto">
          <a:xfrm rot="5400000" flipV="1">
            <a:off x="6266657" y="3507581"/>
            <a:ext cx="1588" cy="1603375"/>
          </a:xfrm>
          <a:prstGeom prst="bentConnector3">
            <a:avLst>
              <a:gd name="adj1" fmla="val -14400005"/>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graphicFrame>
        <p:nvGraphicFramePr>
          <p:cNvPr id="685162" name="Group 106"/>
          <p:cNvGraphicFramePr>
            <a:graphicFrameLocks noGrp="1"/>
          </p:cNvGraphicFramePr>
          <p:nvPr/>
        </p:nvGraphicFramePr>
        <p:xfrm>
          <a:off x="2339975" y="5302250"/>
          <a:ext cx="4321175" cy="517525"/>
        </p:xfrm>
        <a:graphic>
          <a:graphicData uri="http://schemas.openxmlformats.org/drawingml/2006/table">
            <a:tbl>
              <a:tblPr/>
              <a:tblGrid>
                <a:gridCol w="1441450"/>
                <a:gridCol w="306388"/>
                <a:gridCol w="1133475"/>
                <a:gridCol w="277812"/>
                <a:gridCol w="1162050"/>
              </a:tblGrid>
              <a:tr h="5175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hlink"/>
                          </a:solidFill>
                          <a:effectLst/>
                          <a:latin typeface="Arial" panose="020B0604020202020204" pitchFamily="34" charset="0"/>
                          <a:ea typeface="宋体" panose="02010600030101010101" pitchFamily="2" charset="-122"/>
                        </a:rPr>
                        <a:t>SNO</a:t>
                      </a:r>
                      <a:endParaRPr kumimoji="0" lang="en-US" altLang="zh-CN" sz="26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zh-CN" sz="26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hlink"/>
                          </a:solidFill>
                          <a:effectLst/>
                          <a:latin typeface="Arial" panose="020B0604020202020204" pitchFamily="34" charset="0"/>
                          <a:ea typeface="宋体" panose="02010600030101010101" pitchFamily="2" charset="-122"/>
                        </a:rPr>
                        <a:t>CNO</a:t>
                      </a:r>
                      <a:endParaRPr kumimoji="0" lang="en-US" altLang="zh-CN" sz="2600" b="0" i="0" u="none" strike="noStrike" cap="none" normalizeH="0" baseline="0">
                        <a:ln>
                          <a:noFill/>
                        </a:ln>
                        <a:solidFill>
                          <a:schemeClr val="hlink"/>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G</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cxnSp>
        <p:nvCxnSpPr>
          <p:cNvPr id="51318" name="AutoShape 128"/>
          <p:cNvCxnSpPr>
            <a:cxnSpLocks noChangeShapeType="1"/>
          </p:cNvCxnSpPr>
          <p:nvPr/>
        </p:nvCxnSpPr>
        <p:spPr bwMode="auto">
          <a:xfrm rot="16200000" flipH="1">
            <a:off x="4569619" y="4310856"/>
            <a:ext cx="1588" cy="3019425"/>
          </a:xfrm>
          <a:prstGeom prst="bentConnector3">
            <a:avLst>
              <a:gd name="adj1" fmla="val 14400005"/>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51319" name="AutoShape 129"/>
          <p:cNvCxnSpPr>
            <a:cxnSpLocks noChangeShapeType="1"/>
          </p:cNvCxnSpPr>
          <p:nvPr/>
        </p:nvCxnSpPr>
        <p:spPr bwMode="auto">
          <a:xfrm rot="16200000" flipH="1">
            <a:off x="5366544" y="5107781"/>
            <a:ext cx="1588" cy="1425575"/>
          </a:xfrm>
          <a:prstGeom prst="bentConnector3">
            <a:avLst>
              <a:gd name="adj1" fmla="val 14400005"/>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51320" name="AutoShape 130"/>
          <p:cNvCxnSpPr>
            <a:cxnSpLocks noChangeShapeType="1"/>
          </p:cNvCxnSpPr>
          <p:nvPr/>
        </p:nvCxnSpPr>
        <p:spPr bwMode="auto">
          <a:xfrm rot="16200000" flipH="1">
            <a:off x="3767138" y="3098800"/>
            <a:ext cx="1587" cy="3395663"/>
          </a:xfrm>
          <a:prstGeom prst="bentConnector3">
            <a:avLst>
              <a:gd name="adj1" fmla="val 14300005"/>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p:nvPr>
        </p:nvSpPr>
        <p:spPr/>
        <p:txBody>
          <a:bodyPr/>
          <a:lstStyle/>
          <a:p>
            <a:pPr>
              <a:defRPr/>
            </a:pPr>
            <a:r>
              <a:rPr lang="en-US" altLang="zh-CN"/>
              <a:t>3NF</a:t>
            </a:r>
            <a:endParaRPr lang="en-US" altLang="zh-CN"/>
          </a:p>
        </p:txBody>
      </p:sp>
      <p:sp>
        <p:nvSpPr>
          <p:cNvPr id="686083" name="Rectangle 3"/>
          <p:cNvSpPr>
            <a:spLocks noGrp="1" noChangeArrowheads="1"/>
          </p:cNvSpPr>
          <p:nvPr>
            <p:ph type="body" idx="1"/>
          </p:nvPr>
        </p:nvSpPr>
        <p:spPr>
          <a:xfrm>
            <a:off x="457200" y="1196975"/>
            <a:ext cx="8229600" cy="4530725"/>
          </a:xfrm>
        </p:spPr>
        <p:txBody>
          <a:bodyPr/>
          <a:lstStyle/>
          <a:p>
            <a:pPr lvl="1" algn="ctr">
              <a:buFont typeface="Wingdings" panose="05000000000000000000" pitchFamily="2" charset="2"/>
              <a:buNone/>
              <a:defRPr/>
            </a:pPr>
            <a:r>
              <a:rPr lang="en-US" altLang="zh-CN" sz="3600" dirty="0">
                <a:effectLst>
                  <a:outerShdw blurRad="38100" dist="38100" dir="2700000" algn="tl">
                    <a:srgbClr val="FFFFFF"/>
                  </a:outerShdw>
                </a:effectLst>
                <a:ea typeface="宋体" panose="02010600030101010101" pitchFamily="2" charset="-122"/>
                <a:sym typeface="Wingdings" panose="05000000000000000000" pitchFamily="2" charset="2"/>
              </a:rPr>
              <a:t>S_SD(</a:t>
            </a:r>
            <a:r>
              <a:rPr lang="en-US" altLang="zh-CN" sz="3600" b="1" u="sng" kern="1200" dirty="0">
                <a:solidFill>
                  <a:schemeClr val="hlink"/>
                </a:solidFill>
                <a:latin typeface="Arial" panose="020B0604020202020204" pitchFamily="34" charset="0"/>
                <a:ea typeface="宋体" panose="02010600030101010101" pitchFamily="2" charset="-122"/>
                <a:cs typeface="+mn-cs"/>
                <a:sym typeface="Wingdings" panose="05000000000000000000" pitchFamily="2" charset="2"/>
              </a:rPr>
              <a:t>SNO</a:t>
            </a:r>
            <a:r>
              <a:rPr lang="en-US" altLang="zh-CN" sz="3600" dirty="0">
                <a:effectLst>
                  <a:outerShdw blurRad="38100" dist="38100" dir="2700000" algn="tl">
                    <a:srgbClr val="FFFFFF"/>
                  </a:outerShdw>
                </a:effectLst>
                <a:ea typeface="宋体" panose="02010600030101010101" pitchFamily="2" charset="-122"/>
                <a:sym typeface="Wingdings" panose="05000000000000000000" pitchFamily="2" charset="2"/>
              </a:rPr>
              <a:t> , SN , SD , DEAN)</a:t>
            </a:r>
            <a:endParaRPr lang="en-US" altLang="zh-CN" sz="3600" dirty="0">
              <a:effectLst>
                <a:outerShdw blurRad="38100" dist="38100" dir="2700000" algn="tl">
                  <a:srgbClr val="FFFFFF"/>
                </a:outerShdw>
              </a:effectLst>
              <a:ea typeface="宋体" panose="02010600030101010101" pitchFamily="2" charset="-122"/>
            </a:endParaRPr>
          </a:p>
          <a:p>
            <a:pPr>
              <a:defRPr/>
            </a:pPr>
            <a:r>
              <a:rPr lang="zh-CN" altLang="en-US" sz="2600" dirty="0">
                <a:ea typeface="宋体" panose="02010600030101010101" pitchFamily="2" charset="-122"/>
              </a:rPr>
              <a:t>不良特性</a:t>
            </a:r>
            <a:endParaRPr lang="zh-CN" altLang="en-US" sz="2600" dirty="0">
              <a:ea typeface="宋体" panose="02010600030101010101" pitchFamily="2" charset="-122"/>
            </a:endParaRPr>
          </a:p>
          <a:p>
            <a:pPr lvl="1">
              <a:defRPr/>
            </a:pPr>
            <a:r>
              <a:rPr lang="zh-CN" altLang="en-US" sz="2200" dirty="0">
                <a:ea typeface="宋体" panose="02010600030101010101" pitchFamily="2" charset="-122"/>
              </a:rPr>
              <a:t>插入异常：如果系中没有学生，则有关系的信息就无法插入</a:t>
            </a:r>
            <a:endParaRPr lang="zh-CN" altLang="en-US" sz="2200" dirty="0">
              <a:ea typeface="宋体" panose="02010600030101010101" pitchFamily="2" charset="-122"/>
            </a:endParaRPr>
          </a:p>
          <a:p>
            <a:pPr lvl="1">
              <a:defRPr/>
            </a:pPr>
            <a:r>
              <a:rPr lang="zh-CN" altLang="en-US" sz="2200" dirty="0">
                <a:ea typeface="宋体" panose="02010600030101010101" pitchFamily="2" charset="-122"/>
              </a:rPr>
              <a:t>删除异常：如果学生全部毕业了，则在删除学生信息的同时有关系的信息也随之删除了</a:t>
            </a:r>
            <a:endParaRPr lang="zh-CN" altLang="en-US" sz="2200" dirty="0">
              <a:ea typeface="宋体" panose="02010600030101010101" pitchFamily="2" charset="-122"/>
            </a:endParaRPr>
          </a:p>
          <a:p>
            <a:pPr lvl="1">
              <a:defRPr/>
            </a:pPr>
            <a:r>
              <a:rPr lang="zh-CN" altLang="en-US" sz="2200" dirty="0">
                <a:ea typeface="宋体" panose="02010600030101010101" pitchFamily="2" charset="-122"/>
              </a:rPr>
              <a:t>更新异常：如果学生转系，不但要修改</a:t>
            </a:r>
            <a:r>
              <a:rPr lang="en-US" altLang="zh-CN" sz="2200" dirty="0">
                <a:ea typeface="宋体" panose="02010600030101010101" pitchFamily="2" charset="-122"/>
              </a:rPr>
              <a:t>SD</a:t>
            </a:r>
            <a:r>
              <a:rPr lang="zh-CN" altLang="en-US" sz="2200" dirty="0">
                <a:ea typeface="宋体" panose="02010600030101010101" pitchFamily="2" charset="-122"/>
              </a:rPr>
              <a:t>，还要修改</a:t>
            </a:r>
            <a:r>
              <a:rPr lang="en-US" altLang="zh-CN" sz="2200" dirty="0">
                <a:ea typeface="宋体" panose="02010600030101010101" pitchFamily="2" charset="-122"/>
              </a:rPr>
              <a:t>DEAN</a:t>
            </a:r>
            <a:r>
              <a:rPr lang="zh-CN" altLang="en-US" sz="2200" dirty="0">
                <a:ea typeface="宋体" panose="02010600030101010101" pitchFamily="2" charset="-122"/>
              </a:rPr>
              <a:t>，如果换系主任，则该系每个学生元组都要做相应修改</a:t>
            </a:r>
            <a:endParaRPr lang="zh-CN" altLang="en-US" sz="2200" dirty="0">
              <a:ea typeface="宋体" panose="02010600030101010101" pitchFamily="2" charset="-122"/>
            </a:endParaRPr>
          </a:p>
          <a:p>
            <a:pPr lvl="1">
              <a:defRPr/>
            </a:pPr>
            <a:r>
              <a:rPr lang="zh-CN" altLang="en-US" sz="2200" dirty="0">
                <a:ea typeface="宋体" panose="02010600030101010101" pitchFamily="2" charset="-122"/>
              </a:rPr>
              <a:t>数据冗余：每个学生都存储所在系的系主任的信息</a:t>
            </a:r>
            <a:endParaRPr lang="zh-CN" altLang="en-US" sz="2200" dirty="0">
              <a:ea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p:txBody>
          <a:bodyPr/>
          <a:lstStyle/>
          <a:p>
            <a:pPr>
              <a:defRPr/>
            </a:pPr>
            <a:r>
              <a:rPr lang="en-US" altLang="zh-CN" dirty="0"/>
              <a:t>3NF</a:t>
            </a:r>
            <a:endParaRPr lang="en-US" altLang="zh-CN" dirty="0"/>
          </a:p>
        </p:txBody>
      </p:sp>
      <mc:AlternateContent xmlns:mc="http://schemas.openxmlformats.org/markup-compatibility/2006">
        <mc:Choice xmlns:a14="http://schemas.microsoft.com/office/drawing/2010/main" Requires="a14">
          <p:sp>
            <p:nvSpPr>
              <p:cNvPr id="45059" name="Rectangle 3"/>
              <p:cNvSpPr>
                <a:spLocks noGrp="1" noChangeArrowheads="1"/>
              </p:cNvSpPr>
              <p:nvPr>
                <p:ph idx="1"/>
              </p:nvPr>
            </p:nvSpPr>
            <p:spPr>
              <a:xfrm>
                <a:off x="228599" y="1066799"/>
                <a:ext cx="8770257" cy="5123543"/>
              </a:xfrm>
            </p:spPr>
            <p:txBody>
              <a:bodyPr>
                <a:normAutofit/>
              </a:bodyPr>
              <a:lstStyle/>
              <a:p>
                <a:pPr algn="l"/>
                <a:r>
                  <a:rPr lang="zh-CN" altLang="en-US" b="1" i="0" dirty="0">
                    <a:solidFill>
                      <a:srgbClr val="0F1115"/>
                    </a:solidFill>
                    <a:effectLst/>
                    <a:latin typeface="quote-cjk-patch"/>
                  </a:rPr>
                  <a:t>定义</a:t>
                </a:r>
                <a:r>
                  <a:rPr lang="zh-CN" altLang="en-US" b="0" i="0" dirty="0">
                    <a:solidFill>
                      <a:srgbClr val="0F1115"/>
                    </a:solidFill>
                    <a:effectLst/>
                    <a:latin typeface="quote-cjk-patch"/>
                  </a:rPr>
                  <a:t>：一个关系模式 </a:t>
                </a:r>
                <a:r>
                  <a:rPr lang="en-US" altLang="zh-CN" b="0" i="0" dirty="0">
                    <a:solidFill>
                      <a:srgbClr val="0F1115"/>
                    </a:solidFill>
                    <a:effectLst/>
                    <a:latin typeface="quote-cjk-patch"/>
                  </a:rPr>
                  <a:t>R </a:t>
                </a:r>
                <a:r>
                  <a:rPr lang="zh-CN" altLang="en-US" b="0" i="0" dirty="0">
                    <a:solidFill>
                      <a:srgbClr val="0F1115"/>
                    </a:solidFill>
                    <a:effectLst/>
                    <a:latin typeface="quote-cjk-patch"/>
                  </a:rPr>
                  <a:t>满足第</a:t>
                </a:r>
                <a:r>
                  <a:rPr lang="zh-CN" altLang="en-US" dirty="0">
                    <a:solidFill>
                      <a:srgbClr val="0F1115"/>
                    </a:solidFill>
                    <a:latin typeface="quote-cjk-patch"/>
                  </a:rPr>
                  <a:t>三</a:t>
                </a:r>
                <a:r>
                  <a:rPr lang="zh-CN" altLang="en-US" b="0" i="0" dirty="0">
                    <a:solidFill>
                      <a:srgbClr val="0F1115"/>
                    </a:solidFill>
                    <a:effectLst/>
                    <a:latin typeface="quote-cjk-patch"/>
                  </a:rPr>
                  <a:t>范式，当且仅当：</a:t>
                </a:r>
                <a:endParaRPr lang="zh-CN" altLang="en-US" b="0" i="0" dirty="0">
                  <a:solidFill>
                    <a:srgbClr val="0F1115"/>
                  </a:solidFill>
                  <a:effectLst/>
                  <a:latin typeface="quote-cjk-patch"/>
                </a:endParaRPr>
              </a:p>
              <a:p>
                <a:pPr lvl="1">
                  <a:buFont typeface="+mj-lt"/>
                  <a:buAutoNum type="arabicPeriod"/>
                </a:pPr>
                <a:r>
                  <a:rPr lang="en-US" altLang="zh-CN" b="0" i="0" dirty="0">
                    <a:solidFill>
                      <a:srgbClr val="0F1115"/>
                    </a:solidFill>
                    <a:effectLst/>
                    <a:latin typeface="quote-cjk-patch"/>
                  </a:rPr>
                  <a:t>R </a:t>
                </a:r>
                <a:r>
                  <a:rPr lang="zh-CN" altLang="en-US" b="0" i="0" dirty="0">
                    <a:solidFill>
                      <a:srgbClr val="0F1115"/>
                    </a:solidFill>
                    <a:effectLst/>
                    <a:latin typeface="quote-cjk-patch"/>
                  </a:rPr>
                  <a:t>满足第二范式。</a:t>
                </a:r>
                <a:endParaRPr lang="zh-CN" altLang="en-US" b="0" i="0" dirty="0">
                  <a:solidFill>
                    <a:srgbClr val="0F1115"/>
                  </a:solidFill>
                  <a:effectLst/>
                  <a:latin typeface="quote-cjk-patch"/>
                </a:endParaRPr>
              </a:p>
              <a:p>
                <a:pPr lvl="1">
                  <a:buFont typeface="+mj-lt"/>
                  <a:buAutoNum type="arabicPeriod"/>
                </a:pPr>
                <a:r>
                  <a:rPr lang="zh-CN" altLang="en-US" b="0" i="0" dirty="0">
                    <a:solidFill>
                      <a:srgbClr val="0F1115"/>
                    </a:solidFill>
                    <a:effectLst/>
                    <a:latin typeface="quote-cjk-patch"/>
                  </a:rPr>
                  <a:t>每一个</a:t>
                </a:r>
                <a:r>
                  <a:rPr lang="zh-CN" altLang="en-US" b="1" i="0" dirty="0">
                    <a:solidFill>
                      <a:srgbClr val="0F1115"/>
                    </a:solidFill>
                    <a:effectLst/>
                    <a:latin typeface="quote-cjk-patch"/>
                  </a:rPr>
                  <a:t>非主属性</a:t>
                </a:r>
                <a:r>
                  <a:rPr lang="zh-CN" altLang="en-US" b="0" i="0" dirty="0">
                    <a:solidFill>
                      <a:srgbClr val="0F1115"/>
                    </a:solidFill>
                    <a:effectLst/>
                    <a:latin typeface="quote-cjk-patch"/>
                  </a:rPr>
                  <a:t>都</a:t>
                </a:r>
                <a:r>
                  <a:rPr lang="zh-CN" altLang="en-US" b="1" i="0" dirty="0">
                    <a:solidFill>
                      <a:srgbClr val="0F1115"/>
                    </a:solidFill>
                    <a:effectLst/>
                    <a:latin typeface="quote-cjk-patch"/>
                  </a:rPr>
                  <a:t>不传递函数依赖</a:t>
                </a:r>
                <a:r>
                  <a:rPr lang="zh-CN" altLang="en-US" b="0" i="0" dirty="0">
                    <a:solidFill>
                      <a:srgbClr val="0F1115"/>
                    </a:solidFill>
                    <a:effectLst/>
                    <a:latin typeface="quote-cjk-patch"/>
                  </a:rPr>
                  <a:t>于  </a:t>
                </a:r>
                <a:r>
                  <a:rPr lang="en-US" altLang="zh-CN" b="0" i="0" dirty="0">
                    <a:solidFill>
                      <a:srgbClr val="0F1115"/>
                    </a:solidFill>
                    <a:effectLst/>
                    <a:latin typeface="quote-cjk-patch"/>
                  </a:rPr>
                  <a:t>R </a:t>
                </a:r>
                <a:r>
                  <a:rPr lang="zh-CN" altLang="en-US" b="0" i="0" dirty="0">
                    <a:solidFill>
                      <a:srgbClr val="0F1115"/>
                    </a:solidFill>
                    <a:effectLst/>
                    <a:latin typeface="quote-cjk-patch"/>
                  </a:rPr>
                  <a:t>的</a:t>
                </a:r>
                <a:r>
                  <a:rPr lang="zh-CN" altLang="en-US" b="1" i="0" dirty="0">
                    <a:solidFill>
                      <a:srgbClr val="0F1115"/>
                    </a:solidFill>
                    <a:effectLst/>
                    <a:latin typeface="quote-cjk-patch"/>
                  </a:rPr>
                  <a:t>每一个候选码</a:t>
                </a:r>
                <a:r>
                  <a:rPr lang="zh-CN" altLang="en-US" b="0" i="0" dirty="0">
                    <a:solidFill>
                      <a:srgbClr val="0F1115"/>
                    </a:solidFill>
                    <a:effectLst/>
                    <a:latin typeface="quote-cjk-patch"/>
                  </a:rPr>
                  <a:t>。</a:t>
                </a:r>
                <a:endParaRPr lang="en-US" altLang="zh-CN" b="0" i="0" dirty="0">
                  <a:solidFill>
                    <a:srgbClr val="0F1115"/>
                  </a:solidFill>
                  <a:effectLst/>
                  <a:latin typeface="quote-cjk-patch"/>
                </a:endParaRPr>
              </a:p>
              <a:p>
                <a:pPr marL="457200" lvl="1" indent="0">
                  <a:buNone/>
                </a:pPr>
                <a:r>
                  <a:rPr lang="zh-CN" altLang="zh-CN" dirty="0">
                    <a:solidFill>
                      <a:srgbClr val="0F1115"/>
                    </a:solidFill>
                    <a:latin typeface="quote-cjk-patch"/>
                  </a:rPr>
                  <a:t>（即，不存在非主属性 A </a:t>
                </a:r>
                <a:r>
                  <a:rPr lang="zh-CN" altLang="en-US" dirty="0">
                    <a:solidFill>
                      <a:srgbClr val="0F1115"/>
                    </a:solidFill>
                    <a:latin typeface="quote-cjk-patch"/>
                  </a:rPr>
                  <a:t>，</a:t>
                </a:r>
                <a:r>
                  <a:rPr lang="zh-CN" altLang="zh-CN" dirty="0">
                    <a:solidFill>
                      <a:srgbClr val="0F1115"/>
                    </a:solidFill>
                    <a:latin typeface="quote-cjk-patch"/>
                  </a:rPr>
                  <a:t>使得 候选</a:t>
                </a:r>
                <a:r>
                  <a:rPr lang="zh-CN" altLang="en-US" dirty="0">
                    <a:solidFill>
                      <a:srgbClr val="0F1115"/>
                    </a:solidFill>
                    <a:latin typeface="quote-cjk-patch"/>
                  </a:rPr>
                  <a:t>码</a:t>
                </a:r>
                <a:r>
                  <a:rPr lang="zh-CN" altLang="zh-CN" dirty="0">
                    <a:solidFill>
                      <a:srgbClr val="0F1115"/>
                    </a:solidFill>
                    <a:latin typeface="quote-cjk-patch"/>
                  </a:rPr>
                  <a:t> </a:t>
                </a:r>
                <a:r>
                  <a:rPr lang="en-US" altLang="zh-CN" dirty="0">
                    <a:solidFill>
                      <a:srgbClr val="0F1115"/>
                    </a:solidFill>
                    <a:latin typeface="quote-cjk-patch"/>
                    <a:sym typeface="Wingdings" panose="05000000000000000000" pitchFamily="2" charset="2"/>
                  </a:rPr>
                  <a:t></a:t>
                </a:r>
                <a:r>
                  <a:rPr lang="zh-CN" altLang="zh-CN" dirty="0">
                    <a:solidFill>
                      <a:srgbClr val="0F1115"/>
                    </a:solidFill>
                    <a:latin typeface="quote-cjk-patch"/>
                  </a:rPr>
                  <a:t> B </a:t>
                </a:r>
                <a:r>
                  <a:rPr lang="en-US" altLang="zh-CN" dirty="0">
                    <a:solidFill>
                      <a:srgbClr val="0F1115"/>
                    </a:solidFill>
                    <a:latin typeface="quote-cjk-patch"/>
                    <a:sym typeface="Wingdings" panose="05000000000000000000" pitchFamily="2" charset="2"/>
                  </a:rPr>
                  <a:t></a:t>
                </a:r>
                <a:r>
                  <a:rPr lang="zh-CN" altLang="zh-CN" dirty="0">
                    <a:solidFill>
                      <a:srgbClr val="0F1115"/>
                    </a:solidFill>
                    <a:latin typeface="quote-cjk-patch"/>
                  </a:rPr>
                  <a:t> A 成立，且 </a:t>
                </a:r>
                <a:r>
                  <a:rPr lang="en-US" altLang="zh-CN" dirty="0">
                    <a:solidFill>
                      <a:srgbClr val="0F1115"/>
                    </a:solidFill>
                    <a:latin typeface="quote-cjk-patch"/>
                  </a:rPr>
                  <a:t>   </a:t>
                </a:r>
                <a:r>
                  <a:rPr lang="zh-CN" altLang="zh-CN" dirty="0">
                    <a:solidFill>
                      <a:srgbClr val="0F1115"/>
                    </a:solidFill>
                    <a:latin typeface="quote-cjk-patch"/>
                  </a:rPr>
                  <a:t>B </a:t>
                </a:r>
                <a14:m>
                  <m:oMath xmlns:m="http://schemas.openxmlformats.org/officeDocument/2006/math">
                    <m:r>
                      <a:rPr lang="zh-CN" altLang="en-US" i="1" smtClean="0">
                        <a:solidFill>
                          <a:srgbClr val="0F1115"/>
                        </a:solidFill>
                        <a:latin typeface="Cambria Math" panose="02040503050406030204" pitchFamily="18" charset="0"/>
                      </a:rPr>
                      <m:t>↛</m:t>
                    </m:r>
                    <m:r>
                      <a:rPr lang="en-US" altLang="zh-CN" b="0" i="1" smtClean="0">
                        <a:solidFill>
                          <a:srgbClr val="0F1115"/>
                        </a:solidFill>
                        <a:latin typeface="Cambria Math" panose="02040503050406030204" pitchFamily="18" charset="0"/>
                      </a:rPr>
                      <m:t> </m:t>
                    </m:r>
                  </m:oMath>
                </a14:m>
                <a:r>
                  <a:rPr lang="zh-CN" altLang="zh-CN" dirty="0">
                    <a:solidFill>
                      <a:srgbClr val="0F1115"/>
                    </a:solidFill>
                    <a:latin typeface="quote-cjk-patch"/>
                  </a:rPr>
                  <a:t>候选</a:t>
                </a:r>
                <a:r>
                  <a:rPr lang="zh-CN" altLang="en-US" dirty="0">
                    <a:solidFill>
                      <a:srgbClr val="0F1115"/>
                    </a:solidFill>
                    <a:latin typeface="quote-cjk-patch"/>
                  </a:rPr>
                  <a:t>码</a:t>
                </a:r>
                <a:r>
                  <a:rPr lang="zh-CN" altLang="zh-CN" dirty="0">
                    <a:solidFill>
                      <a:srgbClr val="0F1115"/>
                    </a:solidFill>
                    <a:latin typeface="quote-cjk-patch"/>
                  </a:rPr>
                  <a:t>）</a:t>
                </a:r>
                <a:endParaRPr lang="zh-CN" altLang="en-US" b="0" i="0" dirty="0">
                  <a:solidFill>
                    <a:srgbClr val="0F1115"/>
                  </a:solidFill>
                  <a:effectLst/>
                  <a:latin typeface="quote-cjk-patch"/>
                </a:endParaRPr>
              </a:p>
              <a:p>
                <a:pPr algn="l"/>
                <a:r>
                  <a:rPr lang="zh-CN" altLang="en-US" b="1" i="0" dirty="0">
                    <a:solidFill>
                      <a:srgbClr val="0F1115"/>
                    </a:solidFill>
                    <a:effectLst/>
                    <a:latin typeface="quote-cjk-patch"/>
                  </a:rPr>
                  <a:t>核心要求</a:t>
                </a:r>
                <a:r>
                  <a:rPr lang="zh-CN" altLang="en-US" b="0" i="0" dirty="0">
                    <a:solidFill>
                      <a:srgbClr val="0F1115"/>
                    </a:solidFill>
                    <a:effectLst/>
                    <a:latin typeface="quote-cjk-patch"/>
                  </a:rPr>
                  <a:t>：</a:t>
                </a:r>
                <a:endParaRPr lang="zh-CN" altLang="en-US" b="0" i="0" dirty="0">
                  <a:solidFill>
                    <a:srgbClr val="0F1115"/>
                  </a:solidFill>
                  <a:effectLst/>
                  <a:latin typeface="quote-cjk-patch"/>
                </a:endParaRPr>
              </a:p>
              <a:p>
                <a:pPr marL="857250" lvl="1" indent="-457200">
                  <a:buFont typeface="+mj-lt"/>
                  <a:buAutoNum type="arabicPeriod"/>
                </a:pPr>
                <a:r>
                  <a:rPr lang="zh-CN" altLang="en-US" b="0" i="0" dirty="0">
                    <a:solidFill>
                      <a:srgbClr val="0F1115"/>
                    </a:solidFill>
                    <a:effectLst/>
                    <a:latin typeface="quote-cjk-patch"/>
                  </a:rPr>
                  <a:t>消除非主属性对任何候选码的</a:t>
                </a:r>
                <a:r>
                  <a:rPr lang="zh-CN" altLang="en-US" b="1" dirty="0">
                    <a:solidFill>
                      <a:srgbClr val="0F1115"/>
                    </a:solidFill>
                    <a:latin typeface="quote-cjk-patch"/>
                  </a:rPr>
                  <a:t>传递</a:t>
                </a:r>
                <a:r>
                  <a:rPr lang="zh-CN" altLang="en-US" b="1" i="0" dirty="0">
                    <a:solidFill>
                      <a:srgbClr val="0F1115"/>
                    </a:solidFill>
                    <a:effectLst/>
                    <a:latin typeface="quote-cjk-patch"/>
                  </a:rPr>
                  <a:t>函数依赖</a:t>
                </a:r>
                <a:r>
                  <a:rPr lang="zh-CN" altLang="en-US" b="0" i="0" dirty="0">
                    <a:solidFill>
                      <a:srgbClr val="0F1115"/>
                    </a:solidFill>
                    <a:effectLst/>
                    <a:latin typeface="quote-cjk-patch"/>
                  </a:rPr>
                  <a:t>。</a:t>
                </a:r>
                <a:endParaRPr lang="en-US" altLang="zh-CN" b="0" i="0" dirty="0">
                  <a:solidFill>
                    <a:srgbClr val="0F1115"/>
                  </a:solidFill>
                  <a:effectLst/>
                  <a:latin typeface="quote-cjk-patch"/>
                </a:endParaRPr>
              </a:p>
              <a:p>
                <a:pPr marL="857250" lvl="1" indent="-457200">
                  <a:buFont typeface="+mj-lt"/>
                  <a:buAutoNum type="arabicPeriod"/>
                </a:pPr>
                <a:endParaRPr lang="en-US" altLang="zh-CN" dirty="0">
                  <a:solidFill>
                    <a:srgbClr val="0F1115"/>
                  </a:solidFill>
                  <a:latin typeface="quote-cjk-patch"/>
                </a:endParaRPr>
              </a:p>
              <a:p>
                <a:pPr marL="400050" lvl="1" indent="0">
                  <a:buNone/>
                </a:pPr>
                <a:r>
                  <a:rPr lang="zh-CN" altLang="en-US" dirty="0">
                    <a:ea typeface="宋体" panose="02010600030101010101" pitchFamily="2" charset="-122"/>
                  </a:rPr>
                  <a:t> 如</a:t>
                </a:r>
                <a:r>
                  <a:rPr lang="en-US" altLang="zh-CN" dirty="0">
                    <a:ea typeface="宋体" panose="02010600030101010101" pitchFamily="2" charset="-122"/>
                    <a:sym typeface="Wingdings" panose="05000000000000000000" pitchFamily="2" charset="2"/>
                  </a:rPr>
                  <a:t>S_SD</a:t>
                </a:r>
                <a:r>
                  <a:rPr lang="en-US" altLang="zh-CN" dirty="0">
                    <a:ea typeface="宋体" panose="02010600030101010101" pitchFamily="2" charset="-122"/>
                  </a:rPr>
                  <a:t> </a:t>
                </a:r>
                <a:r>
                  <a:rPr lang="en-US" altLang="zh-CN" dirty="0">
                    <a:ea typeface="宋体" panose="02010600030101010101" pitchFamily="2" charset="-122"/>
                    <a:sym typeface="Symbol" panose="05050102010706020507" pitchFamily="18" charset="2"/>
                  </a:rPr>
                  <a:t>3NF</a:t>
                </a:r>
                <a:r>
                  <a:rPr lang="zh-CN" altLang="en-US" dirty="0">
                    <a:ea typeface="宋体" panose="02010600030101010101" pitchFamily="2" charset="-122"/>
                    <a:sym typeface="Symbol" panose="05050102010706020507" pitchFamily="18" charset="2"/>
                  </a:rPr>
                  <a:t>，因为有</a:t>
                </a:r>
                <a:r>
                  <a:rPr lang="en-US" altLang="zh-CN" dirty="0">
                    <a:ea typeface="宋体" panose="02010600030101010101" pitchFamily="2" charset="-122"/>
                    <a:sym typeface="Symbol" panose="05050102010706020507" pitchFamily="18" charset="2"/>
                  </a:rPr>
                  <a:t>SNOSD</a:t>
                </a:r>
                <a:r>
                  <a:rPr lang="zh-CN" altLang="en-US" dirty="0">
                    <a:ea typeface="宋体" panose="02010600030101010101" pitchFamily="2" charset="-122"/>
                    <a:sym typeface="Symbol" panose="05050102010706020507" pitchFamily="18" charset="2"/>
                  </a:rPr>
                  <a:t>，</a:t>
                </a:r>
                <a:r>
                  <a:rPr lang="en-US" altLang="zh-CN" dirty="0">
                    <a:ea typeface="宋体" panose="02010600030101010101" pitchFamily="2" charset="-122"/>
                    <a:sym typeface="Symbol" panose="05050102010706020507" pitchFamily="18" charset="2"/>
                  </a:rPr>
                  <a:t>SDDEAN</a:t>
                </a:r>
                <a:endParaRPr lang="zh-CN" altLang="en-US" b="0" i="0" dirty="0">
                  <a:solidFill>
                    <a:srgbClr val="0F1115"/>
                  </a:solidFill>
                  <a:effectLst/>
                  <a:latin typeface="quote-cjk-patch"/>
                </a:endParaRPr>
              </a:p>
            </p:txBody>
          </p:sp>
        </mc:Choice>
        <mc:Fallback>
          <p:sp>
            <p:nvSpPr>
              <p:cNvPr id="45059" name="Rectangle 3"/>
              <p:cNvSpPr>
                <a:spLocks noRot="1" noChangeAspect="1" noMove="1" noResize="1" noEditPoints="1" noAdjustHandles="1" noChangeArrowheads="1" noChangeShapeType="1" noTextEdit="1"/>
              </p:cNvSpPr>
              <p:nvPr>
                <p:ph idx="1"/>
              </p:nvPr>
            </p:nvSpPr>
            <p:spPr>
              <a:xfrm>
                <a:off x="228599" y="1066799"/>
                <a:ext cx="8770257" cy="5123543"/>
              </a:xfrm>
              <a:blipFill rotWithShape="1">
                <a:blip r:embed="rId1"/>
                <a:stretch>
                  <a:fillRect l="-7" t="-12" r="3" b="7"/>
                </a:stretch>
              </a:blipFill>
            </p:spPr>
            <p:txBody>
              <a:bodyPr/>
              <a:lstStyle/>
              <a:p>
                <a:r>
                  <a:rPr lang="zh-CN" altLang="en-US">
                    <a:noFill/>
                  </a:rPr>
                  <a:t> </a:t>
                </a:r>
              </a:p>
            </p:txBody>
          </p:sp>
        </mc:Fallback>
      </mc:AlternateContent>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2"/>
          <p:cNvSpPr>
            <a:spLocks noGrp="1" noChangeArrowheads="1"/>
          </p:cNvSpPr>
          <p:nvPr>
            <p:ph type="title"/>
          </p:nvPr>
        </p:nvSpPr>
        <p:spPr/>
        <p:txBody>
          <a:bodyPr/>
          <a:lstStyle/>
          <a:p>
            <a:pPr algn="l">
              <a:defRPr/>
            </a:pPr>
            <a:r>
              <a:rPr lang="en-US" altLang="zh-CN"/>
              <a:t>3NF</a:t>
            </a:r>
            <a:endParaRPr lang="en-US" altLang="zh-CN"/>
          </a:p>
        </p:txBody>
      </p:sp>
      <p:sp>
        <p:nvSpPr>
          <p:cNvPr id="54275" name="Rectangle 3"/>
          <p:cNvSpPr>
            <a:spLocks noGrp="1" noChangeArrowheads="1"/>
          </p:cNvSpPr>
          <p:nvPr>
            <p:ph type="body" idx="1"/>
          </p:nvPr>
        </p:nvSpPr>
        <p:spPr>
          <a:xfrm>
            <a:off x="228600" y="1804988"/>
            <a:ext cx="8610600" cy="4519612"/>
          </a:xfrm>
        </p:spPr>
        <p:txBody>
          <a:bodyPr>
            <a:normAutofit lnSpcReduction="10000"/>
          </a:bodyPr>
          <a:lstStyle/>
          <a:p>
            <a:pPr>
              <a:lnSpc>
                <a:spcPct val="105000"/>
              </a:lnSpc>
              <a:spcBef>
                <a:spcPct val="35000"/>
              </a:spcBef>
            </a:pPr>
            <a:r>
              <a:rPr lang="zh-CN" altLang="en-US" sz="3200" dirty="0">
                <a:ea typeface="宋体" panose="02010600030101010101" pitchFamily="2" charset="-122"/>
                <a:sym typeface="Wingdings" panose="05000000000000000000" pitchFamily="2" charset="2"/>
              </a:rPr>
              <a:t>改造</a:t>
            </a:r>
            <a:endParaRPr lang="zh-CN" altLang="en-US" sz="3200" dirty="0">
              <a:ea typeface="宋体" panose="02010600030101010101" pitchFamily="2" charset="-122"/>
              <a:sym typeface="Wingdings" panose="05000000000000000000" pitchFamily="2" charset="2"/>
            </a:endParaRPr>
          </a:p>
          <a:p>
            <a:pPr lvl="1">
              <a:lnSpc>
                <a:spcPct val="105000"/>
              </a:lnSpc>
              <a:spcBef>
                <a:spcPct val="35000"/>
              </a:spcBef>
              <a:buFont typeface="Wingdings" panose="05000000000000000000" pitchFamily="2" charset="2"/>
              <a:buNone/>
            </a:pPr>
            <a:r>
              <a:rPr lang="zh-CN" altLang="en-US" sz="2800" dirty="0">
                <a:ea typeface="宋体" panose="02010600030101010101" pitchFamily="2" charset="-122"/>
                <a:sym typeface="Wingdings" panose="05000000000000000000" pitchFamily="2" charset="2"/>
              </a:rPr>
              <a:t>	将</a:t>
            </a:r>
            <a:r>
              <a:rPr lang="en-US" altLang="zh-CN" sz="2800" dirty="0">
                <a:ea typeface="宋体" panose="02010600030101010101" pitchFamily="2" charset="-122"/>
                <a:sym typeface="Wingdings" panose="05000000000000000000" pitchFamily="2" charset="2"/>
              </a:rPr>
              <a:t>S</a:t>
            </a:r>
            <a:r>
              <a:rPr lang="zh-CN" altLang="en-US" sz="2800" dirty="0">
                <a:ea typeface="宋体" panose="02010600030101010101" pitchFamily="2" charset="-122"/>
                <a:sym typeface="Wingdings" panose="05000000000000000000" pitchFamily="2" charset="2"/>
              </a:rPr>
              <a:t>分解为</a:t>
            </a:r>
            <a:endParaRPr lang="zh-CN" altLang="en-US" sz="2800" dirty="0">
              <a:ea typeface="宋体" panose="02010600030101010101" pitchFamily="2" charset="-122"/>
              <a:sym typeface="Wingdings" panose="05000000000000000000" pitchFamily="2" charset="2"/>
            </a:endParaRPr>
          </a:p>
          <a:p>
            <a:pPr lvl="1">
              <a:lnSpc>
                <a:spcPct val="105000"/>
              </a:lnSpc>
              <a:spcBef>
                <a:spcPct val="35000"/>
              </a:spcBef>
              <a:buFont typeface="Wingdings" panose="05000000000000000000" pitchFamily="2" charset="2"/>
              <a:buNone/>
            </a:pPr>
            <a:r>
              <a:rPr lang="zh-CN" altLang="en-US" sz="2800" dirty="0">
                <a:ea typeface="宋体" panose="02010600030101010101" pitchFamily="2" charset="-122"/>
                <a:sym typeface="Wingdings" panose="05000000000000000000" pitchFamily="2" charset="2"/>
              </a:rPr>
              <a:t>				</a:t>
            </a:r>
            <a:r>
              <a:rPr lang="en-US" altLang="zh-CN" sz="2800" dirty="0">
                <a:ea typeface="宋体" panose="02010600030101010101" pitchFamily="2" charset="-122"/>
                <a:sym typeface="Wingdings" panose="05000000000000000000" pitchFamily="2" charset="2"/>
              </a:rPr>
              <a:t>STUDENT(SNO , SN , SD)</a:t>
            </a:r>
            <a:endParaRPr lang="en-US" altLang="zh-CN" sz="2800" dirty="0">
              <a:ea typeface="宋体" panose="02010600030101010101" pitchFamily="2" charset="-122"/>
              <a:sym typeface="Wingdings" panose="05000000000000000000" pitchFamily="2" charset="2"/>
            </a:endParaRPr>
          </a:p>
          <a:p>
            <a:pPr lvl="1">
              <a:lnSpc>
                <a:spcPct val="105000"/>
              </a:lnSpc>
              <a:buFont typeface="Wingdings" panose="05000000000000000000" pitchFamily="2" charset="2"/>
              <a:buNone/>
            </a:pPr>
            <a:r>
              <a:rPr lang="en-US" altLang="zh-CN" sz="2800" dirty="0">
                <a:ea typeface="宋体" panose="02010600030101010101" pitchFamily="2" charset="-122"/>
                <a:sym typeface="Wingdings" panose="05000000000000000000" pitchFamily="2" charset="2"/>
              </a:rPr>
              <a:t>				DEPT(SD , DEAN)</a:t>
            </a:r>
            <a:endParaRPr lang="en-US" altLang="zh-CN" sz="2800" dirty="0">
              <a:ea typeface="宋体" panose="02010600030101010101" pitchFamily="2" charset="-122"/>
              <a:sym typeface="Wingdings" panose="05000000000000000000" pitchFamily="2" charset="2"/>
            </a:endParaRPr>
          </a:p>
          <a:p>
            <a:r>
              <a:rPr lang="zh-CN" altLang="en-US" sz="3200" dirty="0">
                <a:ea typeface="宋体" panose="02010600030101010101" pitchFamily="2" charset="-122"/>
              </a:rPr>
              <a:t>快速热身</a:t>
            </a:r>
            <a:endParaRPr lang="zh-CN" altLang="en-US" sz="3200" dirty="0">
              <a:ea typeface="宋体" panose="02010600030101010101" pitchFamily="2" charset="-122"/>
            </a:endParaRPr>
          </a:p>
          <a:p>
            <a:pPr lvl="1">
              <a:lnSpc>
                <a:spcPct val="130000"/>
              </a:lnSpc>
              <a:buFont typeface="Wingdings" panose="05000000000000000000" pitchFamily="2" charset="2"/>
              <a:buNone/>
            </a:pPr>
            <a:r>
              <a:rPr lang="zh-CN" altLang="en-US" sz="2800" dirty="0">
                <a:ea typeface="宋体" panose="02010600030101010101" pitchFamily="2" charset="-122"/>
              </a:rPr>
              <a:t>	关系模式</a:t>
            </a:r>
            <a:r>
              <a:rPr lang="en-US" altLang="zh-CN" sz="2800" dirty="0">
                <a:ea typeface="宋体" panose="02010600030101010101" pitchFamily="2" charset="-122"/>
              </a:rPr>
              <a:t>R</a:t>
            </a:r>
            <a:r>
              <a:rPr lang="zh-CN" altLang="en-US" sz="2800" dirty="0">
                <a:ea typeface="宋体" panose="02010600030101010101" pitchFamily="2" charset="-122"/>
              </a:rPr>
              <a:t>（</a:t>
            </a:r>
            <a:r>
              <a:rPr lang="en-US" altLang="zh-CN" sz="2800" dirty="0">
                <a:ea typeface="宋体" panose="02010600030101010101" pitchFamily="2" charset="-122"/>
              </a:rPr>
              <a:t>A</a:t>
            </a:r>
            <a:r>
              <a:rPr lang="zh-CN" altLang="en-US" sz="2800" dirty="0">
                <a:ea typeface="宋体" panose="02010600030101010101" pitchFamily="2" charset="-122"/>
              </a:rPr>
              <a:t>，</a:t>
            </a:r>
            <a:r>
              <a:rPr lang="en-US" altLang="zh-CN" sz="2800" dirty="0">
                <a:ea typeface="宋体" panose="02010600030101010101" pitchFamily="2" charset="-122"/>
              </a:rPr>
              <a:t>B</a:t>
            </a:r>
            <a:r>
              <a:rPr lang="zh-CN" altLang="en-US" sz="2800" dirty="0">
                <a:ea typeface="宋体" panose="02010600030101010101" pitchFamily="2" charset="-122"/>
              </a:rPr>
              <a:t>，</a:t>
            </a:r>
            <a:r>
              <a:rPr lang="en-US" altLang="zh-CN" sz="2800" dirty="0">
                <a:ea typeface="宋体" panose="02010600030101010101" pitchFamily="2" charset="-122"/>
              </a:rPr>
              <a:t>C</a:t>
            </a:r>
            <a:r>
              <a:rPr lang="zh-CN" altLang="en-US" sz="2800" dirty="0">
                <a:ea typeface="宋体" panose="02010600030101010101" pitchFamily="2" charset="-122"/>
              </a:rPr>
              <a:t>，</a:t>
            </a:r>
            <a:r>
              <a:rPr lang="en-US" altLang="zh-CN" sz="2800" dirty="0">
                <a:ea typeface="宋体" panose="02010600030101010101" pitchFamily="2" charset="-122"/>
              </a:rPr>
              <a:t>D</a:t>
            </a:r>
            <a:r>
              <a:rPr lang="zh-CN" altLang="en-US" sz="2800" dirty="0">
                <a:ea typeface="宋体" panose="02010600030101010101" pitchFamily="2" charset="-122"/>
              </a:rPr>
              <a:t>），唯一候选码为</a:t>
            </a:r>
            <a:r>
              <a:rPr lang="en-US" altLang="zh-CN" sz="2800" dirty="0">
                <a:ea typeface="宋体" panose="02010600030101010101" pitchFamily="2" charset="-122"/>
              </a:rPr>
              <a:t>AB</a:t>
            </a:r>
            <a:r>
              <a:rPr lang="zh-CN" altLang="en-US" sz="2800" dirty="0">
                <a:ea typeface="宋体" panose="02010600030101010101" pitchFamily="2" charset="-122"/>
              </a:rPr>
              <a:t>，给出它的一个函数依赖集，使得</a:t>
            </a:r>
            <a:r>
              <a:rPr lang="en-US" altLang="zh-CN" sz="2800" dirty="0">
                <a:ea typeface="宋体" panose="02010600030101010101" pitchFamily="2" charset="-122"/>
              </a:rPr>
              <a:t>R</a:t>
            </a:r>
            <a:r>
              <a:rPr lang="zh-CN" altLang="en-US" sz="2800" dirty="0">
                <a:ea typeface="宋体" panose="02010600030101010101" pitchFamily="2" charset="-122"/>
              </a:rPr>
              <a:t>属于</a:t>
            </a:r>
            <a:r>
              <a:rPr lang="en-US" altLang="zh-CN" sz="2800" dirty="0">
                <a:ea typeface="宋体" panose="02010600030101010101" pitchFamily="2" charset="-122"/>
              </a:rPr>
              <a:t>2NF</a:t>
            </a:r>
            <a:r>
              <a:rPr lang="zh-CN" altLang="en-US" sz="2800" dirty="0">
                <a:ea typeface="宋体" panose="02010600030101010101" pitchFamily="2" charset="-122"/>
              </a:rPr>
              <a:t>而不属于</a:t>
            </a:r>
            <a:r>
              <a:rPr lang="en-US" altLang="zh-CN" sz="2800" dirty="0">
                <a:ea typeface="宋体" panose="02010600030101010101" pitchFamily="2" charset="-122"/>
              </a:rPr>
              <a:t>3NF</a:t>
            </a:r>
            <a:endParaRPr lang="en-US" altLang="zh-CN" sz="2800" dirty="0">
              <a:ea typeface="宋体" panose="02010600030101010101" pitchFamily="2" charset="-122"/>
            </a:endParaRPr>
          </a:p>
        </p:txBody>
      </p:sp>
      <p:graphicFrame>
        <p:nvGraphicFramePr>
          <p:cNvPr id="688132" name="Group 4"/>
          <p:cNvGraphicFramePr>
            <a:graphicFrameLocks noGrp="1"/>
          </p:cNvGraphicFramePr>
          <p:nvPr/>
        </p:nvGraphicFramePr>
        <p:xfrm>
          <a:off x="2989263" y="333375"/>
          <a:ext cx="3384550" cy="2193948"/>
        </p:xfrm>
        <a:graphic>
          <a:graphicData uri="http://schemas.openxmlformats.org/drawingml/2006/table">
            <a:tbl>
              <a:tblPr/>
              <a:tblGrid>
                <a:gridCol w="1128712"/>
                <a:gridCol w="1127125"/>
                <a:gridCol w="1128713"/>
              </a:tblGrid>
              <a:tr h="3656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_GB2312" pitchFamily="49" charset="-122"/>
                        </a:rPr>
                        <a:t>SNO</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_GB2312" pitchFamily="49" charset="-122"/>
                        </a:rPr>
                        <a:t>SN</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SD</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56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S01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49" charset="-122"/>
                        </a:rPr>
                        <a:t>杨明</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D01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56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S02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49" charset="-122"/>
                        </a:rPr>
                        <a:t>李婉</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D01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56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S03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49" charset="-122"/>
                        </a:rPr>
                        <a:t>刘海</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D02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56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S04</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49" charset="-122"/>
                        </a:rPr>
                        <a:t>安然</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D02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56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S05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49" charset="-122"/>
                        </a:rPr>
                        <a:t>乐天</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D03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9" marB="4566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graphicFrame>
        <p:nvGraphicFramePr>
          <p:cNvPr id="688162" name="Group 34"/>
          <p:cNvGraphicFramePr>
            <a:graphicFrameLocks noGrp="1"/>
          </p:cNvGraphicFramePr>
          <p:nvPr/>
        </p:nvGraphicFramePr>
        <p:xfrm>
          <a:off x="6589713" y="404813"/>
          <a:ext cx="1943100" cy="1828800"/>
        </p:xfrm>
        <a:graphic>
          <a:graphicData uri="http://schemas.openxmlformats.org/drawingml/2006/table">
            <a:tbl>
              <a:tblPr/>
              <a:tblGrid>
                <a:gridCol w="1008062"/>
                <a:gridCol w="935038"/>
              </a:tblGrid>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SD</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DEAN</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D01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49" charset="-122"/>
                        </a:rPr>
                        <a:t>思齐</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D02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49" charset="-122"/>
                        </a:rPr>
                        <a:t>述圣</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rPr>
                        <a:t>D03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49" charset="-122"/>
                        </a:rPr>
                        <a:t>省身</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7" name="文本框 6"/>
          <p:cNvSpPr txBox="1"/>
          <p:nvPr/>
        </p:nvSpPr>
        <p:spPr>
          <a:xfrm>
            <a:off x="3302000" y="5717173"/>
            <a:ext cx="4572000" cy="338554"/>
          </a:xfrm>
          <a:prstGeom prst="rect">
            <a:avLst/>
          </a:prstGeom>
          <a:noFill/>
        </p:spPr>
        <p:txBody>
          <a:bodyPr wrap="square">
            <a:spAutoFit/>
          </a:bodyPr>
          <a:lstStyle/>
          <a:p>
            <a:r>
              <a:rPr lang="en-US" altLang="zh-CN" dirty="0">
                <a:solidFill>
                  <a:srgbClr val="FF0000"/>
                </a:solidFill>
                <a:ea typeface="宋体" panose="02010600030101010101" pitchFamily="2" charset="-122"/>
              </a:rPr>
              <a:t>F = {……, C</a:t>
            </a:r>
            <a:r>
              <a:rPr lang="en-US" altLang="zh-CN" dirty="0">
                <a:solidFill>
                  <a:srgbClr val="FF0000"/>
                </a:solidFill>
                <a:ea typeface="宋体" panose="02010600030101010101" pitchFamily="2" charset="-122"/>
                <a:sym typeface="Wingdings" panose="05000000000000000000" pitchFamily="2" charset="2"/>
              </a:rPr>
              <a:t>D,…...</a:t>
            </a:r>
            <a:r>
              <a:rPr lang="en-US" altLang="zh-CN"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或 </a:t>
            </a:r>
            <a:r>
              <a:rPr lang="en-US" altLang="zh-CN" dirty="0">
                <a:solidFill>
                  <a:srgbClr val="FF0000"/>
                </a:solidFill>
                <a:ea typeface="宋体" panose="02010600030101010101" pitchFamily="2" charset="-122"/>
              </a:rPr>
              <a:t>F = {……, D</a:t>
            </a:r>
            <a:r>
              <a:rPr lang="en-US" altLang="zh-CN" dirty="0">
                <a:solidFill>
                  <a:srgbClr val="FF0000"/>
                </a:solidFill>
                <a:ea typeface="宋体" panose="02010600030101010101" pitchFamily="2" charset="-122"/>
                <a:sym typeface="Wingdings" panose="05000000000000000000" pitchFamily="2" charset="2"/>
              </a:rPr>
              <a:t>C,…...</a:t>
            </a:r>
            <a:r>
              <a:rPr lang="en-US" altLang="zh-CN" dirty="0">
                <a:solidFill>
                  <a:srgbClr val="FF0000"/>
                </a:solidFill>
                <a:ea typeface="宋体" panose="02010600030101010101" pitchFamily="2" charset="-122"/>
              </a:rPr>
              <a:t>} </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p:txBody>
          <a:bodyPr/>
          <a:lstStyle/>
          <a:p>
            <a:pPr>
              <a:defRPr/>
            </a:pPr>
            <a:r>
              <a:rPr lang="zh-CN" altLang="en-US">
                <a:ea typeface="宋体" panose="02010600030101010101" pitchFamily="2" charset="-122"/>
              </a:rPr>
              <a:t>分解说明</a:t>
            </a:r>
            <a:endParaRPr lang="zh-CN" altLang="en-US">
              <a:ea typeface="宋体" panose="02010600030101010101" pitchFamily="2" charset="-122"/>
            </a:endParaRPr>
          </a:p>
        </p:txBody>
      </p:sp>
      <p:sp>
        <p:nvSpPr>
          <p:cNvPr id="47107" name="Rectangle 3"/>
          <p:cNvSpPr>
            <a:spLocks noGrp="1" noChangeArrowheads="1"/>
          </p:cNvSpPr>
          <p:nvPr>
            <p:ph type="body" idx="1"/>
          </p:nvPr>
        </p:nvSpPr>
        <p:spPr>
          <a:xfrm>
            <a:off x="468313" y="1219200"/>
            <a:ext cx="8294687" cy="4946650"/>
          </a:xfrm>
        </p:spPr>
        <p:txBody>
          <a:bodyPr/>
          <a:lstStyle/>
          <a:p>
            <a:pPr>
              <a:lnSpc>
                <a:spcPct val="100000"/>
              </a:lnSpc>
            </a:pPr>
            <a:r>
              <a:rPr lang="zh-CN" altLang="en-US" dirty="0">
                <a:ea typeface="宋体" panose="02010600030101010101" pitchFamily="2" charset="-122"/>
              </a:rPr>
              <a:t>一个</a:t>
            </a:r>
            <a:r>
              <a:rPr lang="en-US" altLang="zh-CN" dirty="0">
                <a:ea typeface="宋体" panose="02010600030101010101" pitchFamily="2" charset="-122"/>
              </a:rPr>
              <a:t>2NF</a:t>
            </a:r>
            <a:r>
              <a:rPr lang="zh-CN" altLang="en-US" dirty="0">
                <a:ea typeface="宋体" panose="02010600030101010101" pitchFamily="2" charset="-122"/>
              </a:rPr>
              <a:t>，但非</a:t>
            </a:r>
            <a:r>
              <a:rPr lang="en-US" altLang="zh-CN" dirty="0">
                <a:ea typeface="宋体" panose="02010600030101010101" pitchFamily="2" charset="-122"/>
              </a:rPr>
              <a:t>3NF</a:t>
            </a:r>
            <a:r>
              <a:rPr lang="zh-CN" altLang="en-US" dirty="0">
                <a:ea typeface="宋体" panose="02010600030101010101" pitchFamily="2" charset="-122"/>
              </a:rPr>
              <a:t>的关系总是可以被分解成为一组</a:t>
            </a:r>
            <a:r>
              <a:rPr lang="en-US" altLang="zh-CN" dirty="0">
                <a:ea typeface="宋体" panose="02010600030101010101" pitchFamily="2" charset="-122"/>
              </a:rPr>
              <a:t>3NF</a:t>
            </a:r>
            <a:r>
              <a:rPr lang="zh-CN" altLang="en-US" dirty="0">
                <a:ea typeface="宋体" panose="02010600030101010101" pitchFamily="2" charset="-122"/>
              </a:rPr>
              <a:t>的关系</a:t>
            </a:r>
            <a:endParaRPr lang="zh-CN" altLang="en-US" dirty="0">
              <a:ea typeface="宋体" panose="02010600030101010101" pitchFamily="2" charset="-122"/>
            </a:endParaRPr>
          </a:p>
          <a:p>
            <a:pPr>
              <a:lnSpc>
                <a:spcPct val="100000"/>
              </a:lnSpc>
            </a:pPr>
            <a:r>
              <a:rPr lang="zh-CN" altLang="en-US" dirty="0">
                <a:ea typeface="宋体" panose="02010600030101010101" pitchFamily="2" charset="-122"/>
              </a:rPr>
              <a:t>规范化过程中通过一组投影运算消除传递依赖，建议作如下分解</a:t>
            </a:r>
            <a:r>
              <a:rPr lang="en-US" altLang="zh-CN" dirty="0">
                <a:ea typeface="宋体" panose="02010600030101010101" pitchFamily="2" charset="-122"/>
              </a:rPr>
              <a:t>(</a:t>
            </a:r>
            <a:r>
              <a:rPr lang="zh-CN" altLang="en-US" dirty="0">
                <a:solidFill>
                  <a:srgbClr val="FF0000"/>
                </a:solidFill>
                <a:ea typeface="宋体" panose="02010600030101010101" pitchFamily="2" charset="-122"/>
              </a:rPr>
              <a:t>第二步分解</a:t>
            </a:r>
            <a:r>
              <a:rPr lang="en-US" altLang="zh-CN" dirty="0">
                <a:ea typeface="宋体" panose="02010600030101010101" pitchFamily="2" charset="-122"/>
              </a:rPr>
              <a:t>)</a:t>
            </a:r>
            <a:endParaRPr lang="en-US" altLang="zh-CN" dirty="0">
              <a:ea typeface="宋体" panose="02010600030101010101" pitchFamily="2" charset="-122"/>
            </a:endParaRPr>
          </a:p>
          <a:p>
            <a:pPr lvl="1">
              <a:lnSpc>
                <a:spcPct val="100000"/>
              </a:lnSpc>
            </a:pPr>
            <a:r>
              <a:rPr lang="zh-CN" altLang="en-US" dirty="0">
                <a:ea typeface="宋体" panose="02010600030101010101" pitchFamily="2" charset="-122"/>
              </a:rPr>
              <a:t>已知关系</a:t>
            </a:r>
            <a:r>
              <a:rPr lang="en-US" altLang="zh-CN" dirty="0">
                <a:ea typeface="宋体" panose="02010600030101010101" pitchFamily="2" charset="-122"/>
              </a:rPr>
              <a:t>R(A,B,C), A</a:t>
            </a:r>
            <a:r>
              <a:rPr lang="zh-CN" altLang="en-US" dirty="0">
                <a:ea typeface="宋体" panose="02010600030101010101" pitchFamily="2" charset="-122"/>
              </a:rPr>
              <a:t>为唯一候选码</a:t>
            </a:r>
            <a:r>
              <a:rPr lang="en-US" altLang="zh-CN" dirty="0">
                <a:ea typeface="宋体" panose="02010600030101010101" pitchFamily="2" charset="-122"/>
              </a:rPr>
              <a:t>(A </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 B, A </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 C)</a:t>
            </a:r>
            <a:r>
              <a:rPr lang="zh-CN" altLang="en-US" dirty="0">
                <a:ea typeface="宋体" panose="02010600030101010101" pitchFamily="2" charset="-122"/>
              </a:rPr>
              <a:t>，且</a:t>
            </a:r>
            <a:r>
              <a:rPr lang="en-US" altLang="zh-CN" dirty="0">
                <a:ea typeface="宋体" panose="02010600030101010101" pitchFamily="2" charset="-122"/>
              </a:rPr>
              <a:t>B </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 C,</a:t>
            </a:r>
            <a:endParaRPr lang="en-US" altLang="zh-CN" dirty="0">
              <a:ea typeface="宋体" panose="02010600030101010101" pitchFamily="2" charset="-122"/>
            </a:endParaRPr>
          </a:p>
          <a:p>
            <a:pPr lvl="1">
              <a:lnSpc>
                <a:spcPct val="100000"/>
              </a:lnSpc>
              <a:buFont typeface="Wingdings" panose="05000000000000000000" pitchFamily="2" charset="2"/>
              <a:buNone/>
            </a:pPr>
            <a:r>
              <a:rPr lang="en-US" altLang="zh-CN" dirty="0">
                <a:ea typeface="宋体" panose="02010600030101010101" pitchFamily="2" charset="-122"/>
              </a:rPr>
              <a:t>	</a:t>
            </a:r>
            <a:r>
              <a:rPr lang="zh-CN" altLang="en-US" dirty="0">
                <a:ea typeface="宋体" panose="02010600030101010101" pitchFamily="2" charset="-122"/>
              </a:rPr>
              <a:t>则将</a:t>
            </a:r>
            <a:r>
              <a:rPr lang="en-US" altLang="zh-CN" dirty="0">
                <a:ea typeface="宋体" panose="02010600030101010101" pitchFamily="2" charset="-122"/>
              </a:rPr>
              <a:t>R</a:t>
            </a:r>
            <a:r>
              <a:rPr lang="zh-CN" altLang="en-US" dirty="0">
                <a:ea typeface="宋体" panose="02010600030101010101" pitchFamily="2" charset="-122"/>
              </a:rPr>
              <a:t>分解成为两个投影</a:t>
            </a:r>
            <a:r>
              <a:rPr lang="en-US" altLang="zh-CN" dirty="0">
                <a:ea typeface="宋体" panose="02010600030101010101" pitchFamily="2" charset="-122"/>
              </a:rPr>
              <a:t>:</a:t>
            </a:r>
            <a:endParaRPr lang="en-US" altLang="zh-CN" dirty="0">
              <a:ea typeface="宋体" panose="02010600030101010101" pitchFamily="2" charset="-122"/>
            </a:endParaRPr>
          </a:p>
          <a:p>
            <a:pPr lvl="1">
              <a:lnSpc>
                <a:spcPct val="100000"/>
              </a:lnSpc>
              <a:buFont typeface="Wingdings" panose="05000000000000000000" pitchFamily="2" charset="2"/>
              <a:buNone/>
            </a:pPr>
            <a:r>
              <a:rPr lang="en-US" altLang="zh-CN" dirty="0">
                <a:ea typeface="宋体" panose="02010600030101010101" pitchFamily="2" charset="-122"/>
              </a:rPr>
              <a:t>		R1(</a:t>
            </a:r>
            <a:r>
              <a:rPr lang="en-US" altLang="zh-CN" u="sng" dirty="0">
                <a:ea typeface="宋体" panose="02010600030101010101" pitchFamily="2" charset="-122"/>
              </a:rPr>
              <a:t>B</a:t>
            </a:r>
            <a:r>
              <a:rPr lang="en-US" altLang="zh-CN" dirty="0">
                <a:ea typeface="宋体" panose="02010600030101010101" pitchFamily="2" charset="-122"/>
              </a:rPr>
              <a:t>,C), B</a:t>
            </a:r>
            <a:r>
              <a:rPr lang="zh-CN" altLang="en-US" dirty="0">
                <a:ea typeface="宋体" panose="02010600030101010101" pitchFamily="2" charset="-122"/>
              </a:rPr>
              <a:t>为唯一候选码</a:t>
            </a:r>
            <a:endParaRPr lang="zh-CN" altLang="en-US" dirty="0">
              <a:ea typeface="宋体" panose="02010600030101010101" pitchFamily="2" charset="-122"/>
            </a:endParaRPr>
          </a:p>
          <a:p>
            <a:pPr lvl="1">
              <a:lnSpc>
                <a:spcPct val="10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R2(</a:t>
            </a:r>
            <a:r>
              <a:rPr lang="en-US" altLang="zh-CN" u="sng" dirty="0">
                <a:ea typeface="宋体" panose="02010600030101010101" pitchFamily="2" charset="-122"/>
              </a:rPr>
              <a:t>A</a:t>
            </a:r>
            <a:r>
              <a:rPr lang="en-US" altLang="zh-CN" dirty="0">
                <a:ea typeface="宋体" panose="02010600030101010101" pitchFamily="2" charset="-122"/>
              </a:rPr>
              <a:t>,B), A</a:t>
            </a:r>
            <a:r>
              <a:rPr lang="zh-CN" altLang="en-US" dirty="0">
                <a:ea typeface="宋体" panose="02010600030101010101" pitchFamily="2" charset="-122"/>
              </a:rPr>
              <a:t>为唯一候选码，</a:t>
            </a:r>
            <a:r>
              <a:rPr lang="en-US" altLang="zh-CN" dirty="0">
                <a:ea typeface="宋体" panose="02010600030101010101" pitchFamily="2" charset="-122"/>
              </a:rPr>
              <a:t>B</a:t>
            </a:r>
            <a:r>
              <a:rPr lang="zh-CN" altLang="en-US" dirty="0">
                <a:ea typeface="宋体" panose="02010600030101010101" pitchFamily="2" charset="-122"/>
              </a:rPr>
              <a:t>为外码</a:t>
            </a:r>
            <a:endParaRPr lang="zh-CN" altLang="en-US" dirty="0">
              <a:ea typeface="宋体" panose="02010600030101010101" pitchFamily="2" charset="-122"/>
            </a:endParaRPr>
          </a:p>
          <a:p>
            <a:pPr lvl="1">
              <a:lnSpc>
                <a:spcPct val="100000"/>
              </a:lnSpc>
            </a:pPr>
            <a:r>
              <a:rPr lang="zh-CN" altLang="en-US" dirty="0">
                <a:ea typeface="宋体" panose="02010600030101010101" pitchFamily="2" charset="-122"/>
              </a:rPr>
              <a:t>	这样，</a:t>
            </a:r>
            <a:r>
              <a:rPr lang="en-US" altLang="zh-CN" dirty="0">
                <a:ea typeface="宋体" panose="02010600030101010101" pitchFamily="2" charset="-122"/>
              </a:rPr>
              <a:t>R</a:t>
            </a:r>
            <a:r>
              <a:rPr lang="zh-CN" altLang="en-US" dirty="0">
                <a:ea typeface="宋体" panose="02010600030101010101" pitchFamily="2" charset="-122"/>
              </a:rPr>
              <a:t>可以通过</a:t>
            </a:r>
            <a:r>
              <a:rPr lang="en-US" altLang="zh-CN" dirty="0">
                <a:ea typeface="宋体" panose="02010600030101010101" pitchFamily="2" charset="-122"/>
              </a:rPr>
              <a:t>R1</a:t>
            </a:r>
            <a:r>
              <a:rPr lang="zh-CN" altLang="en-US" dirty="0">
                <a:ea typeface="宋体" panose="02010600030101010101" pitchFamily="2" charset="-122"/>
              </a:rPr>
              <a:t>和</a:t>
            </a:r>
            <a:r>
              <a:rPr lang="en-US" altLang="zh-CN" dirty="0">
                <a:ea typeface="宋体" panose="02010600030101010101" pitchFamily="2" charset="-122"/>
              </a:rPr>
              <a:t>R2</a:t>
            </a:r>
            <a:r>
              <a:rPr lang="zh-CN" altLang="en-US" dirty="0">
                <a:ea typeface="宋体" panose="02010600030101010101" pitchFamily="2" charset="-122"/>
              </a:rPr>
              <a:t>的自然连接运算得以恢复，分解满足</a:t>
            </a:r>
            <a:r>
              <a:rPr lang="zh-CN" altLang="en-US" dirty="0">
                <a:solidFill>
                  <a:schemeClr val="accent1"/>
                </a:solidFill>
                <a:ea typeface="宋体" panose="02010600030101010101" pitchFamily="2" charset="-122"/>
              </a:rPr>
              <a:t>分解的无损连接性</a:t>
            </a:r>
            <a:endParaRPr lang="zh-CN" altLang="en-US" dirty="0">
              <a:solidFill>
                <a:schemeClr val="accent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10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107">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习题</a:t>
            </a:r>
            <a:endParaRPr lang="zh-CN" altLang="en-US">
              <a:ea typeface="宋体" panose="02010600030101010101" pitchFamily="2" charset="-122"/>
            </a:endParaRPr>
          </a:p>
        </p:txBody>
      </p:sp>
      <p:pic>
        <p:nvPicPr>
          <p:cNvPr id="5632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47775" y="795338"/>
            <a:ext cx="6362700" cy="3667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632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2138" y="4335463"/>
            <a:ext cx="5133975" cy="1931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习题</a:t>
            </a:r>
            <a:endParaRPr lang="zh-CN" altLang="en-US">
              <a:ea typeface="宋体" panose="02010600030101010101" pitchFamily="2" charset="-122"/>
            </a:endParaRPr>
          </a:p>
        </p:txBody>
      </p:sp>
      <p:pic>
        <p:nvPicPr>
          <p:cNvPr id="5734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033463"/>
            <a:ext cx="4913313" cy="2547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734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3194050"/>
            <a:ext cx="5291138" cy="310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习题</a:t>
            </a:r>
            <a:endParaRPr lang="zh-CN" altLang="en-US">
              <a:ea typeface="宋体" panose="02010600030101010101" pitchFamily="2" charset="-122"/>
            </a:endParaRPr>
          </a:p>
        </p:txBody>
      </p:sp>
      <p:sp>
        <p:nvSpPr>
          <p:cNvPr id="58371" name="内容占位符 2"/>
          <p:cNvSpPr>
            <a:spLocks noGrp="1"/>
          </p:cNvSpPr>
          <p:nvPr>
            <p:ph idx="1"/>
          </p:nvPr>
        </p:nvSpPr>
        <p:spPr/>
        <p:txBody>
          <a:bodyPr/>
          <a:lstStyle/>
          <a:p>
            <a:pPr marL="0" indent="0">
              <a:lnSpc>
                <a:spcPct val="110000"/>
              </a:lnSpc>
              <a:buFont typeface="Monotype Sorts" pitchFamily="2" charset="2"/>
              <a:buNone/>
            </a:pPr>
            <a:r>
              <a:rPr lang="zh-CN" altLang="zh-CN" sz="2600">
                <a:ea typeface="宋体" panose="02010600030101010101" pitchFamily="2" charset="-122"/>
              </a:rPr>
              <a:t>假设某商业集团数据库中有一关系模式</a:t>
            </a:r>
            <a:r>
              <a:rPr lang="en-US" altLang="zh-CN" sz="2600">
                <a:ea typeface="宋体" panose="02010600030101010101" pitchFamily="2" charset="-122"/>
              </a:rPr>
              <a:t>R</a:t>
            </a:r>
            <a:r>
              <a:rPr lang="zh-CN" altLang="zh-CN" sz="2600">
                <a:ea typeface="宋体" panose="02010600030101010101" pitchFamily="2" charset="-122"/>
              </a:rPr>
              <a:t>如下：</a:t>
            </a:r>
            <a:endParaRPr lang="zh-CN" altLang="zh-CN" sz="2600">
              <a:ea typeface="宋体" panose="02010600030101010101" pitchFamily="2" charset="-122"/>
            </a:endParaRPr>
          </a:p>
          <a:p>
            <a:pPr marL="0" indent="0">
              <a:lnSpc>
                <a:spcPct val="110000"/>
              </a:lnSpc>
              <a:buFont typeface="Monotype Sorts" pitchFamily="2" charset="2"/>
              <a:buNone/>
            </a:pPr>
            <a:r>
              <a:rPr lang="en-US" altLang="zh-CN" sz="2600" b="1">
                <a:solidFill>
                  <a:srgbClr val="FF0000"/>
                </a:solidFill>
                <a:ea typeface="宋体" panose="02010600030101010101" pitchFamily="2" charset="-122"/>
              </a:rPr>
              <a:t>R (</a:t>
            </a:r>
            <a:r>
              <a:rPr lang="zh-CN" altLang="zh-CN" sz="2600" b="1">
                <a:solidFill>
                  <a:srgbClr val="FF0000"/>
                </a:solidFill>
                <a:ea typeface="宋体" panose="02010600030101010101" pitchFamily="2" charset="-122"/>
              </a:rPr>
              <a:t>商店编号，商品编号，数量，部门编号，部门负责人</a:t>
            </a:r>
            <a:r>
              <a:rPr lang="en-US" altLang="zh-CN" sz="2600" b="1">
                <a:solidFill>
                  <a:srgbClr val="FF0000"/>
                </a:solidFill>
                <a:ea typeface="宋体" panose="02010600030101010101" pitchFamily="2" charset="-122"/>
              </a:rPr>
              <a:t>)</a:t>
            </a:r>
            <a:endParaRPr lang="zh-CN" altLang="zh-CN" sz="2600" b="1">
              <a:solidFill>
                <a:srgbClr val="FF0000"/>
              </a:solidFill>
              <a:ea typeface="宋体" panose="02010600030101010101" pitchFamily="2" charset="-122"/>
            </a:endParaRPr>
          </a:p>
          <a:p>
            <a:pPr marL="0" indent="0">
              <a:lnSpc>
                <a:spcPct val="110000"/>
              </a:lnSpc>
              <a:buFont typeface="Monotype Sorts" pitchFamily="2" charset="2"/>
              <a:buNone/>
            </a:pPr>
            <a:r>
              <a:rPr lang="zh-CN" altLang="zh-CN" sz="2600">
                <a:ea typeface="宋体" panose="02010600030101010101" pitchFamily="2" charset="-122"/>
              </a:rPr>
              <a:t>如果规定：</a:t>
            </a:r>
            <a:br>
              <a:rPr lang="en-US" altLang="zh-CN" sz="2600">
                <a:ea typeface="宋体" panose="02010600030101010101" pitchFamily="2" charset="-122"/>
              </a:rPr>
            </a:br>
            <a:r>
              <a:rPr lang="en-US" altLang="zh-CN" sz="2600">
                <a:ea typeface="宋体" panose="02010600030101010101" pitchFamily="2" charset="-122"/>
              </a:rPr>
              <a:t>(1) </a:t>
            </a:r>
            <a:r>
              <a:rPr lang="zh-CN" altLang="zh-CN" sz="2600">
                <a:ea typeface="宋体" panose="02010600030101010101" pitchFamily="2" charset="-122"/>
              </a:rPr>
              <a:t>每个商店的每种商品只在一个部门销售；</a:t>
            </a:r>
            <a:br>
              <a:rPr lang="en-US" altLang="zh-CN" sz="2600">
                <a:ea typeface="宋体" panose="02010600030101010101" pitchFamily="2" charset="-122"/>
              </a:rPr>
            </a:br>
            <a:r>
              <a:rPr lang="en-US" altLang="zh-CN" sz="2600">
                <a:ea typeface="宋体" panose="02010600030101010101" pitchFamily="2" charset="-122"/>
              </a:rPr>
              <a:t>(2) </a:t>
            </a:r>
            <a:r>
              <a:rPr lang="zh-CN" altLang="zh-CN" sz="2600">
                <a:ea typeface="宋体" panose="02010600030101010101" pitchFamily="2" charset="-122"/>
              </a:rPr>
              <a:t>每个商店的每个部门只有一个部门负责人；</a:t>
            </a:r>
            <a:br>
              <a:rPr lang="en-US" altLang="zh-CN" sz="2600">
                <a:ea typeface="宋体" panose="02010600030101010101" pitchFamily="2" charset="-122"/>
              </a:rPr>
            </a:br>
            <a:r>
              <a:rPr lang="en-US" altLang="zh-CN" sz="2600">
                <a:ea typeface="宋体" panose="02010600030101010101" pitchFamily="2" charset="-122"/>
              </a:rPr>
              <a:t>(3) </a:t>
            </a:r>
            <a:r>
              <a:rPr lang="zh-CN" altLang="zh-CN" sz="2600">
                <a:ea typeface="宋体" panose="02010600030101010101" pitchFamily="2" charset="-122"/>
              </a:rPr>
              <a:t>每个商店的每种商品只有一个库存数量。</a:t>
            </a:r>
            <a:br>
              <a:rPr lang="en-US" altLang="zh-CN" sz="2600">
                <a:ea typeface="宋体" panose="02010600030101010101" pitchFamily="2" charset="-122"/>
              </a:rPr>
            </a:br>
            <a:r>
              <a:rPr lang="zh-CN" altLang="zh-CN" sz="2600">
                <a:ea typeface="宋体" panose="02010600030101010101" pitchFamily="2" charset="-122"/>
              </a:rPr>
              <a:t>试回答下列问题：</a:t>
            </a:r>
            <a:br>
              <a:rPr lang="en-US" altLang="zh-CN" sz="2600">
                <a:ea typeface="宋体" panose="02010600030101010101" pitchFamily="2" charset="-122"/>
              </a:rPr>
            </a:br>
            <a:r>
              <a:rPr lang="en-US" altLang="zh-CN" sz="2600">
                <a:ea typeface="宋体" panose="02010600030101010101" pitchFamily="2" charset="-122"/>
              </a:rPr>
              <a:t>(1) </a:t>
            </a:r>
            <a:r>
              <a:rPr lang="zh-CN" altLang="zh-CN" sz="2600">
                <a:ea typeface="宋体" panose="02010600030101010101" pitchFamily="2" charset="-122"/>
              </a:rPr>
              <a:t>根据上述规定，写出关系模式</a:t>
            </a:r>
            <a:r>
              <a:rPr lang="en-US" altLang="zh-CN" sz="2600">
                <a:ea typeface="宋体" panose="02010600030101010101" pitchFamily="2" charset="-122"/>
              </a:rPr>
              <a:t>R</a:t>
            </a:r>
            <a:r>
              <a:rPr lang="zh-CN" altLang="zh-CN" sz="2600">
                <a:ea typeface="宋体" panose="02010600030101010101" pitchFamily="2" charset="-122"/>
              </a:rPr>
              <a:t>的基本函数依赖；</a:t>
            </a:r>
            <a:br>
              <a:rPr lang="en-US" altLang="zh-CN" sz="2600">
                <a:ea typeface="宋体" panose="02010600030101010101" pitchFamily="2" charset="-122"/>
              </a:rPr>
            </a:br>
            <a:r>
              <a:rPr lang="en-US" altLang="zh-CN" sz="2600">
                <a:ea typeface="宋体" panose="02010600030101010101" pitchFamily="2" charset="-122"/>
              </a:rPr>
              <a:t>(2) </a:t>
            </a:r>
            <a:r>
              <a:rPr lang="zh-CN" altLang="zh-CN" sz="2600">
                <a:ea typeface="宋体" panose="02010600030101010101" pitchFamily="2" charset="-122"/>
              </a:rPr>
              <a:t>找出关系模式</a:t>
            </a:r>
            <a:r>
              <a:rPr lang="en-US" altLang="zh-CN" sz="2600">
                <a:ea typeface="宋体" panose="02010600030101010101" pitchFamily="2" charset="-122"/>
              </a:rPr>
              <a:t>R</a:t>
            </a:r>
            <a:r>
              <a:rPr lang="zh-CN" altLang="zh-CN" sz="2600">
                <a:ea typeface="宋体" panose="02010600030101010101" pitchFamily="2" charset="-122"/>
              </a:rPr>
              <a:t>的候选码；</a:t>
            </a:r>
            <a:br>
              <a:rPr lang="en-US" altLang="zh-CN" sz="2600">
                <a:ea typeface="宋体" panose="02010600030101010101" pitchFamily="2" charset="-122"/>
              </a:rPr>
            </a:br>
            <a:r>
              <a:rPr lang="en-US" altLang="zh-CN" sz="2600">
                <a:ea typeface="宋体" panose="02010600030101010101" pitchFamily="2" charset="-122"/>
              </a:rPr>
              <a:t>(3) </a:t>
            </a:r>
            <a:r>
              <a:rPr lang="zh-CN" altLang="zh-CN" sz="2600">
                <a:ea typeface="宋体" panose="02010600030101010101" pitchFamily="2" charset="-122"/>
              </a:rPr>
              <a:t>试问关系模式</a:t>
            </a:r>
            <a:r>
              <a:rPr lang="en-US" altLang="zh-CN" sz="2600">
                <a:ea typeface="宋体" panose="02010600030101010101" pitchFamily="2" charset="-122"/>
              </a:rPr>
              <a:t>R</a:t>
            </a:r>
            <a:r>
              <a:rPr lang="zh-CN" altLang="zh-CN" sz="2600">
                <a:ea typeface="宋体" panose="02010600030101010101" pitchFamily="2" charset="-122"/>
              </a:rPr>
              <a:t>最高已经达到第几范式？为什么？</a:t>
            </a:r>
            <a:br>
              <a:rPr lang="en-US" altLang="zh-CN" sz="2600">
                <a:ea typeface="宋体" panose="02010600030101010101" pitchFamily="2" charset="-122"/>
              </a:rPr>
            </a:br>
            <a:r>
              <a:rPr lang="en-US" altLang="zh-CN" sz="2600">
                <a:ea typeface="宋体" panose="02010600030101010101" pitchFamily="2" charset="-122"/>
              </a:rPr>
              <a:t>(4) </a:t>
            </a:r>
            <a:r>
              <a:rPr lang="zh-CN" altLang="zh-CN" sz="2600">
                <a:ea typeface="宋体" panose="02010600030101010101" pitchFamily="2" charset="-122"/>
              </a:rPr>
              <a:t>如果</a:t>
            </a:r>
            <a:r>
              <a:rPr lang="en-US" altLang="zh-CN" sz="2600">
                <a:ea typeface="宋体" panose="02010600030101010101" pitchFamily="2" charset="-122"/>
              </a:rPr>
              <a:t>R</a:t>
            </a:r>
            <a:r>
              <a:rPr lang="zh-CN" altLang="zh-CN" sz="2600">
                <a:ea typeface="宋体" panose="02010600030101010101" pitchFamily="2" charset="-122"/>
              </a:rPr>
              <a:t>不属于</a:t>
            </a:r>
            <a:r>
              <a:rPr lang="en-US" altLang="zh-CN" sz="2600">
                <a:ea typeface="宋体" panose="02010600030101010101" pitchFamily="2" charset="-122"/>
              </a:rPr>
              <a:t>3NF</a:t>
            </a:r>
            <a:r>
              <a:rPr lang="zh-CN" altLang="zh-CN" sz="2600">
                <a:ea typeface="宋体" panose="02010600030101010101" pitchFamily="2" charset="-122"/>
              </a:rPr>
              <a:t>，请将</a:t>
            </a:r>
            <a:r>
              <a:rPr lang="en-US" altLang="zh-CN" sz="2600">
                <a:ea typeface="宋体" panose="02010600030101010101" pitchFamily="2" charset="-122"/>
              </a:rPr>
              <a:t>R</a:t>
            </a:r>
            <a:r>
              <a:rPr lang="zh-CN" altLang="zh-CN" sz="2600">
                <a:ea typeface="宋体" panose="02010600030101010101" pitchFamily="2" charset="-122"/>
              </a:rPr>
              <a:t>分解成</a:t>
            </a:r>
            <a:r>
              <a:rPr lang="en-US" altLang="zh-CN" sz="2600">
                <a:ea typeface="宋体" panose="02010600030101010101" pitchFamily="2" charset="-122"/>
              </a:rPr>
              <a:t>3NF</a:t>
            </a:r>
            <a:r>
              <a:rPr lang="zh-CN" altLang="zh-CN" sz="2600">
                <a:ea typeface="宋体" panose="02010600030101010101" pitchFamily="2" charset="-122"/>
              </a:rPr>
              <a:t>模式集。</a:t>
            </a:r>
            <a:endParaRPr lang="zh-CN" altLang="en-US" sz="2600">
              <a:ea typeface="宋体" panose="02010600030101010101" pitchFamily="2"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习题</a:t>
            </a:r>
            <a:endParaRPr lang="zh-CN" altLang="en-US">
              <a:ea typeface="宋体" panose="02010600030101010101" pitchFamily="2" charset="-122"/>
            </a:endParaRPr>
          </a:p>
        </p:txBody>
      </p:sp>
      <p:sp>
        <p:nvSpPr>
          <p:cNvPr id="59395" name="内容占位符 2"/>
          <p:cNvSpPr>
            <a:spLocks noGrp="1"/>
          </p:cNvSpPr>
          <p:nvPr>
            <p:ph idx="1"/>
          </p:nvPr>
        </p:nvSpPr>
        <p:spPr/>
        <p:txBody>
          <a:bodyPr>
            <a:normAutofit/>
          </a:bodyPr>
          <a:lstStyle/>
          <a:p>
            <a:pPr marL="0" indent="0">
              <a:lnSpc>
                <a:spcPct val="110000"/>
              </a:lnSpc>
              <a:buFont typeface="Monotype Sorts" pitchFamily="2" charset="2"/>
              <a:buNone/>
            </a:pPr>
            <a:r>
              <a:rPr lang="en-US" altLang="zh-CN" sz="2600" dirty="0">
                <a:ea typeface="宋体" panose="02010600030101010101" pitchFamily="2" charset="-122"/>
              </a:rPr>
              <a:t>(1) </a:t>
            </a:r>
            <a:r>
              <a:rPr lang="zh-CN" altLang="zh-CN" sz="2600" dirty="0">
                <a:ea typeface="宋体" panose="02010600030101010101" pitchFamily="2" charset="-122"/>
              </a:rPr>
              <a:t>有三个函数依赖：</a:t>
            </a:r>
            <a:br>
              <a:rPr lang="en-US" altLang="zh-CN" sz="2600" dirty="0">
                <a:ea typeface="宋体" panose="02010600030101010101" pitchFamily="2" charset="-122"/>
              </a:rPr>
            </a:br>
            <a:r>
              <a:rPr lang="en-US" altLang="zh-CN" sz="2400" dirty="0">
                <a:ea typeface="宋体" panose="02010600030101010101" pitchFamily="2" charset="-122"/>
              </a:rPr>
              <a:t>(</a:t>
            </a:r>
            <a:r>
              <a:rPr lang="zh-CN" altLang="zh-CN" sz="2400" dirty="0">
                <a:ea typeface="宋体" panose="02010600030101010101" pitchFamily="2" charset="-122"/>
              </a:rPr>
              <a:t>商店编号，商品编号</a:t>
            </a:r>
            <a:r>
              <a:rPr lang="en-US" altLang="zh-CN" sz="2400" dirty="0">
                <a:ea typeface="宋体" panose="02010600030101010101" pitchFamily="2" charset="-122"/>
              </a:rPr>
              <a:t>) </a:t>
            </a:r>
            <a:r>
              <a:rPr lang="zh-CN" altLang="zh-CN" sz="2400" dirty="0">
                <a:ea typeface="宋体" panose="02010600030101010101" pitchFamily="2" charset="-122"/>
              </a:rPr>
              <a:t>→部门编号</a:t>
            </a:r>
            <a:br>
              <a:rPr lang="en-US" altLang="zh-CN" sz="2400" dirty="0">
                <a:ea typeface="宋体" panose="02010600030101010101" pitchFamily="2" charset="-122"/>
              </a:rPr>
            </a:br>
            <a:r>
              <a:rPr lang="en-US" altLang="zh-CN" sz="2400" dirty="0">
                <a:solidFill>
                  <a:schemeClr val="accent5">
                    <a:lumMod val="50000"/>
                  </a:schemeClr>
                </a:solidFill>
                <a:ea typeface="宋体" panose="02010600030101010101" pitchFamily="2" charset="-122"/>
              </a:rPr>
              <a:t>(</a:t>
            </a:r>
            <a:r>
              <a:rPr lang="zh-CN" altLang="zh-CN" sz="2400" dirty="0">
                <a:solidFill>
                  <a:schemeClr val="accent5">
                    <a:lumMod val="50000"/>
                  </a:schemeClr>
                </a:solidFill>
                <a:ea typeface="宋体" panose="02010600030101010101" pitchFamily="2" charset="-122"/>
              </a:rPr>
              <a:t>商店编号，商品编号</a:t>
            </a:r>
            <a:r>
              <a:rPr lang="en-US" altLang="zh-CN" sz="2400" dirty="0">
                <a:solidFill>
                  <a:schemeClr val="accent5">
                    <a:lumMod val="50000"/>
                  </a:schemeClr>
                </a:solidFill>
                <a:ea typeface="宋体" panose="02010600030101010101" pitchFamily="2" charset="-122"/>
              </a:rPr>
              <a:t>)</a:t>
            </a:r>
            <a:r>
              <a:rPr lang="zh-CN" altLang="zh-CN" sz="2400" dirty="0">
                <a:solidFill>
                  <a:schemeClr val="accent5">
                    <a:lumMod val="50000"/>
                  </a:schemeClr>
                </a:solidFill>
                <a:ea typeface="宋体" panose="02010600030101010101" pitchFamily="2" charset="-122"/>
              </a:rPr>
              <a:t> →</a:t>
            </a:r>
            <a:r>
              <a:rPr lang="en-US" altLang="zh-CN" sz="2400" dirty="0">
                <a:ea typeface="宋体" panose="02010600030101010101" pitchFamily="2" charset="-122"/>
              </a:rPr>
              <a:t>(</a:t>
            </a:r>
            <a:r>
              <a:rPr lang="zh-CN" altLang="zh-CN" sz="2400" dirty="0">
                <a:ea typeface="宋体" panose="02010600030101010101" pitchFamily="2" charset="-122"/>
              </a:rPr>
              <a:t>商店编号，部门编号</a:t>
            </a:r>
            <a:r>
              <a:rPr lang="en-US" altLang="zh-CN" sz="2400" dirty="0">
                <a:ea typeface="宋体" panose="02010600030101010101" pitchFamily="2" charset="-122"/>
              </a:rPr>
              <a:t>) </a:t>
            </a:r>
            <a:r>
              <a:rPr lang="zh-CN" altLang="zh-CN" sz="2400" dirty="0">
                <a:ea typeface="宋体" panose="02010600030101010101" pitchFamily="2" charset="-122"/>
              </a:rPr>
              <a:t>→部门负责人</a:t>
            </a:r>
            <a:br>
              <a:rPr lang="en-US" altLang="zh-CN" sz="2400" dirty="0">
                <a:ea typeface="宋体" panose="02010600030101010101" pitchFamily="2" charset="-122"/>
              </a:rPr>
            </a:br>
            <a:r>
              <a:rPr lang="en-US" altLang="zh-CN" sz="2400" dirty="0">
                <a:ea typeface="宋体" panose="02010600030101010101" pitchFamily="2" charset="-122"/>
              </a:rPr>
              <a:t>(</a:t>
            </a:r>
            <a:r>
              <a:rPr lang="zh-CN" altLang="zh-CN" sz="2400" dirty="0">
                <a:ea typeface="宋体" panose="02010600030101010101" pitchFamily="2" charset="-122"/>
              </a:rPr>
              <a:t>商店编号，商品编号</a:t>
            </a:r>
            <a:r>
              <a:rPr lang="en-US" altLang="zh-CN" sz="2400" dirty="0">
                <a:ea typeface="宋体" panose="02010600030101010101" pitchFamily="2" charset="-122"/>
              </a:rPr>
              <a:t>) </a:t>
            </a:r>
            <a:r>
              <a:rPr lang="zh-CN" altLang="zh-CN" sz="2400" dirty="0">
                <a:ea typeface="宋体" panose="02010600030101010101" pitchFamily="2" charset="-122"/>
              </a:rPr>
              <a:t>→数量</a:t>
            </a:r>
            <a:endParaRPr lang="zh-CN" altLang="zh-CN" sz="2400" dirty="0">
              <a:ea typeface="宋体" panose="02010600030101010101" pitchFamily="2" charset="-122"/>
            </a:endParaRPr>
          </a:p>
          <a:p>
            <a:pPr marL="0" indent="0">
              <a:lnSpc>
                <a:spcPct val="110000"/>
              </a:lnSpc>
              <a:buFont typeface="Monotype Sorts" pitchFamily="2" charset="2"/>
              <a:buNone/>
            </a:pPr>
            <a:r>
              <a:rPr lang="en-US" altLang="zh-CN" sz="2600" dirty="0">
                <a:ea typeface="宋体" panose="02010600030101010101" pitchFamily="2" charset="-122"/>
              </a:rPr>
              <a:t>(2)  R</a:t>
            </a:r>
            <a:r>
              <a:rPr lang="zh-CN" altLang="zh-CN" sz="2600" dirty="0">
                <a:ea typeface="宋体" panose="02010600030101010101" pitchFamily="2" charset="-122"/>
              </a:rPr>
              <a:t>的候选码是</a:t>
            </a:r>
            <a:r>
              <a:rPr lang="en-US" altLang="zh-CN" sz="2600" dirty="0">
                <a:ea typeface="宋体" panose="02010600030101010101" pitchFamily="2" charset="-122"/>
              </a:rPr>
              <a:t> (</a:t>
            </a:r>
            <a:r>
              <a:rPr lang="zh-CN" altLang="zh-CN" sz="2600" dirty="0">
                <a:ea typeface="宋体" panose="02010600030101010101" pitchFamily="2" charset="-122"/>
              </a:rPr>
              <a:t>商店编号，商品编号</a:t>
            </a:r>
            <a:r>
              <a:rPr lang="en-US" altLang="zh-CN" sz="2600" dirty="0">
                <a:ea typeface="宋体" panose="02010600030101010101" pitchFamily="2" charset="-122"/>
              </a:rPr>
              <a:t>)</a:t>
            </a:r>
            <a:endParaRPr lang="zh-CN" altLang="zh-CN" sz="2600" dirty="0">
              <a:ea typeface="宋体" panose="02010600030101010101" pitchFamily="2" charset="-122"/>
            </a:endParaRPr>
          </a:p>
          <a:p>
            <a:pPr marL="0" indent="0">
              <a:lnSpc>
                <a:spcPct val="110000"/>
              </a:lnSpc>
              <a:buFont typeface="Monotype Sorts" pitchFamily="2" charset="2"/>
              <a:buNone/>
            </a:pPr>
            <a:r>
              <a:rPr lang="en-US" altLang="zh-CN" sz="2600" dirty="0">
                <a:ea typeface="宋体" panose="02010600030101010101" pitchFamily="2" charset="-122"/>
              </a:rPr>
              <a:t>(3) </a:t>
            </a:r>
            <a:r>
              <a:rPr lang="zh-CN" altLang="zh-CN" sz="2600" dirty="0">
                <a:ea typeface="宋体" panose="02010600030101010101" pitchFamily="2" charset="-122"/>
              </a:rPr>
              <a:t>因为</a:t>
            </a:r>
            <a:r>
              <a:rPr lang="en-US" altLang="zh-CN" sz="2600" dirty="0">
                <a:ea typeface="宋体" panose="02010600030101010101" pitchFamily="2" charset="-122"/>
              </a:rPr>
              <a:t>R</a:t>
            </a:r>
            <a:r>
              <a:rPr lang="zh-CN" altLang="zh-CN" sz="2600" dirty="0">
                <a:ea typeface="宋体" panose="02010600030101010101" pitchFamily="2" charset="-122"/>
              </a:rPr>
              <a:t>中存在着非主属性</a:t>
            </a:r>
            <a:r>
              <a:rPr lang="en-US" altLang="zh-CN" sz="2600" dirty="0">
                <a:ea typeface="宋体" panose="02010600030101010101" pitchFamily="2" charset="-122"/>
              </a:rPr>
              <a:t>"</a:t>
            </a:r>
            <a:r>
              <a:rPr lang="zh-CN" altLang="zh-CN" sz="2600" dirty="0">
                <a:ea typeface="宋体" panose="02010600030101010101" pitchFamily="2" charset="-122"/>
              </a:rPr>
              <a:t>部门负责人</a:t>
            </a:r>
            <a:r>
              <a:rPr lang="en-US" altLang="zh-CN" sz="2600" dirty="0">
                <a:ea typeface="宋体" panose="02010600030101010101" pitchFamily="2" charset="-122"/>
              </a:rPr>
              <a:t>"</a:t>
            </a:r>
            <a:r>
              <a:rPr lang="zh-CN" altLang="zh-CN" sz="2600" dirty="0">
                <a:ea typeface="宋体" panose="02010600030101010101" pitchFamily="2" charset="-122"/>
              </a:rPr>
              <a:t>对候选码</a:t>
            </a:r>
            <a:r>
              <a:rPr lang="en-US" altLang="zh-CN" sz="2600" dirty="0">
                <a:ea typeface="宋体" panose="02010600030101010101" pitchFamily="2" charset="-122"/>
              </a:rPr>
              <a:t> (</a:t>
            </a:r>
            <a:r>
              <a:rPr lang="zh-CN" altLang="zh-CN" sz="2600" dirty="0">
                <a:ea typeface="宋体" panose="02010600030101010101" pitchFamily="2" charset="-122"/>
              </a:rPr>
              <a:t>商店编号、商品编号</a:t>
            </a:r>
            <a:r>
              <a:rPr lang="en-US" altLang="zh-CN" sz="2600" dirty="0">
                <a:ea typeface="宋体" panose="02010600030101010101" pitchFamily="2" charset="-122"/>
              </a:rPr>
              <a:t>)</a:t>
            </a:r>
            <a:r>
              <a:rPr lang="zh-CN" altLang="zh-CN" sz="2600" dirty="0">
                <a:ea typeface="宋体" panose="02010600030101010101" pitchFamily="2" charset="-122"/>
              </a:rPr>
              <a:t>的传递函数依赖，所以</a:t>
            </a:r>
            <a:r>
              <a:rPr lang="en-US" altLang="zh-CN" sz="2600" dirty="0">
                <a:ea typeface="宋体" panose="02010600030101010101" pitchFamily="2" charset="-122"/>
              </a:rPr>
              <a:t>R</a:t>
            </a:r>
            <a:r>
              <a:rPr lang="zh-CN" altLang="zh-CN" sz="2600" dirty="0">
                <a:ea typeface="宋体" panose="02010600030101010101" pitchFamily="2" charset="-122"/>
              </a:rPr>
              <a:t>属于</a:t>
            </a:r>
            <a:r>
              <a:rPr lang="en-US" altLang="zh-CN" sz="2600" dirty="0">
                <a:ea typeface="宋体" panose="02010600030101010101" pitchFamily="2" charset="-122"/>
              </a:rPr>
              <a:t>2NF</a:t>
            </a:r>
            <a:r>
              <a:rPr lang="zh-CN" altLang="zh-CN" sz="2600" dirty="0">
                <a:ea typeface="宋体" panose="02010600030101010101" pitchFamily="2" charset="-122"/>
              </a:rPr>
              <a:t>，</a:t>
            </a:r>
            <a:r>
              <a:rPr lang="en-US" altLang="zh-CN" sz="2600" dirty="0">
                <a:ea typeface="宋体" panose="02010600030101010101" pitchFamily="2" charset="-122"/>
              </a:rPr>
              <a:t>R</a:t>
            </a:r>
            <a:r>
              <a:rPr lang="zh-CN" altLang="zh-CN" sz="2600" dirty="0">
                <a:ea typeface="宋体" panose="02010600030101010101" pitchFamily="2" charset="-122"/>
              </a:rPr>
              <a:t>不属于</a:t>
            </a:r>
            <a:r>
              <a:rPr lang="en-US" altLang="zh-CN" sz="2600" dirty="0">
                <a:ea typeface="宋体" panose="02010600030101010101" pitchFamily="2" charset="-122"/>
              </a:rPr>
              <a:t>3NF</a:t>
            </a:r>
            <a:r>
              <a:rPr lang="zh-CN" altLang="zh-CN" sz="2600" dirty="0">
                <a:ea typeface="宋体" panose="02010600030101010101" pitchFamily="2" charset="-122"/>
              </a:rPr>
              <a:t>。</a:t>
            </a:r>
            <a:endParaRPr lang="zh-CN" altLang="zh-CN" sz="2600" dirty="0">
              <a:ea typeface="宋体" panose="02010600030101010101" pitchFamily="2" charset="-122"/>
            </a:endParaRPr>
          </a:p>
          <a:p>
            <a:pPr marL="0" indent="0">
              <a:lnSpc>
                <a:spcPct val="110000"/>
              </a:lnSpc>
              <a:buFont typeface="Monotype Sorts" pitchFamily="2" charset="2"/>
              <a:buNone/>
            </a:pPr>
            <a:r>
              <a:rPr lang="en-US" altLang="zh-CN" sz="2600" dirty="0">
                <a:ea typeface="宋体" panose="02010600030101010101" pitchFamily="2" charset="-122"/>
              </a:rPr>
              <a:t>(4) </a:t>
            </a:r>
            <a:r>
              <a:rPr lang="zh-CN" altLang="zh-CN" sz="2600" dirty="0">
                <a:ea typeface="宋体" panose="02010600030101010101" pitchFamily="2" charset="-122"/>
              </a:rPr>
              <a:t>将</a:t>
            </a:r>
            <a:r>
              <a:rPr lang="en-US" altLang="zh-CN" sz="2600" dirty="0">
                <a:ea typeface="宋体" panose="02010600030101010101" pitchFamily="2" charset="-122"/>
              </a:rPr>
              <a:t>R</a:t>
            </a:r>
            <a:r>
              <a:rPr lang="zh-CN" altLang="zh-CN" sz="2600" dirty="0">
                <a:ea typeface="宋体" panose="02010600030101010101" pitchFamily="2" charset="-122"/>
              </a:rPr>
              <a:t>分解成：</a:t>
            </a:r>
            <a:br>
              <a:rPr lang="en-US" altLang="zh-CN" sz="2600" dirty="0">
                <a:ea typeface="宋体" panose="02010600030101010101" pitchFamily="2" charset="-122"/>
              </a:rPr>
            </a:br>
            <a:r>
              <a:rPr lang="en-US" altLang="zh-CN" sz="2600" dirty="0">
                <a:ea typeface="宋体" panose="02010600030101010101" pitchFamily="2" charset="-122"/>
              </a:rPr>
              <a:t>R1 (</a:t>
            </a:r>
            <a:r>
              <a:rPr lang="zh-CN" altLang="zh-CN" sz="2600" u="sng" dirty="0">
                <a:ea typeface="宋体" panose="02010600030101010101" pitchFamily="2" charset="-122"/>
              </a:rPr>
              <a:t>商店编号，商品编号</a:t>
            </a:r>
            <a:r>
              <a:rPr lang="zh-CN" altLang="zh-CN" sz="2600" dirty="0">
                <a:ea typeface="宋体" panose="02010600030101010101" pitchFamily="2" charset="-122"/>
              </a:rPr>
              <a:t>，数量，部门编号</a:t>
            </a:r>
            <a:r>
              <a:rPr lang="en-US" altLang="zh-CN" sz="2600" dirty="0">
                <a:ea typeface="宋体" panose="02010600030101010101" pitchFamily="2" charset="-122"/>
              </a:rPr>
              <a:t>)</a:t>
            </a:r>
            <a:br>
              <a:rPr lang="en-US" altLang="zh-CN" sz="2600" dirty="0">
                <a:ea typeface="宋体" panose="02010600030101010101" pitchFamily="2" charset="-122"/>
              </a:rPr>
            </a:br>
            <a:r>
              <a:rPr lang="en-US" altLang="zh-CN" sz="2600" dirty="0">
                <a:ea typeface="宋体" panose="02010600030101010101" pitchFamily="2" charset="-122"/>
              </a:rPr>
              <a:t>R2 (</a:t>
            </a:r>
            <a:r>
              <a:rPr lang="zh-CN" altLang="zh-CN" sz="2600" u="sng" dirty="0">
                <a:ea typeface="宋体" panose="02010600030101010101" pitchFamily="2" charset="-122"/>
              </a:rPr>
              <a:t>商店编号，部门编号</a:t>
            </a:r>
            <a:r>
              <a:rPr lang="zh-CN" altLang="zh-CN" sz="2600" dirty="0">
                <a:ea typeface="宋体" panose="02010600030101010101" pitchFamily="2" charset="-122"/>
              </a:rPr>
              <a:t>，部门负责人</a:t>
            </a:r>
            <a:r>
              <a:rPr lang="en-US" altLang="zh-CN" sz="2600" dirty="0">
                <a:ea typeface="宋体" panose="02010600030101010101" pitchFamily="2" charset="-122"/>
              </a:rPr>
              <a:t>)</a:t>
            </a:r>
            <a:endParaRPr lang="zh-CN" altLang="en-US" sz="2600" dirty="0">
              <a:ea typeface="宋体" panose="0201060003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Rectangle 2"/>
          <p:cNvSpPr>
            <a:spLocks noGrp="1" noChangeArrowheads="1"/>
          </p:cNvSpPr>
          <p:nvPr>
            <p:ph type="title"/>
          </p:nvPr>
        </p:nvSpPr>
        <p:spPr/>
        <p:txBody>
          <a:bodyPr/>
          <a:lstStyle/>
          <a:p>
            <a:pPr>
              <a:defRPr/>
            </a:pPr>
            <a:r>
              <a:rPr lang="en-US" altLang="zh-CN">
                <a:latin typeface="Arial" panose="020B0604020202020204" pitchFamily="34" charset="0"/>
              </a:rPr>
              <a:t>BCNF</a:t>
            </a:r>
            <a:endParaRPr lang="en-US" altLang="zh-CN">
              <a:latin typeface="Arial" panose="020B0604020202020204" pitchFamily="34" charset="0"/>
            </a:endParaRPr>
          </a:p>
        </p:txBody>
      </p:sp>
      <p:sp>
        <p:nvSpPr>
          <p:cNvPr id="60419" name="Line 3"/>
          <p:cNvSpPr>
            <a:spLocks noChangeShapeType="1"/>
          </p:cNvSpPr>
          <p:nvPr/>
        </p:nvSpPr>
        <p:spPr bwMode="auto">
          <a:xfrm>
            <a:off x="3852863" y="4448175"/>
            <a:ext cx="3048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miter lim="800000"/>
                <a:headEnd/>
                <a:tailEnd/>
              </a14:hiddenLine>
            </a:ext>
          </a:extLst>
        </p:spPr>
        <p:txBody>
          <a:bodyPr wrap="none"/>
          <a:lstStyle/>
          <a:p>
            <a:endParaRPr lang="zh-CN" altLang="en-US"/>
          </a:p>
        </p:txBody>
      </p:sp>
      <p:sp>
        <p:nvSpPr>
          <p:cNvPr id="60420" name="Line 4"/>
          <p:cNvSpPr>
            <a:spLocks noChangeShapeType="1"/>
          </p:cNvSpPr>
          <p:nvPr/>
        </p:nvSpPr>
        <p:spPr bwMode="auto">
          <a:xfrm>
            <a:off x="3852863" y="4965700"/>
            <a:ext cx="3048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miter lim="800000"/>
                <a:headEnd/>
                <a:tailEnd/>
              </a14:hiddenLine>
            </a:ext>
          </a:extLst>
        </p:spPr>
        <p:txBody>
          <a:bodyPr wrap="none"/>
          <a:lstStyle/>
          <a:p>
            <a:endParaRPr lang="zh-CN" altLang="en-US"/>
          </a:p>
        </p:txBody>
      </p:sp>
      <p:sp>
        <p:nvSpPr>
          <p:cNvPr id="60421" name="Line 5"/>
          <p:cNvSpPr>
            <a:spLocks noChangeShapeType="1"/>
          </p:cNvSpPr>
          <p:nvPr/>
        </p:nvSpPr>
        <p:spPr bwMode="auto">
          <a:xfrm>
            <a:off x="5291138" y="4448175"/>
            <a:ext cx="27781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miter lim="800000"/>
                <a:headEnd/>
                <a:tailEnd/>
              </a14:hiddenLine>
            </a:ext>
          </a:extLst>
        </p:spPr>
        <p:txBody>
          <a:bodyPr wrap="none"/>
          <a:lstStyle/>
          <a:p>
            <a:endParaRPr lang="zh-CN" altLang="en-US"/>
          </a:p>
        </p:txBody>
      </p:sp>
      <p:sp>
        <p:nvSpPr>
          <p:cNvPr id="60422" name="Line 6"/>
          <p:cNvSpPr>
            <a:spLocks noChangeShapeType="1"/>
          </p:cNvSpPr>
          <p:nvPr/>
        </p:nvSpPr>
        <p:spPr bwMode="auto">
          <a:xfrm>
            <a:off x="5291138" y="4965700"/>
            <a:ext cx="27781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miter lim="800000"/>
                <a:headEnd/>
                <a:tailEnd/>
              </a14:hiddenLine>
            </a:ext>
          </a:extLst>
        </p:spPr>
        <p:txBody>
          <a:bodyPr wrap="none"/>
          <a:lstStyle/>
          <a:p>
            <a:endParaRPr lang="zh-CN" altLang="en-US"/>
          </a:p>
        </p:txBody>
      </p:sp>
      <p:grpSp>
        <p:nvGrpSpPr>
          <p:cNvPr id="2" name="Group 7"/>
          <p:cNvGrpSpPr/>
          <p:nvPr/>
        </p:nvGrpSpPr>
        <p:grpSpPr bwMode="auto">
          <a:xfrm>
            <a:off x="2411413" y="4448175"/>
            <a:ext cx="4321175" cy="519113"/>
            <a:chOff x="1519" y="3203"/>
            <a:chExt cx="2722" cy="327"/>
          </a:xfrm>
        </p:grpSpPr>
        <p:sp>
          <p:nvSpPr>
            <p:cNvPr id="60438" name="Rectangle 8"/>
            <p:cNvSpPr>
              <a:spLocks noChangeArrowheads="1"/>
            </p:cNvSpPr>
            <p:nvPr/>
          </p:nvSpPr>
          <p:spPr bwMode="auto">
            <a:xfrm>
              <a:off x="3508" y="3203"/>
              <a:ext cx="73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accent1"/>
                </a:buClr>
                <a:buSzPct val="65000"/>
                <a:buFont typeface="Wingdings" panose="05000000000000000000" pitchFamily="2" charset="2"/>
                <a:buNone/>
              </a:pPr>
              <a:r>
                <a:rPr kumimoji="0" lang="en-US" altLang="zh-CN" sz="2600">
                  <a:solidFill>
                    <a:schemeClr val="hlink"/>
                  </a:solidFill>
                  <a:ea typeface="宋体" panose="02010600030101010101" pitchFamily="2" charset="-122"/>
                </a:rPr>
                <a:t>CNO</a:t>
              </a:r>
              <a:endParaRPr kumimoji="0" lang="en-US" altLang="zh-CN" sz="2600">
                <a:solidFill>
                  <a:schemeClr val="hlink"/>
                </a:solidFill>
                <a:ea typeface="宋体" panose="02010600030101010101" pitchFamily="2" charset="-122"/>
              </a:endParaRPr>
            </a:p>
          </p:txBody>
        </p:sp>
        <p:sp>
          <p:nvSpPr>
            <p:cNvPr id="60439" name="Rectangle 9"/>
            <p:cNvSpPr>
              <a:spLocks noChangeArrowheads="1"/>
            </p:cNvSpPr>
            <p:nvPr/>
          </p:nvSpPr>
          <p:spPr bwMode="auto">
            <a:xfrm>
              <a:off x="2619" y="3203"/>
              <a:ext cx="71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accent1"/>
                </a:buClr>
                <a:buSzPct val="65000"/>
                <a:buFont typeface="Wingdings" panose="05000000000000000000" pitchFamily="2" charset="2"/>
                <a:buNone/>
              </a:pPr>
              <a:r>
                <a:rPr kumimoji="0" lang="en-US" altLang="zh-CN" sz="2600">
                  <a:solidFill>
                    <a:schemeClr val="hlink"/>
                  </a:solidFill>
                  <a:ea typeface="宋体" panose="02010600030101010101" pitchFamily="2" charset="-122"/>
                </a:rPr>
                <a:t>TNO</a:t>
              </a:r>
              <a:endParaRPr kumimoji="0" lang="en-US" altLang="zh-CN" sz="2600">
                <a:solidFill>
                  <a:schemeClr val="hlink"/>
                </a:solidFill>
                <a:ea typeface="宋体" panose="02010600030101010101" pitchFamily="2" charset="-122"/>
              </a:endParaRPr>
            </a:p>
          </p:txBody>
        </p:sp>
        <p:sp>
          <p:nvSpPr>
            <p:cNvPr id="60440" name="Rectangle 10"/>
            <p:cNvSpPr>
              <a:spLocks noChangeArrowheads="1"/>
            </p:cNvSpPr>
            <p:nvPr/>
          </p:nvSpPr>
          <p:spPr bwMode="auto">
            <a:xfrm>
              <a:off x="3333" y="3203"/>
              <a:ext cx="175"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accent1"/>
                </a:buClr>
                <a:buSzPct val="65000"/>
                <a:buFont typeface="Wingdings" panose="05000000000000000000" pitchFamily="2" charset="2"/>
                <a:buNone/>
              </a:pPr>
              <a:endParaRPr kumimoji="0" lang="zh-CN" altLang="zh-CN" sz="2600">
                <a:solidFill>
                  <a:schemeClr val="hlink"/>
                </a:solidFill>
                <a:ea typeface="宋体" panose="02010600030101010101" pitchFamily="2" charset="-122"/>
              </a:endParaRPr>
            </a:p>
          </p:txBody>
        </p:sp>
        <p:sp>
          <p:nvSpPr>
            <p:cNvPr id="60441" name="Rectangle 11"/>
            <p:cNvSpPr>
              <a:spLocks noChangeArrowheads="1"/>
            </p:cNvSpPr>
            <p:nvPr/>
          </p:nvSpPr>
          <p:spPr bwMode="auto">
            <a:xfrm>
              <a:off x="2427" y="3203"/>
              <a:ext cx="192"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accent1"/>
                </a:buClr>
                <a:buSzPct val="65000"/>
                <a:buFont typeface="Wingdings" panose="05000000000000000000" pitchFamily="2" charset="2"/>
                <a:buNone/>
              </a:pPr>
              <a:endParaRPr kumimoji="0" lang="zh-CN" altLang="zh-CN" sz="2600">
                <a:ea typeface="宋体" panose="02010600030101010101" pitchFamily="2" charset="-122"/>
              </a:endParaRPr>
            </a:p>
          </p:txBody>
        </p:sp>
        <p:sp>
          <p:nvSpPr>
            <p:cNvPr id="60442" name="Rectangle 12"/>
            <p:cNvSpPr>
              <a:spLocks noChangeArrowheads="1"/>
            </p:cNvSpPr>
            <p:nvPr/>
          </p:nvSpPr>
          <p:spPr bwMode="auto">
            <a:xfrm>
              <a:off x="1519" y="3203"/>
              <a:ext cx="90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20000"/>
                </a:spcBef>
                <a:buClr>
                  <a:schemeClr val="accent1"/>
                </a:buClr>
                <a:buSzPct val="65000"/>
                <a:buFont typeface="Wingdings" panose="05000000000000000000" pitchFamily="2" charset="2"/>
                <a:buNone/>
              </a:pPr>
              <a:r>
                <a:rPr kumimoji="0" lang="en-US" altLang="zh-CN" sz="2600">
                  <a:solidFill>
                    <a:schemeClr val="hlink"/>
                  </a:solidFill>
                  <a:ea typeface="宋体" panose="02010600030101010101" pitchFamily="2" charset="-122"/>
                </a:rPr>
                <a:t>SNO</a:t>
              </a:r>
              <a:endParaRPr kumimoji="0" lang="en-US" altLang="zh-CN" sz="2600">
                <a:solidFill>
                  <a:schemeClr val="hlink"/>
                </a:solidFill>
                <a:ea typeface="宋体" panose="02010600030101010101" pitchFamily="2" charset="-122"/>
              </a:endParaRPr>
            </a:p>
          </p:txBody>
        </p:sp>
        <p:sp>
          <p:nvSpPr>
            <p:cNvPr id="60443" name="Line 13"/>
            <p:cNvSpPr>
              <a:spLocks noChangeShapeType="1"/>
            </p:cNvSpPr>
            <p:nvPr/>
          </p:nvSpPr>
          <p:spPr bwMode="auto">
            <a:xfrm>
              <a:off x="1519" y="3203"/>
              <a:ext cx="90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0444" name="Line 14"/>
            <p:cNvSpPr>
              <a:spLocks noChangeShapeType="1"/>
            </p:cNvSpPr>
            <p:nvPr/>
          </p:nvSpPr>
          <p:spPr bwMode="auto">
            <a:xfrm>
              <a:off x="1519" y="3529"/>
              <a:ext cx="90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0445" name="Line 15"/>
            <p:cNvSpPr>
              <a:spLocks noChangeShapeType="1"/>
            </p:cNvSpPr>
            <p:nvPr/>
          </p:nvSpPr>
          <p:spPr bwMode="auto">
            <a:xfrm>
              <a:off x="1519" y="3203"/>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0446" name="Line 16"/>
            <p:cNvSpPr>
              <a:spLocks noChangeShapeType="1"/>
            </p:cNvSpPr>
            <p:nvPr/>
          </p:nvSpPr>
          <p:spPr bwMode="auto">
            <a:xfrm>
              <a:off x="2427" y="3203"/>
              <a:ext cx="0" cy="326"/>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0447" name="Line 17"/>
            <p:cNvSpPr>
              <a:spLocks noChangeShapeType="1"/>
            </p:cNvSpPr>
            <p:nvPr/>
          </p:nvSpPr>
          <p:spPr bwMode="auto">
            <a:xfrm>
              <a:off x="3333" y="3203"/>
              <a:ext cx="0" cy="326"/>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0448" name="Line 18"/>
            <p:cNvSpPr>
              <a:spLocks noChangeShapeType="1"/>
            </p:cNvSpPr>
            <p:nvPr/>
          </p:nvSpPr>
          <p:spPr bwMode="auto">
            <a:xfrm>
              <a:off x="4241" y="3203"/>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0449" name="Line 19"/>
            <p:cNvSpPr>
              <a:spLocks noChangeShapeType="1"/>
            </p:cNvSpPr>
            <p:nvPr/>
          </p:nvSpPr>
          <p:spPr bwMode="auto">
            <a:xfrm>
              <a:off x="2619" y="3203"/>
              <a:ext cx="0" cy="326"/>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0450" name="Line 20"/>
            <p:cNvSpPr>
              <a:spLocks noChangeShapeType="1"/>
            </p:cNvSpPr>
            <p:nvPr/>
          </p:nvSpPr>
          <p:spPr bwMode="auto">
            <a:xfrm>
              <a:off x="3508" y="3203"/>
              <a:ext cx="0" cy="326"/>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0451" name="Line 21"/>
            <p:cNvSpPr>
              <a:spLocks noChangeShapeType="1"/>
            </p:cNvSpPr>
            <p:nvPr/>
          </p:nvSpPr>
          <p:spPr bwMode="auto">
            <a:xfrm>
              <a:off x="2619" y="3203"/>
              <a:ext cx="714"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0452" name="Line 22"/>
            <p:cNvSpPr>
              <a:spLocks noChangeShapeType="1"/>
            </p:cNvSpPr>
            <p:nvPr/>
          </p:nvSpPr>
          <p:spPr bwMode="auto">
            <a:xfrm>
              <a:off x="2619" y="3529"/>
              <a:ext cx="714"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0453" name="Line 23"/>
            <p:cNvSpPr>
              <a:spLocks noChangeShapeType="1"/>
            </p:cNvSpPr>
            <p:nvPr/>
          </p:nvSpPr>
          <p:spPr bwMode="auto">
            <a:xfrm>
              <a:off x="3508" y="3203"/>
              <a:ext cx="733"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60454" name="Line 24"/>
            <p:cNvSpPr>
              <a:spLocks noChangeShapeType="1"/>
            </p:cNvSpPr>
            <p:nvPr/>
          </p:nvSpPr>
          <p:spPr bwMode="auto">
            <a:xfrm>
              <a:off x="3508" y="3529"/>
              <a:ext cx="733"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cxnSp>
          <p:nvCxnSpPr>
            <p:cNvPr id="60455" name="AutoShape 25"/>
            <p:cNvCxnSpPr>
              <a:cxnSpLocks noChangeShapeType="1"/>
              <a:stCxn id="60439" idx="0"/>
              <a:endCxn id="60438" idx="0"/>
            </p:cNvCxnSpPr>
            <p:nvPr/>
          </p:nvCxnSpPr>
          <p:spPr bwMode="auto">
            <a:xfrm rot="5400000" flipV="1">
              <a:off x="3425" y="2754"/>
              <a:ext cx="1" cy="899"/>
            </a:xfrm>
            <a:prstGeom prst="bentConnector3">
              <a:avLst>
                <a:gd name="adj1" fmla="val -14400005"/>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60456" name="AutoShape 26"/>
            <p:cNvCxnSpPr>
              <a:cxnSpLocks noChangeShapeType="1"/>
              <a:stCxn id="60442" idx="2"/>
              <a:endCxn id="60439" idx="2"/>
            </p:cNvCxnSpPr>
            <p:nvPr/>
          </p:nvCxnSpPr>
          <p:spPr bwMode="auto">
            <a:xfrm rot="16200000" flipH="1">
              <a:off x="2474" y="3028"/>
              <a:ext cx="1" cy="1003"/>
            </a:xfrm>
            <a:prstGeom prst="bentConnector3">
              <a:avLst>
                <a:gd name="adj1" fmla="val 14400005"/>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60457" name="AutoShape 27"/>
            <p:cNvCxnSpPr>
              <a:cxnSpLocks noChangeShapeType="1"/>
              <a:stCxn id="60438" idx="2"/>
              <a:endCxn id="60439" idx="2"/>
            </p:cNvCxnSpPr>
            <p:nvPr/>
          </p:nvCxnSpPr>
          <p:spPr bwMode="auto">
            <a:xfrm rot="5400000">
              <a:off x="3425" y="3080"/>
              <a:ext cx="1" cy="899"/>
            </a:xfrm>
            <a:prstGeom prst="bentConnector3">
              <a:avLst>
                <a:gd name="adj1" fmla="val 14400005"/>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grpSp>
      <p:sp>
        <p:nvSpPr>
          <p:cNvPr id="690204" name="Rectangle 28"/>
          <p:cNvSpPr>
            <a:spLocks noChangeArrowheads="1"/>
          </p:cNvSpPr>
          <p:nvPr/>
        </p:nvSpPr>
        <p:spPr bwMode="auto">
          <a:xfrm>
            <a:off x="3063875" y="711200"/>
            <a:ext cx="3482975" cy="457200"/>
          </a:xfrm>
          <a:prstGeom prst="rect">
            <a:avLst/>
          </a:prstGeom>
          <a:noFill/>
          <a:ln w="9525">
            <a:noFill/>
            <a:miter lim="800000"/>
          </a:ln>
          <a:effectLst/>
        </p:spPr>
        <p:txBody>
          <a:bodyPr wrap="none">
            <a:spAutoFit/>
          </a:bodyPr>
          <a:lstStyle/>
          <a:p>
            <a:pPr>
              <a:defRPr/>
            </a:pPr>
            <a:r>
              <a:rPr kumimoji="1" lang="en-US" altLang="zh-CN" sz="2400">
                <a:effectLst>
                  <a:outerShdw blurRad="38100" dist="38100" dir="2700000" algn="tl">
                    <a:srgbClr val="C0C0C0"/>
                  </a:outerShdw>
                </a:effectLst>
                <a:ea typeface="隶书" pitchFamily="49" charset="-122"/>
                <a:sym typeface="Wingdings" panose="05000000000000000000" pitchFamily="2" charset="2"/>
              </a:rPr>
              <a:t>STC(SNO , TNO , CNO)</a:t>
            </a:r>
            <a:endParaRPr kumimoji="1" lang="en-US" altLang="zh-CN" sz="2400">
              <a:effectLst>
                <a:outerShdw blurRad="38100" dist="38100" dir="2700000" algn="tl">
                  <a:srgbClr val="C0C0C0"/>
                </a:outerShdw>
              </a:effectLst>
              <a:ea typeface="隶书" pitchFamily="49" charset="-122"/>
              <a:sym typeface="Wingdings" panose="05000000000000000000" pitchFamily="2" charset="2"/>
            </a:endParaRPr>
          </a:p>
        </p:txBody>
      </p:sp>
      <p:sp>
        <p:nvSpPr>
          <p:cNvPr id="690205" name="Rectangle 29"/>
          <p:cNvSpPr>
            <a:spLocks noChangeArrowheads="1"/>
          </p:cNvSpPr>
          <p:nvPr/>
        </p:nvSpPr>
        <p:spPr bwMode="auto">
          <a:xfrm>
            <a:off x="1692275" y="1568450"/>
            <a:ext cx="3232150" cy="457200"/>
          </a:xfrm>
          <a:prstGeom prst="rect">
            <a:avLst/>
          </a:prstGeom>
          <a:noFill/>
          <a:ln w="9525">
            <a:noFill/>
            <a:miter lim="800000"/>
          </a:ln>
          <a:effectLst/>
        </p:spPr>
        <p:txBody>
          <a:bodyPr wrap="none">
            <a:spAutoFit/>
          </a:bodyPr>
          <a:lstStyle/>
          <a:p>
            <a:pPr>
              <a:defRPr/>
            </a:pPr>
            <a:r>
              <a:rPr kumimoji="1" lang="zh-CN" altLang="en-US" sz="2400">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rPr>
              <a:t>每位老师只教授一门课</a:t>
            </a:r>
            <a:endParaRPr kumimoji="1" lang="zh-CN" altLang="en-US" sz="2400">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endParaRPr>
          </a:p>
        </p:txBody>
      </p:sp>
      <p:sp>
        <p:nvSpPr>
          <p:cNvPr id="690206" name="Rectangle 30"/>
          <p:cNvSpPr>
            <a:spLocks noChangeArrowheads="1"/>
          </p:cNvSpPr>
          <p:nvPr/>
        </p:nvSpPr>
        <p:spPr bwMode="auto">
          <a:xfrm>
            <a:off x="179388" y="2505075"/>
            <a:ext cx="5060950" cy="457200"/>
          </a:xfrm>
          <a:prstGeom prst="rect">
            <a:avLst/>
          </a:prstGeom>
          <a:noFill/>
          <a:ln w="9525">
            <a:noFill/>
            <a:miter lim="800000"/>
          </a:ln>
          <a:effectLst/>
        </p:spPr>
        <p:txBody>
          <a:bodyPr wrap="none">
            <a:spAutoFit/>
          </a:bodyPr>
          <a:lstStyle/>
          <a:p>
            <a:pPr>
              <a:defRPr/>
            </a:pPr>
            <a:r>
              <a:rPr kumimoji="1" lang="zh-CN" altLang="en-US" sz="2400">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rPr>
              <a:t>某学生选定一门课，就对应一位老师</a:t>
            </a:r>
            <a:endParaRPr kumimoji="1" lang="zh-CN" altLang="en-US" sz="2400">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endParaRPr>
          </a:p>
        </p:txBody>
      </p:sp>
      <p:sp>
        <p:nvSpPr>
          <p:cNvPr id="690207" name="Rectangle 31"/>
          <p:cNvSpPr>
            <a:spLocks noChangeArrowheads="1"/>
          </p:cNvSpPr>
          <p:nvPr/>
        </p:nvSpPr>
        <p:spPr bwMode="auto">
          <a:xfrm>
            <a:off x="3317875" y="5575300"/>
            <a:ext cx="2601913" cy="530225"/>
          </a:xfrm>
          <a:prstGeom prst="rect">
            <a:avLst/>
          </a:prstGeom>
          <a:solidFill>
            <a:srgbClr val="00FF00"/>
          </a:solidFill>
          <a:ln w="9525">
            <a:miter lim="800000"/>
          </a:ln>
          <a:scene3d>
            <a:camera prst="legacyObliqueTopRight"/>
            <a:lightRig rig="legacyFlat3" dir="b"/>
          </a:scene3d>
          <a:sp3d extrusionH="430200" prstMaterial="legacyMatte">
            <a:bevelT w="13500" h="13500" prst="angle"/>
            <a:bevelB w="13500" h="13500" prst="angle"/>
            <a:extrusionClr>
              <a:srgbClr val="00FF00"/>
            </a:extrusionClr>
            <a:contourClr>
              <a:srgbClr val="00FF00"/>
            </a:contourClr>
          </a:sp3d>
        </p:spPr>
        <p:txBody>
          <a:bodyPr wrap="none">
            <a:spAutoFit/>
            <a:flatTx/>
          </a:bodyPr>
          <a:lstStyle>
            <a:lvl1pPr marL="342900" indent="-342900">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lvl="1">
              <a:spcBef>
                <a:spcPct val="30000"/>
              </a:spcBef>
              <a:buSzPct val="55000"/>
              <a:buFont typeface="Wingdings" panose="05000000000000000000" pitchFamily="2" charset="2"/>
              <a:buNone/>
            </a:pPr>
            <a:r>
              <a:rPr lang="en-US" altLang="zh-CN">
                <a:ea typeface="宋体" panose="02010600030101010101" pitchFamily="2" charset="-122"/>
              </a:rPr>
              <a:t>STC </a:t>
            </a:r>
            <a:r>
              <a:rPr lang="en-US" altLang="zh-CN">
                <a:ea typeface="宋体" panose="02010600030101010101" pitchFamily="2" charset="-122"/>
                <a:sym typeface="Symbol" panose="05050102010706020507" pitchFamily="18" charset="2"/>
              </a:rPr>
              <a:t> </a:t>
            </a:r>
            <a:r>
              <a:rPr lang="en-US" altLang="zh-CN">
                <a:ea typeface="宋体" panose="02010600030101010101" pitchFamily="2" charset="-122"/>
              </a:rPr>
              <a:t>3NF </a:t>
            </a:r>
            <a:r>
              <a:rPr lang="zh-CN" altLang="en-US">
                <a:ea typeface="宋体" panose="02010600030101010101" pitchFamily="2" charset="-122"/>
              </a:rPr>
              <a:t>？</a:t>
            </a:r>
            <a:endParaRPr lang="zh-CN" altLang="en-US">
              <a:ea typeface="宋体" panose="02010600030101010101" pitchFamily="2" charset="-122"/>
            </a:endParaRPr>
          </a:p>
        </p:txBody>
      </p:sp>
      <p:grpSp>
        <p:nvGrpSpPr>
          <p:cNvPr id="3" name="Group 32"/>
          <p:cNvGrpSpPr/>
          <p:nvPr/>
        </p:nvGrpSpPr>
        <p:grpSpPr bwMode="auto">
          <a:xfrm>
            <a:off x="5003800" y="1589088"/>
            <a:ext cx="2655888" cy="461962"/>
            <a:chOff x="3152" y="1402"/>
            <a:chExt cx="1673" cy="291"/>
          </a:xfrm>
        </p:grpSpPr>
        <p:sp>
          <p:nvSpPr>
            <p:cNvPr id="690209" name="Rectangle 33"/>
            <p:cNvSpPr>
              <a:spLocks noChangeArrowheads="1"/>
            </p:cNvSpPr>
            <p:nvPr/>
          </p:nvSpPr>
          <p:spPr bwMode="auto">
            <a:xfrm>
              <a:off x="3742" y="1402"/>
              <a:ext cx="1083" cy="291"/>
            </a:xfrm>
            <a:prstGeom prst="rect">
              <a:avLst/>
            </a:prstGeom>
            <a:noFill/>
            <a:ln w="9525">
              <a:noFill/>
              <a:miter lim="800000"/>
            </a:ln>
            <a:effectLst/>
          </p:spPr>
          <p:txBody>
            <a:bodyPr wrap="none">
              <a:spAutoFit/>
            </a:bodyPr>
            <a:lstStyle/>
            <a:p>
              <a:pPr>
                <a:defRPr/>
              </a:pPr>
              <a:r>
                <a:rPr kumimoji="1" lang="en-US" altLang="zh-CN" sz="2400">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rPr>
                <a:t>TNO </a:t>
              </a:r>
              <a:r>
                <a:rPr kumimoji="1" lang="en-US" altLang="zh-CN" sz="2400">
                  <a:effectLst>
                    <a:outerShdw blurRad="38100" dist="38100" dir="2700000" algn="tl">
                      <a:srgbClr val="C0C0C0"/>
                    </a:outerShdw>
                  </a:effectLst>
                  <a:latin typeface="黑体" panose="02010609060101010101" pitchFamily="49" charset="-122"/>
                  <a:ea typeface="黑体" panose="02010609060101010101" pitchFamily="49" charset="-122"/>
                  <a:sym typeface="Symbol" panose="05050102010706020507" pitchFamily="18" charset="2"/>
                </a:rPr>
                <a:t></a:t>
              </a:r>
              <a:r>
                <a:rPr kumimoji="1" lang="en-US" altLang="zh-CN" sz="2400">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rPr>
                <a:t> CNO</a:t>
              </a:r>
              <a:endParaRPr kumimoji="1" lang="en-US" altLang="zh-CN" sz="2400">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endParaRPr>
            </a:p>
          </p:txBody>
        </p:sp>
        <p:sp>
          <p:nvSpPr>
            <p:cNvPr id="60437" name="AutoShape 34"/>
            <p:cNvSpPr>
              <a:spLocks noChangeArrowheads="1"/>
            </p:cNvSpPr>
            <p:nvPr/>
          </p:nvSpPr>
          <p:spPr bwMode="auto">
            <a:xfrm>
              <a:off x="3152" y="1480"/>
              <a:ext cx="544" cy="181"/>
            </a:xfrm>
            <a:prstGeom prst="rightArrow">
              <a:avLst>
                <a:gd name="adj1" fmla="val 50000"/>
                <a:gd name="adj2" fmla="val 75138"/>
              </a:avLst>
            </a:prstGeom>
            <a:gradFill rotWithShape="1">
              <a:gsLst>
                <a:gs pos="0">
                  <a:srgbClr val="FF8200"/>
                </a:gs>
                <a:gs pos="10001">
                  <a:srgbClr val="FF0000"/>
                </a:gs>
                <a:gs pos="35001">
                  <a:srgbClr val="BA0066"/>
                </a:gs>
                <a:gs pos="70000">
                  <a:srgbClr val="66008F"/>
                </a:gs>
                <a:gs pos="100000">
                  <a:srgbClr val="000082"/>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latin typeface="黑体" panose="02010609060101010101" pitchFamily="49" charset="-122"/>
                <a:ea typeface="黑体" panose="02010609060101010101" pitchFamily="49" charset="-122"/>
              </a:endParaRPr>
            </a:p>
          </p:txBody>
        </p:sp>
      </p:grpSp>
      <p:grpSp>
        <p:nvGrpSpPr>
          <p:cNvPr id="4" name="Group 35"/>
          <p:cNvGrpSpPr/>
          <p:nvPr/>
        </p:nvGrpSpPr>
        <p:grpSpPr bwMode="auto">
          <a:xfrm>
            <a:off x="5226050" y="2533650"/>
            <a:ext cx="3646488" cy="461963"/>
            <a:chOff x="3334" y="2008"/>
            <a:chExt cx="2297" cy="291"/>
          </a:xfrm>
        </p:grpSpPr>
        <p:sp>
          <p:nvSpPr>
            <p:cNvPr id="690212" name="Rectangle 36"/>
            <p:cNvSpPr>
              <a:spLocks noChangeArrowheads="1"/>
            </p:cNvSpPr>
            <p:nvPr/>
          </p:nvSpPr>
          <p:spPr bwMode="auto">
            <a:xfrm>
              <a:off x="3870" y="2008"/>
              <a:ext cx="1761" cy="291"/>
            </a:xfrm>
            <a:prstGeom prst="rect">
              <a:avLst/>
            </a:prstGeom>
            <a:noFill/>
            <a:ln w="9525">
              <a:noFill/>
              <a:miter lim="800000"/>
            </a:ln>
            <a:effectLst/>
          </p:spPr>
          <p:txBody>
            <a:bodyPr wrap="none">
              <a:spAutoFit/>
            </a:bodyPr>
            <a:lstStyle/>
            <a:p>
              <a:pPr>
                <a:defRPr/>
              </a:pPr>
              <a:r>
                <a:rPr kumimoji="1" lang="en-US" altLang="zh-CN" sz="2400">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rPr>
                <a:t>(SNO</a:t>
              </a:r>
              <a:r>
                <a:rPr kumimoji="1" lang="zh-CN" altLang="en-US" sz="2400">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rPr>
                <a:t>，</a:t>
              </a:r>
              <a:r>
                <a:rPr kumimoji="1" lang="en-US" altLang="zh-CN" sz="2400">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rPr>
                <a:t>CNO) </a:t>
              </a:r>
              <a:r>
                <a:rPr kumimoji="1" lang="en-US" altLang="zh-CN" sz="2400">
                  <a:effectLst>
                    <a:outerShdw blurRad="38100" dist="38100" dir="2700000" algn="tl">
                      <a:srgbClr val="C0C0C0"/>
                    </a:outerShdw>
                  </a:effectLst>
                  <a:latin typeface="黑体" panose="02010609060101010101" pitchFamily="49" charset="-122"/>
                  <a:ea typeface="黑体" panose="02010609060101010101" pitchFamily="49" charset="-122"/>
                  <a:sym typeface="Symbol" panose="05050102010706020507" pitchFamily="18" charset="2"/>
                </a:rPr>
                <a:t> TNO</a:t>
              </a:r>
              <a:endParaRPr kumimoji="1" lang="en-US" altLang="zh-CN" sz="2400">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endParaRPr>
            </a:p>
          </p:txBody>
        </p:sp>
        <p:sp>
          <p:nvSpPr>
            <p:cNvPr id="60435" name="AutoShape 37"/>
            <p:cNvSpPr>
              <a:spLocks noChangeArrowheads="1"/>
            </p:cNvSpPr>
            <p:nvPr/>
          </p:nvSpPr>
          <p:spPr bwMode="auto">
            <a:xfrm>
              <a:off x="3334" y="2070"/>
              <a:ext cx="544" cy="181"/>
            </a:xfrm>
            <a:prstGeom prst="rightArrow">
              <a:avLst>
                <a:gd name="adj1" fmla="val 50000"/>
                <a:gd name="adj2" fmla="val 75138"/>
              </a:avLst>
            </a:prstGeom>
            <a:gradFill rotWithShape="1">
              <a:gsLst>
                <a:gs pos="0">
                  <a:srgbClr val="FF8200"/>
                </a:gs>
                <a:gs pos="10001">
                  <a:srgbClr val="FF0000"/>
                </a:gs>
                <a:gs pos="35001">
                  <a:srgbClr val="BA0066"/>
                </a:gs>
                <a:gs pos="70000">
                  <a:srgbClr val="66008F"/>
                </a:gs>
                <a:gs pos="100000">
                  <a:srgbClr val="000082"/>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latin typeface="黑体" panose="02010609060101010101" pitchFamily="49" charset="-122"/>
                <a:ea typeface="黑体" panose="02010609060101010101" pitchFamily="49" charset="-122"/>
              </a:endParaRPr>
            </a:p>
          </p:txBody>
        </p:sp>
      </p:grpSp>
      <p:sp>
        <p:nvSpPr>
          <p:cNvPr id="690214" name="Rectangle 38"/>
          <p:cNvSpPr>
            <a:spLocks noChangeArrowheads="1"/>
          </p:cNvSpPr>
          <p:nvPr/>
        </p:nvSpPr>
        <p:spPr bwMode="auto">
          <a:xfrm>
            <a:off x="2249488" y="3343275"/>
            <a:ext cx="1098550" cy="457200"/>
          </a:xfrm>
          <a:prstGeom prst="rect">
            <a:avLst/>
          </a:prstGeom>
          <a:noFill/>
          <a:ln w="9525">
            <a:noFill/>
            <a:miter lim="800000"/>
          </a:ln>
          <a:effectLst/>
        </p:spPr>
        <p:txBody>
          <a:bodyPr wrap="none">
            <a:spAutoFit/>
          </a:bodyPr>
          <a:lstStyle/>
          <a:p>
            <a:pPr>
              <a:defRPr/>
            </a:pPr>
            <a:r>
              <a:rPr kumimoji="1" lang="zh-CN" altLang="en-US" sz="2400" dirty="0">
                <a:effectLst>
                  <a:outerShdw blurRad="38100" dist="38100" dir="2700000" algn="tl">
                    <a:srgbClr val="C0C0C0"/>
                  </a:outerShdw>
                </a:effectLst>
                <a:latin typeface="黑体" panose="02010609060101010101" pitchFamily="49" charset="-122"/>
                <a:ea typeface="黑体" panose="02010609060101010101" pitchFamily="49" charset="-122"/>
              </a:rPr>
              <a:t>候选码</a:t>
            </a:r>
            <a:endParaRPr kumimoji="1" lang="zh-CN" altLang="en-US" sz="2400" dirty="0">
              <a:effectLst>
                <a:outerShdw blurRad="38100" dist="38100" dir="2700000" algn="tl">
                  <a:srgbClr val="C0C0C0"/>
                </a:outerShdw>
              </a:effectLst>
              <a:latin typeface="黑体" panose="02010609060101010101" pitchFamily="49" charset="-122"/>
              <a:ea typeface="黑体" panose="02010609060101010101" pitchFamily="49" charset="-122"/>
            </a:endParaRPr>
          </a:p>
        </p:txBody>
      </p:sp>
      <p:grpSp>
        <p:nvGrpSpPr>
          <p:cNvPr id="5" name="Group 39"/>
          <p:cNvGrpSpPr/>
          <p:nvPr/>
        </p:nvGrpSpPr>
        <p:grpSpPr bwMode="auto">
          <a:xfrm>
            <a:off x="3635375" y="3421063"/>
            <a:ext cx="5195888" cy="461962"/>
            <a:chOff x="2290" y="2556"/>
            <a:chExt cx="3273" cy="291"/>
          </a:xfrm>
        </p:grpSpPr>
        <p:sp>
          <p:nvSpPr>
            <p:cNvPr id="690216" name="Rectangle 40"/>
            <p:cNvSpPr>
              <a:spLocks noChangeArrowheads="1"/>
            </p:cNvSpPr>
            <p:nvPr/>
          </p:nvSpPr>
          <p:spPr bwMode="auto">
            <a:xfrm>
              <a:off x="3023" y="2556"/>
              <a:ext cx="2540" cy="291"/>
            </a:xfrm>
            <a:prstGeom prst="rect">
              <a:avLst/>
            </a:prstGeom>
            <a:noFill/>
            <a:ln w="9525">
              <a:noFill/>
              <a:miter lim="800000"/>
            </a:ln>
            <a:effectLst/>
          </p:spPr>
          <p:txBody>
            <a:bodyPr wrap="none">
              <a:spAutoFit/>
            </a:bodyPr>
            <a:lstStyle/>
            <a:p>
              <a:pPr>
                <a:defRPr/>
              </a:pPr>
              <a:r>
                <a:rPr kumimoji="1" lang="en-US" altLang="zh-CN" sz="2400" dirty="0">
                  <a:effectLst>
                    <a:outerShdw blurRad="38100" dist="38100" dir="2700000" algn="tl">
                      <a:srgbClr val="C0C0C0"/>
                    </a:outerShdw>
                  </a:effectLst>
                  <a:latin typeface="黑体" panose="02010609060101010101" pitchFamily="49" charset="-122"/>
                  <a:ea typeface="黑体" panose="02010609060101010101" pitchFamily="49" charset="-122"/>
                </a:rPr>
                <a:t>(SNO</a:t>
              </a:r>
              <a:r>
                <a:rPr kumimoji="1" lang="zh-CN" altLang="en-US" sz="24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kumimoji="1" lang="en-US" altLang="zh-CN" sz="2400" dirty="0">
                  <a:effectLst>
                    <a:outerShdw blurRad="38100" dist="38100" dir="2700000" algn="tl">
                      <a:srgbClr val="C0C0C0"/>
                    </a:outerShdw>
                  </a:effectLst>
                  <a:latin typeface="黑体" panose="02010609060101010101" pitchFamily="49" charset="-122"/>
                  <a:ea typeface="黑体" panose="02010609060101010101" pitchFamily="49" charset="-122"/>
                </a:rPr>
                <a:t>TNO) and (SNO</a:t>
              </a:r>
              <a:r>
                <a:rPr kumimoji="1" lang="zh-CN" altLang="en-US" sz="24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kumimoji="1" lang="en-US" altLang="zh-CN" sz="2400" dirty="0">
                  <a:effectLst>
                    <a:outerShdw blurRad="38100" dist="38100" dir="2700000" algn="tl">
                      <a:srgbClr val="C0C0C0"/>
                    </a:outerShdw>
                  </a:effectLst>
                  <a:latin typeface="黑体" panose="02010609060101010101" pitchFamily="49" charset="-122"/>
                  <a:ea typeface="黑体" panose="02010609060101010101" pitchFamily="49" charset="-122"/>
                </a:rPr>
                <a:t>CNO)</a:t>
              </a:r>
              <a:endParaRPr kumimoji="1" lang="en-US" altLang="zh-CN" sz="2400" dirty="0">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60433" name="AutoShape 41"/>
            <p:cNvSpPr>
              <a:spLocks noChangeArrowheads="1"/>
            </p:cNvSpPr>
            <p:nvPr/>
          </p:nvSpPr>
          <p:spPr bwMode="auto">
            <a:xfrm>
              <a:off x="2290" y="2614"/>
              <a:ext cx="544" cy="181"/>
            </a:xfrm>
            <a:prstGeom prst="rightArrow">
              <a:avLst>
                <a:gd name="adj1" fmla="val 50000"/>
                <a:gd name="adj2" fmla="val 75138"/>
              </a:avLst>
            </a:prstGeom>
            <a:gradFill rotWithShape="1">
              <a:gsLst>
                <a:gs pos="0">
                  <a:srgbClr val="FF8200"/>
                </a:gs>
                <a:gs pos="10001">
                  <a:srgbClr val="FF0000"/>
                </a:gs>
                <a:gs pos="35001">
                  <a:srgbClr val="BA0066"/>
                </a:gs>
                <a:gs pos="70000">
                  <a:srgbClr val="66008F"/>
                </a:gs>
                <a:gs pos="100000">
                  <a:srgbClr val="000082"/>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latin typeface="黑体" panose="02010609060101010101" pitchFamily="49" charset="-122"/>
                <a:ea typeface="黑体" panose="0201060906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02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02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902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902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205" grpId="0"/>
      <p:bldP spid="690206" grpId="0"/>
      <p:bldP spid="690207" grpId="0" animBg="1"/>
      <p:bldP spid="69021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p:txBody>
          <a:bodyPr/>
          <a:lstStyle/>
          <a:p>
            <a:pPr>
              <a:defRPr/>
            </a:pPr>
            <a:r>
              <a:rPr lang="en-US" altLang="zh-CN"/>
              <a:t>BCNF</a:t>
            </a:r>
            <a:endParaRPr lang="en-US" altLang="zh-CN"/>
          </a:p>
        </p:txBody>
      </p:sp>
      <p:graphicFrame>
        <p:nvGraphicFramePr>
          <p:cNvPr id="691229" name="Group 29"/>
          <p:cNvGraphicFramePr>
            <a:graphicFrameLocks noGrp="1"/>
          </p:cNvGraphicFramePr>
          <p:nvPr>
            <p:ph idx="4294967295"/>
          </p:nvPr>
        </p:nvGraphicFramePr>
        <p:xfrm>
          <a:off x="1593850" y="1955800"/>
          <a:ext cx="5443537" cy="2438400"/>
        </p:xfrm>
        <a:graphic>
          <a:graphicData uri="http://schemas.openxmlformats.org/drawingml/2006/table">
            <a:tbl>
              <a:tblPr/>
              <a:tblGrid>
                <a:gridCol w="1814512"/>
                <a:gridCol w="1814513"/>
                <a:gridCol w="1814512"/>
              </a:tblGrid>
              <a:tr h="4810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SNO</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TNO</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826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s1</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t1</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c1</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810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s2</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t2</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c2</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826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s3</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t3</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c2</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810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s3</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rPr>
                        <a:t>t1</a:t>
                      </a:r>
                      <a:endParaRPr kumimoji="0" lang="en-US" altLang="zh-CN"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c1</a:t>
                      </a:r>
                      <a:endParaRPr kumimoji="0" lang="en-US" altLang="zh-CN" sz="2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2"/>
          <p:cNvSpPr>
            <a:spLocks noGrp="1" noChangeArrowheads="1"/>
          </p:cNvSpPr>
          <p:nvPr>
            <p:ph type="title"/>
          </p:nvPr>
        </p:nvSpPr>
        <p:spPr/>
        <p:txBody>
          <a:bodyPr/>
          <a:lstStyle/>
          <a:p>
            <a:pPr>
              <a:defRPr/>
            </a:pPr>
            <a:r>
              <a:rPr lang="en-US" altLang="zh-CN"/>
              <a:t>BCNF</a:t>
            </a:r>
            <a:endParaRPr lang="en-US" altLang="zh-CN"/>
          </a:p>
        </p:txBody>
      </p:sp>
      <p:sp>
        <p:nvSpPr>
          <p:cNvPr id="62467" name="Rectangle 3"/>
          <p:cNvSpPr>
            <a:spLocks noGrp="1" noChangeArrowheads="1"/>
          </p:cNvSpPr>
          <p:nvPr>
            <p:ph type="body" idx="1"/>
          </p:nvPr>
        </p:nvSpPr>
        <p:spPr>
          <a:xfrm>
            <a:off x="228600" y="1143000"/>
            <a:ext cx="8610600" cy="5486400"/>
          </a:xfrm>
        </p:spPr>
        <p:txBody>
          <a:bodyPr/>
          <a:lstStyle/>
          <a:p>
            <a:r>
              <a:rPr lang="zh-CN" altLang="en-US">
                <a:ea typeface="宋体" panose="02010600030101010101" pitchFamily="2" charset="-122"/>
              </a:rPr>
              <a:t>不良特性</a:t>
            </a:r>
            <a:endParaRPr lang="zh-CN" altLang="en-US">
              <a:ea typeface="宋体" panose="02010600030101010101" pitchFamily="2" charset="-122"/>
            </a:endParaRPr>
          </a:p>
          <a:p>
            <a:pPr lvl="1">
              <a:spcBef>
                <a:spcPct val="35000"/>
              </a:spcBef>
            </a:pPr>
            <a:r>
              <a:rPr lang="zh-CN" altLang="en-US" sz="2300">
                <a:ea typeface="宋体" panose="02010600030101010101" pitchFamily="2" charset="-122"/>
              </a:rPr>
              <a:t>插入异常：如果没有学生选修某位老师的任课，则该老师担任课程的信息就无法插入</a:t>
            </a:r>
            <a:endParaRPr lang="zh-CN" altLang="en-US" sz="2300">
              <a:ea typeface="宋体" panose="02010600030101010101" pitchFamily="2" charset="-122"/>
            </a:endParaRPr>
          </a:p>
          <a:p>
            <a:pPr lvl="1">
              <a:spcBef>
                <a:spcPct val="35000"/>
              </a:spcBef>
            </a:pPr>
            <a:r>
              <a:rPr lang="zh-CN" altLang="en-US" sz="2300">
                <a:ea typeface="宋体" panose="02010600030101010101" pitchFamily="2" charset="-122"/>
              </a:rPr>
              <a:t>删除异常：删除学生选课信息，会删除掉老师的任课信息</a:t>
            </a:r>
            <a:endParaRPr lang="zh-CN" altLang="en-US" sz="2300">
              <a:ea typeface="宋体" panose="02010600030101010101" pitchFamily="2" charset="-122"/>
            </a:endParaRPr>
          </a:p>
          <a:p>
            <a:pPr lvl="1">
              <a:spcBef>
                <a:spcPct val="35000"/>
              </a:spcBef>
            </a:pPr>
            <a:r>
              <a:rPr lang="zh-CN" altLang="en-US" sz="2300">
                <a:ea typeface="宋体" panose="02010600030101010101" pitchFamily="2" charset="-122"/>
              </a:rPr>
              <a:t>更新异常：如果老师所教授的课程有所改动，则所有选修该老师课程的学生元组都要做改动</a:t>
            </a:r>
            <a:endParaRPr lang="zh-CN" altLang="en-US" sz="2300">
              <a:ea typeface="宋体" panose="02010600030101010101" pitchFamily="2" charset="-122"/>
            </a:endParaRPr>
          </a:p>
          <a:p>
            <a:pPr lvl="1">
              <a:spcBef>
                <a:spcPct val="35000"/>
              </a:spcBef>
            </a:pPr>
            <a:r>
              <a:rPr lang="zh-CN" altLang="en-US" sz="2300">
                <a:ea typeface="宋体" panose="02010600030101010101" pitchFamily="2" charset="-122"/>
              </a:rPr>
              <a:t>数据冗余：每位学生都存储了有关老师所教授的课程的信息</a:t>
            </a:r>
            <a:endParaRPr lang="zh-CN" altLang="en-US" sz="2300">
              <a:ea typeface="宋体" panose="02010600030101010101" pitchFamily="2" charset="-122"/>
            </a:endParaRPr>
          </a:p>
          <a:p>
            <a:pPr>
              <a:spcBef>
                <a:spcPct val="30000"/>
              </a:spcBef>
            </a:pPr>
            <a:r>
              <a:rPr lang="zh-CN" altLang="en-US">
                <a:ea typeface="宋体" panose="02010600030101010101" pitchFamily="2" charset="-122"/>
              </a:rPr>
              <a:t>症由：</a:t>
            </a:r>
            <a:endParaRPr lang="zh-CN" altLang="en-US">
              <a:ea typeface="宋体" panose="02010600030101010101" pitchFamily="2" charset="-122"/>
            </a:endParaRPr>
          </a:p>
          <a:p>
            <a:pPr lvl="1">
              <a:spcBef>
                <a:spcPct val="30000"/>
              </a:spcBef>
              <a:buFont typeface="Wingdings" panose="05000000000000000000" pitchFamily="2" charset="2"/>
              <a:buNone/>
            </a:pPr>
            <a:r>
              <a:rPr lang="zh-CN" altLang="en-US" sz="2300">
                <a:ea typeface="宋体" panose="02010600030101010101" pitchFamily="2" charset="-122"/>
              </a:rPr>
              <a:t>	</a:t>
            </a:r>
            <a:endParaRPr lang="zh-CN" altLang="en-US">
              <a:ea typeface="宋体" panose="02010600030101010101" pitchFamily="2" charset="-122"/>
            </a:endParaRPr>
          </a:p>
        </p:txBody>
      </p:sp>
      <p:sp>
        <p:nvSpPr>
          <p:cNvPr id="692228" name="Rectangle 4"/>
          <p:cNvSpPr>
            <a:spLocks noChangeArrowheads="1"/>
          </p:cNvSpPr>
          <p:nvPr/>
        </p:nvSpPr>
        <p:spPr bwMode="auto">
          <a:xfrm>
            <a:off x="1908175" y="5013325"/>
            <a:ext cx="5021263" cy="457200"/>
          </a:xfrm>
          <a:prstGeom prst="rect">
            <a:avLst/>
          </a:prstGeom>
          <a:noFill/>
          <a:ln w="9525">
            <a:noFill/>
            <a:miter lim="800000"/>
          </a:ln>
          <a:effectLst/>
        </p:spPr>
        <p:txBody>
          <a:bodyPr wrap="none">
            <a:spAutoFit/>
          </a:bodyPr>
          <a:lstStyle/>
          <a:p>
            <a:pPr>
              <a:defRPr/>
            </a:pPr>
            <a:r>
              <a:rPr kumimoji="1" lang="en-US" altLang="zh-CN" sz="2400">
                <a:solidFill>
                  <a:srgbClr val="0000CC"/>
                </a:solidFill>
                <a:effectLst>
                  <a:outerShdw blurRad="38100" dist="38100" dir="2700000" algn="tl">
                    <a:srgbClr val="C0C0C0"/>
                  </a:outerShdw>
                </a:effectLst>
                <a:ea typeface="隶书" pitchFamily="49" charset="-122"/>
                <a:sym typeface="Wingdings" panose="05000000000000000000" pitchFamily="2" charset="2"/>
              </a:rPr>
              <a:t>TNO </a:t>
            </a:r>
            <a:r>
              <a:rPr kumimoji="1" lang="en-US" altLang="zh-CN" sz="2400">
                <a:solidFill>
                  <a:srgbClr val="0000CC"/>
                </a:solidFill>
                <a:effectLst>
                  <a:outerShdw blurRad="38100" dist="38100" dir="2700000" algn="tl">
                    <a:srgbClr val="C0C0C0"/>
                  </a:outerShdw>
                </a:effectLst>
                <a:ea typeface="隶书" pitchFamily="49" charset="-122"/>
                <a:sym typeface="Symbol" panose="05050102010706020507" pitchFamily="18" charset="2"/>
              </a:rPr>
              <a:t></a:t>
            </a:r>
            <a:r>
              <a:rPr kumimoji="1" lang="en-US" altLang="zh-CN" sz="2400">
                <a:solidFill>
                  <a:srgbClr val="0000CC"/>
                </a:solidFill>
                <a:effectLst>
                  <a:outerShdw blurRad="38100" dist="38100" dir="2700000" algn="tl">
                    <a:srgbClr val="C0C0C0"/>
                  </a:outerShdw>
                </a:effectLst>
                <a:ea typeface="隶书" pitchFamily="49" charset="-122"/>
                <a:sym typeface="Wingdings" panose="05000000000000000000" pitchFamily="2" charset="2"/>
              </a:rPr>
              <a:t> CNO</a:t>
            </a:r>
            <a:r>
              <a:rPr kumimoji="1" lang="zh-CN" altLang="en-US" sz="2400">
                <a:solidFill>
                  <a:srgbClr val="0000CC"/>
                </a:solidFill>
                <a:effectLst>
                  <a:outerShdw blurRad="38100" dist="38100" dir="2700000" algn="tl">
                    <a:srgbClr val="C0C0C0"/>
                  </a:outerShdw>
                </a:effectLst>
                <a:ea typeface="隶书" pitchFamily="49" charset="-122"/>
                <a:sym typeface="Wingdings" panose="05000000000000000000" pitchFamily="2" charset="2"/>
              </a:rPr>
              <a:t>，</a:t>
            </a:r>
            <a:r>
              <a:rPr kumimoji="1" lang="zh-CN" altLang="en-US" sz="2400">
                <a:solidFill>
                  <a:srgbClr val="0000CC"/>
                </a:solidFill>
                <a:ea typeface="隶书" pitchFamily="49" charset="-122"/>
              </a:rPr>
              <a:t>属性对码的不良依赖</a:t>
            </a:r>
            <a:endParaRPr kumimoji="1" lang="zh-CN" altLang="en-US" sz="2400">
              <a:solidFill>
                <a:srgbClr val="0000CC"/>
              </a:solidFill>
              <a:effectLst>
                <a:outerShdw blurRad="38100" dist="38100" dir="2700000" algn="tl">
                  <a:srgbClr val="C0C0C0"/>
                </a:outerShdw>
              </a:effectLst>
              <a:ea typeface="隶书" pitchFamily="49" charset="-122"/>
              <a:sym typeface="Wingdings" panose="05000000000000000000" pitchFamily="2" charset="2"/>
            </a:endParaRPr>
          </a:p>
        </p:txBody>
      </p:sp>
      <p:sp>
        <p:nvSpPr>
          <p:cNvPr id="692229" name="Rectangle 5"/>
          <p:cNvSpPr>
            <a:spLocks noChangeArrowheads="1"/>
          </p:cNvSpPr>
          <p:nvPr/>
        </p:nvSpPr>
        <p:spPr bwMode="auto">
          <a:xfrm>
            <a:off x="3063875" y="711200"/>
            <a:ext cx="3482975" cy="457200"/>
          </a:xfrm>
          <a:prstGeom prst="rect">
            <a:avLst/>
          </a:prstGeom>
          <a:noFill/>
          <a:ln w="9525">
            <a:noFill/>
            <a:miter lim="800000"/>
          </a:ln>
          <a:effectLst/>
        </p:spPr>
        <p:txBody>
          <a:bodyPr wrap="none">
            <a:spAutoFit/>
          </a:bodyPr>
          <a:lstStyle/>
          <a:p>
            <a:pPr>
              <a:defRPr/>
            </a:pPr>
            <a:r>
              <a:rPr kumimoji="1" lang="en-US" altLang="zh-CN" sz="2400">
                <a:effectLst>
                  <a:outerShdw blurRad="38100" dist="38100" dir="2700000" algn="tl">
                    <a:srgbClr val="C0C0C0"/>
                  </a:outerShdw>
                </a:effectLst>
                <a:ea typeface="隶书" pitchFamily="49" charset="-122"/>
                <a:sym typeface="Wingdings" panose="05000000000000000000" pitchFamily="2" charset="2"/>
              </a:rPr>
              <a:t>STC(SNO , TNO , CNO)</a:t>
            </a:r>
            <a:endParaRPr kumimoji="1" lang="en-US" altLang="zh-CN" sz="2400">
              <a:effectLst>
                <a:outerShdw blurRad="38100" dist="38100" dir="2700000" algn="tl">
                  <a:srgbClr val="C0C0C0"/>
                </a:outerShdw>
              </a:effectLst>
              <a:ea typeface="隶书" pitchFamily="49" charset="-122"/>
              <a:sym typeface="Wingdings" panose="05000000000000000000" pitchFamily="2" charset="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p:txBody>
          <a:bodyPr/>
          <a:lstStyle/>
          <a:p>
            <a:pPr>
              <a:defRPr/>
            </a:pPr>
            <a:r>
              <a:rPr lang="en-US" altLang="zh-CN" dirty="0"/>
              <a:t>BCNF</a:t>
            </a:r>
            <a:endParaRPr lang="en-US" altLang="zh-CN" dirty="0"/>
          </a:p>
        </p:txBody>
      </p:sp>
      <p:sp>
        <p:nvSpPr>
          <p:cNvPr id="45059" name="Rectangle 3"/>
          <p:cNvSpPr>
            <a:spLocks noGrp="1" noChangeArrowheads="1"/>
          </p:cNvSpPr>
          <p:nvPr>
            <p:ph idx="1"/>
          </p:nvPr>
        </p:nvSpPr>
        <p:spPr>
          <a:xfrm>
            <a:off x="228599" y="1066799"/>
            <a:ext cx="8770257" cy="5123543"/>
          </a:xfrm>
        </p:spPr>
        <p:txBody>
          <a:bodyPr>
            <a:normAutofit/>
          </a:bodyPr>
          <a:lstStyle/>
          <a:p>
            <a:pPr algn="l"/>
            <a:r>
              <a:rPr lang="zh-CN" altLang="en-US" b="1" i="0" dirty="0">
                <a:solidFill>
                  <a:srgbClr val="0F1115"/>
                </a:solidFill>
                <a:effectLst/>
                <a:latin typeface="quote-cjk-patch"/>
              </a:rPr>
              <a:t>定义</a:t>
            </a:r>
            <a:r>
              <a:rPr lang="zh-CN" altLang="en-US" b="0" i="0" dirty="0">
                <a:solidFill>
                  <a:srgbClr val="0F1115"/>
                </a:solidFill>
                <a:effectLst/>
                <a:latin typeface="quote-cjk-patch"/>
              </a:rPr>
              <a:t>：一个关系模式 </a:t>
            </a:r>
            <a:r>
              <a:rPr lang="en-US" altLang="zh-CN" b="0" i="0" dirty="0">
                <a:solidFill>
                  <a:srgbClr val="0F1115"/>
                </a:solidFill>
                <a:effectLst/>
                <a:latin typeface="quote-cjk-patch"/>
              </a:rPr>
              <a:t>R </a:t>
            </a:r>
            <a:r>
              <a:rPr lang="zh-CN" altLang="en-US" b="0" i="0" dirty="0">
                <a:solidFill>
                  <a:srgbClr val="0F1115"/>
                </a:solidFill>
                <a:effectLst/>
                <a:latin typeface="quote-cjk-patch"/>
              </a:rPr>
              <a:t>满足第</a:t>
            </a:r>
            <a:r>
              <a:rPr lang="en-US" altLang="zh-CN" dirty="0">
                <a:solidFill>
                  <a:srgbClr val="0F1115"/>
                </a:solidFill>
                <a:latin typeface="quote-cjk-patch"/>
              </a:rPr>
              <a:t>BC</a:t>
            </a:r>
            <a:r>
              <a:rPr lang="zh-CN" altLang="en-US" b="0" i="0" dirty="0">
                <a:solidFill>
                  <a:srgbClr val="0F1115"/>
                </a:solidFill>
                <a:effectLst/>
                <a:latin typeface="quote-cjk-patch"/>
              </a:rPr>
              <a:t>范式，当且仅当：</a:t>
            </a:r>
            <a:endParaRPr lang="zh-CN" altLang="en-US" b="0" i="0" dirty="0">
              <a:solidFill>
                <a:srgbClr val="0F1115"/>
              </a:solidFill>
              <a:effectLst/>
              <a:latin typeface="quote-cjk-patch"/>
            </a:endParaRPr>
          </a:p>
          <a:p>
            <a:pPr lvl="1">
              <a:buFont typeface="+mj-lt"/>
              <a:buAutoNum type="arabicPeriod"/>
            </a:pPr>
            <a:r>
              <a:rPr lang="en-US" altLang="zh-CN" b="0" i="0" dirty="0">
                <a:solidFill>
                  <a:srgbClr val="0F1115"/>
                </a:solidFill>
                <a:effectLst/>
                <a:latin typeface="quote-cjk-patch"/>
              </a:rPr>
              <a:t>R </a:t>
            </a:r>
            <a:r>
              <a:rPr lang="zh-CN" altLang="en-US" b="0" i="0" dirty="0">
                <a:solidFill>
                  <a:srgbClr val="0F1115"/>
                </a:solidFill>
                <a:effectLst/>
                <a:latin typeface="quote-cjk-patch"/>
              </a:rPr>
              <a:t>满足第一范式。</a:t>
            </a:r>
            <a:endParaRPr lang="zh-CN" altLang="en-US" b="0" i="0" dirty="0">
              <a:solidFill>
                <a:srgbClr val="0F1115"/>
              </a:solidFill>
              <a:effectLst/>
              <a:latin typeface="quote-cjk-patch"/>
            </a:endParaRPr>
          </a:p>
          <a:p>
            <a:pPr lvl="1">
              <a:buFont typeface="+mj-lt"/>
              <a:buAutoNum type="arabicPeriod"/>
            </a:pPr>
            <a:r>
              <a:rPr lang="zh-CN" altLang="en-US" b="0" i="0" dirty="0">
                <a:solidFill>
                  <a:srgbClr val="0F1115"/>
                </a:solidFill>
                <a:effectLst/>
                <a:latin typeface="quote-cjk-patch"/>
              </a:rPr>
              <a:t>对于 </a:t>
            </a:r>
            <a:r>
              <a:rPr lang="en-US" altLang="zh-CN" b="0" i="0" dirty="0">
                <a:solidFill>
                  <a:srgbClr val="0F1115"/>
                </a:solidFill>
                <a:effectLst/>
                <a:latin typeface="quote-cjk-patch"/>
              </a:rPr>
              <a:t>R </a:t>
            </a:r>
            <a:r>
              <a:rPr lang="zh-CN" altLang="en-US" b="0" i="0" dirty="0">
                <a:solidFill>
                  <a:srgbClr val="0F1115"/>
                </a:solidFill>
                <a:effectLst/>
                <a:latin typeface="quote-cjk-patch"/>
              </a:rPr>
              <a:t>中的每一个非平凡的函数依赖 </a:t>
            </a:r>
            <a:r>
              <a:rPr lang="en-US" altLang="zh-CN" b="0" i="0" dirty="0">
                <a:solidFill>
                  <a:srgbClr val="0F1115"/>
                </a:solidFill>
                <a:effectLst/>
                <a:latin typeface="quote-cjk-patch"/>
              </a:rPr>
              <a:t>X </a:t>
            </a:r>
            <a:r>
              <a:rPr lang="en-US" altLang="zh-CN" b="0" i="0" dirty="0">
                <a:solidFill>
                  <a:srgbClr val="0F1115"/>
                </a:solidFill>
                <a:effectLst/>
                <a:latin typeface="quote-cjk-patch"/>
                <a:sym typeface="Wingdings" panose="05000000000000000000" pitchFamily="2" charset="2"/>
              </a:rPr>
              <a:t></a:t>
            </a:r>
            <a:r>
              <a:rPr lang="en-US" altLang="zh-CN" b="0" i="0" dirty="0">
                <a:solidFill>
                  <a:srgbClr val="0F1115"/>
                </a:solidFill>
                <a:effectLst/>
                <a:latin typeface="quote-cjk-patch"/>
              </a:rPr>
              <a:t> Y</a:t>
            </a:r>
            <a:r>
              <a:rPr lang="zh-CN" altLang="en-US" b="0" i="0" dirty="0">
                <a:solidFill>
                  <a:srgbClr val="0F1115"/>
                </a:solidFill>
                <a:effectLst/>
                <a:latin typeface="quote-cjk-patch"/>
              </a:rPr>
              <a:t>，其决定因素 </a:t>
            </a:r>
            <a:r>
              <a:rPr lang="en-US" altLang="zh-CN" b="0" i="0" dirty="0">
                <a:solidFill>
                  <a:srgbClr val="0F1115"/>
                </a:solidFill>
                <a:effectLst/>
                <a:latin typeface="quote-cjk-patch"/>
              </a:rPr>
              <a:t>X </a:t>
            </a:r>
            <a:r>
              <a:rPr lang="zh-CN" altLang="en-US" b="0" i="0" dirty="0">
                <a:solidFill>
                  <a:srgbClr val="0F1115"/>
                </a:solidFill>
                <a:effectLst/>
                <a:latin typeface="quote-cjk-patch"/>
              </a:rPr>
              <a:t>必须是一个超码（即 </a:t>
            </a:r>
            <a:r>
              <a:rPr lang="en-US" altLang="zh-CN" b="0" i="0" dirty="0">
                <a:solidFill>
                  <a:srgbClr val="0F1115"/>
                </a:solidFill>
                <a:effectLst/>
                <a:latin typeface="quote-cjk-patch"/>
              </a:rPr>
              <a:t>X </a:t>
            </a:r>
            <a:r>
              <a:rPr lang="zh-CN" altLang="en-US" b="0" i="0" dirty="0">
                <a:solidFill>
                  <a:srgbClr val="0F1115"/>
                </a:solidFill>
                <a:effectLst/>
                <a:latin typeface="quote-cjk-patch"/>
              </a:rPr>
              <a:t>包含 </a:t>
            </a:r>
            <a:r>
              <a:rPr lang="en-US" altLang="zh-CN" b="0" i="0" dirty="0">
                <a:solidFill>
                  <a:srgbClr val="0F1115"/>
                </a:solidFill>
                <a:effectLst/>
                <a:latin typeface="quote-cjk-patch"/>
              </a:rPr>
              <a:t>R </a:t>
            </a:r>
            <a:r>
              <a:rPr lang="zh-CN" altLang="en-US" b="0" i="0" dirty="0">
                <a:solidFill>
                  <a:srgbClr val="0F1115"/>
                </a:solidFill>
                <a:effectLst/>
                <a:latin typeface="quote-cjk-patch"/>
              </a:rPr>
              <a:t>的某个候选码）。</a:t>
            </a:r>
            <a:endParaRPr lang="zh-CN" altLang="en-US" b="0" i="0" dirty="0">
              <a:solidFill>
                <a:srgbClr val="0F1115"/>
              </a:solidFill>
              <a:effectLst/>
              <a:latin typeface="quote-cjk-patch"/>
            </a:endParaRPr>
          </a:p>
          <a:p>
            <a:pPr algn="l"/>
            <a:r>
              <a:rPr lang="zh-CN" altLang="en-US" b="1" i="0" dirty="0">
                <a:solidFill>
                  <a:srgbClr val="0F1115"/>
                </a:solidFill>
                <a:effectLst/>
                <a:latin typeface="quote-cjk-patch"/>
              </a:rPr>
              <a:t>核心要求</a:t>
            </a:r>
            <a:r>
              <a:rPr lang="zh-CN" altLang="en-US" b="0" i="0" dirty="0">
                <a:solidFill>
                  <a:srgbClr val="0F1115"/>
                </a:solidFill>
                <a:effectLst/>
                <a:latin typeface="quote-cjk-patch"/>
              </a:rPr>
              <a:t>：</a:t>
            </a:r>
            <a:endParaRPr lang="zh-CN" altLang="en-US" b="0" i="0" dirty="0">
              <a:solidFill>
                <a:srgbClr val="0F1115"/>
              </a:solidFill>
              <a:effectLst/>
              <a:latin typeface="quote-cjk-patch"/>
            </a:endParaRPr>
          </a:p>
          <a:p>
            <a:pPr marL="857250" lvl="1" indent="-457200">
              <a:buFont typeface="+mj-lt"/>
              <a:buAutoNum type="arabicPeriod"/>
            </a:pPr>
            <a:r>
              <a:rPr lang="zh-CN" altLang="en-US" b="0" i="0" dirty="0">
                <a:solidFill>
                  <a:srgbClr val="0F1115"/>
                </a:solidFill>
                <a:effectLst/>
                <a:latin typeface="quote-cjk-patch"/>
              </a:rPr>
              <a:t>比</a:t>
            </a:r>
            <a:r>
              <a:rPr lang="en-US" altLang="zh-CN" b="0" i="0" dirty="0">
                <a:solidFill>
                  <a:srgbClr val="0F1115"/>
                </a:solidFill>
                <a:effectLst/>
                <a:latin typeface="quote-cjk-patch"/>
              </a:rPr>
              <a:t>3NF</a:t>
            </a:r>
            <a:r>
              <a:rPr lang="zh-CN" altLang="en-US" b="0" i="0" dirty="0">
                <a:solidFill>
                  <a:srgbClr val="0F1115"/>
                </a:solidFill>
                <a:effectLst/>
                <a:latin typeface="quote-cjk-patch"/>
              </a:rPr>
              <a:t>更严格。在所有情况下，</a:t>
            </a:r>
            <a:r>
              <a:rPr lang="en-US" altLang="zh-CN" b="0" i="0" dirty="0">
                <a:solidFill>
                  <a:srgbClr val="0F1115"/>
                </a:solidFill>
                <a:effectLst/>
                <a:latin typeface="quote-cjk-patch"/>
                <a:sym typeface="Wingdings" panose="05000000000000000000" pitchFamily="2" charset="2"/>
              </a:rPr>
              <a:t></a:t>
            </a:r>
            <a:r>
              <a:rPr lang="zh-CN" altLang="en-US" b="0" i="0" dirty="0">
                <a:solidFill>
                  <a:srgbClr val="0F1115"/>
                </a:solidFill>
                <a:effectLst/>
                <a:latin typeface="quote-cjk-patch"/>
              </a:rPr>
              <a:t>的左侧都必须是超码。</a:t>
            </a:r>
            <a:endParaRPr lang="en-US" altLang="zh-CN" dirty="0">
              <a:solidFill>
                <a:srgbClr val="0F1115"/>
              </a:solidFill>
              <a:latin typeface="quote-cjk-patch"/>
            </a:endParaRPr>
          </a:p>
          <a:p>
            <a:pPr marL="400050" lvl="1" indent="0">
              <a:buNone/>
            </a:pPr>
            <a:r>
              <a:rPr lang="zh-CN" altLang="en-US" dirty="0">
                <a:ea typeface="宋体" panose="02010600030101010101" pitchFamily="2" charset="-122"/>
              </a:rPr>
              <a:t>如</a:t>
            </a:r>
            <a:r>
              <a:rPr lang="en-US" altLang="zh-CN" dirty="0">
                <a:ea typeface="宋体" panose="02010600030101010101" pitchFamily="2" charset="-122"/>
              </a:rPr>
              <a:t>STC </a:t>
            </a:r>
            <a:r>
              <a:rPr lang="en-US" altLang="zh-CN" dirty="0">
                <a:ea typeface="宋体" panose="02010600030101010101" pitchFamily="2" charset="-122"/>
                <a:sym typeface="Symbol" panose="05050102010706020507" pitchFamily="18" charset="2"/>
              </a:rPr>
              <a:t> BCNF</a:t>
            </a:r>
            <a:r>
              <a:rPr lang="zh-CN" altLang="en-US" dirty="0">
                <a:ea typeface="宋体" panose="02010600030101010101" pitchFamily="2" charset="-122"/>
                <a:sym typeface="Symbol" panose="05050102010706020507" pitchFamily="18" charset="2"/>
              </a:rPr>
              <a:t>，因为</a:t>
            </a:r>
            <a:r>
              <a:rPr lang="en-US" altLang="zh-CN" dirty="0">
                <a:ea typeface="宋体" panose="02010600030101010101" pitchFamily="2" charset="-122"/>
                <a:sym typeface="Symbol" panose="05050102010706020507" pitchFamily="18" charset="2"/>
              </a:rPr>
              <a:t>TNO </a:t>
            </a:r>
            <a:r>
              <a:rPr lang="en-US" altLang="zh-CN" dirty="0">
                <a:ea typeface="宋体" panose="02010600030101010101" pitchFamily="2" charset="-122"/>
                <a:sym typeface="Wingdings" panose="05000000000000000000" pitchFamily="2" charset="2"/>
              </a:rPr>
              <a:t> CNO</a:t>
            </a:r>
            <a:r>
              <a:rPr lang="zh-CN" altLang="en-US" dirty="0">
                <a:ea typeface="宋体" panose="02010600030101010101" pitchFamily="2" charset="-122"/>
                <a:sym typeface="Symbol" panose="05050102010706020507" pitchFamily="18" charset="2"/>
              </a:rPr>
              <a:t>，而</a:t>
            </a:r>
            <a:r>
              <a:rPr lang="en-US" altLang="zh-CN" dirty="0">
                <a:ea typeface="宋体" panose="02010600030101010101" pitchFamily="2" charset="-122"/>
                <a:sym typeface="Symbol" panose="05050102010706020507" pitchFamily="18" charset="2"/>
              </a:rPr>
              <a:t>TNO</a:t>
            </a:r>
            <a:r>
              <a:rPr lang="zh-CN" altLang="en-US" dirty="0">
                <a:ea typeface="宋体" panose="02010600030101010101" pitchFamily="2" charset="-122"/>
                <a:sym typeface="Symbol" panose="05050102010706020507" pitchFamily="18" charset="2"/>
              </a:rPr>
              <a:t>不含有任何完整候选码，如下改造</a:t>
            </a:r>
            <a:r>
              <a:rPr lang="en-US" altLang="zh-CN" dirty="0">
                <a:ea typeface="宋体" panose="02010600030101010101" pitchFamily="2" charset="-122"/>
                <a:sym typeface="Symbol" panose="05050102010706020507" pitchFamily="18" charset="2"/>
              </a:rPr>
              <a:t>:</a:t>
            </a:r>
            <a:endParaRPr lang="zh-CN" altLang="en-US" dirty="0">
              <a:ea typeface="宋体" panose="02010600030101010101" pitchFamily="2" charset="-122"/>
              <a:sym typeface="Wingdings" panose="05000000000000000000" pitchFamily="2" charset="2"/>
            </a:endParaRPr>
          </a:p>
          <a:p>
            <a:pPr marL="400050" lvl="1" indent="0">
              <a:buNone/>
            </a:pPr>
            <a:endParaRPr lang="zh-CN" altLang="en-US" b="0" i="0" dirty="0">
              <a:solidFill>
                <a:srgbClr val="0F1115"/>
              </a:solidFill>
              <a:effectLst/>
              <a:latin typeface="quote-cjk-patch"/>
            </a:endParaRPr>
          </a:p>
        </p:txBody>
      </p:sp>
      <p:sp>
        <p:nvSpPr>
          <p:cNvPr id="5" name="Rectangle 4"/>
          <p:cNvSpPr>
            <a:spLocks noChangeArrowheads="1"/>
          </p:cNvSpPr>
          <p:nvPr/>
        </p:nvSpPr>
        <p:spPr bwMode="auto">
          <a:xfrm>
            <a:off x="0" y="-196189"/>
            <a:ext cx="65" cy="3923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7132" rIns="0" bIns="57132"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8" name="table"/>
          <p:cNvPicPr>
            <a:picLocks noChangeAspect="1"/>
          </p:cNvPicPr>
          <p:nvPr/>
        </p:nvPicPr>
        <p:blipFill>
          <a:blip r:embed="rId1"/>
          <a:stretch>
            <a:fillRect/>
          </a:stretch>
        </p:blipFill>
        <p:spPr>
          <a:xfrm>
            <a:off x="4037647" y="4903854"/>
            <a:ext cx="2475765" cy="1342049"/>
          </a:xfrm>
          <a:prstGeom prst="rect">
            <a:avLst/>
          </a:prstGeom>
        </p:spPr>
      </p:pic>
      <p:pic>
        <p:nvPicPr>
          <p:cNvPr id="9" name="table"/>
          <p:cNvPicPr>
            <a:picLocks noChangeAspect="1"/>
          </p:cNvPicPr>
          <p:nvPr/>
        </p:nvPicPr>
        <p:blipFill>
          <a:blip r:embed="rId2"/>
          <a:stretch>
            <a:fillRect/>
          </a:stretch>
        </p:blipFill>
        <p:spPr>
          <a:xfrm>
            <a:off x="6912593" y="4999714"/>
            <a:ext cx="1932957" cy="1150328"/>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习题</a:t>
            </a:r>
            <a:endParaRPr lang="zh-CN" altLang="en-US" dirty="0"/>
          </a:p>
        </p:txBody>
      </p:sp>
      <p:sp>
        <p:nvSpPr>
          <p:cNvPr id="3" name="内容占位符 2"/>
          <p:cNvSpPr>
            <a:spLocks noGrp="1"/>
          </p:cNvSpPr>
          <p:nvPr>
            <p:ph idx="1"/>
          </p:nvPr>
        </p:nvSpPr>
        <p:spPr/>
        <p:txBody>
          <a:bodyPr>
            <a:noAutofit/>
          </a:bodyPr>
          <a:lstStyle/>
          <a:p>
            <a:r>
              <a:rPr lang="zh-CN" altLang="en-US" sz="1800" b="0" i="0" dirty="0">
                <a:solidFill>
                  <a:srgbClr val="0000FF"/>
                </a:solidFill>
                <a:effectLst/>
                <a:latin typeface="Menlo"/>
              </a:rPr>
              <a:t>学生选课</a:t>
            </a:r>
            <a:r>
              <a:rPr lang="en-US" altLang="zh-CN" sz="1800" b="0" i="0" dirty="0">
                <a:solidFill>
                  <a:srgbClr val="0000FF"/>
                </a:solidFill>
                <a:effectLst/>
                <a:latin typeface="Menlo"/>
              </a:rPr>
              <a:t>(</a:t>
            </a:r>
            <a:r>
              <a:rPr lang="zh-CN" altLang="en-US" sz="1800" b="0" i="0" dirty="0">
                <a:solidFill>
                  <a:srgbClr val="0000FF"/>
                </a:solidFill>
                <a:effectLst/>
                <a:latin typeface="Menlo"/>
              </a:rPr>
              <a:t>学号</a:t>
            </a:r>
            <a:r>
              <a:rPr lang="en-US" altLang="zh-CN" sz="1800" b="0" i="0" dirty="0">
                <a:solidFill>
                  <a:srgbClr val="0000FF"/>
                </a:solidFill>
                <a:effectLst/>
                <a:latin typeface="Menlo"/>
              </a:rPr>
              <a:t>, </a:t>
            </a:r>
            <a:r>
              <a:rPr lang="zh-CN" altLang="en-US" sz="1800" b="0" i="0" dirty="0">
                <a:solidFill>
                  <a:srgbClr val="0000FF"/>
                </a:solidFill>
                <a:effectLst/>
                <a:latin typeface="Menlo"/>
              </a:rPr>
              <a:t>课程号</a:t>
            </a:r>
            <a:r>
              <a:rPr lang="en-US" altLang="zh-CN" sz="1800" b="0" i="0" dirty="0">
                <a:solidFill>
                  <a:srgbClr val="0000FF"/>
                </a:solidFill>
                <a:effectLst/>
                <a:latin typeface="Menlo"/>
              </a:rPr>
              <a:t>, </a:t>
            </a:r>
            <a:r>
              <a:rPr lang="zh-CN" altLang="en-US" sz="1800" b="0" i="0" dirty="0">
                <a:solidFill>
                  <a:srgbClr val="0000FF"/>
                </a:solidFill>
                <a:effectLst/>
                <a:latin typeface="Menlo"/>
              </a:rPr>
              <a:t>身份证号</a:t>
            </a:r>
            <a:r>
              <a:rPr lang="en-US" altLang="zh-CN" sz="1800" b="0" i="0" dirty="0">
                <a:solidFill>
                  <a:srgbClr val="0000FF"/>
                </a:solidFill>
                <a:effectLst/>
                <a:latin typeface="Menlo"/>
              </a:rPr>
              <a:t>, </a:t>
            </a:r>
            <a:r>
              <a:rPr lang="zh-CN" altLang="en-US" sz="1800" b="0" i="0" dirty="0">
                <a:solidFill>
                  <a:srgbClr val="0000FF"/>
                </a:solidFill>
                <a:effectLst/>
                <a:latin typeface="Menlo"/>
              </a:rPr>
              <a:t>成绩</a:t>
            </a:r>
            <a:r>
              <a:rPr lang="en-US" altLang="zh-CN" sz="1800" b="0" i="0" dirty="0">
                <a:solidFill>
                  <a:srgbClr val="0000FF"/>
                </a:solidFill>
                <a:effectLst/>
                <a:latin typeface="Menlo"/>
              </a:rPr>
              <a:t>)  </a:t>
            </a:r>
            <a:r>
              <a:rPr lang="zh-CN" altLang="en-US" sz="1800" b="0" i="0" dirty="0">
                <a:solidFill>
                  <a:srgbClr val="0F1115"/>
                </a:solidFill>
                <a:effectLst/>
                <a:latin typeface="Menlo"/>
              </a:rPr>
              <a:t>问题：满足</a:t>
            </a:r>
            <a:r>
              <a:rPr lang="en-US" altLang="zh-CN" sz="1800" b="0" i="0" dirty="0">
                <a:solidFill>
                  <a:srgbClr val="0F1115"/>
                </a:solidFill>
                <a:effectLst/>
                <a:latin typeface="Menlo"/>
              </a:rPr>
              <a:t>2NF?3NF?BCNF?</a:t>
            </a:r>
            <a:endParaRPr lang="en-US" altLang="zh-CN" sz="1800" b="0" i="0" dirty="0">
              <a:solidFill>
                <a:srgbClr val="0F1115"/>
              </a:solidFill>
              <a:effectLst/>
              <a:latin typeface="Menlo"/>
            </a:endParaRPr>
          </a:p>
          <a:p>
            <a:pPr marL="0" indent="0">
              <a:buNone/>
            </a:pPr>
            <a:r>
              <a:rPr lang="en-US" altLang="zh-CN" sz="1800" b="1" dirty="0">
                <a:solidFill>
                  <a:srgbClr val="FF0000"/>
                </a:solidFill>
              </a:rPr>
              <a:t>1. </a:t>
            </a:r>
            <a:r>
              <a:rPr lang="zh-CN" altLang="en-US" sz="1800" b="1" dirty="0">
                <a:solidFill>
                  <a:srgbClr val="FF0000"/>
                </a:solidFill>
              </a:rPr>
              <a:t>列出所有的函数依赖关系</a:t>
            </a:r>
            <a:endParaRPr lang="en-US" altLang="zh-CN" sz="1800" b="1" dirty="0">
              <a:solidFill>
                <a:srgbClr val="FF0000"/>
              </a:solidFill>
            </a:endParaRPr>
          </a:p>
          <a:p>
            <a:pPr marL="0" indent="0">
              <a:buNone/>
            </a:pPr>
            <a:r>
              <a:rPr lang="en-US" altLang="zh-CN" sz="1800" dirty="0">
                <a:solidFill>
                  <a:srgbClr val="0000FF"/>
                </a:solidFill>
              </a:rPr>
              <a:t>(</a:t>
            </a:r>
            <a:r>
              <a:rPr lang="zh-CN" altLang="en-US" sz="1800" dirty="0">
                <a:solidFill>
                  <a:srgbClr val="0000FF"/>
                </a:solidFill>
              </a:rPr>
              <a:t>学号</a:t>
            </a:r>
            <a:r>
              <a:rPr lang="en-US" altLang="zh-CN" sz="1800" dirty="0">
                <a:solidFill>
                  <a:srgbClr val="0000FF"/>
                </a:solidFill>
              </a:rPr>
              <a:t>, </a:t>
            </a:r>
            <a:r>
              <a:rPr lang="zh-CN" altLang="en-US" sz="1800" dirty="0">
                <a:solidFill>
                  <a:srgbClr val="0000FF"/>
                </a:solidFill>
              </a:rPr>
              <a:t>课程号</a:t>
            </a:r>
            <a:r>
              <a:rPr lang="en-US" altLang="zh-CN" sz="1800" dirty="0">
                <a:solidFill>
                  <a:srgbClr val="0000FF"/>
                </a:solidFill>
              </a:rPr>
              <a:t>) </a:t>
            </a:r>
            <a:r>
              <a:rPr lang="en-US" altLang="zh-CN" sz="1800" dirty="0">
                <a:sym typeface="Wingdings" panose="05000000000000000000" pitchFamily="2" charset="2"/>
              </a:rPr>
              <a:t></a:t>
            </a:r>
            <a:r>
              <a:rPr lang="en-US" altLang="zh-CN" sz="1800" dirty="0">
                <a:solidFill>
                  <a:srgbClr val="0000FF"/>
                </a:solidFill>
              </a:rPr>
              <a:t> </a:t>
            </a:r>
            <a:r>
              <a:rPr lang="zh-CN" altLang="en-US" sz="1800" dirty="0">
                <a:solidFill>
                  <a:srgbClr val="0000FF"/>
                </a:solidFill>
              </a:rPr>
              <a:t>成绩 </a:t>
            </a:r>
            <a:endParaRPr lang="en-US" altLang="zh-CN" sz="1800" dirty="0">
              <a:solidFill>
                <a:srgbClr val="0000FF"/>
              </a:solidFill>
            </a:endParaRPr>
          </a:p>
          <a:p>
            <a:pPr marL="0" indent="0">
              <a:buNone/>
            </a:pPr>
            <a:r>
              <a:rPr lang="en-US" altLang="zh-CN" sz="1800" dirty="0">
                <a:solidFill>
                  <a:srgbClr val="0000FF"/>
                </a:solidFill>
              </a:rPr>
              <a:t>(</a:t>
            </a:r>
            <a:r>
              <a:rPr lang="zh-CN" altLang="en-US" sz="1800" dirty="0">
                <a:solidFill>
                  <a:srgbClr val="0000FF"/>
                </a:solidFill>
              </a:rPr>
              <a:t>学号</a:t>
            </a:r>
            <a:r>
              <a:rPr lang="en-US" altLang="zh-CN" sz="1800" dirty="0">
                <a:solidFill>
                  <a:srgbClr val="0000FF"/>
                </a:solidFill>
              </a:rPr>
              <a:t>, </a:t>
            </a:r>
            <a:r>
              <a:rPr lang="zh-CN" altLang="en-US" sz="1800" dirty="0">
                <a:solidFill>
                  <a:srgbClr val="0000FF"/>
                </a:solidFill>
              </a:rPr>
              <a:t>课程号</a:t>
            </a:r>
            <a:r>
              <a:rPr lang="en-US" altLang="zh-CN" sz="1800" dirty="0">
                <a:solidFill>
                  <a:srgbClr val="0000FF"/>
                </a:solidFill>
              </a:rPr>
              <a:t>) </a:t>
            </a:r>
            <a:r>
              <a:rPr lang="en-US" altLang="zh-CN" sz="1800" dirty="0">
                <a:sym typeface="Wingdings" panose="05000000000000000000" pitchFamily="2" charset="2"/>
              </a:rPr>
              <a:t></a:t>
            </a:r>
            <a:r>
              <a:rPr lang="en-US" altLang="zh-CN" sz="1800" dirty="0">
                <a:solidFill>
                  <a:srgbClr val="0000FF"/>
                </a:solidFill>
              </a:rPr>
              <a:t> </a:t>
            </a:r>
            <a:r>
              <a:rPr lang="zh-CN" altLang="en-US" sz="1800" dirty="0">
                <a:solidFill>
                  <a:srgbClr val="0000FF"/>
                </a:solidFill>
              </a:rPr>
              <a:t>身份证号 </a:t>
            </a:r>
            <a:endParaRPr lang="en-US" altLang="zh-CN" sz="1800" dirty="0">
              <a:solidFill>
                <a:srgbClr val="0000FF"/>
              </a:solidFill>
            </a:endParaRPr>
          </a:p>
          <a:p>
            <a:pPr marL="0" indent="0">
              <a:buNone/>
            </a:pPr>
            <a:r>
              <a:rPr lang="en-US" altLang="zh-CN" sz="1800" dirty="0">
                <a:solidFill>
                  <a:srgbClr val="0000FF"/>
                </a:solidFill>
              </a:rPr>
              <a:t>(</a:t>
            </a:r>
            <a:r>
              <a:rPr lang="zh-CN" altLang="en-US" sz="1800" dirty="0">
                <a:solidFill>
                  <a:srgbClr val="0000FF"/>
                </a:solidFill>
              </a:rPr>
              <a:t>身份证号</a:t>
            </a:r>
            <a:r>
              <a:rPr lang="en-US" altLang="zh-CN" sz="1800" dirty="0">
                <a:solidFill>
                  <a:srgbClr val="0000FF"/>
                </a:solidFill>
              </a:rPr>
              <a:t>, </a:t>
            </a:r>
            <a:r>
              <a:rPr lang="zh-CN" altLang="en-US" sz="1800" dirty="0">
                <a:solidFill>
                  <a:srgbClr val="0000FF"/>
                </a:solidFill>
              </a:rPr>
              <a:t>课程号</a:t>
            </a:r>
            <a:r>
              <a:rPr lang="en-US" altLang="zh-CN" sz="1800" dirty="0">
                <a:solidFill>
                  <a:srgbClr val="0000FF"/>
                </a:solidFill>
              </a:rPr>
              <a:t>) </a:t>
            </a:r>
            <a:r>
              <a:rPr lang="en-US" altLang="zh-CN" sz="1800" dirty="0">
                <a:sym typeface="Wingdings" panose="05000000000000000000" pitchFamily="2" charset="2"/>
              </a:rPr>
              <a:t></a:t>
            </a:r>
            <a:r>
              <a:rPr lang="en-US" altLang="zh-CN" sz="1800" dirty="0">
                <a:solidFill>
                  <a:srgbClr val="0000FF"/>
                </a:solidFill>
              </a:rPr>
              <a:t> </a:t>
            </a:r>
            <a:r>
              <a:rPr lang="zh-CN" altLang="en-US" sz="1800" dirty="0">
                <a:solidFill>
                  <a:srgbClr val="0000FF"/>
                </a:solidFill>
              </a:rPr>
              <a:t>成绩</a:t>
            </a:r>
            <a:endParaRPr lang="en-US" altLang="zh-CN" sz="1800" dirty="0">
              <a:solidFill>
                <a:srgbClr val="0000FF"/>
              </a:solidFill>
            </a:endParaRPr>
          </a:p>
          <a:p>
            <a:pPr marL="0" indent="0">
              <a:buNone/>
            </a:pPr>
            <a:r>
              <a:rPr lang="en-US" altLang="zh-CN" sz="1800" dirty="0">
                <a:solidFill>
                  <a:srgbClr val="0000FF"/>
                </a:solidFill>
              </a:rPr>
              <a:t>(</a:t>
            </a:r>
            <a:r>
              <a:rPr lang="zh-CN" altLang="en-US" sz="1800" dirty="0">
                <a:solidFill>
                  <a:srgbClr val="0000FF"/>
                </a:solidFill>
              </a:rPr>
              <a:t>身份证号</a:t>
            </a:r>
            <a:r>
              <a:rPr lang="en-US" altLang="zh-CN" sz="1800" dirty="0">
                <a:solidFill>
                  <a:srgbClr val="0000FF"/>
                </a:solidFill>
              </a:rPr>
              <a:t>, </a:t>
            </a:r>
            <a:r>
              <a:rPr lang="zh-CN" altLang="en-US" sz="1800" dirty="0">
                <a:solidFill>
                  <a:srgbClr val="0000FF"/>
                </a:solidFill>
              </a:rPr>
              <a:t>课程号</a:t>
            </a:r>
            <a:r>
              <a:rPr lang="en-US" altLang="zh-CN" sz="1800" dirty="0">
                <a:solidFill>
                  <a:srgbClr val="0000FF"/>
                </a:solidFill>
              </a:rPr>
              <a:t>) </a:t>
            </a:r>
            <a:r>
              <a:rPr lang="en-US" altLang="zh-CN" sz="1800" dirty="0">
                <a:sym typeface="Wingdings" panose="05000000000000000000" pitchFamily="2" charset="2"/>
              </a:rPr>
              <a:t></a:t>
            </a:r>
            <a:r>
              <a:rPr lang="en-US" altLang="zh-CN" sz="1800" dirty="0">
                <a:solidFill>
                  <a:srgbClr val="0000FF"/>
                </a:solidFill>
              </a:rPr>
              <a:t> </a:t>
            </a:r>
            <a:r>
              <a:rPr lang="zh-CN" altLang="en-US" sz="1800" dirty="0">
                <a:solidFill>
                  <a:srgbClr val="0000FF"/>
                </a:solidFill>
              </a:rPr>
              <a:t>学号 </a:t>
            </a:r>
            <a:endParaRPr lang="en-US" altLang="zh-CN" sz="1800" dirty="0">
              <a:solidFill>
                <a:srgbClr val="0000FF"/>
              </a:solidFill>
            </a:endParaRPr>
          </a:p>
          <a:p>
            <a:pPr marL="0" indent="0">
              <a:buNone/>
            </a:pPr>
            <a:r>
              <a:rPr lang="zh-CN" altLang="en-US" sz="1800" dirty="0">
                <a:solidFill>
                  <a:srgbClr val="0000FF"/>
                </a:solidFill>
              </a:rPr>
              <a:t>学号 </a:t>
            </a:r>
            <a:r>
              <a:rPr lang="en-US" altLang="zh-CN" sz="1800" dirty="0">
                <a:sym typeface="Wingdings" panose="05000000000000000000" pitchFamily="2" charset="2"/>
              </a:rPr>
              <a:t></a:t>
            </a:r>
            <a:r>
              <a:rPr lang="en-US" altLang="zh-CN" sz="1800" dirty="0"/>
              <a:t> </a:t>
            </a:r>
            <a:r>
              <a:rPr lang="zh-CN" altLang="en-US" sz="1800" dirty="0">
                <a:solidFill>
                  <a:srgbClr val="0000FF"/>
                </a:solidFill>
              </a:rPr>
              <a:t>身份证号</a:t>
            </a:r>
            <a:endParaRPr lang="en-US" altLang="zh-CN" sz="1800" dirty="0">
              <a:solidFill>
                <a:srgbClr val="0000FF"/>
              </a:solidFill>
            </a:endParaRPr>
          </a:p>
          <a:p>
            <a:pPr marL="0" indent="0">
              <a:buNone/>
            </a:pPr>
            <a:r>
              <a:rPr lang="zh-CN" altLang="en-US" sz="1800" dirty="0">
                <a:solidFill>
                  <a:srgbClr val="0000FF"/>
                </a:solidFill>
              </a:rPr>
              <a:t>身份证号</a:t>
            </a:r>
            <a:r>
              <a:rPr lang="zh-CN" altLang="en-US" sz="1800" dirty="0"/>
              <a:t> </a:t>
            </a:r>
            <a:r>
              <a:rPr lang="en-US" altLang="zh-CN" sz="1800" dirty="0">
                <a:sym typeface="Wingdings" panose="05000000000000000000" pitchFamily="2" charset="2"/>
              </a:rPr>
              <a:t></a:t>
            </a:r>
            <a:r>
              <a:rPr lang="en-US" altLang="zh-CN" sz="1800" dirty="0"/>
              <a:t> </a:t>
            </a:r>
            <a:r>
              <a:rPr lang="zh-CN" altLang="en-US" sz="1800" dirty="0">
                <a:solidFill>
                  <a:srgbClr val="0000FF"/>
                </a:solidFill>
              </a:rPr>
              <a:t>学号</a:t>
            </a:r>
            <a:r>
              <a:rPr lang="zh-CN" altLang="en-US" sz="1800" dirty="0"/>
              <a:t> </a:t>
            </a:r>
            <a:endParaRPr lang="en-US" altLang="zh-CN" sz="1800" dirty="0"/>
          </a:p>
          <a:p>
            <a:pPr marL="0" indent="0">
              <a:buNone/>
            </a:pPr>
            <a:r>
              <a:rPr lang="en-US" altLang="zh-CN" sz="1800" b="1" dirty="0">
                <a:solidFill>
                  <a:srgbClr val="FF0000"/>
                </a:solidFill>
              </a:rPr>
              <a:t>2. </a:t>
            </a:r>
            <a:r>
              <a:rPr lang="zh-CN" altLang="en-US" sz="1800" b="1" dirty="0">
                <a:solidFill>
                  <a:srgbClr val="FF0000"/>
                </a:solidFill>
              </a:rPr>
              <a:t>确定候选码 </a:t>
            </a:r>
            <a:r>
              <a:rPr lang="en-US" altLang="zh-CN" sz="1800" b="1" dirty="0">
                <a:solidFill>
                  <a:srgbClr val="FF0000"/>
                </a:solidFill>
              </a:rPr>
              <a:t>(Candidate Keys)</a:t>
            </a:r>
            <a:endParaRPr lang="en-US" altLang="zh-CN" sz="1800" b="1" dirty="0">
              <a:solidFill>
                <a:srgbClr val="FF0000"/>
              </a:solidFill>
            </a:endParaRPr>
          </a:p>
          <a:p>
            <a:pPr marL="0" indent="0">
              <a:buNone/>
            </a:pPr>
            <a:r>
              <a:rPr lang="en-US" altLang="zh-CN" sz="1800" dirty="0"/>
              <a:t>(</a:t>
            </a:r>
            <a:r>
              <a:rPr lang="zh-CN" altLang="en-US" sz="1800" dirty="0">
                <a:solidFill>
                  <a:srgbClr val="0000FF"/>
                </a:solidFill>
              </a:rPr>
              <a:t>学号</a:t>
            </a:r>
            <a:r>
              <a:rPr lang="en-US" altLang="zh-CN" sz="1800" dirty="0">
                <a:solidFill>
                  <a:srgbClr val="0000FF"/>
                </a:solidFill>
              </a:rPr>
              <a:t>, </a:t>
            </a:r>
            <a:r>
              <a:rPr lang="zh-CN" altLang="en-US" sz="1800" dirty="0">
                <a:solidFill>
                  <a:srgbClr val="0000FF"/>
                </a:solidFill>
              </a:rPr>
              <a:t>课程号</a:t>
            </a:r>
            <a:r>
              <a:rPr lang="en-US" altLang="zh-CN" sz="1800" dirty="0"/>
              <a:t>) </a:t>
            </a:r>
            <a:r>
              <a:rPr lang="zh-CN" altLang="en-US" sz="1800" dirty="0"/>
              <a:t>可以唯一确定一条记录（哪个学生选了哪门课，以及他的成绩和身份证号）；</a:t>
            </a:r>
            <a:r>
              <a:rPr lang="en-US" altLang="zh-CN" sz="1800" dirty="0"/>
              <a:t>(</a:t>
            </a:r>
            <a:r>
              <a:rPr lang="zh-CN" altLang="en-US" sz="1800" dirty="0">
                <a:solidFill>
                  <a:srgbClr val="0000FF"/>
                </a:solidFill>
              </a:rPr>
              <a:t>身份证号</a:t>
            </a:r>
            <a:r>
              <a:rPr lang="en-US" altLang="zh-CN" sz="1800" dirty="0">
                <a:solidFill>
                  <a:srgbClr val="0000FF"/>
                </a:solidFill>
              </a:rPr>
              <a:t>, </a:t>
            </a:r>
            <a:r>
              <a:rPr lang="zh-CN" altLang="en-US" sz="1800" dirty="0">
                <a:solidFill>
                  <a:srgbClr val="0000FF"/>
                </a:solidFill>
              </a:rPr>
              <a:t>课程号</a:t>
            </a:r>
            <a:r>
              <a:rPr lang="en-US" altLang="zh-CN" sz="1800" dirty="0"/>
              <a:t>) </a:t>
            </a:r>
            <a:r>
              <a:rPr lang="zh-CN" altLang="en-US" sz="1800" dirty="0"/>
              <a:t>同样可以唯一确定一条记录（哪个身份证的人选了哪门课）。没有更小的属性集能唯一标识元组。</a:t>
            </a:r>
            <a:endParaRPr lang="zh-CN" altLang="en-US" sz="1800" dirty="0"/>
          </a:p>
          <a:p>
            <a:pPr marL="0" indent="0">
              <a:buNone/>
            </a:pPr>
            <a:r>
              <a:rPr lang="zh-CN" altLang="en-US" sz="1800" dirty="0"/>
              <a:t>因此，候选码是：</a:t>
            </a:r>
            <a:r>
              <a:rPr lang="en-US" altLang="zh-CN" sz="1800" dirty="0"/>
              <a:t>CK1 = (</a:t>
            </a:r>
            <a:r>
              <a:rPr lang="zh-CN" altLang="en-US" sz="1800" dirty="0">
                <a:solidFill>
                  <a:srgbClr val="0000FF"/>
                </a:solidFill>
              </a:rPr>
              <a:t>学号</a:t>
            </a:r>
            <a:r>
              <a:rPr lang="en-US" altLang="zh-CN" sz="1800" dirty="0">
                <a:solidFill>
                  <a:srgbClr val="0000FF"/>
                </a:solidFill>
              </a:rPr>
              <a:t>, </a:t>
            </a:r>
            <a:r>
              <a:rPr lang="zh-CN" altLang="en-US" sz="1800" dirty="0">
                <a:solidFill>
                  <a:srgbClr val="0000FF"/>
                </a:solidFill>
              </a:rPr>
              <a:t>课程号</a:t>
            </a:r>
            <a:r>
              <a:rPr lang="en-US" altLang="zh-CN" sz="1800" dirty="0"/>
              <a:t>)</a:t>
            </a:r>
            <a:r>
              <a:rPr lang="zh-CN" altLang="en-US" sz="1800" dirty="0"/>
              <a:t>， </a:t>
            </a:r>
            <a:r>
              <a:rPr lang="en-US" altLang="zh-CN" sz="1800" dirty="0"/>
              <a:t>CK2 = (</a:t>
            </a:r>
            <a:r>
              <a:rPr lang="zh-CN" altLang="en-US" sz="1800" dirty="0">
                <a:solidFill>
                  <a:srgbClr val="0000FF"/>
                </a:solidFill>
              </a:rPr>
              <a:t>身份证号</a:t>
            </a:r>
            <a:r>
              <a:rPr lang="en-US" altLang="zh-CN" sz="1800" dirty="0">
                <a:solidFill>
                  <a:srgbClr val="0000FF"/>
                </a:solidFill>
              </a:rPr>
              <a:t>, </a:t>
            </a:r>
            <a:r>
              <a:rPr lang="zh-CN" altLang="en-US" sz="1800" dirty="0">
                <a:solidFill>
                  <a:srgbClr val="0000FF"/>
                </a:solidFill>
              </a:rPr>
              <a:t>课程号</a:t>
            </a:r>
            <a:r>
              <a:rPr lang="en-US" altLang="zh-CN" sz="1800" dirty="0"/>
              <a:t>)</a:t>
            </a:r>
            <a:r>
              <a:rPr lang="zh-CN" altLang="en-US" sz="1800" dirty="0"/>
              <a:t>。。</a:t>
            </a:r>
            <a:endParaRPr lang="zh-CN" altLang="en-US" sz="1800" dirty="0"/>
          </a:p>
          <a:p>
            <a:endParaRPr lang="zh-CN" altLang="en-US" sz="800" dirty="0"/>
          </a:p>
        </p:txBody>
      </p:sp>
      <p:sp>
        <p:nvSpPr>
          <p:cNvPr id="4" name="Rectangle 1"/>
          <p:cNvSpPr>
            <a:spLocks noChangeArrowheads="1"/>
          </p:cNvSpPr>
          <p:nvPr/>
        </p:nvSpPr>
        <p:spPr bwMode="auto">
          <a:xfrm>
            <a:off x="0" y="82889"/>
            <a:ext cx="65" cy="2914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 rIns="0" bIns="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8600" y="222250"/>
            <a:ext cx="8610600" cy="6102350"/>
          </a:xfrm>
        </p:spPr>
        <p:txBody>
          <a:bodyPr>
            <a:noAutofit/>
          </a:bodyPr>
          <a:lstStyle/>
          <a:p>
            <a:pPr marL="0" indent="0">
              <a:buNone/>
            </a:pPr>
            <a:r>
              <a:rPr lang="en-US" altLang="zh-CN" sz="1800" b="1" dirty="0">
                <a:solidFill>
                  <a:srgbClr val="FF0000"/>
                </a:solidFill>
              </a:rPr>
              <a:t>3. </a:t>
            </a:r>
            <a:r>
              <a:rPr lang="zh-CN" altLang="en-US" sz="1800" b="1" dirty="0">
                <a:solidFill>
                  <a:srgbClr val="FF0000"/>
                </a:solidFill>
              </a:rPr>
              <a:t>确定主属性 </a:t>
            </a:r>
            <a:r>
              <a:rPr lang="en-US" altLang="zh-CN" sz="1800" b="1" dirty="0">
                <a:solidFill>
                  <a:srgbClr val="FF0000"/>
                </a:solidFill>
              </a:rPr>
              <a:t>(Prime Attributes) </a:t>
            </a:r>
            <a:r>
              <a:rPr lang="zh-CN" altLang="en-US" sz="1800" b="1" dirty="0">
                <a:solidFill>
                  <a:srgbClr val="FF0000"/>
                </a:solidFill>
              </a:rPr>
              <a:t>与非主属性 </a:t>
            </a:r>
            <a:r>
              <a:rPr lang="en-US" altLang="zh-CN" sz="1800" b="1" dirty="0">
                <a:solidFill>
                  <a:srgbClr val="FF0000"/>
                </a:solidFill>
              </a:rPr>
              <a:t>(Non-Prime Attributes)</a:t>
            </a:r>
            <a:endParaRPr lang="en-US" altLang="zh-CN" sz="1800" b="1" dirty="0">
              <a:solidFill>
                <a:srgbClr val="FF0000"/>
              </a:solidFill>
            </a:endParaRPr>
          </a:p>
          <a:p>
            <a:pPr marL="0" indent="0">
              <a:buNone/>
            </a:pPr>
            <a:r>
              <a:rPr lang="zh-CN" altLang="en-US" sz="1800" dirty="0"/>
              <a:t>主属性：出现在至少一个候选码中的属性。</a:t>
            </a:r>
            <a:endParaRPr lang="zh-CN" altLang="en-US" sz="1800" dirty="0"/>
          </a:p>
          <a:p>
            <a:pPr marL="0" indent="0">
              <a:buNone/>
            </a:pPr>
            <a:r>
              <a:rPr lang="zh-CN" altLang="en-US" sz="1800" dirty="0">
                <a:solidFill>
                  <a:srgbClr val="0000FF"/>
                </a:solidFill>
              </a:rPr>
              <a:t>学号</a:t>
            </a:r>
            <a:r>
              <a:rPr lang="zh-CN" altLang="en-US" sz="1800" dirty="0"/>
              <a:t> </a:t>
            </a:r>
            <a:r>
              <a:rPr lang="en-US" altLang="zh-CN" sz="1800" dirty="0"/>
              <a:t>(</a:t>
            </a:r>
            <a:r>
              <a:rPr lang="zh-CN" altLang="en-US" sz="1800" dirty="0"/>
              <a:t>在</a:t>
            </a:r>
            <a:r>
              <a:rPr lang="en-US" altLang="zh-CN" sz="1800" dirty="0"/>
              <a:t>CK1</a:t>
            </a:r>
            <a:r>
              <a:rPr lang="zh-CN" altLang="en-US" sz="1800" dirty="0"/>
              <a:t>中</a:t>
            </a:r>
            <a:r>
              <a:rPr lang="en-US" altLang="zh-CN" sz="1800" dirty="0"/>
              <a:t>)</a:t>
            </a:r>
            <a:r>
              <a:rPr lang="zh-CN" altLang="en-US" sz="1800" dirty="0"/>
              <a:t>，</a:t>
            </a:r>
            <a:r>
              <a:rPr lang="zh-CN" altLang="en-US" sz="1800" dirty="0">
                <a:solidFill>
                  <a:srgbClr val="0000FF"/>
                </a:solidFill>
              </a:rPr>
              <a:t>课程号</a:t>
            </a:r>
            <a:r>
              <a:rPr lang="zh-CN" altLang="en-US" sz="1800" dirty="0"/>
              <a:t> </a:t>
            </a:r>
            <a:r>
              <a:rPr lang="en-US" altLang="zh-CN" sz="1800" dirty="0"/>
              <a:t>(</a:t>
            </a:r>
            <a:r>
              <a:rPr lang="zh-CN" altLang="en-US" sz="1800" dirty="0"/>
              <a:t>在</a:t>
            </a:r>
            <a:r>
              <a:rPr lang="en-US" altLang="zh-CN" sz="1800" dirty="0"/>
              <a:t>CK1</a:t>
            </a:r>
            <a:r>
              <a:rPr lang="zh-CN" altLang="en-US" sz="1800" dirty="0"/>
              <a:t>和</a:t>
            </a:r>
            <a:r>
              <a:rPr lang="en-US" altLang="zh-CN" sz="1800" dirty="0"/>
              <a:t>CK2</a:t>
            </a:r>
            <a:r>
              <a:rPr lang="zh-CN" altLang="en-US" sz="1800" dirty="0"/>
              <a:t>中</a:t>
            </a:r>
            <a:r>
              <a:rPr lang="en-US" altLang="zh-CN" sz="1800" dirty="0"/>
              <a:t>)</a:t>
            </a:r>
            <a:r>
              <a:rPr lang="zh-CN" altLang="en-US" sz="1800" dirty="0"/>
              <a:t>，</a:t>
            </a:r>
            <a:r>
              <a:rPr lang="zh-CN" altLang="en-US" sz="1800" dirty="0">
                <a:solidFill>
                  <a:srgbClr val="0000FF"/>
                </a:solidFill>
              </a:rPr>
              <a:t>身份证号</a:t>
            </a:r>
            <a:r>
              <a:rPr lang="zh-CN" altLang="en-US" sz="1800" dirty="0"/>
              <a:t> </a:t>
            </a:r>
            <a:r>
              <a:rPr lang="en-US" altLang="zh-CN" sz="1800" dirty="0"/>
              <a:t>(</a:t>
            </a:r>
            <a:r>
              <a:rPr lang="zh-CN" altLang="en-US" sz="1800" dirty="0"/>
              <a:t>在</a:t>
            </a:r>
            <a:r>
              <a:rPr lang="en-US" altLang="zh-CN" sz="1800" dirty="0"/>
              <a:t>CK2</a:t>
            </a:r>
            <a:r>
              <a:rPr lang="zh-CN" altLang="en-US" sz="1800" dirty="0"/>
              <a:t>中</a:t>
            </a:r>
            <a:r>
              <a:rPr lang="en-US" altLang="zh-CN" sz="1800" dirty="0"/>
              <a:t>)</a:t>
            </a:r>
            <a:endParaRPr lang="en-US" altLang="zh-CN" sz="1800" dirty="0"/>
          </a:p>
          <a:p>
            <a:pPr marL="0" indent="0">
              <a:buNone/>
            </a:pPr>
            <a:r>
              <a:rPr lang="zh-CN" altLang="en-US" sz="1800" dirty="0"/>
              <a:t>所以，主属性有三个：</a:t>
            </a:r>
            <a:r>
              <a:rPr lang="zh-CN" altLang="en-US" sz="1800" dirty="0">
                <a:solidFill>
                  <a:srgbClr val="0000FF"/>
                </a:solidFill>
              </a:rPr>
              <a:t>学号，课程号，身份证号</a:t>
            </a:r>
            <a:r>
              <a:rPr lang="zh-CN" altLang="en-US" sz="1800" dirty="0"/>
              <a:t>。</a:t>
            </a:r>
            <a:endParaRPr lang="zh-CN" altLang="en-US" sz="1800" dirty="0"/>
          </a:p>
          <a:p>
            <a:pPr marL="0" indent="0">
              <a:buNone/>
            </a:pPr>
            <a:r>
              <a:rPr lang="zh-CN" altLang="en-US" sz="1800" dirty="0"/>
              <a:t>非主属性：不属于任何候选码的属性。</a:t>
            </a:r>
            <a:endParaRPr lang="zh-CN" altLang="en-US" sz="1800" dirty="0"/>
          </a:p>
          <a:p>
            <a:pPr marL="0" indent="0">
              <a:buNone/>
            </a:pPr>
            <a:r>
              <a:rPr lang="zh-CN" altLang="en-US" sz="1800" dirty="0"/>
              <a:t>在这个表中，只有 </a:t>
            </a:r>
            <a:r>
              <a:rPr lang="zh-CN" altLang="en-US" sz="1800" dirty="0">
                <a:solidFill>
                  <a:srgbClr val="0000FF"/>
                </a:solidFill>
              </a:rPr>
              <a:t>成绩</a:t>
            </a:r>
            <a:r>
              <a:rPr lang="zh-CN" altLang="en-US" sz="1800" dirty="0"/>
              <a:t> 一个属性不属于任何候选码。所以，唯一的非主属性是 </a:t>
            </a:r>
            <a:r>
              <a:rPr lang="zh-CN" altLang="en-US" sz="1800" dirty="0">
                <a:solidFill>
                  <a:srgbClr val="0000FF"/>
                </a:solidFill>
              </a:rPr>
              <a:t>成绩</a:t>
            </a:r>
            <a:endParaRPr lang="en-US" altLang="zh-CN" sz="1800" dirty="0">
              <a:solidFill>
                <a:srgbClr val="0000FF"/>
              </a:solidFill>
            </a:endParaRPr>
          </a:p>
          <a:p>
            <a:pPr marL="0" indent="0">
              <a:buNone/>
            </a:pPr>
            <a:endParaRPr lang="en-US" altLang="zh-CN" sz="1800" b="1" dirty="0">
              <a:solidFill>
                <a:srgbClr val="FF0000"/>
              </a:solidFill>
            </a:endParaRPr>
          </a:p>
          <a:p>
            <a:pPr marL="0" indent="0">
              <a:buNone/>
            </a:pPr>
            <a:r>
              <a:rPr lang="en-US" altLang="zh-CN" sz="1800" b="1" dirty="0">
                <a:solidFill>
                  <a:srgbClr val="FF0000"/>
                </a:solidFill>
              </a:rPr>
              <a:t>4. </a:t>
            </a:r>
            <a:r>
              <a:rPr lang="zh-CN" altLang="en-US" sz="1800" b="1" dirty="0">
                <a:solidFill>
                  <a:srgbClr val="FF0000"/>
                </a:solidFill>
              </a:rPr>
              <a:t>判断第二范式</a:t>
            </a:r>
            <a:endParaRPr lang="zh-CN" altLang="en-US" sz="1800" b="1" dirty="0">
              <a:solidFill>
                <a:srgbClr val="FF0000"/>
              </a:solidFill>
            </a:endParaRPr>
          </a:p>
          <a:p>
            <a:pPr marL="0" indent="0">
              <a:buNone/>
            </a:pPr>
            <a:r>
              <a:rPr lang="en-US" altLang="zh-CN" sz="1800" dirty="0"/>
              <a:t>2NF</a:t>
            </a:r>
            <a:r>
              <a:rPr lang="zh-CN" altLang="en-US" sz="1800" dirty="0"/>
              <a:t>要求：每一个非主属性必须完全函数依赖于每一个候选码。</a:t>
            </a:r>
            <a:endParaRPr lang="zh-CN" altLang="en-US" sz="1800" dirty="0"/>
          </a:p>
          <a:p>
            <a:pPr marL="0" indent="0">
              <a:buNone/>
            </a:pPr>
            <a:r>
              <a:rPr lang="zh-CN" altLang="en-US" sz="1800" dirty="0"/>
              <a:t>检查非主属性 </a:t>
            </a:r>
            <a:r>
              <a:rPr lang="zh-CN" altLang="en-US" sz="1800" dirty="0">
                <a:solidFill>
                  <a:srgbClr val="0000FF"/>
                </a:solidFill>
              </a:rPr>
              <a:t>成绩</a:t>
            </a:r>
            <a:r>
              <a:rPr lang="zh-CN" altLang="en-US" sz="1800" dirty="0"/>
              <a:t>：</a:t>
            </a:r>
            <a:endParaRPr lang="zh-CN" altLang="en-US" sz="1800" dirty="0"/>
          </a:p>
          <a:p>
            <a:pPr marL="0" indent="0">
              <a:buNone/>
            </a:pPr>
            <a:r>
              <a:rPr lang="zh-CN" altLang="en-US" sz="1800" dirty="0">
                <a:solidFill>
                  <a:srgbClr val="0000FF"/>
                </a:solidFill>
              </a:rPr>
              <a:t>成绩</a:t>
            </a:r>
            <a:r>
              <a:rPr lang="zh-CN" altLang="en-US" sz="1800" dirty="0"/>
              <a:t> 是否完全依赖于 </a:t>
            </a:r>
            <a:r>
              <a:rPr lang="en-US" altLang="zh-CN" sz="1800" dirty="0"/>
              <a:t>CK1 (</a:t>
            </a:r>
            <a:r>
              <a:rPr lang="zh-CN" altLang="en-US" sz="1800" dirty="0">
                <a:solidFill>
                  <a:srgbClr val="0000FF"/>
                </a:solidFill>
              </a:rPr>
              <a:t>学号</a:t>
            </a:r>
            <a:r>
              <a:rPr lang="en-US" altLang="zh-CN" sz="1800" dirty="0">
                <a:solidFill>
                  <a:srgbClr val="0000FF"/>
                </a:solidFill>
              </a:rPr>
              <a:t>, </a:t>
            </a:r>
            <a:r>
              <a:rPr lang="zh-CN" altLang="en-US" sz="1800" dirty="0">
                <a:solidFill>
                  <a:srgbClr val="0000FF"/>
                </a:solidFill>
              </a:rPr>
              <a:t>课程号</a:t>
            </a:r>
            <a:r>
              <a:rPr lang="en-US" altLang="zh-CN" sz="1800" dirty="0"/>
              <a:t>)</a:t>
            </a:r>
            <a:r>
              <a:rPr lang="zh-CN" altLang="en-US" sz="1800" dirty="0"/>
              <a:t>？是的。</a:t>
            </a:r>
            <a:endParaRPr lang="zh-CN" altLang="en-US" sz="1800" dirty="0"/>
          </a:p>
          <a:p>
            <a:pPr marL="0" indent="0">
              <a:buNone/>
            </a:pPr>
            <a:r>
              <a:rPr lang="zh-CN" altLang="en-US" sz="1800" dirty="0">
                <a:solidFill>
                  <a:srgbClr val="0000FF"/>
                </a:solidFill>
              </a:rPr>
              <a:t>成绩</a:t>
            </a:r>
            <a:r>
              <a:rPr lang="zh-CN" altLang="en-US" sz="1800" dirty="0"/>
              <a:t> 是否完全依赖于 </a:t>
            </a:r>
            <a:r>
              <a:rPr lang="en-US" altLang="zh-CN" sz="1800" dirty="0"/>
              <a:t>CK2 (</a:t>
            </a:r>
            <a:r>
              <a:rPr lang="zh-CN" altLang="en-US" sz="1800" dirty="0">
                <a:solidFill>
                  <a:srgbClr val="0000FF"/>
                </a:solidFill>
              </a:rPr>
              <a:t>身份证号</a:t>
            </a:r>
            <a:r>
              <a:rPr lang="en-US" altLang="zh-CN" sz="1800" dirty="0">
                <a:solidFill>
                  <a:srgbClr val="0000FF"/>
                </a:solidFill>
              </a:rPr>
              <a:t>, </a:t>
            </a:r>
            <a:r>
              <a:rPr lang="zh-CN" altLang="en-US" sz="1800" dirty="0">
                <a:solidFill>
                  <a:srgbClr val="0000FF"/>
                </a:solidFill>
              </a:rPr>
              <a:t>课程号</a:t>
            </a:r>
            <a:r>
              <a:rPr lang="en-US" altLang="zh-CN" sz="1800" dirty="0"/>
              <a:t>)</a:t>
            </a:r>
            <a:r>
              <a:rPr lang="zh-CN" altLang="en-US" sz="1800" dirty="0"/>
              <a:t>？是的。</a:t>
            </a:r>
            <a:endParaRPr lang="zh-CN" altLang="en-US" sz="1800" dirty="0"/>
          </a:p>
          <a:p>
            <a:pPr marL="0" indent="0">
              <a:buNone/>
            </a:pPr>
            <a:r>
              <a:rPr lang="zh-CN" altLang="en-US" sz="1800" dirty="0"/>
              <a:t>结论：该关系模式</a:t>
            </a:r>
            <a:r>
              <a:rPr lang="zh-CN" altLang="en-US" sz="1800" dirty="0">
                <a:solidFill>
                  <a:srgbClr val="FF0000"/>
                </a:solidFill>
              </a:rPr>
              <a:t>满足第二范式</a:t>
            </a:r>
            <a:r>
              <a:rPr lang="zh-CN" altLang="en-US" sz="1800" dirty="0"/>
              <a:t>。</a:t>
            </a:r>
            <a:endParaRPr lang="zh-CN" alt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8600" y="222250"/>
            <a:ext cx="8610600" cy="6102350"/>
          </a:xfrm>
        </p:spPr>
        <p:txBody>
          <a:bodyPr>
            <a:noAutofit/>
          </a:bodyPr>
          <a:lstStyle/>
          <a:p>
            <a:pPr marL="0" indent="0">
              <a:buNone/>
            </a:pPr>
            <a:r>
              <a:rPr lang="en-US" altLang="zh-CN" sz="1800" b="1" dirty="0">
                <a:solidFill>
                  <a:srgbClr val="FF0000"/>
                </a:solidFill>
              </a:rPr>
              <a:t>5. </a:t>
            </a:r>
            <a:r>
              <a:rPr lang="zh-CN" altLang="en-US" sz="1800" b="1" dirty="0">
                <a:solidFill>
                  <a:srgbClr val="FF0000"/>
                </a:solidFill>
              </a:rPr>
              <a:t>判断第三范式</a:t>
            </a:r>
            <a:endParaRPr lang="zh-CN" altLang="en-US" sz="1800" b="1" dirty="0">
              <a:solidFill>
                <a:srgbClr val="FF0000"/>
              </a:solidFill>
            </a:endParaRPr>
          </a:p>
          <a:p>
            <a:pPr marL="0" indent="0">
              <a:buNone/>
            </a:pPr>
            <a:r>
              <a:rPr lang="en-US" altLang="zh-CN" sz="1800" dirty="0"/>
              <a:t>3NF</a:t>
            </a:r>
            <a:r>
              <a:rPr lang="zh-CN" altLang="en-US" sz="1800" dirty="0"/>
              <a:t>要求：满足</a:t>
            </a:r>
            <a:r>
              <a:rPr lang="en-US" altLang="zh-CN" sz="1800" dirty="0"/>
              <a:t>2NF</a:t>
            </a:r>
            <a:r>
              <a:rPr lang="zh-CN" altLang="en-US" sz="1800" dirty="0"/>
              <a:t>，且所有非主属性既不部分依赖于候选码，也不传递依赖于候选码。</a:t>
            </a:r>
            <a:endParaRPr lang="zh-CN" altLang="en-US" sz="1800" dirty="0"/>
          </a:p>
          <a:p>
            <a:pPr marL="0" indent="0">
              <a:buNone/>
            </a:pPr>
            <a:r>
              <a:rPr lang="zh-CN" altLang="en-US" sz="1800" dirty="0"/>
              <a:t>非主属性 </a:t>
            </a:r>
            <a:r>
              <a:rPr lang="zh-CN" altLang="en-US" sz="1800" dirty="0">
                <a:solidFill>
                  <a:srgbClr val="0000FF"/>
                </a:solidFill>
              </a:rPr>
              <a:t>成绩</a:t>
            </a:r>
            <a:r>
              <a:rPr lang="zh-CN" altLang="en-US" sz="1800" dirty="0"/>
              <a:t> 直接、完全地依赖于两个候选码，不存在传递依赖。</a:t>
            </a:r>
            <a:endParaRPr lang="zh-CN" altLang="en-US" sz="1800" dirty="0"/>
          </a:p>
          <a:p>
            <a:pPr marL="0" indent="0">
              <a:buNone/>
            </a:pPr>
            <a:r>
              <a:rPr lang="zh-CN" altLang="en-US" sz="1800" dirty="0"/>
              <a:t>结论：该关系模式也满足第三范式。</a:t>
            </a:r>
            <a:endParaRPr lang="zh-CN" altLang="en-US" sz="1800" dirty="0"/>
          </a:p>
          <a:p>
            <a:pPr marL="0" indent="0">
              <a:buNone/>
            </a:pPr>
            <a:endParaRPr lang="en-US" altLang="zh-CN" sz="1800" b="1" dirty="0">
              <a:solidFill>
                <a:srgbClr val="FF0000"/>
              </a:solidFill>
            </a:endParaRPr>
          </a:p>
          <a:p>
            <a:pPr marL="0" indent="0">
              <a:buNone/>
            </a:pPr>
            <a:r>
              <a:rPr lang="en-US" altLang="zh-CN" sz="1800" b="1" dirty="0">
                <a:solidFill>
                  <a:srgbClr val="FF0000"/>
                </a:solidFill>
              </a:rPr>
              <a:t>6. </a:t>
            </a:r>
            <a:r>
              <a:rPr lang="zh-CN" altLang="en-US" sz="1800" b="1" dirty="0">
                <a:solidFill>
                  <a:srgbClr val="FF0000"/>
                </a:solidFill>
              </a:rPr>
              <a:t>判断</a:t>
            </a:r>
            <a:r>
              <a:rPr lang="en-US" altLang="zh-CN" sz="1800" b="1" dirty="0">
                <a:solidFill>
                  <a:srgbClr val="FF0000"/>
                </a:solidFill>
              </a:rPr>
              <a:t>BCNF</a:t>
            </a:r>
            <a:endParaRPr lang="en-US" altLang="zh-CN" sz="1800" b="1" dirty="0">
              <a:solidFill>
                <a:srgbClr val="FF0000"/>
              </a:solidFill>
            </a:endParaRPr>
          </a:p>
          <a:p>
            <a:pPr marL="0" indent="0">
              <a:buNone/>
            </a:pPr>
            <a:r>
              <a:rPr lang="en-US" altLang="zh-CN" sz="1800" dirty="0"/>
              <a:t>BCNF</a:t>
            </a:r>
            <a:r>
              <a:rPr lang="zh-CN" altLang="en-US" sz="1800" dirty="0"/>
              <a:t>要求：对于每一个非平凡的函数依赖 </a:t>
            </a:r>
            <a:r>
              <a:rPr lang="en-US" altLang="zh-CN" sz="1800" dirty="0"/>
              <a:t>X </a:t>
            </a:r>
            <a:r>
              <a:rPr lang="en-US" altLang="zh-CN" sz="1800" dirty="0">
                <a:sym typeface="Wingdings" panose="05000000000000000000" pitchFamily="2" charset="2"/>
              </a:rPr>
              <a:t></a:t>
            </a:r>
            <a:r>
              <a:rPr lang="en-US" altLang="zh-CN" sz="1800" dirty="0"/>
              <a:t> Y</a:t>
            </a:r>
            <a:r>
              <a:rPr lang="zh-CN" altLang="en-US" sz="1800" dirty="0"/>
              <a:t>，</a:t>
            </a:r>
            <a:r>
              <a:rPr lang="en-US" altLang="zh-CN" sz="1800" dirty="0"/>
              <a:t>X </a:t>
            </a:r>
            <a:r>
              <a:rPr lang="zh-CN" altLang="en-US" sz="1800" dirty="0"/>
              <a:t>必须是一个超码。</a:t>
            </a:r>
            <a:endParaRPr lang="zh-CN" altLang="en-US" sz="1800" dirty="0"/>
          </a:p>
          <a:p>
            <a:pPr marL="0" indent="0">
              <a:buNone/>
            </a:pPr>
            <a:r>
              <a:rPr lang="zh-CN" altLang="en-US" sz="1800" dirty="0"/>
              <a:t>我们来列出所有重要的函数依赖：</a:t>
            </a:r>
            <a:endParaRPr lang="zh-CN" altLang="en-US" sz="1800" dirty="0"/>
          </a:p>
          <a:p>
            <a:pPr marL="0" indent="0">
              <a:buNone/>
            </a:pPr>
            <a:r>
              <a:rPr lang="zh-CN" altLang="en-US" sz="1800" dirty="0">
                <a:solidFill>
                  <a:srgbClr val="0000FF"/>
                </a:solidFill>
              </a:rPr>
              <a:t>学号 </a:t>
            </a:r>
            <a:r>
              <a:rPr lang="en-US" altLang="zh-CN" sz="1800" dirty="0">
                <a:solidFill>
                  <a:srgbClr val="0000FF"/>
                </a:solidFill>
                <a:sym typeface="Wingdings" panose="05000000000000000000" pitchFamily="2" charset="2"/>
              </a:rPr>
              <a:t></a:t>
            </a:r>
            <a:r>
              <a:rPr lang="en-US" altLang="zh-CN" sz="1800" dirty="0">
                <a:solidFill>
                  <a:srgbClr val="0000FF"/>
                </a:solidFill>
              </a:rPr>
              <a:t> </a:t>
            </a:r>
            <a:r>
              <a:rPr lang="zh-CN" altLang="en-US" sz="1800" dirty="0">
                <a:solidFill>
                  <a:srgbClr val="0000FF"/>
                </a:solidFill>
              </a:rPr>
              <a:t>身份证号 </a:t>
            </a:r>
            <a:r>
              <a:rPr lang="en-US" altLang="zh-CN" sz="1800" dirty="0"/>
              <a:t>(</a:t>
            </a:r>
            <a:r>
              <a:rPr lang="zh-CN" altLang="en-US" sz="1800" dirty="0"/>
              <a:t>问题所在！ </a:t>
            </a:r>
            <a:r>
              <a:rPr lang="zh-CN" altLang="en-US" sz="1800" dirty="0">
                <a:solidFill>
                  <a:srgbClr val="0000FF"/>
                </a:solidFill>
              </a:rPr>
              <a:t>学号 </a:t>
            </a:r>
            <a:r>
              <a:rPr lang="zh-CN" altLang="en-US" sz="1800" dirty="0"/>
              <a:t>本身不是超码</a:t>
            </a:r>
            <a:r>
              <a:rPr lang="en-US" altLang="zh-CN" sz="1800" dirty="0"/>
              <a:t>)</a:t>
            </a:r>
            <a:endParaRPr lang="en-US" altLang="zh-CN" sz="1800" dirty="0"/>
          </a:p>
          <a:p>
            <a:pPr marL="0" indent="0">
              <a:buNone/>
            </a:pPr>
            <a:r>
              <a:rPr lang="zh-CN" altLang="en-US" sz="1800" dirty="0">
                <a:solidFill>
                  <a:srgbClr val="0000FF"/>
                </a:solidFill>
              </a:rPr>
              <a:t>身份证号 </a:t>
            </a:r>
            <a:r>
              <a:rPr lang="en-US" altLang="zh-CN" sz="1800" dirty="0">
                <a:solidFill>
                  <a:srgbClr val="0000FF"/>
                </a:solidFill>
                <a:sym typeface="Wingdings" panose="05000000000000000000" pitchFamily="2" charset="2"/>
              </a:rPr>
              <a:t></a:t>
            </a:r>
            <a:r>
              <a:rPr lang="en-US" altLang="zh-CN" sz="1800" dirty="0">
                <a:solidFill>
                  <a:srgbClr val="0000FF"/>
                </a:solidFill>
              </a:rPr>
              <a:t> </a:t>
            </a:r>
            <a:r>
              <a:rPr lang="zh-CN" altLang="en-US" sz="1800" dirty="0">
                <a:solidFill>
                  <a:srgbClr val="0000FF"/>
                </a:solidFill>
              </a:rPr>
              <a:t>学号 </a:t>
            </a:r>
            <a:r>
              <a:rPr lang="en-US" altLang="zh-CN" sz="1800" dirty="0"/>
              <a:t>(</a:t>
            </a:r>
            <a:r>
              <a:rPr lang="zh-CN" altLang="en-US" sz="1800" dirty="0"/>
              <a:t>问题所在！ </a:t>
            </a:r>
            <a:r>
              <a:rPr lang="zh-CN" altLang="en-US" sz="1800" dirty="0">
                <a:solidFill>
                  <a:srgbClr val="0000FF"/>
                </a:solidFill>
              </a:rPr>
              <a:t>身份证号 </a:t>
            </a:r>
            <a:r>
              <a:rPr lang="zh-CN" altLang="en-US" sz="1800" dirty="0"/>
              <a:t>本身不是超码</a:t>
            </a:r>
            <a:r>
              <a:rPr lang="en-US" altLang="zh-CN" sz="1800" dirty="0"/>
              <a:t>)</a:t>
            </a:r>
            <a:endParaRPr lang="en-US" altLang="zh-CN" sz="1800" dirty="0"/>
          </a:p>
          <a:p>
            <a:pPr marL="0" indent="0">
              <a:buNone/>
            </a:pPr>
            <a:r>
              <a:rPr lang="zh-CN" altLang="en-US" sz="1800" dirty="0"/>
              <a:t>结论：该关系模式不满足</a:t>
            </a:r>
            <a:r>
              <a:rPr lang="en-US" altLang="zh-CN" sz="1800" dirty="0"/>
              <a:t>BCNF</a:t>
            </a:r>
            <a:r>
              <a:rPr lang="zh-CN" altLang="en-US" sz="1800" dirty="0"/>
              <a:t>。</a:t>
            </a:r>
            <a:endParaRPr lang="zh-CN" alt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习题</a:t>
            </a:r>
            <a:endParaRPr lang="zh-CN" altLang="en-US">
              <a:ea typeface="宋体" panose="02010600030101010101" pitchFamily="2" charset="-122"/>
            </a:endParaRPr>
          </a:p>
        </p:txBody>
      </p:sp>
      <p:sp>
        <p:nvSpPr>
          <p:cNvPr id="64515" name="内容占位符 2"/>
          <p:cNvSpPr>
            <a:spLocks noGrp="1"/>
          </p:cNvSpPr>
          <p:nvPr>
            <p:ph idx="1"/>
          </p:nvPr>
        </p:nvSpPr>
        <p:spPr/>
        <p:txBody>
          <a:bodyPr/>
          <a:lstStyle/>
          <a:p>
            <a:pPr>
              <a:lnSpc>
                <a:spcPct val="110000"/>
              </a:lnSpc>
            </a:pPr>
            <a:r>
              <a:rPr lang="zh-CN" altLang="en-US" dirty="0">
                <a:ea typeface="宋体" panose="02010600030101010101" pitchFamily="2" charset="-122"/>
              </a:rPr>
              <a:t>关系模式 </a:t>
            </a:r>
            <a:r>
              <a:rPr lang="en-US" altLang="zh-CN" dirty="0">
                <a:ea typeface="宋体" panose="02010600030101010101" pitchFamily="2" charset="-122"/>
              </a:rPr>
              <a:t>WPE</a:t>
            </a:r>
            <a:r>
              <a:rPr lang="zh-CN" altLang="en-US" dirty="0">
                <a:ea typeface="宋体" panose="02010600030101010101" pitchFamily="2" charset="-122"/>
              </a:rPr>
              <a:t>（</a:t>
            </a:r>
            <a:r>
              <a:rPr lang="en-US" altLang="zh-CN" dirty="0" err="1">
                <a:ea typeface="宋体" panose="02010600030101010101" pitchFamily="2" charset="-122"/>
              </a:rPr>
              <a:t>Wno</a:t>
            </a:r>
            <a:r>
              <a:rPr lang="zh-CN" altLang="en-US" dirty="0">
                <a:ea typeface="宋体" panose="02010600030101010101" pitchFamily="2" charset="-122"/>
              </a:rPr>
              <a:t>，</a:t>
            </a:r>
            <a:r>
              <a:rPr lang="en-US" altLang="zh-CN" dirty="0" err="1">
                <a:ea typeface="宋体" panose="02010600030101010101" pitchFamily="2" charset="-122"/>
              </a:rPr>
              <a:t>Pno</a:t>
            </a:r>
            <a:r>
              <a:rPr lang="zh-CN" altLang="en-US" dirty="0">
                <a:ea typeface="宋体" panose="02010600030101010101" pitchFamily="2" charset="-122"/>
              </a:rPr>
              <a:t>，</a:t>
            </a:r>
            <a:r>
              <a:rPr lang="en-US" altLang="zh-CN" dirty="0">
                <a:ea typeface="宋体" panose="02010600030101010101" pitchFamily="2" charset="-122"/>
              </a:rPr>
              <a:t>Eno</a:t>
            </a:r>
            <a:r>
              <a:rPr lang="zh-CN" altLang="en-US" dirty="0">
                <a:ea typeface="宋体" panose="02010600030101010101" pitchFamily="2" charset="-122"/>
              </a:rPr>
              <a:t>，</a:t>
            </a:r>
            <a:r>
              <a:rPr lang="en-US" altLang="zh-CN" dirty="0">
                <a:ea typeface="宋体" panose="02010600030101010101" pitchFamily="2" charset="-122"/>
              </a:rPr>
              <a:t>Quantity</a:t>
            </a:r>
            <a:r>
              <a:rPr lang="zh-CN" altLang="en-US" dirty="0">
                <a:ea typeface="宋体" panose="02010600030101010101" pitchFamily="2" charset="-122"/>
              </a:rPr>
              <a:t>）记录仓库的配件管理情况，其中 </a:t>
            </a:r>
            <a:r>
              <a:rPr lang="en-US" altLang="zh-CN" dirty="0" err="1">
                <a:ea typeface="宋体" panose="02010600030101010101" pitchFamily="2" charset="-122"/>
              </a:rPr>
              <a:t>Wno</a:t>
            </a:r>
            <a:r>
              <a:rPr lang="en-US" altLang="zh-CN" dirty="0">
                <a:ea typeface="宋体" panose="02010600030101010101" pitchFamily="2" charset="-122"/>
              </a:rPr>
              <a:t> </a:t>
            </a:r>
            <a:r>
              <a:rPr lang="zh-CN" altLang="en-US" dirty="0">
                <a:ea typeface="宋体" panose="02010600030101010101" pitchFamily="2" charset="-122"/>
              </a:rPr>
              <a:t>表示仓库号，</a:t>
            </a:r>
            <a:r>
              <a:rPr lang="en-US" altLang="zh-CN" dirty="0" err="1">
                <a:ea typeface="宋体" panose="02010600030101010101" pitchFamily="2" charset="-122"/>
              </a:rPr>
              <a:t>Pno</a:t>
            </a:r>
            <a:r>
              <a:rPr lang="zh-CN" altLang="en-US" dirty="0">
                <a:ea typeface="宋体" panose="02010600030101010101" pitchFamily="2" charset="-122"/>
              </a:rPr>
              <a:t>表示配件号，</a:t>
            </a:r>
            <a:r>
              <a:rPr lang="en-US" altLang="zh-CN" dirty="0">
                <a:ea typeface="宋体" panose="02010600030101010101" pitchFamily="2" charset="-122"/>
              </a:rPr>
              <a:t>Eno </a:t>
            </a:r>
            <a:r>
              <a:rPr lang="zh-CN" altLang="en-US" dirty="0">
                <a:ea typeface="宋体" panose="02010600030101010101" pitchFamily="2" charset="-122"/>
              </a:rPr>
              <a:t>表示职工号，</a:t>
            </a:r>
            <a:r>
              <a:rPr lang="en-US" altLang="zh-CN" dirty="0">
                <a:ea typeface="宋体" panose="02010600030101010101" pitchFamily="2" charset="-122"/>
              </a:rPr>
              <a:t>Quantity</a:t>
            </a:r>
            <a:r>
              <a:rPr lang="zh-CN" altLang="en-US" dirty="0">
                <a:ea typeface="宋体" panose="02010600030101010101" pitchFamily="2" charset="-122"/>
              </a:rPr>
              <a:t>表示数量。</a:t>
            </a:r>
            <a:endParaRPr lang="en-US" altLang="zh-CN" dirty="0">
              <a:ea typeface="宋体" panose="02010600030101010101" pitchFamily="2" charset="-122"/>
            </a:endParaRPr>
          </a:p>
          <a:p>
            <a:pPr lvl="1">
              <a:lnSpc>
                <a:spcPct val="110000"/>
              </a:lnSpc>
            </a:pPr>
            <a:r>
              <a:rPr lang="zh-CN" altLang="en-US" dirty="0">
                <a:ea typeface="宋体" panose="02010600030101010101" pitchFamily="2" charset="-122"/>
              </a:rPr>
              <a:t>一个仓库有多个职工</a:t>
            </a:r>
            <a:endParaRPr lang="en-US" altLang="zh-CN" dirty="0">
              <a:ea typeface="宋体" panose="02010600030101010101" pitchFamily="2" charset="-122"/>
            </a:endParaRPr>
          </a:p>
          <a:p>
            <a:pPr lvl="1">
              <a:lnSpc>
                <a:spcPct val="110000"/>
              </a:lnSpc>
            </a:pPr>
            <a:r>
              <a:rPr lang="zh-CN" altLang="en-US" dirty="0">
                <a:ea typeface="宋体" panose="02010600030101010101" pitchFamily="2" charset="-122"/>
              </a:rPr>
              <a:t>一个职工仅在一个仓库工作</a:t>
            </a:r>
            <a:endParaRPr lang="en-US" altLang="zh-CN" dirty="0">
              <a:ea typeface="宋体" panose="02010600030101010101" pitchFamily="2" charset="-122"/>
            </a:endParaRPr>
          </a:p>
          <a:p>
            <a:pPr lvl="1">
              <a:lnSpc>
                <a:spcPct val="110000"/>
              </a:lnSpc>
            </a:pPr>
            <a:r>
              <a:rPr lang="zh-CN" altLang="en-US" dirty="0">
                <a:ea typeface="宋体" panose="02010600030101010101" pitchFamily="2" charset="-122"/>
              </a:rPr>
              <a:t>每个仓库里一种型号的配件由专人负责</a:t>
            </a:r>
            <a:endParaRPr lang="en-US" altLang="zh-CN" dirty="0">
              <a:ea typeface="宋体" panose="02010600030101010101" pitchFamily="2" charset="-122"/>
            </a:endParaRPr>
          </a:p>
          <a:p>
            <a:pPr lvl="1">
              <a:lnSpc>
                <a:spcPct val="110000"/>
              </a:lnSpc>
            </a:pPr>
            <a:r>
              <a:rPr lang="zh-CN" altLang="en-US" dirty="0">
                <a:ea typeface="宋体" panose="02010600030101010101" pitchFamily="2" charset="-122"/>
              </a:rPr>
              <a:t>一个人可以管理几种配件</a:t>
            </a:r>
            <a:endParaRPr lang="en-US" altLang="zh-CN" dirty="0">
              <a:ea typeface="宋体" panose="02010600030101010101" pitchFamily="2" charset="-122"/>
            </a:endParaRPr>
          </a:p>
          <a:p>
            <a:pPr lvl="1">
              <a:lnSpc>
                <a:spcPct val="110000"/>
              </a:lnSpc>
            </a:pPr>
            <a:r>
              <a:rPr lang="zh-CN" altLang="en-US" dirty="0">
                <a:ea typeface="宋体" panose="02010600030101010101" pitchFamily="2" charset="-122"/>
              </a:rPr>
              <a:t>同一种型号的配件可以分放在几个仓库中</a:t>
            </a:r>
            <a:endParaRPr lang="en-US" altLang="zh-CN" dirty="0">
              <a:ea typeface="宋体" panose="02010600030101010101" pitchFamily="2" charset="-122"/>
            </a:endParaRPr>
          </a:p>
          <a:p>
            <a:pPr>
              <a:lnSpc>
                <a:spcPct val="110000"/>
              </a:lnSpc>
            </a:pPr>
            <a:r>
              <a:rPr lang="zh-CN" altLang="en-US" dirty="0">
                <a:ea typeface="宋体" panose="02010600030101010101" pitchFamily="2" charset="-122"/>
              </a:rPr>
              <a:t>问题：符合</a:t>
            </a:r>
            <a:r>
              <a:rPr lang="en-US" altLang="zh-CN" dirty="0">
                <a:ea typeface="宋体" panose="02010600030101010101" pitchFamily="2" charset="-122"/>
              </a:rPr>
              <a:t>2NF?3NF?BCNF</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4" name="内容占位符 2"/>
          <p:cNvSpPr txBox="1"/>
          <p:nvPr/>
        </p:nvSpPr>
        <p:spPr bwMode="auto">
          <a:xfrm>
            <a:off x="6553200" y="2462213"/>
            <a:ext cx="2590800" cy="2600325"/>
          </a:xfrm>
          <a:prstGeom prst="rect">
            <a:avLst/>
          </a:prstGeom>
          <a:solidFill>
            <a:schemeClr val="accent3">
              <a:lumMod val="90000"/>
            </a:schemeClr>
          </a:solidFill>
          <a:ln>
            <a:noFill/>
          </a:ln>
        </p:spPr>
        <p:txBody>
          <a:bodyPr>
            <a:normAutofit/>
          </a:bodyPr>
          <a:lstStyle>
            <a:lvl1pPr>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marL="0" lvl="1">
              <a:lnSpc>
                <a:spcPct val="110000"/>
              </a:lnSpc>
              <a:spcBef>
                <a:spcPts val="600"/>
              </a:spcBef>
              <a:buClr>
                <a:schemeClr val="tx2"/>
              </a:buClr>
              <a:buSzPct val="90000"/>
              <a:buFont typeface="Monotype Sorts" pitchFamily="2" charset="2"/>
              <a:buNone/>
              <a:defRPr/>
            </a:pPr>
            <a:r>
              <a:rPr kumimoji="1" lang="zh-CN" altLang="en-US" sz="2400" dirty="0">
                <a:ea typeface="宋体" panose="02010600030101010101" pitchFamily="2" charset="-122"/>
              </a:rPr>
              <a:t>候选码：</a:t>
            </a:r>
            <a:br>
              <a:rPr kumimoji="1" lang="en-US" altLang="zh-CN" sz="2400" dirty="0">
                <a:ea typeface="宋体" panose="02010600030101010101" pitchFamily="2" charset="-122"/>
              </a:rPr>
            </a:br>
            <a:r>
              <a:rPr kumimoji="1" lang="zh-CN" altLang="en-US" sz="2400" dirty="0">
                <a:ea typeface="宋体" panose="02010600030101010101" pitchFamily="2" charset="-122"/>
              </a:rPr>
              <a:t>（</a:t>
            </a:r>
            <a:r>
              <a:rPr kumimoji="1" lang="en-US" altLang="zh-CN" sz="2400" dirty="0" err="1">
                <a:ea typeface="宋体" panose="02010600030101010101" pitchFamily="2" charset="-122"/>
              </a:rPr>
              <a:t>Wno</a:t>
            </a:r>
            <a:r>
              <a:rPr kumimoji="1" lang="zh-CN" altLang="en-US" sz="2400" dirty="0">
                <a:ea typeface="宋体" panose="02010600030101010101" pitchFamily="2" charset="-122"/>
              </a:rPr>
              <a:t>，</a:t>
            </a:r>
            <a:r>
              <a:rPr kumimoji="1" lang="en-US" altLang="zh-CN" sz="2400" dirty="0" err="1">
                <a:ea typeface="宋体" panose="02010600030101010101" pitchFamily="2" charset="-122"/>
              </a:rPr>
              <a:t>Pno</a:t>
            </a:r>
            <a:r>
              <a:rPr kumimoji="1" lang="zh-CN" altLang="en-US" sz="2400" dirty="0">
                <a:ea typeface="宋体" panose="02010600030101010101" pitchFamily="2" charset="-122"/>
              </a:rPr>
              <a:t>）和（</a:t>
            </a:r>
            <a:r>
              <a:rPr kumimoji="1" lang="en-US" altLang="zh-CN" sz="2400" dirty="0" err="1">
                <a:ea typeface="宋体" panose="02010600030101010101" pitchFamily="2" charset="-122"/>
              </a:rPr>
              <a:t>Pno</a:t>
            </a:r>
            <a:r>
              <a:rPr kumimoji="1" lang="zh-CN" altLang="en-US" sz="2400" dirty="0">
                <a:ea typeface="宋体" panose="02010600030101010101" pitchFamily="2" charset="-122"/>
              </a:rPr>
              <a:t>，</a:t>
            </a:r>
            <a:r>
              <a:rPr kumimoji="1" lang="en-US" altLang="zh-CN" sz="2400" dirty="0" err="1">
                <a:ea typeface="宋体" panose="02010600030101010101" pitchFamily="2" charset="-122"/>
              </a:rPr>
              <a:t>Eno</a:t>
            </a:r>
            <a:r>
              <a:rPr kumimoji="1" lang="zh-CN" altLang="en-US" sz="2400" dirty="0">
                <a:ea typeface="宋体" panose="02010600030101010101" pitchFamily="2" charset="-122"/>
              </a:rPr>
              <a:t>）</a:t>
            </a:r>
            <a:endParaRPr kumimoji="1" lang="en-US" altLang="zh-CN" sz="2400" dirty="0">
              <a:ea typeface="宋体" panose="02010600030101010101" pitchFamily="2" charset="-122"/>
            </a:endParaRPr>
          </a:p>
          <a:p>
            <a:pPr marL="0" lvl="1">
              <a:lnSpc>
                <a:spcPct val="110000"/>
              </a:lnSpc>
              <a:spcBef>
                <a:spcPts val="600"/>
              </a:spcBef>
              <a:buClr>
                <a:schemeClr val="tx2"/>
              </a:buClr>
              <a:buSzPct val="90000"/>
              <a:buFont typeface="Monotype Sorts" pitchFamily="2" charset="2"/>
              <a:buNone/>
              <a:defRPr/>
            </a:pPr>
            <a:r>
              <a:rPr kumimoji="1" lang="zh-CN" altLang="en-US" sz="2400" dirty="0">
                <a:ea typeface="宋体" panose="02010600030101010101" pitchFamily="2" charset="-122"/>
              </a:rPr>
              <a:t>由于</a:t>
            </a:r>
            <a:r>
              <a:rPr kumimoji="1" lang="en-US" altLang="zh-CN" sz="2400" dirty="0" err="1">
                <a:ea typeface="宋体" panose="02010600030101010101" pitchFamily="2" charset="-122"/>
              </a:rPr>
              <a:t>Eno→Wno</a:t>
            </a:r>
            <a:r>
              <a:rPr kumimoji="1" lang="zh-CN" altLang="en-US" sz="2400" dirty="0">
                <a:ea typeface="宋体" panose="02010600030101010101" pitchFamily="2" charset="-122"/>
              </a:rPr>
              <a:t>，所以不满足</a:t>
            </a:r>
            <a:r>
              <a:rPr kumimoji="1" lang="en-US" altLang="zh-CN" sz="2400" dirty="0">
                <a:ea typeface="宋体" panose="02010600030101010101" pitchFamily="2" charset="-122"/>
              </a:rPr>
              <a:t>BCNF </a:t>
            </a:r>
            <a:r>
              <a:rPr kumimoji="1" lang="zh-CN" altLang="en-US" sz="2400" dirty="0">
                <a:ea typeface="宋体" panose="02010600030101010101" pitchFamily="2" charset="-122"/>
              </a:rPr>
              <a:t>的要求</a:t>
            </a:r>
            <a:endParaRPr kumimoji="1" lang="zh-CN" altLang="en-US" sz="2400" dirty="0">
              <a:ea typeface="宋体" panose="02010600030101010101" pitchFamily="2" charset="-122"/>
            </a:endParaRPr>
          </a:p>
          <a:p>
            <a:pPr>
              <a:lnSpc>
                <a:spcPct val="110000"/>
              </a:lnSpc>
              <a:spcBef>
                <a:spcPts val="600"/>
              </a:spcBef>
              <a:buClr>
                <a:schemeClr val="tx2"/>
              </a:buClr>
              <a:buSzPct val="90000"/>
              <a:buFont typeface="Monotype Sorts" pitchFamily="2" charset="2"/>
              <a:buNone/>
              <a:defRPr/>
            </a:pPr>
            <a:endParaRPr kumimoji="1" lang="zh-CN" altLang="en-US" sz="2800"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Rectangle 2"/>
          <p:cNvSpPr>
            <a:spLocks noGrp="1" noChangeArrowheads="1"/>
          </p:cNvSpPr>
          <p:nvPr>
            <p:ph type="title"/>
          </p:nvPr>
        </p:nvSpPr>
        <p:spPr/>
        <p:txBody>
          <a:bodyPr/>
          <a:lstStyle/>
          <a:p>
            <a:pPr>
              <a:defRPr/>
            </a:pPr>
            <a:r>
              <a:rPr lang="zh-CN" altLang="en-US">
                <a:ea typeface="宋体" panose="02010600030101010101" pitchFamily="2" charset="-122"/>
              </a:rPr>
              <a:t>关系模式的分解算法</a:t>
            </a:r>
            <a:endParaRPr lang="zh-CN" altLang="en-US">
              <a:ea typeface="宋体" panose="02010600030101010101" pitchFamily="2" charset="-122"/>
            </a:endParaRPr>
          </a:p>
        </p:txBody>
      </p:sp>
      <p:sp>
        <p:nvSpPr>
          <p:cNvPr id="65539" name="Rectangle 3"/>
          <p:cNvSpPr>
            <a:spLocks noGrp="1" noChangeArrowheads="1"/>
          </p:cNvSpPr>
          <p:nvPr>
            <p:ph idx="1"/>
          </p:nvPr>
        </p:nvSpPr>
        <p:spPr/>
        <p:txBody>
          <a:bodyPr/>
          <a:lstStyle/>
          <a:p>
            <a:pPr>
              <a:lnSpc>
                <a:spcPct val="110000"/>
              </a:lnSpc>
            </a:pPr>
            <a:r>
              <a:rPr lang="zh-CN" altLang="en-US" sz="3200" dirty="0">
                <a:ea typeface="宋体" panose="02010600030101010101" pitchFamily="2" charset="-122"/>
              </a:rPr>
              <a:t>算法：（达到</a:t>
            </a:r>
            <a:r>
              <a:rPr lang="en-US" altLang="zh-CN" sz="3200" dirty="0">
                <a:ea typeface="宋体" panose="02010600030101010101" pitchFamily="2" charset="-122"/>
              </a:rPr>
              <a:t>BCNF</a:t>
            </a:r>
            <a:r>
              <a:rPr lang="zh-CN" altLang="en-US" sz="3200" dirty="0">
                <a:ea typeface="宋体" panose="02010600030101010101" pitchFamily="2" charset="-122"/>
              </a:rPr>
              <a:t>无损连接分解算法）</a:t>
            </a:r>
            <a:endParaRPr lang="zh-CN" altLang="en-US" sz="3200" dirty="0">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0" y="1932741"/>
            <a:ext cx="9144000" cy="4117124"/>
          </a:xfrm>
          <a:prstGeom prst="rect">
            <a:avLst/>
          </a:prstGeom>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Rectangle 2"/>
          <p:cNvSpPr>
            <a:spLocks noGrp="1" noChangeArrowheads="1"/>
          </p:cNvSpPr>
          <p:nvPr>
            <p:ph type="title"/>
          </p:nvPr>
        </p:nvSpPr>
        <p:spPr/>
        <p:txBody>
          <a:bodyPr/>
          <a:lstStyle/>
          <a:p>
            <a:pPr>
              <a:defRPr/>
            </a:pPr>
            <a:r>
              <a:rPr lang="zh-CN" altLang="en-US">
                <a:ea typeface="宋体" panose="02010600030101010101" pitchFamily="2" charset="-122"/>
              </a:rPr>
              <a:t>关系模式的分解算法</a:t>
            </a:r>
            <a:endParaRPr lang="zh-CN" altLang="en-US">
              <a:ea typeface="宋体" panose="02010600030101010101" pitchFamily="2" charset="-122"/>
            </a:endParaRPr>
          </a:p>
        </p:txBody>
      </p:sp>
      <p:sp>
        <p:nvSpPr>
          <p:cNvPr id="696323" name="Rectangle 3"/>
          <p:cNvSpPr>
            <a:spLocks noGrp="1" noChangeArrowheads="1"/>
          </p:cNvSpPr>
          <p:nvPr>
            <p:ph idx="1"/>
          </p:nvPr>
        </p:nvSpPr>
        <p:spPr/>
        <p:txBody>
          <a:bodyPr>
            <a:normAutofit lnSpcReduction="10000"/>
          </a:bodyPr>
          <a:lstStyle/>
          <a:p>
            <a:pPr>
              <a:defRPr/>
            </a:pPr>
            <a:r>
              <a:rPr lang="zh-CN" altLang="en-US" dirty="0">
                <a:ea typeface="宋体" panose="02010600030101010101" pitchFamily="2" charset="-122"/>
              </a:rPr>
              <a:t>示例：</a:t>
            </a:r>
            <a:r>
              <a:rPr lang="en-US" altLang="zh-CN" dirty="0">
                <a:ea typeface="宋体" panose="02010600030101010101" pitchFamily="2" charset="-122"/>
              </a:rPr>
              <a:t>R=&lt;U, F&gt;</a:t>
            </a:r>
            <a:r>
              <a:rPr lang="zh-CN" altLang="en-US" dirty="0">
                <a:ea typeface="宋体" panose="02010600030101010101" pitchFamily="2" charset="-122"/>
              </a:rPr>
              <a:t>，</a:t>
            </a:r>
            <a:r>
              <a:rPr lang="en-US" altLang="zh-CN" dirty="0">
                <a:ea typeface="宋体" panose="02010600030101010101" pitchFamily="2" charset="-122"/>
              </a:rPr>
              <a:t>U={A</a:t>
            </a:r>
            <a:r>
              <a:rPr lang="zh-CN" altLang="en-US" dirty="0">
                <a:ea typeface="宋体" panose="02010600030101010101" pitchFamily="2" charset="-122"/>
              </a:rPr>
              <a:t>，</a:t>
            </a:r>
            <a:r>
              <a:rPr lang="en-US" altLang="zh-CN" dirty="0">
                <a:ea typeface="宋体" panose="02010600030101010101" pitchFamily="2" charset="-122"/>
              </a:rPr>
              <a:t>B</a:t>
            </a:r>
            <a:r>
              <a:rPr lang="zh-CN" altLang="en-US" dirty="0">
                <a:ea typeface="宋体" panose="02010600030101010101" pitchFamily="2" charset="-122"/>
              </a:rPr>
              <a:t>，</a:t>
            </a:r>
            <a:r>
              <a:rPr lang="en-US" altLang="zh-CN" dirty="0">
                <a:ea typeface="宋体" panose="02010600030101010101" pitchFamily="2" charset="-122"/>
              </a:rPr>
              <a:t>C</a:t>
            </a:r>
            <a:r>
              <a:rPr lang="zh-CN" altLang="en-US" dirty="0">
                <a:ea typeface="宋体" panose="02010600030101010101" pitchFamily="2" charset="-122"/>
              </a:rPr>
              <a:t>，</a:t>
            </a:r>
            <a:r>
              <a:rPr lang="en-US" altLang="zh-CN" dirty="0">
                <a:ea typeface="宋体" panose="02010600030101010101" pitchFamily="2" charset="-122"/>
              </a:rPr>
              <a:t>D</a:t>
            </a:r>
            <a:r>
              <a:rPr lang="zh-CN" altLang="en-US" dirty="0">
                <a:ea typeface="宋体" panose="02010600030101010101" pitchFamily="2" charset="-122"/>
              </a:rPr>
              <a:t>，</a:t>
            </a:r>
            <a:r>
              <a:rPr lang="en-US" altLang="zh-CN" dirty="0">
                <a:ea typeface="宋体" panose="02010600030101010101" pitchFamily="2" charset="-122"/>
              </a:rPr>
              <a:t>E}</a:t>
            </a:r>
            <a:br>
              <a:rPr lang="en-US" altLang="zh-CN" dirty="0">
                <a:ea typeface="宋体" panose="02010600030101010101" pitchFamily="2" charset="-122"/>
              </a:rPr>
            </a:br>
            <a:r>
              <a:rPr lang="en-US" altLang="zh-CN" dirty="0">
                <a:ea typeface="宋体" panose="02010600030101010101" pitchFamily="2" charset="-122"/>
              </a:rPr>
              <a:t>F={A</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B</a:t>
            </a:r>
            <a:r>
              <a:rPr lang="zh-CN" altLang="en-US" dirty="0">
                <a:ea typeface="宋体" panose="02010600030101010101" pitchFamily="2" charset="-122"/>
              </a:rPr>
              <a:t>，</a:t>
            </a:r>
            <a:r>
              <a:rPr lang="en-US" altLang="zh-CN" dirty="0">
                <a:ea typeface="宋体" panose="02010600030101010101" pitchFamily="2" charset="-122"/>
              </a:rPr>
              <a:t>B</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C</a:t>
            </a:r>
            <a:r>
              <a:rPr lang="zh-CN" altLang="en-US" dirty="0">
                <a:ea typeface="宋体" panose="02010600030101010101" pitchFamily="2" charset="-122"/>
              </a:rPr>
              <a:t>，</a:t>
            </a:r>
            <a:r>
              <a:rPr lang="en-US" altLang="zh-CN" dirty="0">
                <a:ea typeface="宋体" panose="02010600030101010101" pitchFamily="2" charset="-122"/>
              </a:rPr>
              <a:t>(A,D)</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E} ,</a:t>
            </a:r>
            <a:r>
              <a:rPr lang="zh-CN" altLang="en-US" dirty="0">
                <a:ea typeface="宋体" panose="02010600030101010101" pitchFamily="2" charset="-122"/>
              </a:rPr>
              <a:t>求</a:t>
            </a:r>
            <a:r>
              <a:rPr lang="en-US" altLang="zh-CN" dirty="0">
                <a:ea typeface="宋体" panose="02010600030101010101" pitchFamily="2" charset="-122"/>
              </a:rPr>
              <a:t>R</a:t>
            </a:r>
            <a:r>
              <a:rPr lang="zh-CN" altLang="en-US" dirty="0">
                <a:ea typeface="宋体" panose="02010600030101010101" pitchFamily="2" charset="-122"/>
              </a:rPr>
              <a:t>的一个</a:t>
            </a:r>
            <a:r>
              <a:rPr lang="en-US" altLang="zh-CN" dirty="0">
                <a:ea typeface="宋体" panose="02010600030101010101" pitchFamily="2" charset="-122"/>
              </a:rPr>
              <a:t>BCNF</a:t>
            </a:r>
            <a:r>
              <a:rPr lang="zh-CN" altLang="en-US" dirty="0">
                <a:ea typeface="宋体" panose="02010600030101010101" pitchFamily="2" charset="-122"/>
              </a:rPr>
              <a:t>分解</a:t>
            </a:r>
            <a:endParaRPr lang="en-US" altLang="zh-CN" dirty="0">
              <a:ea typeface="宋体" panose="02010600030101010101" pitchFamily="2" charset="-122"/>
            </a:endParaRPr>
          </a:p>
          <a:p>
            <a:pPr lvl="1">
              <a:lnSpc>
                <a:spcPct val="110000"/>
              </a:lnSpc>
              <a:spcBef>
                <a:spcPct val="25000"/>
              </a:spcBef>
              <a:buFont typeface="Wingdings" panose="05000000000000000000" pitchFamily="2" charset="2"/>
              <a:buNone/>
              <a:defRPr/>
            </a:pPr>
            <a:r>
              <a:rPr lang="zh-CN" altLang="en-US" dirty="0">
                <a:ea typeface="宋体" panose="02010600030101010101" pitchFamily="2" charset="-122"/>
              </a:rPr>
              <a:t>解：</a:t>
            </a:r>
            <a:r>
              <a:rPr lang="en-US" altLang="zh-CN" dirty="0">
                <a:ea typeface="宋体" panose="02010600030101010101" pitchFamily="2" charset="-122"/>
              </a:rPr>
              <a:t>1. </a:t>
            </a:r>
            <a:r>
              <a:rPr lang="zh-CN" altLang="en-US" dirty="0">
                <a:ea typeface="宋体" panose="02010600030101010101" pitchFamily="2" charset="-122"/>
              </a:rPr>
              <a:t>求候选码</a:t>
            </a:r>
            <a:endParaRPr lang="en-US" altLang="zh-CN" dirty="0">
              <a:ea typeface="宋体" panose="02010600030101010101" pitchFamily="2" charset="-122"/>
            </a:endParaRPr>
          </a:p>
          <a:p>
            <a:pPr lvl="1">
              <a:lnSpc>
                <a:spcPct val="110000"/>
              </a:lnSpc>
              <a:spcBef>
                <a:spcPct val="25000"/>
              </a:spcBef>
              <a:buFont typeface="Wingdings" panose="05000000000000000000" pitchFamily="2" charset="2"/>
              <a:buNone/>
              <a:defRPr/>
            </a:pPr>
            <a:r>
              <a:rPr lang="zh-CN" altLang="en-US" dirty="0">
                <a:ea typeface="宋体" panose="02010600030101010101" pitchFamily="2" charset="-122"/>
              </a:rPr>
              <a:t>码是</a:t>
            </a:r>
            <a:r>
              <a:rPr lang="en-US" altLang="zh-CN" dirty="0">
                <a:ea typeface="宋体" panose="02010600030101010101" pitchFamily="2" charset="-122"/>
              </a:rPr>
              <a:t>{AD}</a:t>
            </a:r>
            <a:endParaRPr lang="zh-CN" altLang="en-US" dirty="0">
              <a:ea typeface="宋体" panose="02010600030101010101" pitchFamily="2" charset="-122"/>
            </a:endParaRPr>
          </a:p>
          <a:p>
            <a:pPr lvl="1">
              <a:lnSpc>
                <a:spcPct val="110000"/>
              </a:lnSpc>
              <a:spcBef>
                <a:spcPct val="40000"/>
              </a:spcBef>
              <a:buFont typeface="Wingdings" panose="05000000000000000000" pitchFamily="2" charset="2"/>
              <a:buNone/>
              <a:defRPr/>
            </a:pPr>
            <a:r>
              <a:rPr lang="en-US" altLang="zh-CN" dirty="0">
                <a:ea typeface="宋体" panose="02010600030101010101" pitchFamily="2" charset="-122"/>
              </a:rPr>
              <a:t>2.</a:t>
            </a:r>
            <a:r>
              <a:rPr lang="zh-CN" altLang="en-US" dirty="0">
                <a:ea typeface="宋体" panose="02010600030101010101" pitchFamily="2" charset="-122"/>
              </a:rPr>
              <a:t> 检查</a:t>
            </a:r>
            <a:r>
              <a:rPr lang="en-US" altLang="zh-CN" dirty="0">
                <a:ea typeface="宋体" panose="02010600030101010101" pitchFamily="2" charset="-122"/>
              </a:rPr>
              <a:t>A</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B</a:t>
            </a:r>
            <a:r>
              <a:rPr lang="zh-CN" altLang="en-US" dirty="0">
                <a:ea typeface="宋体" panose="02010600030101010101" pitchFamily="2" charset="-122"/>
              </a:rPr>
              <a:t>，由于</a:t>
            </a:r>
            <a:r>
              <a:rPr lang="en-US" altLang="zh-CN" dirty="0">
                <a:ea typeface="宋体" panose="02010600030101010101" pitchFamily="2" charset="-122"/>
              </a:rPr>
              <a:t>A</a:t>
            </a:r>
            <a:r>
              <a:rPr lang="zh-CN" altLang="en-US" dirty="0">
                <a:ea typeface="宋体" panose="02010600030101010101" pitchFamily="2" charset="-122"/>
              </a:rPr>
              <a:t>不是候选码，因此</a:t>
            </a:r>
            <a:br>
              <a:rPr lang="zh-CN" altLang="en-US" dirty="0">
                <a:ea typeface="宋体" panose="02010600030101010101" pitchFamily="2" charset="-122"/>
              </a:rPr>
            </a:br>
            <a:r>
              <a:rPr lang="en-US" altLang="zh-CN" dirty="0">
                <a:ea typeface="宋体" panose="02010600030101010101" pitchFamily="2" charset="-122"/>
              </a:rPr>
              <a:t>U</a:t>
            </a:r>
            <a:r>
              <a:rPr lang="en-US" altLang="zh-CN" baseline="-16000" dirty="0">
                <a:ea typeface="宋体" panose="02010600030101010101" pitchFamily="2" charset="-122"/>
              </a:rPr>
              <a:t>1</a:t>
            </a:r>
            <a:r>
              <a:rPr lang="en-US" altLang="zh-CN" dirty="0">
                <a:ea typeface="宋体" panose="02010600030101010101" pitchFamily="2" charset="-122"/>
              </a:rPr>
              <a:t>={A</a:t>
            </a:r>
            <a:r>
              <a:rPr lang="zh-CN" altLang="en-US" dirty="0">
                <a:ea typeface="宋体" panose="02010600030101010101" pitchFamily="2" charset="-122"/>
              </a:rPr>
              <a:t>，</a:t>
            </a:r>
            <a:r>
              <a:rPr lang="en-US" altLang="zh-CN" dirty="0">
                <a:ea typeface="宋体" panose="02010600030101010101" pitchFamily="2" charset="-122"/>
              </a:rPr>
              <a:t>B} , F</a:t>
            </a:r>
            <a:r>
              <a:rPr lang="en-US" altLang="zh-CN" baseline="-16000" dirty="0">
                <a:ea typeface="宋体" panose="02010600030101010101" pitchFamily="2" charset="-122"/>
              </a:rPr>
              <a:t>1</a:t>
            </a:r>
            <a:r>
              <a:rPr lang="en-US" altLang="zh-CN" dirty="0">
                <a:ea typeface="宋体" panose="02010600030101010101" pitchFamily="2" charset="-122"/>
              </a:rPr>
              <a:t>={A</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B}</a:t>
            </a:r>
            <a:endParaRPr lang="en-US" altLang="zh-CN" dirty="0">
              <a:ea typeface="宋体" panose="02010600030101010101" pitchFamily="2" charset="-122"/>
            </a:endParaRPr>
          </a:p>
          <a:p>
            <a:pPr lvl="1">
              <a:lnSpc>
                <a:spcPct val="110000"/>
              </a:lnSpc>
              <a:spcBef>
                <a:spcPct val="40000"/>
              </a:spcBef>
              <a:buFont typeface="Wingdings" panose="05000000000000000000" pitchFamily="2" charset="2"/>
              <a:buNone/>
              <a:defRPr/>
            </a:pPr>
            <a:r>
              <a:rPr lang="en-US" altLang="zh-CN" dirty="0">
                <a:ea typeface="宋体" panose="02010600030101010101" pitchFamily="2" charset="-122"/>
              </a:rPr>
              <a:t>    U</a:t>
            </a:r>
            <a:r>
              <a:rPr lang="en-US" altLang="zh-CN" baseline="-16000" dirty="0">
                <a:ea typeface="宋体" panose="02010600030101010101" pitchFamily="2" charset="-122"/>
              </a:rPr>
              <a:t>2</a:t>
            </a:r>
            <a:r>
              <a:rPr lang="en-US" altLang="zh-CN" dirty="0">
                <a:ea typeface="宋体" panose="02010600030101010101" pitchFamily="2" charset="-122"/>
              </a:rPr>
              <a:t>={A, C, D, E}, F</a:t>
            </a:r>
            <a:r>
              <a:rPr lang="en-US" altLang="zh-CN" baseline="-16000" dirty="0">
                <a:ea typeface="宋体" panose="02010600030101010101" pitchFamily="2" charset="-122"/>
              </a:rPr>
              <a:t>2</a:t>
            </a:r>
            <a:r>
              <a:rPr lang="en-US" altLang="zh-CN" dirty="0">
                <a:ea typeface="宋体" panose="02010600030101010101" pitchFamily="2" charset="-122"/>
              </a:rPr>
              <a:t>={A</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C,  (A,D)</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E}</a:t>
            </a:r>
            <a:endParaRPr lang="en-US" altLang="zh-CN" dirty="0">
              <a:ea typeface="宋体" panose="02010600030101010101" pitchFamily="2" charset="-122"/>
            </a:endParaRPr>
          </a:p>
          <a:p>
            <a:pPr lvl="1">
              <a:lnSpc>
                <a:spcPct val="110000"/>
              </a:lnSpc>
              <a:spcBef>
                <a:spcPct val="40000"/>
              </a:spcBef>
              <a:buFont typeface="Wingdings" panose="05000000000000000000" pitchFamily="2" charset="2"/>
              <a:buNone/>
              <a:defRPr/>
            </a:pPr>
            <a:r>
              <a:rPr lang="en-US" altLang="zh-CN" dirty="0">
                <a:ea typeface="宋体" panose="02010600030101010101" pitchFamily="2" charset="-122"/>
              </a:rPr>
              <a:t>3.</a:t>
            </a:r>
            <a:r>
              <a:rPr lang="zh-CN" altLang="en-US" dirty="0">
                <a:ea typeface="宋体" panose="02010600030101010101" pitchFamily="2" charset="-122"/>
              </a:rPr>
              <a:t> 检查</a:t>
            </a:r>
            <a:r>
              <a:rPr lang="en-US" altLang="zh-CN" dirty="0">
                <a:ea typeface="宋体" panose="02010600030101010101" pitchFamily="2" charset="-122"/>
              </a:rPr>
              <a:t>A</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C</a:t>
            </a:r>
            <a:r>
              <a:rPr lang="zh-CN" altLang="en-US" dirty="0">
                <a:ea typeface="宋体" panose="02010600030101010101" pitchFamily="2" charset="-122"/>
              </a:rPr>
              <a:t>，由于</a:t>
            </a:r>
            <a:r>
              <a:rPr lang="en-US" altLang="zh-CN" dirty="0">
                <a:ea typeface="宋体" panose="02010600030101010101" pitchFamily="2" charset="-122"/>
              </a:rPr>
              <a:t>A</a:t>
            </a:r>
            <a:r>
              <a:rPr lang="zh-CN" altLang="en-US" dirty="0">
                <a:ea typeface="宋体" panose="02010600030101010101" pitchFamily="2" charset="-122"/>
              </a:rPr>
              <a:t>不是候选码，因此</a:t>
            </a:r>
            <a:br>
              <a:rPr lang="zh-CN" altLang="en-US" dirty="0">
                <a:ea typeface="宋体" panose="02010600030101010101" pitchFamily="2" charset="-122"/>
              </a:rPr>
            </a:br>
            <a:r>
              <a:rPr lang="en-US" altLang="zh-CN" dirty="0">
                <a:ea typeface="宋体" panose="02010600030101010101" pitchFamily="2" charset="-122"/>
              </a:rPr>
              <a:t>U</a:t>
            </a:r>
            <a:r>
              <a:rPr lang="en-US" altLang="zh-CN" baseline="-16000" dirty="0">
                <a:ea typeface="宋体" panose="02010600030101010101" pitchFamily="2" charset="-122"/>
              </a:rPr>
              <a:t>1 </a:t>
            </a:r>
            <a:r>
              <a:rPr lang="en-US" altLang="zh-CN" dirty="0">
                <a:ea typeface="宋体" panose="02010600030101010101" pitchFamily="2" charset="-122"/>
              </a:rPr>
              <a:t>= {A, B}, F</a:t>
            </a:r>
            <a:r>
              <a:rPr lang="en-US" altLang="zh-CN" baseline="-16000" dirty="0">
                <a:ea typeface="宋体" panose="02010600030101010101" pitchFamily="2" charset="-122"/>
              </a:rPr>
              <a:t>1</a:t>
            </a:r>
            <a:r>
              <a:rPr lang="en-US" altLang="zh-CN" dirty="0">
                <a:ea typeface="宋体" panose="02010600030101010101" pitchFamily="2" charset="-122"/>
              </a:rPr>
              <a:t>={A</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B}</a:t>
            </a:r>
            <a:endParaRPr lang="en-US" altLang="zh-CN" dirty="0">
              <a:ea typeface="宋体" panose="02010600030101010101" pitchFamily="2" charset="-122"/>
            </a:endParaRPr>
          </a:p>
          <a:p>
            <a:pPr lvl="1">
              <a:lnSpc>
                <a:spcPct val="110000"/>
              </a:lnSpc>
              <a:spcBef>
                <a:spcPct val="25000"/>
              </a:spcBef>
              <a:buFont typeface="Wingdings" panose="05000000000000000000" pitchFamily="2" charset="2"/>
              <a:buNone/>
              <a:defRPr/>
            </a:pPr>
            <a:r>
              <a:rPr lang="en-US" altLang="zh-CN" dirty="0">
                <a:ea typeface="宋体" panose="02010600030101010101" pitchFamily="2" charset="-122"/>
              </a:rPr>
              <a:t>    U</a:t>
            </a:r>
            <a:r>
              <a:rPr lang="en-US" altLang="zh-CN" baseline="-16000" dirty="0">
                <a:ea typeface="宋体" panose="02010600030101010101" pitchFamily="2" charset="-122"/>
              </a:rPr>
              <a:t>2 </a:t>
            </a:r>
            <a:r>
              <a:rPr lang="en-US" altLang="zh-CN" dirty="0">
                <a:ea typeface="宋体" panose="02010600030101010101" pitchFamily="2" charset="-122"/>
              </a:rPr>
              <a:t>= {A, C}, F</a:t>
            </a:r>
            <a:r>
              <a:rPr lang="en-US" altLang="zh-CN" baseline="-16000" dirty="0">
                <a:ea typeface="宋体" panose="02010600030101010101" pitchFamily="2" charset="-122"/>
              </a:rPr>
              <a:t>2</a:t>
            </a:r>
            <a:r>
              <a:rPr lang="en-US" altLang="zh-CN" dirty="0">
                <a:ea typeface="宋体" panose="02010600030101010101" pitchFamily="2" charset="-122"/>
              </a:rPr>
              <a:t>={A</a:t>
            </a:r>
            <a:r>
              <a:rPr lang="en-US" altLang="zh-CN" dirty="0">
                <a:ea typeface="宋体" panose="02010600030101010101" pitchFamily="2" charset="-122"/>
                <a:sym typeface="Symbol" panose="05050102010706020507" pitchFamily="18" charset="2"/>
              </a:rPr>
              <a:t>C</a:t>
            </a:r>
            <a:r>
              <a:rPr lang="en-US" altLang="zh-CN" dirty="0">
                <a:ea typeface="宋体" panose="02010600030101010101" pitchFamily="2" charset="-122"/>
              </a:rPr>
              <a:t>} </a:t>
            </a:r>
            <a:endParaRPr lang="en-US" altLang="zh-CN" dirty="0">
              <a:ea typeface="宋体" panose="02010600030101010101" pitchFamily="2" charset="-122"/>
            </a:endParaRPr>
          </a:p>
          <a:p>
            <a:pPr lvl="1">
              <a:lnSpc>
                <a:spcPct val="110000"/>
              </a:lnSpc>
              <a:spcBef>
                <a:spcPct val="25000"/>
              </a:spcBef>
              <a:buFont typeface="Wingdings" panose="05000000000000000000" pitchFamily="2" charset="2"/>
              <a:buNone/>
              <a:defRPr/>
            </a:pPr>
            <a:r>
              <a:rPr lang="en-US" altLang="zh-CN" dirty="0">
                <a:ea typeface="宋体" panose="02010600030101010101" pitchFamily="2" charset="-122"/>
              </a:rPr>
              <a:t>	 U</a:t>
            </a:r>
            <a:r>
              <a:rPr lang="en-US" altLang="zh-CN" baseline="-16000" dirty="0">
                <a:ea typeface="宋体" panose="02010600030101010101" pitchFamily="2" charset="-122"/>
              </a:rPr>
              <a:t>3 </a:t>
            </a:r>
            <a:r>
              <a:rPr lang="en-US" altLang="zh-CN" dirty="0">
                <a:ea typeface="宋体" panose="02010600030101010101" pitchFamily="2" charset="-122"/>
              </a:rPr>
              <a:t>= {A, D, E}, F</a:t>
            </a:r>
            <a:r>
              <a:rPr lang="en-US" altLang="zh-CN" baseline="-16000" dirty="0">
                <a:ea typeface="宋体" panose="02010600030101010101" pitchFamily="2" charset="-122"/>
              </a:rPr>
              <a:t>3</a:t>
            </a:r>
            <a:r>
              <a:rPr lang="en-US" altLang="zh-CN" dirty="0">
                <a:ea typeface="宋体" panose="02010600030101010101" pitchFamily="2" charset="-122"/>
              </a:rPr>
              <a:t> = {(A,D)</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E}</a:t>
            </a:r>
            <a:endParaRPr lang="en-US" altLang="zh-CN"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63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63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632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9632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9632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9632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963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2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p:cNvSpPr>
            <a:spLocks noGrp="1" noChangeArrowheads="1"/>
          </p:cNvSpPr>
          <p:nvPr>
            <p:ph type="title"/>
          </p:nvPr>
        </p:nvSpPr>
        <p:spPr/>
        <p:txBody>
          <a:bodyPr/>
          <a:lstStyle/>
          <a:p>
            <a:pPr>
              <a:defRPr/>
            </a:pPr>
            <a:r>
              <a:rPr lang="zh-CN" altLang="en-US">
                <a:ea typeface="宋体" panose="02010600030101010101" pitchFamily="2" charset="-122"/>
              </a:rPr>
              <a:t>关系模式的分解算法</a:t>
            </a:r>
            <a:endParaRPr lang="zh-CN" altLang="en-US">
              <a:ea typeface="宋体" panose="02010600030101010101" pitchFamily="2" charset="-122"/>
            </a:endParaRPr>
          </a:p>
        </p:txBody>
      </p:sp>
      <p:sp>
        <p:nvSpPr>
          <p:cNvPr id="697347" name="Rectangle 3"/>
          <p:cNvSpPr>
            <a:spLocks noGrp="1" noChangeArrowheads="1"/>
          </p:cNvSpPr>
          <p:nvPr>
            <p:ph type="body" idx="1"/>
          </p:nvPr>
        </p:nvSpPr>
        <p:spPr>
          <a:xfrm>
            <a:off x="457200" y="1203325"/>
            <a:ext cx="8229600" cy="4889500"/>
          </a:xfrm>
        </p:spPr>
        <p:txBody>
          <a:bodyPr/>
          <a:lstStyle/>
          <a:p>
            <a:pPr>
              <a:lnSpc>
                <a:spcPct val="115000"/>
              </a:lnSpc>
            </a:pPr>
            <a:r>
              <a:rPr lang="zh-CN" altLang="en-US">
                <a:ea typeface="宋体" panose="02010600030101010101" pitchFamily="2" charset="-122"/>
              </a:rPr>
              <a:t>示例：</a:t>
            </a:r>
            <a:r>
              <a:rPr lang="en-US" altLang="zh-CN">
                <a:ea typeface="宋体" panose="02010600030101010101" pitchFamily="2" charset="-122"/>
              </a:rPr>
              <a:t>U=(SNO</a:t>
            </a:r>
            <a:r>
              <a:rPr lang="zh-CN" altLang="en-US">
                <a:ea typeface="宋体" panose="02010600030101010101" pitchFamily="2" charset="-122"/>
              </a:rPr>
              <a:t>，</a:t>
            </a:r>
            <a:r>
              <a:rPr lang="en-US" altLang="zh-CN">
                <a:ea typeface="宋体" panose="02010600030101010101" pitchFamily="2" charset="-122"/>
              </a:rPr>
              <a:t>TNO</a:t>
            </a:r>
            <a:r>
              <a:rPr lang="zh-CN" altLang="en-US">
                <a:ea typeface="宋体" panose="02010600030101010101" pitchFamily="2" charset="-122"/>
              </a:rPr>
              <a:t>，</a:t>
            </a:r>
            <a:r>
              <a:rPr lang="en-US" altLang="zh-CN">
                <a:ea typeface="宋体" panose="02010600030101010101" pitchFamily="2" charset="-122"/>
              </a:rPr>
              <a:t>CNO)</a:t>
            </a:r>
            <a:br>
              <a:rPr lang="en-US" altLang="zh-CN">
                <a:ea typeface="宋体" panose="02010600030101010101" pitchFamily="2" charset="-122"/>
              </a:rPr>
            </a:br>
            <a:r>
              <a:rPr lang="en-US" altLang="zh-CN">
                <a:ea typeface="宋体" panose="02010600030101010101" pitchFamily="2" charset="-122"/>
              </a:rPr>
              <a:t>F={(SNO</a:t>
            </a:r>
            <a:r>
              <a:rPr lang="zh-CN" altLang="en-US">
                <a:ea typeface="宋体" panose="02010600030101010101" pitchFamily="2" charset="-122"/>
              </a:rPr>
              <a:t>，</a:t>
            </a:r>
            <a:r>
              <a:rPr lang="en-US" altLang="zh-CN">
                <a:ea typeface="宋体" panose="02010600030101010101" pitchFamily="2" charset="-122"/>
              </a:rPr>
              <a:t>CNO)</a:t>
            </a:r>
            <a:r>
              <a:rPr lang="en-US" altLang="zh-CN">
                <a:ea typeface="宋体" panose="02010600030101010101" pitchFamily="2" charset="-122"/>
                <a:sym typeface="Symbol" panose="05050102010706020507" pitchFamily="18" charset="2"/>
              </a:rPr>
              <a:t>TNO</a:t>
            </a:r>
            <a:r>
              <a:rPr lang="en-US" altLang="zh-CN">
                <a:ea typeface="宋体" panose="02010600030101010101" pitchFamily="2" charset="-122"/>
              </a:rPr>
              <a:t>,  TNO</a:t>
            </a:r>
            <a:r>
              <a:rPr lang="en-US" altLang="zh-CN">
                <a:ea typeface="宋体" panose="02010600030101010101" pitchFamily="2" charset="-122"/>
                <a:sym typeface="Symbol" panose="05050102010706020507" pitchFamily="18" charset="2"/>
              </a:rPr>
              <a:t></a:t>
            </a:r>
            <a:r>
              <a:rPr lang="en-US" altLang="zh-CN">
                <a:ea typeface="宋体" panose="02010600030101010101" pitchFamily="2" charset="-122"/>
              </a:rPr>
              <a:t>CNO}</a:t>
            </a:r>
            <a:endParaRPr lang="en-US" altLang="zh-CN">
              <a:ea typeface="宋体" panose="02010600030101010101" pitchFamily="2" charset="-122"/>
            </a:endParaRPr>
          </a:p>
          <a:p>
            <a:pPr lvl="1">
              <a:lnSpc>
                <a:spcPct val="115000"/>
              </a:lnSpc>
              <a:buFont typeface="Wingdings" panose="05000000000000000000" pitchFamily="2" charset="2"/>
              <a:buNone/>
            </a:pPr>
            <a:r>
              <a:rPr lang="zh-CN" altLang="en-US">
                <a:ea typeface="宋体" panose="02010600030101010101" pitchFamily="2" charset="-122"/>
              </a:rPr>
              <a:t>解：不属于</a:t>
            </a:r>
            <a:r>
              <a:rPr lang="en-US" altLang="zh-CN">
                <a:ea typeface="宋体" panose="02010600030101010101" pitchFamily="2" charset="-122"/>
              </a:rPr>
              <a:t>BCNF</a:t>
            </a:r>
            <a:r>
              <a:rPr lang="zh-CN" altLang="en-US">
                <a:ea typeface="宋体" panose="02010600030101010101" pitchFamily="2" charset="-122"/>
              </a:rPr>
              <a:t>，分解为</a:t>
            </a:r>
            <a:endParaRPr lang="zh-CN" altLang="en-US">
              <a:ea typeface="宋体" panose="02010600030101010101" pitchFamily="2" charset="-122"/>
            </a:endParaRPr>
          </a:p>
          <a:p>
            <a:pPr lvl="1">
              <a:lnSpc>
                <a:spcPct val="115000"/>
              </a:lnSpc>
              <a:buFont typeface="Wingdings" panose="05000000000000000000" pitchFamily="2" charset="2"/>
              <a:buNone/>
            </a:pPr>
            <a:r>
              <a:rPr lang="zh-CN" altLang="en-US">
                <a:ea typeface="宋体" panose="02010600030101010101" pitchFamily="2" charset="-122"/>
              </a:rPr>
              <a:t>			</a:t>
            </a:r>
            <a:r>
              <a:rPr lang="en-US" altLang="zh-CN">
                <a:ea typeface="宋体" panose="02010600030101010101" pitchFamily="2" charset="-122"/>
              </a:rPr>
              <a:t>U</a:t>
            </a:r>
            <a:r>
              <a:rPr lang="en-US" altLang="zh-CN" baseline="-16000">
                <a:ea typeface="宋体" panose="02010600030101010101" pitchFamily="2" charset="-122"/>
              </a:rPr>
              <a:t>1</a:t>
            </a:r>
            <a:r>
              <a:rPr lang="en-US" altLang="zh-CN">
                <a:ea typeface="宋体" panose="02010600030101010101" pitchFamily="2" charset="-122"/>
              </a:rPr>
              <a:t>=(SNO</a:t>
            </a:r>
            <a:r>
              <a:rPr lang="zh-CN" altLang="en-US">
                <a:ea typeface="宋体" panose="02010600030101010101" pitchFamily="2" charset="-122"/>
              </a:rPr>
              <a:t>，</a:t>
            </a:r>
            <a:r>
              <a:rPr lang="en-US" altLang="zh-CN">
                <a:ea typeface="宋体" panose="02010600030101010101" pitchFamily="2" charset="-122"/>
              </a:rPr>
              <a:t>TNO)</a:t>
            </a:r>
            <a:r>
              <a:rPr lang="zh-CN" altLang="en-US">
                <a:ea typeface="宋体" panose="02010600030101010101" pitchFamily="2" charset="-122"/>
              </a:rPr>
              <a:t>，</a:t>
            </a:r>
            <a:endParaRPr lang="zh-CN" altLang="en-US">
              <a:ea typeface="宋体" panose="02010600030101010101" pitchFamily="2" charset="-122"/>
            </a:endParaRPr>
          </a:p>
          <a:p>
            <a:pPr lvl="1">
              <a:lnSpc>
                <a:spcPct val="115000"/>
              </a:lnSpc>
              <a:buFont typeface="Wingdings" panose="05000000000000000000" pitchFamily="2" charset="2"/>
              <a:buNone/>
            </a:pPr>
            <a:r>
              <a:rPr lang="zh-CN" altLang="en-US">
                <a:ea typeface="宋体" panose="02010600030101010101" pitchFamily="2" charset="-122"/>
              </a:rPr>
              <a:t>			</a:t>
            </a:r>
            <a:r>
              <a:rPr lang="en-US" altLang="zh-CN">
                <a:ea typeface="宋体" panose="02010600030101010101" pitchFamily="2" charset="-122"/>
              </a:rPr>
              <a:t>U</a:t>
            </a:r>
            <a:r>
              <a:rPr lang="en-US" altLang="zh-CN" baseline="-16000">
                <a:ea typeface="宋体" panose="02010600030101010101" pitchFamily="2" charset="-122"/>
              </a:rPr>
              <a:t>2</a:t>
            </a:r>
            <a:r>
              <a:rPr lang="en-US" altLang="zh-CN">
                <a:ea typeface="宋体" panose="02010600030101010101" pitchFamily="2" charset="-122"/>
              </a:rPr>
              <a:t>=(TNO</a:t>
            </a:r>
            <a:r>
              <a:rPr lang="zh-CN" altLang="en-US">
                <a:ea typeface="宋体" panose="02010600030101010101" pitchFamily="2" charset="-122"/>
              </a:rPr>
              <a:t>，</a:t>
            </a:r>
            <a:r>
              <a:rPr lang="en-US" altLang="zh-CN">
                <a:ea typeface="宋体" panose="02010600030101010101" pitchFamily="2" charset="-122"/>
              </a:rPr>
              <a:t>CNO)</a:t>
            </a:r>
            <a:r>
              <a:rPr lang="zh-CN" altLang="en-US">
                <a:ea typeface="宋体" panose="02010600030101010101" pitchFamily="2" charset="-122"/>
              </a:rPr>
              <a:t>，</a:t>
            </a:r>
            <a:r>
              <a:rPr lang="en-US" altLang="zh-CN">
                <a:ea typeface="宋体" panose="02010600030101010101" pitchFamily="2" charset="-122"/>
              </a:rPr>
              <a:t>F</a:t>
            </a:r>
            <a:r>
              <a:rPr lang="en-US" altLang="zh-CN" baseline="-16000">
                <a:ea typeface="宋体" panose="02010600030101010101" pitchFamily="2" charset="-122"/>
              </a:rPr>
              <a:t>2</a:t>
            </a:r>
            <a:r>
              <a:rPr lang="en-US" altLang="zh-CN">
                <a:ea typeface="宋体" panose="02010600030101010101" pitchFamily="2" charset="-122"/>
              </a:rPr>
              <a:t>={TNO</a:t>
            </a:r>
            <a:r>
              <a:rPr lang="en-US" altLang="zh-CN">
                <a:ea typeface="宋体" panose="02010600030101010101" pitchFamily="2" charset="-122"/>
                <a:sym typeface="Symbol" panose="05050102010706020507" pitchFamily="18" charset="2"/>
              </a:rPr>
              <a:t></a:t>
            </a:r>
            <a:r>
              <a:rPr lang="en-US" altLang="zh-CN">
                <a:ea typeface="宋体" panose="02010600030101010101" pitchFamily="2" charset="-122"/>
              </a:rPr>
              <a:t>CNO}</a:t>
            </a:r>
            <a:endParaRPr lang="en-US" altLang="zh-CN">
              <a:ea typeface="宋体" panose="02010600030101010101" pitchFamily="2" charset="-122"/>
            </a:endParaRPr>
          </a:p>
          <a:p>
            <a:pPr lvl="1">
              <a:lnSpc>
                <a:spcPct val="115000"/>
              </a:lnSpc>
              <a:buFont typeface="Wingdings" panose="05000000000000000000" pitchFamily="2" charset="2"/>
              <a:buNone/>
            </a:pPr>
            <a:r>
              <a:rPr lang="en-US" altLang="zh-CN">
                <a:ea typeface="宋体" panose="02010600030101010101" pitchFamily="2" charset="-122"/>
              </a:rPr>
              <a:t>	</a:t>
            </a:r>
            <a:r>
              <a:rPr lang="zh-CN" altLang="en-US">
                <a:ea typeface="宋体" panose="02010600030101010101" pitchFamily="2" charset="-122"/>
              </a:rPr>
              <a:t>丢失了函数依赖</a:t>
            </a:r>
            <a:r>
              <a:rPr lang="en-US" altLang="zh-CN">
                <a:ea typeface="宋体" panose="02010600030101010101" pitchFamily="2" charset="-122"/>
              </a:rPr>
              <a:t>(SNO</a:t>
            </a:r>
            <a:r>
              <a:rPr lang="zh-CN" altLang="en-US">
                <a:ea typeface="宋体" panose="02010600030101010101" pitchFamily="2" charset="-122"/>
              </a:rPr>
              <a:t>，</a:t>
            </a:r>
            <a:r>
              <a:rPr lang="en-US" altLang="zh-CN">
                <a:ea typeface="宋体" panose="02010600030101010101" pitchFamily="2" charset="-122"/>
              </a:rPr>
              <a:t>CNO)</a:t>
            </a:r>
            <a:r>
              <a:rPr lang="en-US" altLang="zh-CN">
                <a:ea typeface="宋体" panose="02010600030101010101" pitchFamily="2" charset="-122"/>
                <a:sym typeface="Symbol" panose="05050102010706020507" pitchFamily="18" charset="2"/>
              </a:rPr>
              <a:t>TNO</a:t>
            </a:r>
            <a:r>
              <a:rPr lang="zh-CN" altLang="en-US">
                <a:ea typeface="宋体" panose="02010600030101010101" pitchFamily="2" charset="-122"/>
                <a:sym typeface="Symbol" panose="05050102010706020507" pitchFamily="18" charset="2"/>
              </a:rPr>
              <a:t>，原来一个学生选修一门课程时，只能对应一个老师；在新的关系模式下现在一个学生选修一门课程时，可能会对应多个老师。</a:t>
            </a:r>
            <a:endParaRPr lang="zh-CN" altLang="en-US">
              <a:ea typeface="宋体" panose="02010600030101010101" pitchFamily="2" charset="-122"/>
              <a:sym typeface="Symbol" panose="05050102010706020507" pitchFamily="18" charset="2"/>
            </a:endParaRPr>
          </a:p>
          <a:p>
            <a:pPr lvl="1">
              <a:lnSpc>
                <a:spcPct val="115000"/>
              </a:lnSpc>
              <a:buFont typeface="Wingdings" panose="05000000000000000000" pitchFamily="2" charset="2"/>
              <a:buNone/>
            </a:pPr>
            <a:r>
              <a:rPr lang="zh-CN" altLang="en-US" i="1">
                <a:solidFill>
                  <a:srgbClr val="0000CC"/>
                </a:solidFill>
                <a:ea typeface="宋体" panose="02010600030101010101" pitchFamily="2" charset="-122"/>
                <a:sym typeface="Symbol" panose="05050102010706020507" pitchFamily="18" charset="2"/>
              </a:rPr>
              <a:t>关系分解为</a:t>
            </a:r>
            <a:r>
              <a:rPr lang="en-US" altLang="zh-CN" i="1">
                <a:solidFill>
                  <a:srgbClr val="0000CC"/>
                </a:solidFill>
                <a:ea typeface="宋体" panose="02010600030101010101" pitchFamily="2" charset="-122"/>
                <a:sym typeface="Symbol" panose="05050102010706020507" pitchFamily="18" charset="2"/>
              </a:rPr>
              <a:t>BCNF</a:t>
            </a:r>
            <a:r>
              <a:rPr lang="zh-CN" altLang="en-US" i="1">
                <a:solidFill>
                  <a:srgbClr val="0000CC"/>
                </a:solidFill>
                <a:ea typeface="宋体" panose="02010600030101010101" pitchFamily="2" charset="-122"/>
                <a:sym typeface="Symbol" panose="05050102010706020507" pitchFamily="18" charset="2"/>
              </a:rPr>
              <a:t>，不一定能保持函数依赖</a:t>
            </a:r>
            <a:endParaRPr lang="zh-CN" altLang="en-US" i="1">
              <a:solidFill>
                <a:srgbClr val="0000CC"/>
              </a:solidFill>
              <a:ea typeface="宋体" panose="02010600030101010101" pitchFamily="2" charset="-122"/>
              <a:sym typeface="Symbol" panose="05050102010706020507" pitchFamily="18"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7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73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973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9734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9734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973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47"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title"/>
          </p:nvPr>
        </p:nvSpPr>
        <p:spPr/>
        <p:txBody>
          <a:bodyPr/>
          <a:lstStyle/>
          <a:p>
            <a:pPr>
              <a:defRPr/>
            </a:pPr>
            <a:r>
              <a:rPr lang="zh-CN" altLang="en-US">
                <a:ea typeface="宋体" panose="02010600030101010101" pitchFamily="2" charset="-122"/>
              </a:rPr>
              <a:t>关系模式的分解算法</a:t>
            </a:r>
            <a:endParaRPr lang="zh-CN" altLang="en-US">
              <a:ea typeface="宋体" panose="02010600030101010101" pitchFamily="2" charset="-122"/>
            </a:endParaRPr>
          </a:p>
        </p:txBody>
      </p:sp>
      <p:sp>
        <p:nvSpPr>
          <p:cNvPr id="68611" name="Rectangle 3"/>
          <p:cNvSpPr>
            <a:spLocks noGrp="1" noChangeArrowheads="1"/>
          </p:cNvSpPr>
          <p:nvPr>
            <p:ph idx="1"/>
          </p:nvPr>
        </p:nvSpPr>
        <p:spPr/>
        <p:txBody>
          <a:bodyPr/>
          <a:lstStyle/>
          <a:p>
            <a:pPr lvl="1">
              <a:spcBef>
                <a:spcPct val="40000"/>
              </a:spcBef>
            </a:pPr>
            <a:r>
              <a:rPr lang="zh-CN" altLang="en-US" sz="2800" dirty="0">
                <a:latin typeface="Ebrima" panose="02000000000000000000" pitchFamily="2" charset="0"/>
                <a:ea typeface="宋体" panose="02010600030101010101" pitchFamily="2" charset="-122"/>
                <a:cs typeface="Ebrima" panose="02000000000000000000" pitchFamily="2" charset="0"/>
              </a:rPr>
              <a:t>结论：若要求分解保持函数依赖，那么分解后的模式总可以达到</a:t>
            </a:r>
            <a:r>
              <a:rPr lang="en-US" altLang="zh-CN" sz="2800" dirty="0">
                <a:latin typeface="Ebrima" panose="02000000000000000000" pitchFamily="2" charset="0"/>
                <a:ea typeface="宋体" panose="02010600030101010101" pitchFamily="2" charset="-122"/>
                <a:cs typeface="Ebrima" panose="02000000000000000000" pitchFamily="2" charset="0"/>
              </a:rPr>
              <a:t>3NF</a:t>
            </a:r>
            <a:r>
              <a:rPr lang="zh-CN" altLang="en-US" sz="2800" dirty="0">
                <a:latin typeface="Ebrima" panose="02000000000000000000" pitchFamily="2" charset="0"/>
                <a:ea typeface="宋体" panose="02010600030101010101" pitchFamily="2" charset="-122"/>
                <a:cs typeface="Ebrima" panose="02000000000000000000" pitchFamily="2" charset="0"/>
              </a:rPr>
              <a:t>，但不一定能达到</a:t>
            </a:r>
            <a:r>
              <a:rPr lang="en-US" altLang="zh-CN" sz="2800" dirty="0">
                <a:latin typeface="Ebrima" panose="02000000000000000000" pitchFamily="2" charset="0"/>
                <a:ea typeface="宋体" panose="02010600030101010101" pitchFamily="2" charset="-122"/>
                <a:cs typeface="Ebrima" panose="02000000000000000000" pitchFamily="2" charset="0"/>
              </a:rPr>
              <a:t>BCNF</a:t>
            </a:r>
            <a:endParaRPr lang="en-US" altLang="zh-CN" sz="2800" dirty="0">
              <a:latin typeface="Ebrima" panose="02000000000000000000" pitchFamily="2" charset="0"/>
              <a:ea typeface="宋体" panose="02010600030101010101" pitchFamily="2" charset="-122"/>
              <a:cs typeface="Ebrima" panose="02000000000000000000" pitchFamily="2" charset="0"/>
            </a:endParaRPr>
          </a:p>
          <a:p>
            <a:pPr lvl="1">
              <a:spcBef>
                <a:spcPct val="40000"/>
              </a:spcBef>
            </a:pPr>
            <a:r>
              <a:rPr lang="zh-CN" altLang="en-US" sz="2800" dirty="0">
                <a:latin typeface="Ebrima" panose="02000000000000000000" pitchFamily="2" charset="0"/>
                <a:ea typeface="宋体" panose="02010600030101010101" pitchFamily="2" charset="-122"/>
                <a:cs typeface="Ebrima" panose="02000000000000000000" pitchFamily="2" charset="0"/>
              </a:rPr>
              <a:t>达到</a:t>
            </a:r>
            <a:r>
              <a:rPr lang="en-US" altLang="zh-CN" sz="2800" dirty="0">
                <a:latin typeface="Ebrima" panose="02000000000000000000" pitchFamily="2" charset="0"/>
                <a:ea typeface="宋体" panose="02010600030101010101" pitchFamily="2" charset="-122"/>
                <a:cs typeface="Ebrima" panose="02000000000000000000" pitchFamily="2" charset="0"/>
              </a:rPr>
              <a:t>3NF</a:t>
            </a:r>
            <a:r>
              <a:rPr lang="zh-CN" altLang="en-US" sz="2800" dirty="0">
                <a:latin typeface="Ebrima" panose="02000000000000000000" pitchFamily="2" charset="0"/>
                <a:ea typeface="宋体" panose="02010600030101010101" pitchFamily="2" charset="-122"/>
                <a:cs typeface="Ebrima" panose="02000000000000000000" pitchFamily="2" charset="0"/>
              </a:rPr>
              <a:t>且保持函数依赖的无损分解算法</a:t>
            </a:r>
            <a:endParaRPr lang="en-US" altLang="zh-CN" sz="2800" dirty="0">
              <a:latin typeface="Ebrima" panose="02000000000000000000" pitchFamily="2" charset="0"/>
              <a:ea typeface="宋体" panose="02010600030101010101" pitchFamily="2" charset="-122"/>
              <a:cs typeface="Ebrima" panose="02000000000000000000" pitchFamily="2" charset="0"/>
            </a:endParaRPr>
          </a:p>
          <a:p>
            <a:pPr lvl="2">
              <a:spcBef>
                <a:spcPct val="40000"/>
              </a:spcBef>
            </a:pPr>
            <a:r>
              <a:rPr lang="zh-CN" altLang="en-US" sz="2400" dirty="0">
                <a:latin typeface="Ebrima" panose="02000000000000000000" pitchFamily="2" charset="0"/>
                <a:ea typeface="宋体" panose="02010600030101010101" pitchFamily="2" charset="-122"/>
                <a:cs typeface="Ebrima" panose="02000000000000000000" pitchFamily="2" charset="0"/>
              </a:rPr>
              <a:t>原书图</a:t>
            </a:r>
            <a:r>
              <a:rPr lang="en-US" altLang="zh-CN" sz="2400" dirty="0">
                <a:latin typeface="Ebrima" panose="02000000000000000000" pitchFamily="2" charset="0"/>
                <a:ea typeface="宋体" panose="02010600030101010101" pitchFamily="2" charset="-122"/>
                <a:cs typeface="Ebrima" panose="02000000000000000000" pitchFamily="2" charset="0"/>
              </a:rPr>
              <a:t>8-12</a:t>
            </a:r>
            <a:endParaRPr lang="zh-CN" altLang="en-US" sz="2400" dirty="0">
              <a:latin typeface="Ebrima" panose="02000000000000000000" pitchFamily="2" charset="0"/>
              <a:ea typeface="宋体" panose="02010600030101010101" pitchFamily="2" charset="-122"/>
              <a:cs typeface="Ebrima" panose="02000000000000000000" pitchFamily="2" charset="0"/>
            </a:endParaRPr>
          </a:p>
          <a:p>
            <a:pPr lvl="1">
              <a:spcBef>
                <a:spcPct val="40000"/>
              </a:spcBef>
              <a:buFont typeface="Wingdings" panose="05000000000000000000" pitchFamily="2" charset="2"/>
              <a:buNone/>
            </a:pPr>
            <a:endParaRPr lang="zh-CN" altLang="en-US" sz="2800" dirty="0">
              <a:latin typeface="Ebrima" panose="02000000000000000000" pitchFamily="2" charset="0"/>
              <a:ea typeface="宋体" panose="02010600030101010101" pitchFamily="2" charset="-122"/>
              <a:cs typeface="Ebrima" panose="02000000000000000000" pitchFamily="2" charset="0"/>
              <a:sym typeface="Symbol" panose="05050102010706020507" pitchFamily="18" charset="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3" name="Rectangle 3"/>
          <p:cNvSpPr>
            <a:spLocks noGrp="1" noChangeArrowheads="1"/>
          </p:cNvSpPr>
          <p:nvPr>
            <p:ph idx="1"/>
          </p:nvPr>
        </p:nvSpPr>
        <p:spPr>
          <a:xfrm>
            <a:off x="228600" y="220663"/>
            <a:ext cx="8610600" cy="6103937"/>
          </a:xfrm>
        </p:spPr>
        <p:txBody>
          <a:bodyPr/>
          <a:lstStyle/>
          <a:p>
            <a:pPr>
              <a:lnSpc>
                <a:spcPct val="110000"/>
              </a:lnSpc>
              <a:spcBef>
                <a:spcPct val="10000"/>
              </a:spcBef>
            </a:pPr>
            <a:r>
              <a:rPr lang="en-US" altLang="zh-CN" sz="2400">
                <a:ea typeface="宋体" panose="02010600030101010101" pitchFamily="2" charset="-122"/>
              </a:rPr>
              <a:t>P-PROVINCE,C-CITY,S-STREET,Z-ZIP</a:t>
            </a:r>
            <a:endParaRPr lang="en-US" altLang="zh-CN" sz="2400">
              <a:ea typeface="宋体" panose="02010600030101010101" pitchFamily="2" charset="-122"/>
            </a:endParaRPr>
          </a:p>
          <a:p>
            <a:pPr>
              <a:lnSpc>
                <a:spcPct val="110000"/>
              </a:lnSpc>
              <a:spcBef>
                <a:spcPct val="10000"/>
              </a:spcBef>
            </a:pPr>
            <a:r>
              <a:rPr lang="zh-CN" altLang="en-US" sz="2400">
                <a:ea typeface="宋体" panose="02010600030101010101" pitchFamily="2" charset="-122"/>
              </a:rPr>
              <a:t>设有关系模式</a:t>
            </a:r>
            <a:r>
              <a:rPr lang="en-US" altLang="zh-CN" sz="2400">
                <a:ea typeface="宋体" panose="02010600030101010101" pitchFamily="2" charset="-122"/>
              </a:rPr>
              <a:t>R(SNO, SN, P, C, S, Z)</a:t>
            </a:r>
            <a:br>
              <a:rPr lang="en-US" altLang="zh-CN" sz="2400">
                <a:ea typeface="宋体" panose="02010600030101010101" pitchFamily="2" charset="-122"/>
              </a:rPr>
            </a:br>
            <a:r>
              <a:rPr lang="en-US" altLang="zh-CN" sz="2400">
                <a:ea typeface="宋体" panose="02010600030101010101" pitchFamily="2" charset="-122"/>
              </a:rPr>
              <a:t>F={SNO</a:t>
            </a:r>
            <a:r>
              <a:rPr lang="en-US" altLang="zh-CN" sz="2400">
                <a:ea typeface="宋体" panose="02010600030101010101" pitchFamily="2" charset="-122"/>
                <a:sym typeface="Symbol" panose="05050102010706020507" pitchFamily="18" charset="2"/>
              </a:rPr>
              <a:t>SN, </a:t>
            </a:r>
            <a:r>
              <a:rPr lang="en-US" altLang="zh-CN" sz="2400">
                <a:ea typeface="宋体" panose="02010600030101010101" pitchFamily="2" charset="-122"/>
              </a:rPr>
              <a:t>SNO</a:t>
            </a:r>
            <a:r>
              <a:rPr lang="en-US" altLang="zh-CN" sz="2400">
                <a:ea typeface="宋体" panose="02010600030101010101" pitchFamily="2" charset="-122"/>
                <a:sym typeface="Symbol" panose="05050102010706020507" pitchFamily="18" charset="2"/>
              </a:rPr>
              <a:t>P, </a:t>
            </a:r>
            <a:r>
              <a:rPr lang="en-US" altLang="zh-CN" sz="2400">
                <a:ea typeface="宋体" panose="02010600030101010101" pitchFamily="2" charset="-122"/>
              </a:rPr>
              <a:t>SNO</a:t>
            </a:r>
            <a:r>
              <a:rPr lang="en-US" altLang="zh-CN" sz="2400">
                <a:ea typeface="宋体" panose="02010600030101010101" pitchFamily="2" charset="-122"/>
                <a:sym typeface="Symbol" panose="05050102010706020507" pitchFamily="18" charset="2"/>
              </a:rPr>
              <a:t>C, </a:t>
            </a:r>
            <a:r>
              <a:rPr lang="en-US" altLang="zh-CN" sz="2400">
                <a:ea typeface="宋体" panose="02010600030101010101" pitchFamily="2" charset="-122"/>
              </a:rPr>
              <a:t>SNO</a:t>
            </a:r>
            <a:r>
              <a:rPr lang="en-US" altLang="zh-CN" sz="2400">
                <a:ea typeface="宋体" panose="02010600030101010101" pitchFamily="2" charset="-122"/>
                <a:sym typeface="Symbol" panose="05050102010706020507" pitchFamily="18" charset="2"/>
              </a:rPr>
              <a:t>S, </a:t>
            </a:r>
            <a:r>
              <a:rPr lang="en-US" altLang="zh-CN" sz="2400">
                <a:ea typeface="宋体" panose="02010600030101010101" pitchFamily="2" charset="-122"/>
              </a:rPr>
              <a:t>SNO</a:t>
            </a:r>
            <a:r>
              <a:rPr lang="en-US" altLang="zh-CN" sz="2400">
                <a:ea typeface="宋体" panose="02010600030101010101" pitchFamily="2" charset="-122"/>
                <a:sym typeface="Symbol" panose="05050102010706020507" pitchFamily="18" charset="2"/>
              </a:rPr>
              <a:t>Z, {P,C,S}Z, ZP, Z C</a:t>
            </a:r>
            <a:r>
              <a:rPr lang="en-US" altLang="zh-CN" sz="2400">
                <a:ea typeface="宋体" panose="02010600030101010101" pitchFamily="2" charset="-122"/>
              </a:rPr>
              <a:t>}</a:t>
            </a:r>
            <a:r>
              <a:rPr lang="zh-CN" altLang="en-US" sz="2400">
                <a:ea typeface="宋体" panose="02010600030101010101" pitchFamily="2" charset="-122"/>
              </a:rPr>
              <a:t>，试分解</a:t>
            </a:r>
            <a:r>
              <a:rPr lang="en-US" altLang="zh-CN" sz="2400">
                <a:ea typeface="宋体" panose="02010600030101010101" pitchFamily="2" charset="-122"/>
              </a:rPr>
              <a:t>R</a:t>
            </a:r>
            <a:r>
              <a:rPr lang="zh-CN" altLang="en-US" sz="2400">
                <a:ea typeface="宋体" panose="02010600030101010101" pitchFamily="2" charset="-122"/>
              </a:rPr>
              <a:t>为</a:t>
            </a:r>
            <a:r>
              <a:rPr lang="en-US" altLang="zh-CN" sz="2400">
                <a:ea typeface="宋体" panose="02010600030101010101" pitchFamily="2" charset="-122"/>
              </a:rPr>
              <a:t>3NF</a:t>
            </a:r>
            <a:r>
              <a:rPr lang="zh-CN" altLang="en-US" sz="2400">
                <a:ea typeface="宋体" panose="02010600030101010101" pitchFamily="2" charset="-122"/>
              </a:rPr>
              <a:t>。</a:t>
            </a:r>
            <a:endParaRPr lang="zh-CN" altLang="en-US" sz="2400">
              <a:ea typeface="宋体" panose="02010600030101010101" pitchFamily="2" charset="-122"/>
            </a:endParaRPr>
          </a:p>
          <a:p>
            <a:pPr>
              <a:lnSpc>
                <a:spcPct val="110000"/>
              </a:lnSpc>
              <a:spcBef>
                <a:spcPct val="10000"/>
              </a:spcBef>
            </a:pPr>
            <a:r>
              <a:rPr lang="zh-CN" altLang="en-US" sz="2400">
                <a:ea typeface="宋体" panose="02010600030101010101" pitchFamily="2" charset="-122"/>
              </a:rPr>
              <a:t>解：</a:t>
            </a:r>
            <a:endParaRPr lang="zh-CN" altLang="en-US" sz="2400">
              <a:ea typeface="宋体" panose="02010600030101010101" pitchFamily="2" charset="-122"/>
            </a:endParaRPr>
          </a:p>
          <a:p>
            <a:pPr lvl="1">
              <a:lnSpc>
                <a:spcPct val="110000"/>
              </a:lnSpc>
              <a:spcBef>
                <a:spcPct val="10000"/>
              </a:spcBef>
            </a:pPr>
            <a:r>
              <a:rPr lang="zh-CN" altLang="en-US" sz="2200">
                <a:ea typeface="宋体" panose="02010600030101010101" pitchFamily="2" charset="-122"/>
              </a:rPr>
              <a:t>求</a:t>
            </a:r>
            <a:r>
              <a:rPr lang="en-US" altLang="zh-CN" sz="2200">
                <a:ea typeface="宋体" panose="02010600030101010101" pitchFamily="2" charset="-122"/>
              </a:rPr>
              <a:t>F</a:t>
            </a:r>
            <a:r>
              <a:rPr lang="zh-CN" altLang="en-US" sz="2200">
                <a:ea typeface="宋体" panose="02010600030101010101" pitchFamily="2" charset="-122"/>
              </a:rPr>
              <a:t>的最小覆盖</a:t>
            </a:r>
            <a:r>
              <a:rPr lang="en-US" altLang="zh-CN" sz="2200">
                <a:ea typeface="宋体" panose="02010600030101010101" pitchFamily="2" charset="-122"/>
              </a:rPr>
              <a:t>Fc={SNO</a:t>
            </a:r>
            <a:r>
              <a:rPr lang="en-US" altLang="zh-CN" sz="2200">
                <a:ea typeface="宋体" panose="02010600030101010101" pitchFamily="2" charset="-122"/>
                <a:sym typeface="Symbol" panose="05050102010706020507" pitchFamily="18" charset="2"/>
              </a:rPr>
              <a:t>{SN,P,C,S}, {P,C,S}Z, Z{P,C}</a:t>
            </a:r>
            <a:r>
              <a:rPr lang="en-US" altLang="zh-CN" sz="2200">
                <a:ea typeface="宋体" panose="02010600030101010101" pitchFamily="2" charset="-122"/>
              </a:rPr>
              <a:t>}</a:t>
            </a:r>
            <a:endParaRPr lang="en-US" altLang="zh-CN" sz="2200">
              <a:ea typeface="宋体" panose="02010600030101010101" pitchFamily="2" charset="-122"/>
            </a:endParaRPr>
          </a:p>
          <a:p>
            <a:pPr lvl="1">
              <a:lnSpc>
                <a:spcPct val="110000"/>
              </a:lnSpc>
              <a:spcBef>
                <a:spcPct val="10000"/>
              </a:spcBef>
            </a:pPr>
            <a:r>
              <a:rPr lang="zh-CN" altLang="en-US" sz="2200">
                <a:ea typeface="宋体" panose="02010600030101010101" pitchFamily="2" charset="-122"/>
              </a:rPr>
              <a:t>根据上述算法，则分解为</a:t>
            </a:r>
            <a:r>
              <a:rPr lang="en-US" altLang="zh-CN" sz="2200">
                <a:ea typeface="宋体" panose="02010600030101010101" pitchFamily="2" charset="-122"/>
              </a:rPr>
              <a:t>R1={SNO, </a:t>
            </a:r>
            <a:r>
              <a:rPr lang="en-US" altLang="zh-CN" sz="2200">
                <a:ea typeface="宋体" panose="02010600030101010101" pitchFamily="2" charset="-122"/>
                <a:sym typeface="Symbol" panose="05050102010706020507" pitchFamily="18" charset="2"/>
              </a:rPr>
              <a:t>SN,P,C,S</a:t>
            </a:r>
            <a:r>
              <a:rPr lang="en-US" altLang="zh-CN" sz="2200">
                <a:ea typeface="宋体" panose="02010600030101010101" pitchFamily="2" charset="-122"/>
              </a:rPr>
              <a:t>}, R2={</a:t>
            </a:r>
            <a:r>
              <a:rPr lang="en-US" altLang="zh-CN" sz="2200">
                <a:ea typeface="宋体" panose="02010600030101010101" pitchFamily="2" charset="-122"/>
                <a:sym typeface="Symbol" panose="05050102010706020507" pitchFamily="18" charset="2"/>
              </a:rPr>
              <a:t>P,C,S,Z</a:t>
            </a:r>
            <a:r>
              <a:rPr lang="en-US" altLang="zh-CN" sz="2200">
                <a:ea typeface="宋体" panose="02010600030101010101" pitchFamily="2" charset="-122"/>
              </a:rPr>
              <a:t>}, R3={Z,P,C}, ∵R3</a:t>
            </a:r>
            <a:r>
              <a:rPr lang="en-US" altLang="zh-CN" sz="2200">
                <a:ea typeface="宋体" panose="02010600030101010101" pitchFamily="2" charset="-122"/>
                <a:sym typeface="Symbol" panose="05050102010706020507" pitchFamily="18" charset="2"/>
              </a:rPr>
              <a:t></a:t>
            </a:r>
            <a:r>
              <a:rPr lang="en-US" altLang="zh-CN" sz="2200">
                <a:ea typeface="宋体" panose="02010600030101010101" pitchFamily="2" charset="-122"/>
              </a:rPr>
              <a:t>R2, </a:t>
            </a:r>
            <a:r>
              <a:rPr lang="zh-CN" altLang="en-US" sz="2200">
                <a:ea typeface="宋体" panose="02010600030101010101" pitchFamily="2" charset="-122"/>
              </a:rPr>
              <a:t>去掉</a:t>
            </a:r>
            <a:r>
              <a:rPr lang="en-US" altLang="zh-CN" sz="2200">
                <a:ea typeface="宋体" panose="02010600030101010101" pitchFamily="2" charset="-122"/>
              </a:rPr>
              <a:t>R3</a:t>
            </a:r>
            <a:endParaRPr lang="en-US" altLang="zh-CN" sz="2200">
              <a:ea typeface="宋体" panose="02010600030101010101" pitchFamily="2" charset="-122"/>
            </a:endParaRPr>
          </a:p>
          <a:p>
            <a:pPr lvl="1">
              <a:lnSpc>
                <a:spcPct val="110000"/>
              </a:lnSpc>
              <a:spcBef>
                <a:spcPct val="10000"/>
              </a:spcBef>
            </a:pPr>
            <a:r>
              <a:rPr lang="en-US" altLang="zh-CN" sz="2200">
                <a:ea typeface="宋体" panose="02010600030101010101" pitchFamily="2" charset="-122"/>
              </a:rPr>
              <a:t>R1={SNO, </a:t>
            </a:r>
            <a:r>
              <a:rPr lang="en-US" altLang="zh-CN" sz="2200">
                <a:ea typeface="宋体" panose="02010600030101010101" pitchFamily="2" charset="-122"/>
                <a:sym typeface="Symbol" panose="05050102010706020507" pitchFamily="18" charset="2"/>
              </a:rPr>
              <a:t>SN,P,C,S</a:t>
            </a:r>
            <a:r>
              <a:rPr lang="en-US" altLang="zh-CN" sz="2200">
                <a:ea typeface="宋体" panose="02010600030101010101" pitchFamily="2" charset="-122"/>
              </a:rPr>
              <a:t>}, F1={SNO</a:t>
            </a:r>
            <a:r>
              <a:rPr lang="en-US" altLang="zh-CN" sz="2200">
                <a:ea typeface="宋体" panose="02010600030101010101" pitchFamily="2" charset="-122"/>
                <a:sym typeface="Symbol" panose="05050102010706020507" pitchFamily="18" charset="2"/>
              </a:rPr>
              <a:t>{SN,P,C,S}}</a:t>
            </a:r>
            <a:endParaRPr lang="en-US" altLang="zh-CN" sz="2200">
              <a:ea typeface="宋体" panose="02010600030101010101" pitchFamily="2" charset="-122"/>
              <a:sym typeface="Symbol" panose="05050102010706020507" pitchFamily="18" charset="2"/>
            </a:endParaRPr>
          </a:p>
          <a:p>
            <a:pPr lvl="1">
              <a:lnSpc>
                <a:spcPct val="110000"/>
              </a:lnSpc>
              <a:spcBef>
                <a:spcPct val="10000"/>
              </a:spcBef>
            </a:pPr>
            <a:r>
              <a:rPr lang="en-US" altLang="zh-CN" sz="2200">
                <a:ea typeface="宋体" panose="02010600030101010101" pitchFamily="2" charset="-122"/>
              </a:rPr>
              <a:t>R2={</a:t>
            </a:r>
            <a:r>
              <a:rPr lang="en-US" altLang="zh-CN" sz="2200">
                <a:ea typeface="宋体" panose="02010600030101010101" pitchFamily="2" charset="-122"/>
                <a:sym typeface="Symbol" panose="05050102010706020507" pitchFamily="18" charset="2"/>
              </a:rPr>
              <a:t>P,C,S,Z</a:t>
            </a:r>
            <a:r>
              <a:rPr lang="en-US" altLang="zh-CN" sz="2200">
                <a:ea typeface="宋体" panose="02010600030101010101" pitchFamily="2" charset="-122"/>
              </a:rPr>
              <a:t>}, F2={ </a:t>
            </a:r>
            <a:r>
              <a:rPr lang="en-US" altLang="zh-CN" sz="2200">
                <a:ea typeface="宋体" panose="02010600030101010101" pitchFamily="2" charset="-122"/>
                <a:sym typeface="Symbol" panose="05050102010706020507" pitchFamily="18" charset="2"/>
              </a:rPr>
              <a:t>{P,C,S}Z, Z{P,C}</a:t>
            </a:r>
            <a:r>
              <a:rPr lang="en-US" altLang="zh-CN" sz="2200">
                <a:ea typeface="宋体" panose="02010600030101010101" pitchFamily="2" charset="-122"/>
              </a:rPr>
              <a:t>}</a:t>
            </a:r>
            <a:endParaRPr lang="en-US" altLang="zh-CN" sz="2200">
              <a:ea typeface="宋体" panose="02010600030101010101" pitchFamily="2" charset="-122"/>
            </a:endParaRPr>
          </a:p>
          <a:p>
            <a:pPr lvl="1">
              <a:lnSpc>
                <a:spcPct val="110000"/>
              </a:lnSpc>
              <a:spcBef>
                <a:spcPct val="10000"/>
              </a:spcBef>
            </a:pPr>
            <a:endParaRPr lang="en-US" altLang="zh-CN" sz="2200">
              <a:ea typeface="宋体" panose="02010600030101010101" pitchFamily="2" charset="-122"/>
            </a:endParaRPr>
          </a:p>
          <a:p>
            <a:pPr lvl="1">
              <a:lnSpc>
                <a:spcPct val="110000"/>
              </a:lnSpc>
              <a:spcBef>
                <a:spcPct val="10000"/>
              </a:spcBef>
            </a:pPr>
            <a:r>
              <a:rPr lang="zh-CN" altLang="en-US" sz="2200" i="1">
                <a:ea typeface="宋体" panose="02010600030101010101" pitchFamily="2" charset="-122"/>
              </a:rPr>
              <a:t>注意</a:t>
            </a:r>
            <a:r>
              <a:rPr lang="en-US" altLang="zh-CN" sz="2200" i="1">
                <a:ea typeface="宋体" panose="02010600030101010101" pitchFamily="2" charset="-122"/>
              </a:rPr>
              <a:t>R1,R2</a:t>
            </a:r>
            <a:r>
              <a:rPr lang="zh-CN" altLang="en-US" sz="2200" i="1">
                <a:ea typeface="宋体" panose="02010600030101010101" pitchFamily="2" charset="-122"/>
              </a:rPr>
              <a:t>均属于</a:t>
            </a:r>
            <a:r>
              <a:rPr lang="en-US" altLang="zh-CN" sz="2200" i="1">
                <a:ea typeface="宋体" panose="02010600030101010101" pitchFamily="2" charset="-122"/>
              </a:rPr>
              <a:t>3NF</a:t>
            </a:r>
            <a:r>
              <a:rPr lang="zh-CN" altLang="en-US" sz="2200" i="1">
                <a:ea typeface="宋体" panose="02010600030101010101" pitchFamily="2" charset="-122"/>
              </a:rPr>
              <a:t>，但</a:t>
            </a:r>
            <a:r>
              <a:rPr lang="en-US" altLang="zh-CN" sz="2200" i="1">
                <a:ea typeface="宋体" panose="02010600030101010101" pitchFamily="2" charset="-122"/>
              </a:rPr>
              <a:t>R1</a:t>
            </a:r>
            <a:r>
              <a:rPr lang="zh-CN" altLang="en-US" sz="2200" i="1">
                <a:ea typeface="宋体" panose="02010600030101010101" pitchFamily="2" charset="-122"/>
              </a:rPr>
              <a:t>属于</a:t>
            </a:r>
            <a:r>
              <a:rPr lang="en-US" altLang="zh-CN" sz="2200" i="1">
                <a:ea typeface="宋体" panose="02010600030101010101" pitchFamily="2" charset="-122"/>
              </a:rPr>
              <a:t>BCNF</a:t>
            </a:r>
            <a:r>
              <a:rPr lang="zh-CN" altLang="en-US" sz="2200" i="1">
                <a:ea typeface="宋体" panose="02010600030101010101" pitchFamily="2" charset="-122"/>
              </a:rPr>
              <a:t>，</a:t>
            </a:r>
            <a:r>
              <a:rPr lang="en-US" altLang="zh-CN" sz="2200" i="1">
                <a:ea typeface="宋体" panose="02010600030101010101" pitchFamily="2" charset="-122"/>
              </a:rPr>
              <a:t>R2</a:t>
            </a:r>
            <a:r>
              <a:rPr lang="zh-CN" altLang="en-US" sz="2200" i="1">
                <a:ea typeface="宋体" panose="02010600030101010101" pitchFamily="2" charset="-122"/>
              </a:rPr>
              <a:t>不属于</a:t>
            </a:r>
            <a:r>
              <a:rPr lang="en-US" altLang="zh-CN" sz="2200" i="1">
                <a:ea typeface="宋体" panose="02010600030101010101" pitchFamily="2" charset="-122"/>
              </a:rPr>
              <a:t>BCNF</a:t>
            </a:r>
            <a:r>
              <a:rPr lang="zh-CN" altLang="en-US" sz="2200" i="1">
                <a:ea typeface="宋体" panose="02010600030101010101" pitchFamily="2" charset="-122"/>
              </a:rPr>
              <a:t>，若进一步将</a:t>
            </a:r>
            <a:r>
              <a:rPr lang="en-US" altLang="zh-CN" sz="2200" i="1">
                <a:ea typeface="宋体" panose="02010600030101010101" pitchFamily="2" charset="-122"/>
              </a:rPr>
              <a:t>R2</a:t>
            </a:r>
            <a:r>
              <a:rPr lang="zh-CN" altLang="en-US" sz="2200" i="1">
                <a:ea typeface="宋体" panose="02010600030101010101" pitchFamily="2" charset="-122"/>
              </a:rPr>
              <a:t>分解为</a:t>
            </a:r>
            <a:r>
              <a:rPr lang="en-US" altLang="zh-CN" sz="2200" i="1">
                <a:ea typeface="宋体" panose="02010600030101010101" pitchFamily="2" charset="-122"/>
              </a:rPr>
              <a:t>{P,C,Z}</a:t>
            </a:r>
            <a:r>
              <a:rPr lang="zh-CN" altLang="en-US" sz="2200" i="1">
                <a:ea typeface="宋体" panose="02010600030101010101" pitchFamily="2" charset="-122"/>
              </a:rPr>
              <a:t>和</a:t>
            </a:r>
            <a:r>
              <a:rPr lang="en-US" altLang="zh-CN" sz="2200" i="1">
                <a:ea typeface="宋体" panose="02010600030101010101" pitchFamily="2" charset="-122"/>
              </a:rPr>
              <a:t>{S,Z}</a:t>
            </a:r>
            <a:r>
              <a:rPr lang="zh-CN" altLang="en-US" sz="2200" i="1">
                <a:ea typeface="宋体" panose="02010600030101010101" pitchFamily="2" charset="-122"/>
              </a:rPr>
              <a:t>，则均为</a:t>
            </a:r>
            <a:r>
              <a:rPr lang="en-US" altLang="zh-CN" sz="2200" i="1">
                <a:ea typeface="宋体" panose="02010600030101010101" pitchFamily="2" charset="-122"/>
              </a:rPr>
              <a:t>BCNF</a:t>
            </a:r>
            <a:r>
              <a:rPr lang="zh-CN" altLang="en-US" sz="2200" i="1">
                <a:ea typeface="宋体" panose="02010600030101010101" pitchFamily="2" charset="-122"/>
              </a:rPr>
              <a:t>，但丢失了函数依赖</a:t>
            </a:r>
            <a:r>
              <a:rPr lang="en-US" altLang="zh-CN" sz="2200" i="1">
                <a:ea typeface="宋体" panose="02010600030101010101" pitchFamily="2" charset="-122"/>
                <a:sym typeface="Symbol" panose="05050102010706020507" pitchFamily="18" charset="2"/>
              </a:rPr>
              <a:t>Z{P,C}.</a:t>
            </a:r>
            <a:endParaRPr lang="en-US" altLang="zh-CN" sz="2200" i="1">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21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216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3216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3216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3216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3216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3216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321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216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type="title"/>
          </p:nvPr>
        </p:nvSpPr>
        <p:spPr/>
        <p:txBody>
          <a:bodyPr/>
          <a:lstStyle/>
          <a:p>
            <a:pPr>
              <a:defRPr/>
            </a:pPr>
            <a:r>
              <a:rPr lang="zh-CN" altLang="en-US">
                <a:ea typeface="宋体" panose="02010600030101010101" pitchFamily="2" charset="-122"/>
              </a:rPr>
              <a:t>范式之间的关系</a:t>
            </a:r>
            <a:endParaRPr lang="zh-CN" altLang="en-US">
              <a:ea typeface="宋体" panose="02010600030101010101" pitchFamily="2" charset="-122"/>
            </a:endParaRPr>
          </a:p>
        </p:txBody>
      </p:sp>
      <p:grpSp>
        <p:nvGrpSpPr>
          <p:cNvPr id="71693" name="Group 13"/>
          <p:cNvGrpSpPr/>
          <p:nvPr/>
        </p:nvGrpSpPr>
        <p:grpSpPr bwMode="auto">
          <a:xfrm>
            <a:off x="841978" y="1908995"/>
            <a:ext cx="2828545" cy="2802054"/>
            <a:chOff x="1613" y="1661"/>
            <a:chExt cx="2446" cy="2448"/>
          </a:xfrm>
        </p:grpSpPr>
        <p:sp>
          <p:nvSpPr>
            <p:cNvPr id="71694" name="Oval 14"/>
            <p:cNvSpPr>
              <a:spLocks noChangeArrowheads="1"/>
            </p:cNvSpPr>
            <p:nvPr/>
          </p:nvSpPr>
          <p:spPr bwMode="auto">
            <a:xfrm>
              <a:off x="2573" y="2671"/>
              <a:ext cx="576" cy="576"/>
            </a:xfrm>
            <a:prstGeom prst="ellipse">
              <a:avLst/>
            </a:prstGeom>
            <a:noFill/>
            <a:ln w="952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71695" name="Oval 15"/>
            <p:cNvSpPr>
              <a:spLocks noChangeAspect="1" noChangeArrowheads="1"/>
            </p:cNvSpPr>
            <p:nvPr/>
          </p:nvSpPr>
          <p:spPr bwMode="auto">
            <a:xfrm>
              <a:off x="2381" y="2466"/>
              <a:ext cx="973" cy="973"/>
            </a:xfrm>
            <a:prstGeom prst="ellipse">
              <a:avLst/>
            </a:prstGeom>
            <a:noFill/>
            <a:ln w="952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71696" name="Oval 16"/>
            <p:cNvSpPr>
              <a:spLocks noChangeAspect="1" noChangeArrowheads="1"/>
            </p:cNvSpPr>
            <p:nvPr/>
          </p:nvSpPr>
          <p:spPr bwMode="auto">
            <a:xfrm>
              <a:off x="2218" y="2268"/>
              <a:ext cx="1315" cy="1315"/>
            </a:xfrm>
            <a:prstGeom prst="ellipse">
              <a:avLst/>
            </a:prstGeom>
            <a:noFill/>
            <a:ln w="952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71697" name="Oval 17"/>
            <p:cNvSpPr>
              <a:spLocks noChangeAspect="1" noChangeArrowheads="1"/>
            </p:cNvSpPr>
            <p:nvPr/>
          </p:nvSpPr>
          <p:spPr bwMode="auto">
            <a:xfrm>
              <a:off x="2045" y="2086"/>
              <a:ext cx="1650" cy="1650"/>
            </a:xfrm>
            <a:prstGeom prst="ellipse">
              <a:avLst/>
            </a:prstGeom>
            <a:noFill/>
            <a:ln w="952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71698" name="Oval 18"/>
            <p:cNvSpPr>
              <a:spLocks noChangeAspect="1" noChangeArrowheads="1"/>
            </p:cNvSpPr>
            <p:nvPr/>
          </p:nvSpPr>
          <p:spPr bwMode="auto">
            <a:xfrm>
              <a:off x="1831" y="1881"/>
              <a:ext cx="2038" cy="2038"/>
            </a:xfrm>
            <a:prstGeom prst="ellipse">
              <a:avLst/>
            </a:prstGeom>
            <a:noFill/>
            <a:ln w="952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71699" name="Oval 19"/>
            <p:cNvSpPr>
              <a:spLocks noChangeAspect="1" noChangeArrowheads="1"/>
            </p:cNvSpPr>
            <p:nvPr/>
          </p:nvSpPr>
          <p:spPr bwMode="auto">
            <a:xfrm>
              <a:off x="1613" y="1663"/>
              <a:ext cx="2446" cy="2446"/>
            </a:xfrm>
            <a:prstGeom prst="ellipse">
              <a:avLst/>
            </a:prstGeom>
            <a:noFill/>
            <a:ln w="952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endParaRPr kumimoji="0" lang="zh-CN" altLang="en-US" sz="1600">
                <a:ea typeface="宋体" panose="02010600030101010101" pitchFamily="2" charset="-122"/>
              </a:endParaRPr>
            </a:p>
          </p:txBody>
        </p:sp>
        <p:sp>
          <p:nvSpPr>
            <p:cNvPr id="71700" name="Text Box 20"/>
            <p:cNvSpPr txBox="1">
              <a:spLocks noChangeArrowheads="1"/>
            </p:cNvSpPr>
            <p:nvPr/>
          </p:nvSpPr>
          <p:spPr bwMode="auto">
            <a:xfrm>
              <a:off x="2669" y="1661"/>
              <a:ext cx="52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en-US" altLang="zh-CN" sz="1400" dirty="0">
                  <a:latin typeface="Times New Roman" panose="02020603050405020304" pitchFamily="18" charset="0"/>
                  <a:ea typeface="宋体" panose="02010600030101010101" pitchFamily="2" charset="-122"/>
                </a:rPr>
                <a:t>1NF</a:t>
              </a:r>
              <a:endParaRPr lang="en-US" altLang="zh-CN" sz="1400" dirty="0">
                <a:latin typeface="Times New Roman" panose="02020603050405020304" pitchFamily="18" charset="0"/>
                <a:ea typeface="宋体" panose="02010600030101010101" pitchFamily="2" charset="-122"/>
              </a:endParaRPr>
            </a:p>
          </p:txBody>
        </p:sp>
        <p:sp>
          <p:nvSpPr>
            <p:cNvPr id="71701" name="Text Box 21"/>
            <p:cNvSpPr txBox="1">
              <a:spLocks noChangeArrowheads="1"/>
            </p:cNvSpPr>
            <p:nvPr/>
          </p:nvSpPr>
          <p:spPr bwMode="auto">
            <a:xfrm>
              <a:off x="2669" y="1855"/>
              <a:ext cx="52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en-US" altLang="zh-CN" sz="1400" dirty="0">
                  <a:latin typeface="Times New Roman" panose="02020603050405020304" pitchFamily="18" charset="0"/>
                  <a:ea typeface="宋体" panose="02010600030101010101" pitchFamily="2" charset="-122"/>
                </a:rPr>
                <a:t>2NF</a:t>
              </a:r>
              <a:endParaRPr lang="en-US" altLang="zh-CN" sz="1400" dirty="0">
                <a:latin typeface="Times New Roman" panose="02020603050405020304" pitchFamily="18" charset="0"/>
                <a:ea typeface="宋体" panose="02010600030101010101" pitchFamily="2" charset="-122"/>
              </a:endParaRPr>
            </a:p>
          </p:txBody>
        </p:sp>
        <p:sp>
          <p:nvSpPr>
            <p:cNvPr id="71702" name="Text Box 22"/>
            <p:cNvSpPr txBox="1">
              <a:spLocks noChangeArrowheads="1"/>
            </p:cNvSpPr>
            <p:nvPr/>
          </p:nvSpPr>
          <p:spPr bwMode="auto">
            <a:xfrm>
              <a:off x="2669" y="2045"/>
              <a:ext cx="52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en-US" altLang="zh-CN" sz="1400">
                  <a:latin typeface="Times New Roman" panose="02020603050405020304" pitchFamily="18" charset="0"/>
                  <a:ea typeface="宋体" panose="02010600030101010101" pitchFamily="2" charset="-122"/>
                </a:rPr>
                <a:t>3NF</a:t>
              </a:r>
              <a:endParaRPr lang="en-US" altLang="zh-CN" sz="1400">
                <a:latin typeface="Times New Roman" panose="02020603050405020304" pitchFamily="18" charset="0"/>
                <a:ea typeface="宋体" panose="02010600030101010101" pitchFamily="2" charset="-122"/>
              </a:endParaRPr>
            </a:p>
          </p:txBody>
        </p:sp>
        <p:sp>
          <p:nvSpPr>
            <p:cNvPr id="71703" name="Text Box 23"/>
            <p:cNvSpPr txBox="1">
              <a:spLocks noChangeArrowheads="1"/>
            </p:cNvSpPr>
            <p:nvPr/>
          </p:nvSpPr>
          <p:spPr bwMode="auto">
            <a:xfrm>
              <a:off x="2669" y="2431"/>
              <a:ext cx="52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en-US" altLang="zh-CN" sz="1400">
                  <a:latin typeface="Times New Roman" panose="02020603050405020304" pitchFamily="18" charset="0"/>
                  <a:ea typeface="宋体" panose="02010600030101010101" pitchFamily="2" charset="-122"/>
                </a:rPr>
                <a:t>4NF</a:t>
              </a:r>
              <a:endParaRPr lang="en-US" altLang="zh-CN" sz="1400">
                <a:latin typeface="Times New Roman" panose="02020603050405020304" pitchFamily="18" charset="0"/>
                <a:ea typeface="宋体" panose="02010600030101010101" pitchFamily="2" charset="-122"/>
              </a:endParaRPr>
            </a:p>
          </p:txBody>
        </p:sp>
        <p:sp>
          <p:nvSpPr>
            <p:cNvPr id="71704" name="Text Box 24"/>
            <p:cNvSpPr txBox="1">
              <a:spLocks noChangeArrowheads="1"/>
            </p:cNvSpPr>
            <p:nvPr/>
          </p:nvSpPr>
          <p:spPr bwMode="auto">
            <a:xfrm>
              <a:off x="2573" y="2239"/>
              <a:ext cx="72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en-US" altLang="zh-CN" sz="1400">
                  <a:latin typeface="Times New Roman" panose="02020603050405020304" pitchFamily="18" charset="0"/>
                  <a:ea typeface="宋体" panose="02010600030101010101" pitchFamily="2" charset="-122"/>
                </a:rPr>
                <a:t>BCNF</a:t>
              </a:r>
              <a:endParaRPr lang="en-US" altLang="zh-CN" sz="1400">
                <a:latin typeface="Times New Roman" panose="02020603050405020304" pitchFamily="18" charset="0"/>
                <a:ea typeface="宋体" panose="02010600030101010101" pitchFamily="2" charset="-122"/>
              </a:endParaRPr>
            </a:p>
          </p:txBody>
        </p:sp>
        <p:sp>
          <p:nvSpPr>
            <p:cNvPr id="71705" name="Text Box 25"/>
            <p:cNvSpPr txBox="1">
              <a:spLocks noChangeArrowheads="1"/>
            </p:cNvSpPr>
            <p:nvPr/>
          </p:nvSpPr>
          <p:spPr bwMode="auto">
            <a:xfrm>
              <a:off x="2669" y="2815"/>
              <a:ext cx="52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50000"/>
                </a:spcBef>
                <a:buClrTx/>
                <a:buSzTx/>
                <a:buFontTx/>
                <a:buNone/>
              </a:pPr>
              <a:r>
                <a:rPr lang="en-US" altLang="zh-CN" sz="1400" dirty="0">
                  <a:latin typeface="Times New Roman" panose="02020603050405020304" pitchFamily="18" charset="0"/>
                  <a:ea typeface="宋体" panose="02010600030101010101" pitchFamily="2" charset="-122"/>
                </a:rPr>
                <a:t>5NF</a:t>
              </a:r>
              <a:endParaRPr lang="en-US" altLang="zh-CN" sz="1400" dirty="0">
                <a:latin typeface="Times New Roman" panose="02020603050405020304" pitchFamily="18" charset="0"/>
                <a:ea typeface="宋体" panose="02010600030101010101" pitchFamily="2" charset="-122"/>
              </a:endParaRPr>
            </a:p>
          </p:txBody>
        </p:sp>
      </p:grpSp>
      <p:sp>
        <p:nvSpPr>
          <p:cNvPr id="27" name="Text Box 3"/>
          <p:cNvSpPr txBox="1">
            <a:spLocks noChangeArrowheads="1"/>
          </p:cNvSpPr>
          <p:nvPr/>
        </p:nvSpPr>
        <p:spPr bwMode="auto">
          <a:xfrm>
            <a:off x="4120739" y="1843007"/>
            <a:ext cx="1008062" cy="338554"/>
          </a:xfrm>
          <a:prstGeom prst="rect">
            <a:avLst/>
          </a:prstGeom>
          <a:noFill/>
          <a:ln w="9525">
            <a:solidFill>
              <a:schemeClr val="hlink"/>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r>
              <a:rPr lang="en-US" altLang="zh-CN" sz="1600">
                <a:ea typeface="黑体" panose="02010609060101010101" pitchFamily="49" charset="-122"/>
              </a:rPr>
              <a:t>1NF</a:t>
            </a:r>
            <a:endParaRPr lang="en-US" altLang="zh-CN" sz="1600">
              <a:ea typeface="黑体" panose="02010609060101010101" pitchFamily="49" charset="-122"/>
            </a:endParaRPr>
          </a:p>
        </p:txBody>
      </p:sp>
      <p:sp>
        <p:nvSpPr>
          <p:cNvPr id="28" name="Text Box 4"/>
          <p:cNvSpPr txBox="1">
            <a:spLocks noChangeArrowheads="1"/>
          </p:cNvSpPr>
          <p:nvPr/>
        </p:nvSpPr>
        <p:spPr bwMode="auto">
          <a:xfrm>
            <a:off x="4105497" y="2651228"/>
            <a:ext cx="1008062" cy="338554"/>
          </a:xfrm>
          <a:prstGeom prst="rect">
            <a:avLst/>
          </a:prstGeom>
          <a:noFill/>
          <a:ln w="9525">
            <a:solidFill>
              <a:schemeClr val="hlink"/>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r>
              <a:rPr lang="en-US" altLang="zh-CN" sz="1600">
                <a:ea typeface="黑体" panose="02010609060101010101" pitchFamily="49" charset="-122"/>
              </a:rPr>
              <a:t>2NF</a:t>
            </a:r>
            <a:endParaRPr lang="en-US" altLang="zh-CN" sz="1600">
              <a:ea typeface="黑体" panose="02010609060101010101" pitchFamily="49" charset="-122"/>
            </a:endParaRPr>
          </a:p>
        </p:txBody>
      </p:sp>
      <p:sp>
        <p:nvSpPr>
          <p:cNvPr id="29" name="Text Box 5"/>
          <p:cNvSpPr txBox="1">
            <a:spLocks noChangeArrowheads="1"/>
          </p:cNvSpPr>
          <p:nvPr/>
        </p:nvSpPr>
        <p:spPr bwMode="auto">
          <a:xfrm>
            <a:off x="4119151" y="3457678"/>
            <a:ext cx="1009650" cy="338554"/>
          </a:xfrm>
          <a:prstGeom prst="rect">
            <a:avLst/>
          </a:prstGeom>
          <a:noFill/>
          <a:ln w="9525">
            <a:solidFill>
              <a:schemeClr val="hlink"/>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r>
              <a:rPr lang="en-US" altLang="zh-CN" sz="1600">
                <a:ea typeface="黑体" panose="02010609060101010101" pitchFamily="49" charset="-122"/>
              </a:rPr>
              <a:t>3NF</a:t>
            </a:r>
            <a:endParaRPr lang="en-US" altLang="zh-CN" sz="1600">
              <a:ea typeface="黑体" panose="02010609060101010101" pitchFamily="49" charset="-122"/>
            </a:endParaRPr>
          </a:p>
        </p:txBody>
      </p:sp>
      <p:sp>
        <p:nvSpPr>
          <p:cNvPr id="30" name="Text Box 6"/>
          <p:cNvSpPr txBox="1">
            <a:spLocks noChangeArrowheads="1"/>
          </p:cNvSpPr>
          <p:nvPr/>
        </p:nvSpPr>
        <p:spPr bwMode="auto">
          <a:xfrm>
            <a:off x="4011995" y="4372495"/>
            <a:ext cx="1223962" cy="338554"/>
          </a:xfrm>
          <a:prstGeom prst="rect">
            <a:avLst/>
          </a:prstGeom>
          <a:noFill/>
          <a:ln w="9525">
            <a:solidFill>
              <a:schemeClr val="hlink"/>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100000"/>
              </a:lnSpc>
              <a:spcBef>
                <a:spcPct val="0"/>
              </a:spcBef>
              <a:buClrTx/>
              <a:buSzTx/>
              <a:buFontTx/>
              <a:buNone/>
            </a:pPr>
            <a:r>
              <a:rPr lang="en-US" altLang="zh-CN" sz="1600" dirty="0">
                <a:ea typeface="黑体" panose="02010609060101010101" pitchFamily="49" charset="-122"/>
              </a:rPr>
              <a:t>BCNF</a:t>
            </a:r>
            <a:endParaRPr lang="en-US" altLang="zh-CN" sz="1600" dirty="0">
              <a:ea typeface="黑体" panose="02010609060101010101" pitchFamily="49" charset="-122"/>
            </a:endParaRPr>
          </a:p>
        </p:txBody>
      </p:sp>
      <p:sp>
        <p:nvSpPr>
          <p:cNvPr id="31" name="Line 7"/>
          <p:cNvSpPr>
            <a:spLocks noChangeShapeType="1"/>
          </p:cNvSpPr>
          <p:nvPr/>
        </p:nvSpPr>
        <p:spPr bwMode="auto">
          <a:xfrm>
            <a:off x="4680172" y="2146403"/>
            <a:ext cx="0" cy="504825"/>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 name="Line 8"/>
          <p:cNvSpPr>
            <a:spLocks noChangeShapeType="1"/>
          </p:cNvSpPr>
          <p:nvPr/>
        </p:nvSpPr>
        <p:spPr bwMode="auto">
          <a:xfrm>
            <a:off x="4679755" y="2989782"/>
            <a:ext cx="0" cy="504825"/>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3" name="Line 9"/>
          <p:cNvSpPr>
            <a:spLocks noChangeShapeType="1"/>
          </p:cNvSpPr>
          <p:nvPr/>
        </p:nvSpPr>
        <p:spPr bwMode="auto">
          <a:xfrm>
            <a:off x="4658474" y="3796232"/>
            <a:ext cx="0" cy="576263"/>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 name="Text Box 10"/>
          <p:cNvSpPr txBox="1">
            <a:spLocks noChangeArrowheads="1"/>
          </p:cNvSpPr>
          <p:nvPr/>
        </p:nvSpPr>
        <p:spPr bwMode="auto">
          <a:xfrm>
            <a:off x="4948459" y="2238478"/>
            <a:ext cx="38026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lang="zh-CN" altLang="en-US" sz="1600" dirty="0">
                <a:ea typeface="黑体" panose="02010609060101010101" pitchFamily="49" charset="-122"/>
              </a:rPr>
              <a:t>消除非主属性对候选码的部分函数依赖 </a:t>
            </a:r>
            <a:endParaRPr lang="zh-CN" altLang="en-US" sz="1600" dirty="0">
              <a:ea typeface="黑体" panose="02010609060101010101" pitchFamily="49" charset="-122"/>
            </a:endParaRPr>
          </a:p>
        </p:txBody>
      </p:sp>
      <p:sp>
        <p:nvSpPr>
          <p:cNvPr id="35" name="Text Box 11"/>
          <p:cNvSpPr txBox="1">
            <a:spLocks noChangeArrowheads="1"/>
          </p:cNvSpPr>
          <p:nvPr/>
        </p:nvSpPr>
        <p:spPr bwMode="auto">
          <a:xfrm>
            <a:off x="4969097" y="3159228"/>
            <a:ext cx="38026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lang="zh-CN" altLang="en-US" sz="1600" dirty="0">
                <a:ea typeface="黑体" panose="02010609060101010101" pitchFamily="49" charset="-122"/>
              </a:rPr>
              <a:t>消除非主属性对候选码的传递函数依赖 </a:t>
            </a:r>
            <a:endParaRPr lang="zh-CN" altLang="en-US" sz="1600" dirty="0">
              <a:ea typeface="黑体" panose="02010609060101010101" pitchFamily="49" charset="-122"/>
            </a:endParaRPr>
          </a:p>
        </p:txBody>
      </p:sp>
      <p:sp>
        <p:nvSpPr>
          <p:cNvPr id="36" name="Text Box 12"/>
          <p:cNvSpPr txBox="1">
            <a:spLocks noChangeArrowheads="1"/>
          </p:cNvSpPr>
          <p:nvPr/>
        </p:nvSpPr>
        <p:spPr bwMode="auto">
          <a:xfrm>
            <a:off x="4948459" y="3976725"/>
            <a:ext cx="35974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6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lnSpc>
                <a:spcPct val="120000"/>
              </a:lnSpc>
              <a:spcBef>
                <a:spcPts val="6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lnSpc>
                <a:spcPct val="120000"/>
              </a:lnSpc>
              <a:spcBef>
                <a:spcPts val="6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lnSpc>
                <a:spcPct val="120000"/>
              </a:lnSpc>
              <a:spcBef>
                <a:spcPts val="600"/>
              </a:spcBef>
              <a:buClr>
                <a:schemeClr val="hlink"/>
              </a:buClr>
              <a:buChar char="–"/>
              <a:defRPr kumimoji="1">
                <a:solidFill>
                  <a:schemeClr val="tx1"/>
                </a:solidFill>
                <a:latin typeface="Helvetica" panose="020B0604020202020204" pitchFamily="34" charset="0"/>
              </a:defRPr>
            </a:lvl4pPr>
            <a:lvl5pPr marL="2057400" indent="-228600">
              <a:lnSpc>
                <a:spcPct val="120000"/>
              </a:lnSpc>
              <a:spcBef>
                <a:spcPts val="6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lnSpc>
                <a:spcPct val="120000"/>
              </a:lnSpc>
              <a:spcBef>
                <a:spcPts val="6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nSpc>
                <a:spcPct val="100000"/>
              </a:lnSpc>
              <a:spcBef>
                <a:spcPct val="0"/>
              </a:spcBef>
              <a:buClrTx/>
              <a:buSzTx/>
              <a:buFontTx/>
              <a:buNone/>
            </a:pPr>
            <a:r>
              <a:rPr lang="zh-CN" altLang="en-US" sz="1600" dirty="0">
                <a:ea typeface="黑体" panose="02010609060101010101" pitchFamily="49" charset="-122"/>
              </a:rPr>
              <a:t>消除主属性对候选码的传递函数依赖 </a:t>
            </a:r>
            <a:endParaRPr lang="zh-CN" altLang="en-US" sz="1600" dirty="0">
              <a:ea typeface="黑体" panose="02010609060101010101" pitchFamily="49"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p:cNvSpPr>
            <a:spLocks noGrp="1" noChangeArrowheads="1"/>
          </p:cNvSpPr>
          <p:nvPr>
            <p:ph type="title"/>
          </p:nvPr>
        </p:nvSpPr>
        <p:spPr/>
        <p:txBody>
          <a:bodyPr/>
          <a:lstStyle/>
          <a:p>
            <a:pPr>
              <a:defRPr/>
            </a:pPr>
            <a:r>
              <a:rPr lang="zh-CN" altLang="en-US">
                <a:ea typeface="宋体" panose="02010600030101010101" pitchFamily="2" charset="-122"/>
              </a:rPr>
              <a:t>一般看法</a:t>
            </a:r>
            <a:endParaRPr lang="zh-CN" altLang="en-US">
              <a:ea typeface="宋体" panose="02010600030101010101" pitchFamily="2" charset="-122"/>
            </a:endParaRPr>
          </a:p>
        </p:txBody>
      </p:sp>
      <p:sp>
        <p:nvSpPr>
          <p:cNvPr id="72707" name="Rectangle 3"/>
          <p:cNvSpPr>
            <a:spLocks noGrp="1" noChangeArrowheads="1"/>
          </p:cNvSpPr>
          <p:nvPr>
            <p:ph type="body" idx="1"/>
          </p:nvPr>
        </p:nvSpPr>
        <p:spPr>
          <a:xfrm>
            <a:off x="457200" y="1412875"/>
            <a:ext cx="8229600" cy="4718050"/>
          </a:xfrm>
        </p:spPr>
        <p:txBody>
          <a:bodyPr/>
          <a:lstStyle/>
          <a:p>
            <a:pPr>
              <a:lnSpc>
                <a:spcPct val="110000"/>
              </a:lnSpc>
              <a:spcBef>
                <a:spcPct val="40000"/>
              </a:spcBef>
            </a:pPr>
            <a:r>
              <a:rPr lang="zh-CN" altLang="en-US">
                <a:ea typeface="宋体" panose="02010600030101010101" pitchFamily="2" charset="-122"/>
              </a:rPr>
              <a:t>分解通常使得对复杂查询的回答的效率更差，因为在查询求值期间必须执行额外的连接。</a:t>
            </a:r>
            <a:endParaRPr lang="zh-CN" altLang="en-US">
              <a:ea typeface="宋体" panose="02010600030101010101" pitchFamily="2" charset="-122"/>
            </a:endParaRPr>
          </a:p>
          <a:p>
            <a:pPr>
              <a:lnSpc>
                <a:spcPct val="110000"/>
              </a:lnSpc>
              <a:spcBef>
                <a:spcPct val="40000"/>
              </a:spcBef>
            </a:pPr>
            <a:r>
              <a:rPr lang="zh-CN" altLang="en-US">
                <a:ea typeface="宋体" panose="02010600030101010101" pitchFamily="2" charset="-122"/>
              </a:rPr>
              <a:t>分解使得对简单查询的回答更有效，因为这种查询通常涉及相同关系的一小部分属性</a:t>
            </a:r>
            <a:endParaRPr lang="zh-CN" altLang="en-US">
              <a:ea typeface="宋体" panose="02010600030101010101" pitchFamily="2" charset="-122"/>
            </a:endParaRPr>
          </a:p>
          <a:p>
            <a:pPr>
              <a:lnSpc>
                <a:spcPct val="110000"/>
              </a:lnSpc>
              <a:spcBef>
                <a:spcPct val="40000"/>
              </a:spcBef>
            </a:pPr>
            <a:r>
              <a:rPr lang="zh-CN" altLang="en-US">
                <a:ea typeface="宋体" panose="02010600030101010101" pitchFamily="2" charset="-122"/>
              </a:rPr>
              <a:t>分解通常使得简单的更新事务更有效</a:t>
            </a:r>
            <a:endParaRPr lang="zh-CN" altLang="en-US">
              <a:ea typeface="宋体" panose="02010600030101010101" pitchFamily="2" charset="-122"/>
            </a:endParaRPr>
          </a:p>
          <a:p>
            <a:pPr>
              <a:lnSpc>
                <a:spcPct val="110000"/>
              </a:lnSpc>
              <a:spcBef>
                <a:spcPct val="40000"/>
              </a:spcBef>
            </a:pPr>
            <a:r>
              <a:rPr lang="zh-CN" altLang="en-US">
                <a:ea typeface="宋体" panose="02010600030101010101" pitchFamily="2" charset="-122"/>
              </a:rPr>
              <a:t>分解能降低存储空间的要求，因为它一般能消除冗余数据</a:t>
            </a:r>
            <a:endParaRPr lang="zh-CN" altLang="en-US">
              <a:ea typeface="宋体" panose="02010600030101010101" pitchFamily="2" charset="-122"/>
            </a:endParaRPr>
          </a:p>
          <a:p>
            <a:pPr>
              <a:lnSpc>
                <a:spcPct val="110000"/>
              </a:lnSpc>
              <a:spcBef>
                <a:spcPct val="40000"/>
              </a:spcBef>
            </a:pPr>
            <a:r>
              <a:rPr lang="zh-CN" altLang="en-US">
                <a:ea typeface="宋体" panose="02010600030101010101" pitchFamily="2" charset="-122"/>
              </a:rPr>
              <a:t>如果冗余级别低，则分解会增加存储的需求</a:t>
            </a:r>
            <a:endParaRPr lang="zh-CN" altLang="en-US">
              <a:ea typeface="宋体" panose="02010600030101010101" pitchFamily="2"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反范式</a:t>
            </a:r>
            <a:r>
              <a:rPr lang="en-US" altLang="zh-CN">
                <a:ea typeface="宋体" panose="02010600030101010101" pitchFamily="2" charset="-122"/>
              </a:rPr>
              <a:t>/</a:t>
            </a:r>
            <a:r>
              <a:rPr lang="zh-CN" altLang="en-US">
                <a:ea typeface="宋体" panose="02010600030101010101" pitchFamily="2" charset="-122"/>
              </a:rPr>
              <a:t>规范化设计</a:t>
            </a:r>
            <a:endParaRPr lang="zh-CN" altLang="en-US">
              <a:ea typeface="宋体" panose="02010600030101010101" pitchFamily="2" charset="-122"/>
            </a:endParaRPr>
          </a:p>
        </p:txBody>
      </p:sp>
      <p:sp>
        <p:nvSpPr>
          <p:cNvPr id="73731" name="内容占位符 2"/>
          <p:cNvSpPr>
            <a:spLocks noGrp="1"/>
          </p:cNvSpPr>
          <p:nvPr>
            <p:ph idx="1"/>
          </p:nvPr>
        </p:nvSpPr>
        <p:spPr/>
        <p:txBody>
          <a:bodyPr/>
          <a:lstStyle/>
          <a:p>
            <a:r>
              <a:rPr lang="zh-CN" altLang="en-US">
                <a:ea typeface="宋体" panose="02010600030101010101" pitchFamily="2" charset="-122"/>
              </a:rPr>
              <a:t>通过规范化可以分解得到一些结构简单的表，但是在查询时可能需要连接多个表，这造成了大量的数据库逻辑运算，从而降低了查询效率</a:t>
            </a:r>
            <a:endParaRPr lang="en-US" altLang="zh-CN">
              <a:ea typeface="宋体" panose="02010600030101010101" pitchFamily="2" charset="-122"/>
            </a:endParaRPr>
          </a:p>
          <a:p>
            <a:r>
              <a:rPr lang="zh-CN" altLang="en-US">
                <a:ea typeface="宋体" panose="02010600030101010101" pitchFamily="2" charset="-122"/>
              </a:rPr>
              <a:t>在具体环境下，为了提高查询效率，可以在特定的表中引入一些额外的属性</a:t>
            </a:r>
            <a:endParaRPr lang="en-US" altLang="zh-CN">
              <a:ea typeface="宋体" panose="02010600030101010101" pitchFamily="2" charset="-122"/>
            </a:endParaRPr>
          </a:p>
          <a:p>
            <a:r>
              <a:rPr lang="zh-CN" altLang="en-US">
                <a:ea typeface="宋体" panose="02010600030101010101" pitchFamily="2" charset="-122"/>
              </a:rPr>
              <a:t>数据库设计运行存在合理冗余</a:t>
            </a:r>
            <a:endParaRPr lang="en-US" altLang="zh-CN">
              <a:ea typeface="宋体" panose="02010600030101010101" pitchFamily="2" charset="-122"/>
            </a:endParaRPr>
          </a:p>
          <a:p>
            <a:r>
              <a:rPr lang="zh-CN" altLang="en-US">
                <a:ea typeface="宋体" panose="02010600030101010101" pitchFamily="2" charset="-122"/>
              </a:rPr>
              <a:t>规范化和反规范化是相互矛盾的，在具体应用环境中，需要数据库设计者仔细分析和平衡</a:t>
            </a:r>
            <a:endParaRPr lang="en-US" altLang="zh-CN">
              <a:ea typeface="宋体" panose="02010600030101010101" pitchFamily="2"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反范式</a:t>
            </a:r>
            <a:r>
              <a:rPr lang="en-US" altLang="zh-CN">
                <a:ea typeface="宋体" panose="02010600030101010101" pitchFamily="2" charset="-122"/>
              </a:rPr>
              <a:t>/</a:t>
            </a:r>
            <a:r>
              <a:rPr lang="zh-CN" altLang="en-US">
                <a:ea typeface="宋体" panose="02010600030101010101" pitchFamily="2" charset="-122"/>
              </a:rPr>
              <a:t>规范化设计</a:t>
            </a:r>
            <a:endParaRPr lang="zh-CN" altLang="en-US">
              <a:ea typeface="宋体" panose="02010600030101010101" pitchFamily="2" charset="-122"/>
            </a:endParaRPr>
          </a:p>
        </p:txBody>
      </p:sp>
      <p:pic>
        <p:nvPicPr>
          <p:cNvPr id="7475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895350"/>
            <a:ext cx="8601075" cy="5381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反范式</a:t>
            </a:r>
            <a:r>
              <a:rPr lang="en-US" altLang="zh-CN">
                <a:ea typeface="宋体" panose="02010600030101010101" pitchFamily="2" charset="-122"/>
              </a:rPr>
              <a:t>/</a:t>
            </a:r>
            <a:r>
              <a:rPr lang="zh-CN" altLang="en-US">
                <a:ea typeface="宋体" panose="02010600030101010101" pitchFamily="2" charset="-122"/>
              </a:rPr>
              <a:t>规范化设计</a:t>
            </a:r>
            <a:endParaRPr lang="zh-CN" altLang="en-US">
              <a:ea typeface="宋体" panose="02010600030101010101" pitchFamily="2" charset="-122"/>
            </a:endParaRPr>
          </a:p>
        </p:txBody>
      </p:sp>
      <p:pic>
        <p:nvPicPr>
          <p:cNvPr id="7577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081088"/>
            <a:ext cx="9020175" cy="4367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a typeface="宋体" panose="02010600030101010101" pitchFamily="2" charset="-122"/>
              </a:rPr>
              <a:t>反范式</a:t>
            </a:r>
            <a:r>
              <a:rPr lang="en-US" altLang="zh-CN">
                <a:ea typeface="宋体" panose="02010600030101010101" pitchFamily="2" charset="-122"/>
              </a:rPr>
              <a:t>/</a:t>
            </a:r>
            <a:r>
              <a:rPr lang="zh-CN" altLang="en-US">
                <a:ea typeface="宋体" panose="02010600030101010101" pitchFamily="2" charset="-122"/>
              </a:rPr>
              <a:t>规范化设计</a:t>
            </a:r>
            <a:endParaRPr lang="zh-CN" altLang="en-US">
              <a:ea typeface="宋体" panose="02010600030101010101" pitchFamily="2" charset="-122"/>
            </a:endParaRPr>
          </a:p>
        </p:txBody>
      </p:sp>
      <p:pic>
        <p:nvPicPr>
          <p:cNvPr id="7680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2575" y="1290638"/>
            <a:ext cx="8861425" cy="3814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650" y="476250"/>
            <a:ext cx="7561263" cy="563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4" name="Rectangle 2"/>
          <p:cNvSpPr>
            <a:spLocks noGrp="1" noChangeArrowheads="1"/>
          </p:cNvSpPr>
          <p:nvPr>
            <p:ph type="title"/>
          </p:nvPr>
        </p:nvSpPr>
        <p:spPr/>
        <p:txBody>
          <a:bodyPr/>
          <a:lstStyle/>
          <a:p>
            <a:pPr>
              <a:defRPr/>
            </a:pPr>
            <a:r>
              <a:rPr lang="en-US" altLang="zh-CN"/>
              <a:t>Assignment</a:t>
            </a:r>
            <a:endParaRPr lang="en-US" altLang="zh-CN"/>
          </a:p>
        </p:txBody>
      </p:sp>
      <p:sp>
        <p:nvSpPr>
          <p:cNvPr id="78851" name="Rectangle 3"/>
          <p:cNvSpPr>
            <a:spLocks noGrp="1" noChangeArrowheads="1"/>
          </p:cNvSpPr>
          <p:nvPr>
            <p:ph type="body" idx="1"/>
          </p:nvPr>
        </p:nvSpPr>
        <p:spPr>
          <a:xfrm>
            <a:off x="228600" y="1620023"/>
            <a:ext cx="8610600" cy="4704577"/>
          </a:xfrm>
        </p:spPr>
        <p:txBody>
          <a:bodyPr>
            <a:normAutofit/>
          </a:bodyPr>
          <a:lstStyle/>
          <a:p>
            <a:pPr marL="0" indent="0">
              <a:buNone/>
            </a:pPr>
            <a:r>
              <a:rPr lang="en-US" altLang="zh-CN" sz="2400" dirty="0">
                <a:ea typeface="宋体" panose="02010600030101010101" pitchFamily="2" charset="-122"/>
              </a:rPr>
              <a:t>2</a:t>
            </a:r>
            <a:r>
              <a:rPr lang="zh-CN" altLang="en-US" sz="2400" dirty="0">
                <a:ea typeface="宋体" panose="02010600030101010101" pitchFamily="2" charset="-122"/>
              </a:rPr>
              <a:t>、</a:t>
            </a:r>
            <a:r>
              <a:rPr lang="en-US" altLang="zh-CN" sz="2400" dirty="0">
                <a:ea typeface="宋体" panose="02010600030101010101" pitchFamily="2" charset="-122"/>
              </a:rPr>
              <a:t>Consider a relation schema R(A,B,C,D,E) and its functional dependencies, F={ A</a:t>
            </a:r>
            <a:r>
              <a:rPr lang="en-US" altLang="zh-CN" sz="2400" dirty="0">
                <a:ea typeface="宋体" panose="02010600030101010101" pitchFamily="2" charset="-122"/>
                <a:sym typeface="Symbol" panose="05050102010706020507" pitchFamily="18" charset="2"/>
              </a:rPr>
              <a:t></a:t>
            </a:r>
            <a:r>
              <a:rPr lang="en-US" altLang="zh-CN" sz="2400" dirty="0">
                <a:ea typeface="宋体" panose="02010600030101010101" pitchFamily="2" charset="-122"/>
              </a:rPr>
              <a:t>C, C</a:t>
            </a:r>
            <a:r>
              <a:rPr lang="en-US" altLang="zh-CN" sz="2400" dirty="0">
                <a:ea typeface="宋体" panose="02010600030101010101" pitchFamily="2" charset="-122"/>
                <a:sym typeface="Symbol" panose="05050102010706020507" pitchFamily="18" charset="2"/>
              </a:rPr>
              <a:t></a:t>
            </a:r>
            <a:r>
              <a:rPr lang="en-US" altLang="zh-CN" sz="2400" dirty="0">
                <a:ea typeface="宋体" panose="02010600030101010101" pitchFamily="2" charset="-122"/>
              </a:rPr>
              <a:t>A,B</a:t>
            </a:r>
            <a:r>
              <a:rPr lang="en-US" altLang="zh-CN" sz="2400" dirty="0">
                <a:ea typeface="宋体" panose="02010600030101010101" pitchFamily="2" charset="-122"/>
                <a:sym typeface="Symbol" panose="05050102010706020507" pitchFamily="18" charset="2"/>
              </a:rPr>
              <a:t></a:t>
            </a:r>
            <a:r>
              <a:rPr lang="en-US" altLang="zh-CN" sz="2400" dirty="0">
                <a:ea typeface="宋体" panose="02010600030101010101" pitchFamily="2" charset="-122"/>
              </a:rPr>
              <a:t>AC, D</a:t>
            </a:r>
            <a:r>
              <a:rPr lang="en-US" altLang="zh-CN" sz="2400" dirty="0">
                <a:ea typeface="宋体" panose="02010600030101010101" pitchFamily="2" charset="-122"/>
                <a:sym typeface="Symbol" panose="05050102010706020507" pitchFamily="18" charset="2"/>
              </a:rPr>
              <a:t></a:t>
            </a:r>
            <a:r>
              <a:rPr lang="en-US" altLang="zh-CN" sz="2400" dirty="0">
                <a:ea typeface="宋体" panose="02010600030101010101" pitchFamily="2" charset="-122"/>
              </a:rPr>
              <a:t>AC }, complete the following questions:</a:t>
            </a:r>
            <a:endParaRPr lang="zh-CN" altLang="zh-CN" sz="2400" dirty="0">
              <a:ea typeface="宋体" panose="02010600030101010101" pitchFamily="2" charset="-122"/>
            </a:endParaRPr>
          </a:p>
          <a:p>
            <a:pPr marL="514350" indent="-514350">
              <a:buFont typeface="+mj-lt"/>
              <a:buAutoNum type="alphaLcParenR"/>
            </a:pPr>
            <a:r>
              <a:rPr lang="en-US" altLang="zh-CN" sz="2400" dirty="0">
                <a:ea typeface="宋体" panose="02010600030101010101" pitchFamily="2" charset="-122"/>
              </a:rPr>
              <a:t>Compute (AD)</a:t>
            </a:r>
            <a:r>
              <a:rPr lang="en-US" altLang="zh-CN" sz="2400" baseline="30000" dirty="0">
                <a:ea typeface="宋体" panose="02010600030101010101" pitchFamily="2" charset="-122"/>
              </a:rPr>
              <a:t>+</a:t>
            </a:r>
            <a:endParaRPr lang="zh-CN" altLang="zh-CN" sz="2400" dirty="0">
              <a:ea typeface="宋体" panose="02010600030101010101" pitchFamily="2" charset="-122"/>
            </a:endParaRPr>
          </a:p>
          <a:p>
            <a:pPr marL="514350" indent="-514350">
              <a:buFont typeface="+mj-lt"/>
              <a:buAutoNum type="alphaLcParenR"/>
            </a:pPr>
            <a:r>
              <a:rPr lang="en-US" altLang="zh-CN" sz="2400" dirty="0">
                <a:ea typeface="宋体" panose="02010600030101010101" pitchFamily="2" charset="-122"/>
              </a:rPr>
              <a:t>Compute the candidate keys for R.</a:t>
            </a:r>
            <a:endParaRPr lang="zh-CN" altLang="zh-CN" sz="2400" dirty="0">
              <a:ea typeface="宋体" panose="02010600030101010101" pitchFamily="2" charset="-122"/>
            </a:endParaRPr>
          </a:p>
          <a:p>
            <a:pPr marL="514350" indent="-514350">
              <a:buFont typeface="+mj-lt"/>
              <a:buAutoNum type="alphaLcParenR"/>
            </a:pPr>
            <a:r>
              <a:rPr lang="en-US" altLang="zh-CN" sz="2400" dirty="0">
                <a:ea typeface="宋体" panose="02010600030101010101" pitchFamily="2" charset="-122"/>
              </a:rPr>
              <a:t>Compute the canonical cover </a:t>
            </a:r>
            <a:r>
              <a:rPr lang="en-US" altLang="zh-CN" sz="2400" i="1" dirty="0">
                <a:ea typeface="宋体" panose="02010600030101010101" pitchFamily="2" charset="-122"/>
              </a:rPr>
              <a:t>Fc</a:t>
            </a:r>
            <a:r>
              <a:rPr lang="en-US" altLang="zh-CN" sz="2400" dirty="0">
                <a:ea typeface="宋体" panose="02010600030101010101" pitchFamily="2" charset="-122"/>
              </a:rPr>
              <a:t>.</a:t>
            </a:r>
            <a:endParaRPr lang="zh-CN" altLang="zh-CN" sz="2400" dirty="0">
              <a:ea typeface="宋体" panose="02010600030101010101" pitchFamily="2" charset="-122"/>
            </a:endParaRPr>
          </a:p>
          <a:p>
            <a:pPr marL="514350" indent="-514350">
              <a:buFont typeface="+mj-lt"/>
              <a:buAutoNum type="alphaLcParenR"/>
            </a:pPr>
            <a:r>
              <a:rPr lang="en-US" altLang="zh-CN" sz="2400" dirty="0">
                <a:ea typeface="宋体" panose="02010600030101010101" pitchFamily="2" charset="-122"/>
              </a:rPr>
              <a:t>Is R in 3NF? If it is, justify your answer. If not, produce a decomposition of R into 3NF.(Ref. Figure 8.12)</a:t>
            </a:r>
            <a:endParaRPr lang="en-US" altLang="zh-CN" sz="2400" dirty="0">
              <a:ea typeface="宋体" panose="02010600030101010101" pitchFamily="2" charset="-122"/>
            </a:endParaRPr>
          </a:p>
        </p:txBody>
      </p:sp>
      <p:sp>
        <p:nvSpPr>
          <p:cNvPr id="2" name="矩形 1"/>
          <p:cNvSpPr/>
          <p:nvPr/>
        </p:nvSpPr>
        <p:spPr>
          <a:xfrm>
            <a:off x="228600" y="911939"/>
            <a:ext cx="1744388" cy="523220"/>
          </a:xfrm>
          <a:prstGeom prst="rect">
            <a:avLst/>
          </a:prstGeom>
        </p:spPr>
        <p:txBody>
          <a:bodyPr wrap="none">
            <a:spAutoFit/>
          </a:bodyPr>
          <a:lstStyle/>
          <a:p>
            <a:r>
              <a:rPr lang="en-US" altLang="zh-CN" sz="2800" dirty="0"/>
              <a:t>1</a:t>
            </a:r>
            <a:r>
              <a:rPr lang="zh-CN" altLang="en-US" sz="2800" dirty="0"/>
              <a:t>、</a:t>
            </a:r>
            <a:r>
              <a:rPr lang="en-US" altLang="zh-CN" sz="2800" dirty="0"/>
              <a:t>8.29 d</a:t>
            </a:r>
            <a:endParaRPr lang="zh-CN" altLang="en-US" sz="2800" dirty="0"/>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内容占位符 2"/>
          <p:cNvSpPr>
            <a:spLocks noGrp="1"/>
          </p:cNvSpPr>
          <p:nvPr>
            <p:ph idx="1"/>
          </p:nvPr>
        </p:nvSpPr>
        <p:spPr>
          <a:xfrm>
            <a:off x="228600" y="168275"/>
            <a:ext cx="8610600" cy="6156325"/>
          </a:xfrm>
        </p:spPr>
        <p:txBody>
          <a:bodyPr>
            <a:normAutofit/>
          </a:bodyPr>
          <a:lstStyle/>
          <a:p>
            <a:pPr>
              <a:lnSpc>
                <a:spcPct val="110000"/>
              </a:lnSpc>
            </a:pPr>
            <a:r>
              <a:rPr lang="en-US" altLang="zh-CN" dirty="0">
                <a:ea typeface="宋体" panose="02010600030101010101" pitchFamily="2" charset="-122"/>
              </a:rPr>
              <a:t>3. Suppose that we have a schema </a:t>
            </a:r>
            <a:r>
              <a:rPr lang="en-US" altLang="zh-CN" b="1" i="1" dirty="0">
                <a:ea typeface="宋体" panose="02010600030101010101" pitchFamily="2" charset="-122"/>
              </a:rPr>
              <a:t>R(A, B, C, D, E)</a:t>
            </a:r>
            <a:r>
              <a:rPr lang="en-US" altLang="zh-CN" dirty="0">
                <a:ea typeface="宋体" panose="02010600030101010101" pitchFamily="2" charset="-122"/>
              </a:rPr>
              <a:t>. You are given the following dependencies:</a:t>
            </a:r>
            <a:endParaRPr lang="zh-CN" altLang="zh-CN" dirty="0">
              <a:ea typeface="宋体" panose="02010600030101010101" pitchFamily="2" charset="-122"/>
            </a:endParaRPr>
          </a:p>
          <a:p>
            <a:pPr algn="ctr">
              <a:lnSpc>
                <a:spcPct val="110000"/>
              </a:lnSpc>
              <a:buFont typeface="Monotype Sorts" pitchFamily="2" charset="2"/>
              <a:buNone/>
            </a:pPr>
            <a:r>
              <a:rPr lang="en-US" altLang="zh-CN" dirty="0">
                <a:ea typeface="宋体" panose="02010600030101010101" pitchFamily="2" charset="-122"/>
              </a:rPr>
              <a:t>A </a:t>
            </a:r>
            <a:r>
              <a:rPr lang="zh-CN" altLang="zh-CN" dirty="0">
                <a:ea typeface="宋体" panose="02010600030101010101" pitchFamily="2" charset="-122"/>
              </a:rPr>
              <a:t>→ </a:t>
            </a:r>
            <a:r>
              <a:rPr lang="en-US" altLang="zh-CN" dirty="0">
                <a:ea typeface="宋体" panose="02010600030101010101" pitchFamily="2" charset="-122"/>
              </a:rPr>
              <a:t>B</a:t>
            </a:r>
            <a:endParaRPr lang="zh-CN" altLang="zh-CN" dirty="0">
              <a:ea typeface="宋体" panose="02010600030101010101" pitchFamily="2" charset="-122"/>
            </a:endParaRPr>
          </a:p>
          <a:p>
            <a:pPr algn="ctr">
              <a:lnSpc>
                <a:spcPct val="110000"/>
              </a:lnSpc>
              <a:buFont typeface="Monotype Sorts" pitchFamily="2" charset="2"/>
              <a:buNone/>
            </a:pPr>
            <a:r>
              <a:rPr lang="en-US" altLang="zh-CN" dirty="0">
                <a:ea typeface="宋体" panose="02010600030101010101" pitchFamily="2" charset="-122"/>
              </a:rPr>
              <a:t>BC </a:t>
            </a:r>
            <a:r>
              <a:rPr lang="zh-CN" altLang="zh-CN" dirty="0">
                <a:ea typeface="宋体" panose="02010600030101010101" pitchFamily="2" charset="-122"/>
              </a:rPr>
              <a:t>→ </a:t>
            </a:r>
            <a:r>
              <a:rPr lang="en-US" altLang="zh-CN" dirty="0">
                <a:ea typeface="宋体" panose="02010600030101010101" pitchFamily="2" charset="-122"/>
              </a:rPr>
              <a:t>E</a:t>
            </a:r>
            <a:endParaRPr lang="zh-CN" altLang="zh-CN" dirty="0">
              <a:ea typeface="宋体" panose="02010600030101010101" pitchFamily="2" charset="-122"/>
            </a:endParaRPr>
          </a:p>
          <a:p>
            <a:pPr algn="ctr">
              <a:lnSpc>
                <a:spcPct val="110000"/>
              </a:lnSpc>
              <a:buFont typeface="Monotype Sorts" pitchFamily="2" charset="2"/>
              <a:buNone/>
            </a:pPr>
            <a:r>
              <a:rPr lang="en-US" altLang="zh-CN" dirty="0">
                <a:ea typeface="宋体" panose="02010600030101010101" pitchFamily="2" charset="-122"/>
              </a:rPr>
              <a:t>ED </a:t>
            </a:r>
            <a:r>
              <a:rPr lang="zh-CN" altLang="zh-CN" dirty="0">
                <a:ea typeface="宋体" panose="02010600030101010101" pitchFamily="2" charset="-122"/>
              </a:rPr>
              <a:t>→ </a:t>
            </a:r>
            <a:r>
              <a:rPr lang="en-US" altLang="zh-CN" dirty="0">
                <a:ea typeface="宋体" panose="02010600030101010101" pitchFamily="2" charset="-122"/>
              </a:rPr>
              <a:t>A</a:t>
            </a:r>
            <a:endParaRPr lang="zh-CN" altLang="zh-CN" dirty="0">
              <a:ea typeface="宋体" panose="02010600030101010101" pitchFamily="2" charset="-122"/>
            </a:endParaRPr>
          </a:p>
          <a:p>
            <a:pPr marL="514350" indent="-514350">
              <a:lnSpc>
                <a:spcPct val="110000"/>
              </a:lnSpc>
              <a:buFont typeface="+mj-lt"/>
              <a:buAutoNum type="alphaLcParenR"/>
            </a:pPr>
            <a:r>
              <a:rPr lang="en-US" altLang="zh-CN" dirty="0">
                <a:ea typeface="宋体" panose="02010600030101010101" pitchFamily="2" charset="-122"/>
              </a:rPr>
              <a:t>List all candidate keys for R.</a:t>
            </a:r>
            <a:endParaRPr lang="zh-CN" altLang="zh-CN" dirty="0">
              <a:ea typeface="宋体" panose="02010600030101010101" pitchFamily="2" charset="-122"/>
            </a:endParaRPr>
          </a:p>
          <a:p>
            <a:pPr marL="514350" indent="-514350">
              <a:lnSpc>
                <a:spcPct val="110000"/>
              </a:lnSpc>
              <a:buFont typeface="+mj-lt"/>
              <a:buAutoNum type="alphaLcParenR"/>
            </a:pPr>
            <a:r>
              <a:rPr lang="en-US" altLang="zh-CN" dirty="0">
                <a:ea typeface="宋体" panose="02010600030101010101" pitchFamily="2" charset="-122"/>
              </a:rPr>
              <a:t>Is </a:t>
            </a:r>
            <a:r>
              <a:rPr lang="en-US" altLang="zh-CN" i="1" dirty="0">
                <a:ea typeface="宋体" panose="02010600030101010101" pitchFamily="2" charset="-122"/>
              </a:rPr>
              <a:t>R</a:t>
            </a:r>
            <a:r>
              <a:rPr lang="en-US" altLang="zh-CN" dirty="0">
                <a:ea typeface="宋体" panose="02010600030101010101" pitchFamily="2" charset="-122"/>
              </a:rPr>
              <a:t> in 3NF? If it is, justify your answer. If not, produce a decomposition of </a:t>
            </a:r>
            <a:r>
              <a:rPr lang="en-US" altLang="zh-CN" i="1" dirty="0">
                <a:ea typeface="宋体" panose="02010600030101010101" pitchFamily="2" charset="-122"/>
              </a:rPr>
              <a:t>R</a:t>
            </a:r>
            <a:r>
              <a:rPr lang="en-US" altLang="zh-CN" dirty="0">
                <a:ea typeface="宋体" panose="02010600030101010101" pitchFamily="2" charset="-122"/>
              </a:rPr>
              <a:t> into 3NF. (Ref. Figure 8.12)</a:t>
            </a:r>
            <a:endParaRPr lang="zh-CN" altLang="zh-CN" dirty="0">
              <a:ea typeface="宋体" panose="02010600030101010101" pitchFamily="2" charset="-122"/>
            </a:endParaRPr>
          </a:p>
          <a:p>
            <a:pPr marL="0" indent="0">
              <a:lnSpc>
                <a:spcPct val="110000"/>
              </a:lnSpc>
              <a:buNone/>
            </a:pPr>
            <a:r>
              <a:rPr lang="en-US" altLang="zh-CN" dirty="0">
                <a:ea typeface="宋体" panose="02010600030101010101" pitchFamily="2" charset="-122"/>
              </a:rPr>
              <a:t>4. Which normal form do the schemas you obtained in Chapter 7 Exercise belong to? Is it possible to transform them into 3NF? </a:t>
            </a:r>
            <a:r>
              <a:rPr lang="en-US" altLang="zh-CN">
                <a:ea typeface="宋体" panose="02010600030101010101" pitchFamily="2" charset="-122"/>
              </a:rPr>
              <a:t>And how</a:t>
            </a:r>
            <a:r>
              <a:rPr lang="en-US" altLang="zh-CN" dirty="0">
                <a:ea typeface="宋体" panose="02010600030101010101" pitchFamily="2" charset="-122"/>
              </a:rPr>
              <a:t>?</a:t>
            </a:r>
            <a:endParaRPr lang="zh-CN" altLang="en-US" dirty="0">
              <a:ea typeface="宋体" panose="02010600030101010101" pitchFamily="2"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ctrTitle"/>
          </p:nvPr>
        </p:nvSpPr>
        <p:spPr/>
        <p:txBody>
          <a:bodyPr/>
          <a:lstStyle/>
          <a:p>
            <a:pPr>
              <a:defRPr/>
            </a:pPr>
            <a:r>
              <a:rPr lang="en-US" altLang="zh-CN" dirty="0">
                <a:ea typeface="宋体" panose="02010600030101010101" pitchFamily="2" charset="-122"/>
              </a:rPr>
              <a:t>End of Chapter 8(2)</a:t>
            </a:r>
            <a:endParaRPr lang="en-US" altLang="zh-CN" dirty="0">
              <a:ea typeface="宋体" panose="02010600030101010101" pitchFamily="2" charset="-122"/>
            </a:endParaRPr>
          </a:p>
        </p:txBody>
      </p:sp>
    </p:spTree>
  </p:cSld>
  <p:clrMapOvr>
    <a:masterClrMapping/>
  </p:clrMapOvr>
  <p:transition/>
</p:sld>
</file>

<file path=ppt/theme/theme1.xml><?xml version="1.0" encoding="utf-8"?>
<a:theme xmlns:a="http://schemas.openxmlformats.org/drawingml/2006/main" name="1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smtClean="0">
            <a:ln>
              <a:noFill/>
            </a:ln>
            <a:solidFill>
              <a:schemeClr val="tx1"/>
            </a:solidFill>
            <a:effectLst/>
            <a:latin typeface="Helvetica"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smtClean="0">
            <a:ln>
              <a:noFill/>
            </a:ln>
            <a:solidFill>
              <a:schemeClr val="tx1"/>
            </a:solidFill>
            <a:effectLst/>
            <a:latin typeface="Helvetica" panose="020B0604020202020204" pitchFamily="34" charset="0"/>
          </a:defRPr>
        </a:defPPr>
      </a:lstStyle>
    </a:lnDef>
  </a:objectDefaults>
  <a:extraClrSchemeLst>
    <a:extraClrScheme>
      <a:clrScheme name="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smtClean="0">
            <a:ln>
              <a:noFill/>
            </a:ln>
            <a:solidFill>
              <a:schemeClr val="tx1"/>
            </a:solidFill>
            <a:effectLst/>
            <a:latin typeface="Helvetica"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smtClean="0">
            <a:ln>
              <a:noFill/>
            </a:ln>
            <a:solidFill>
              <a:schemeClr val="tx1"/>
            </a:solidFill>
            <a:effectLst/>
            <a:latin typeface="Helvetica"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C:\Documents and Settings\mt\Application Data\Microsoft\Templates\db-5-grey.pot</Template>
  <TotalTime>0</TotalTime>
  <Words>11126</Words>
  <Application>WPS 演示</Application>
  <PresentationFormat>全屏显示(4:3)</PresentationFormat>
  <Paragraphs>1607</Paragraphs>
  <Slides>71</Slides>
  <Notes>1</Notes>
  <HiddenSlides>0</HiddenSlides>
  <MMClips>0</MMClips>
  <ScaleCrop>false</ScaleCrop>
  <HeadingPairs>
    <vt:vector size="8" baseType="variant">
      <vt:variant>
        <vt:lpstr>已用的字体</vt:lpstr>
      </vt:variant>
      <vt:variant>
        <vt:i4>24</vt:i4>
      </vt:variant>
      <vt:variant>
        <vt:lpstr>主题</vt:lpstr>
      </vt:variant>
      <vt:variant>
        <vt:i4>2</vt:i4>
      </vt:variant>
      <vt:variant>
        <vt:lpstr>嵌入 OLE 服务器</vt:lpstr>
      </vt:variant>
      <vt:variant>
        <vt:i4>7</vt:i4>
      </vt:variant>
      <vt:variant>
        <vt:lpstr>幻灯片标题</vt:lpstr>
      </vt:variant>
      <vt:variant>
        <vt:i4>71</vt:i4>
      </vt:variant>
    </vt:vector>
  </HeadingPairs>
  <TitlesOfParts>
    <vt:vector size="104" baseType="lpstr">
      <vt:lpstr>Arial</vt:lpstr>
      <vt:lpstr>宋体</vt:lpstr>
      <vt:lpstr>Wingdings</vt:lpstr>
      <vt:lpstr>Helvetica</vt:lpstr>
      <vt:lpstr>Monotype Sorts</vt:lpstr>
      <vt:lpstr>Wingdings</vt:lpstr>
      <vt:lpstr>Webdings</vt:lpstr>
      <vt:lpstr>Times New Roman</vt:lpstr>
      <vt:lpstr>Garamond</vt:lpstr>
      <vt:lpstr>ZWSimpleStroke</vt:lpstr>
      <vt:lpstr>Tahoma</vt:lpstr>
      <vt:lpstr>楷体_GB2312</vt:lpstr>
      <vt:lpstr>新宋体</vt:lpstr>
      <vt:lpstr>黑体</vt:lpstr>
      <vt:lpstr>Symbol</vt:lpstr>
      <vt:lpstr>微软雅黑</vt:lpstr>
      <vt:lpstr>Arial Unicode MS</vt:lpstr>
      <vt:lpstr>Microsoft Yi Baiti</vt:lpstr>
      <vt:lpstr>quote-cjk-patch</vt:lpstr>
      <vt:lpstr>华文新魏</vt:lpstr>
      <vt:lpstr>Cambria Math</vt:lpstr>
      <vt:lpstr>隶书</vt:lpstr>
      <vt:lpstr>Menlo</vt:lpstr>
      <vt:lpstr>Ebrima</vt:lpstr>
      <vt:lpstr>1_db-5-grey</vt:lpstr>
      <vt:lpstr>Blends</vt:lpstr>
      <vt:lpstr>Equation.3</vt:lpstr>
      <vt:lpstr>Equation.3</vt:lpstr>
      <vt:lpstr>Equation.3</vt:lpstr>
      <vt:lpstr>Equation.3</vt:lpstr>
      <vt:lpstr>Equation.3</vt:lpstr>
      <vt:lpstr>Equation.3</vt:lpstr>
      <vt:lpstr>Equation.3</vt:lpstr>
      <vt:lpstr>Chapter 8: Relational Database Design (2)</vt:lpstr>
      <vt:lpstr>PowerPoint 演示文稿</vt:lpstr>
      <vt:lpstr>关系模式的分解和问题</vt:lpstr>
      <vt:lpstr>模式的分解</vt:lpstr>
      <vt:lpstr>模式的分解</vt:lpstr>
      <vt:lpstr>模式的分解</vt:lpstr>
      <vt:lpstr>分解后的关系为：</vt:lpstr>
      <vt:lpstr>模式的分解</vt:lpstr>
      <vt:lpstr>模式的分解</vt:lpstr>
      <vt:lpstr>模式的分解</vt:lpstr>
      <vt:lpstr>关系模式分解的标准</vt:lpstr>
      <vt:lpstr>具有无损连接性的模式分解</vt:lpstr>
      <vt:lpstr>模式分解中存在的问题</vt:lpstr>
      <vt:lpstr>定理</vt:lpstr>
      <vt:lpstr>举例：</vt:lpstr>
      <vt:lpstr>保持函数依赖的分解</vt:lpstr>
      <vt:lpstr>保持函数依赖的模式分解</vt:lpstr>
      <vt:lpstr>保持函数依赖的分解</vt:lpstr>
      <vt:lpstr>保持函数依赖的分解</vt:lpstr>
      <vt:lpstr>模式的分解</vt:lpstr>
      <vt:lpstr>保持函数依赖的分解</vt:lpstr>
      <vt:lpstr>练习</vt:lpstr>
      <vt:lpstr>1、试求F在的每个模式上的投影？ 2、保持函数依赖吗？为什么？</vt:lpstr>
      <vt:lpstr>PowerPoint 演示文稿</vt:lpstr>
      <vt:lpstr>范式</vt:lpstr>
      <vt:lpstr>范式的作用</vt:lpstr>
      <vt:lpstr>主属性与非主属性</vt:lpstr>
      <vt:lpstr>1NF</vt:lpstr>
      <vt:lpstr>1NF</vt:lpstr>
      <vt:lpstr>1NF</vt:lpstr>
      <vt:lpstr>1NF</vt:lpstr>
      <vt:lpstr>2NF</vt:lpstr>
      <vt:lpstr>2NF</vt:lpstr>
      <vt:lpstr>2NF</vt:lpstr>
      <vt:lpstr>2NF</vt:lpstr>
      <vt:lpstr>分解说明</vt:lpstr>
      <vt:lpstr>习题</vt:lpstr>
      <vt:lpstr>习题</vt:lpstr>
      <vt:lpstr>习题</vt:lpstr>
      <vt:lpstr>3NF</vt:lpstr>
      <vt:lpstr>3NF</vt:lpstr>
      <vt:lpstr>3NF</vt:lpstr>
      <vt:lpstr>3NF</vt:lpstr>
      <vt:lpstr>分解说明</vt:lpstr>
      <vt:lpstr>习题</vt:lpstr>
      <vt:lpstr>习题</vt:lpstr>
      <vt:lpstr>习题</vt:lpstr>
      <vt:lpstr>习题</vt:lpstr>
      <vt:lpstr>BCNF</vt:lpstr>
      <vt:lpstr>BCNF</vt:lpstr>
      <vt:lpstr>BCNF</vt:lpstr>
      <vt:lpstr>BCNF</vt:lpstr>
      <vt:lpstr>习题</vt:lpstr>
      <vt:lpstr>PowerPoint 演示文稿</vt:lpstr>
      <vt:lpstr>PowerPoint 演示文稿</vt:lpstr>
      <vt:lpstr>习题</vt:lpstr>
      <vt:lpstr>关系模式的分解算法</vt:lpstr>
      <vt:lpstr>关系模式的分解算法</vt:lpstr>
      <vt:lpstr>关系模式的分解算法</vt:lpstr>
      <vt:lpstr>关系模式的分解算法</vt:lpstr>
      <vt:lpstr>PowerPoint 演示文稿</vt:lpstr>
      <vt:lpstr>范式之间的关系</vt:lpstr>
      <vt:lpstr>一般看法</vt:lpstr>
      <vt:lpstr>反范式/规范化设计</vt:lpstr>
      <vt:lpstr>反范式/规范化设计</vt:lpstr>
      <vt:lpstr>反范式/规范化设计</vt:lpstr>
      <vt:lpstr>反范式/规范化设计</vt:lpstr>
      <vt:lpstr>PowerPoint 演示文稿</vt:lpstr>
      <vt:lpstr>Assignment</vt:lpstr>
      <vt:lpstr>PowerPoint 演示文稿</vt:lpstr>
      <vt:lpstr>End of Chapter 8(2)</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Marilyn Turnamian</dc:creator>
  <cp:lastModifiedBy>独角兽</cp:lastModifiedBy>
  <cp:revision>441</cp:revision>
  <cp:lastPrinted>1999-06-28T19:27:00Z</cp:lastPrinted>
  <dcterms:created xsi:type="dcterms:W3CDTF">1999-11-04T22:02:00Z</dcterms:created>
  <dcterms:modified xsi:type="dcterms:W3CDTF">2025-12-21T02:52:07Z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7CB47AFF2CF5413291D88C1479DE0875_12</vt:lpwstr>
  </property>
</Properties>
</file>