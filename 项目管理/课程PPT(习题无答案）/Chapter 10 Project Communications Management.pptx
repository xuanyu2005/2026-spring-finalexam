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912" r:id="rId2"/>
  </p:sldMasterIdLst>
  <p:notesMasterIdLst>
    <p:notesMasterId r:id="rId53"/>
  </p:notesMasterIdLst>
  <p:handoutMasterIdLst>
    <p:handoutMasterId r:id="rId54"/>
  </p:handoutMasterIdLst>
  <p:sldIdLst>
    <p:sldId id="257" r:id="rId3"/>
    <p:sldId id="422" r:id="rId4"/>
    <p:sldId id="336" r:id="rId5"/>
    <p:sldId id="337" r:id="rId6"/>
    <p:sldId id="338" r:id="rId7"/>
    <p:sldId id="339" r:id="rId8"/>
    <p:sldId id="378" r:id="rId9"/>
    <p:sldId id="386" r:id="rId10"/>
    <p:sldId id="351" r:id="rId11"/>
    <p:sldId id="347" r:id="rId12"/>
    <p:sldId id="352" r:id="rId13"/>
    <p:sldId id="348" r:id="rId14"/>
    <p:sldId id="346" r:id="rId15"/>
    <p:sldId id="353" r:id="rId16"/>
    <p:sldId id="355" r:id="rId17"/>
    <p:sldId id="356" r:id="rId18"/>
    <p:sldId id="340" r:id="rId19"/>
    <p:sldId id="341" r:id="rId20"/>
    <p:sldId id="343" r:id="rId21"/>
    <p:sldId id="388" r:id="rId22"/>
    <p:sldId id="389" r:id="rId23"/>
    <p:sldId id="390" r:id="rId24"/>
    <p:sldId id="391" r:id="rId25"/>
    <p:sldId id="349" r:id="rId26"/>
    <p:sldId id="357" r:id="rId27"/>
    <p:sldId id="392" r:id="rId28"/>
    <p:sldId id="361" r:id="rId29"/>
    <p:sldId id="364" r:id="rId30"/>
    <p:sldId id="365" r:id="rId31"/>
    <p:sldId id="366" r:id="rId32"/>
    <p:sldId id="385" r:id="rId33"/>
    <p:sldId id="368" r:id="rId34"/>
    <p:sldId id="369" r:id="rId35"/>
    <p:sldId id="370" r:id="rId36"/>
    <p:sldId id="371" r:id="rId37"/>
    <p:sldId id="372" r:id="rId38"/>
    <p:sldId id="382" r:id="rId39"/>
    <p:sldId id="373" r:id="rId40"/>
    <p:sldId id="374" r:id="rId41"/>
    <p:sldId id="376" r:id="rId42"/>
    <p:sldId id="377" r:id="rId43"/>
    <p:sldId id="414" r:id="rId44"/>
    <p:sldId id="424" r:id="rId45"/>
    <p:sldId id="416" r:id="rId46"/>
    <p:sldId id="417" r:id="rId47"/>
    <p:sldId id="418" r:id="rId48"/>
    <p:sldId id="419" r:id="rId49"/>
    <p:sldId id="421" r:id="rId50"/>
    <p:sldId id="420" r:id="rId51"/>
    <p:sldId id="423" r:id="rId52"/>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6357" autoAdjust="0"/>
  </p:normalViewPr>
  <p:slideViewPr>
    <p:cSldViewPr>
      <p:cViewPr varScale="1">
        <p:scale>
          <a:sx n="114" d="100"/>
          <a:sy n="114" d="100"/>
        </p:scale>
        <p:origin x="1734" y="84"/>
      </p:cViewPr>
      <p:guideLst>
        <p:guide orient="horz" pos="2160"/>
        <p:guide pos="2880"/>
      </p:guideLst>
    </p:cSldViewPr>
  </p:slideViewPr>
  <p:outlineViewPr>
    <p:cViewPr>
      <p:scale>
        <a:sx n="33" d="100"/>
        <a:sy n="33" d="100"/>
      </p:scale>
      <p:origin x="0" y="-1136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6" d="100"/>
          <a:sy n="86" d="100"/>
        </p:scale>
        <p:origin x="124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591C4D6C-6EDE-49B0-A311-F32A12FED5D1}" type="slidenum">
              <a:rPr lang="en-US"/>
              <a:pPr>
                <a:defRPr/>
              </a:pPr>
              <a:t>‹#›</a:t>
            </a:fld>
            <a:endParaRPr lang="en-US" dirty="0"/>
          </a:p>
        </p:txBody>
      </p:sp>
    </p:spTree>
    <p:extLst>
      <p:ext uri="{BB962C8B-B14F-4D97-AF65-F5344CB8AC3E}">
        <p14:creationId xmlns:p14="http://schemas.microsoft.com/office/powerpoint/2010/main" val="1400293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42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46F34499-B82A-45E5-967D-F3C4D18AFBEB}" type="slidenum">
              <a:rPr lang="en-US"/>
              <a:pPr>
                <a:defRPr/>
              </a:pPr>
              <a:t>‹#›</a:t>
            </a:fld>
            <a:endParaRPr lang="en-US" dirty="0"/>
          </a:p>
        </p:txBody>
      </p:sp>
    </p:spTree>
    <p:extLst>
      <p:ext uri="{BB962C8B-B14F-4D97-AF65-F5344CB8AC3E}">
        <p14:creationId xmlns:p14="http://schemas.microsoft.com/office/powerpoint/2010/main" val="24011416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pPr eaLnBrk="1" hangingPunct="1"/>
            <a:endParaRPr lang="en-US" dirty="0"/>
          </a:p>
        </p:txBody>
      </p:sp>
      <p:sp>
        <p:nvSpPr>
          <p:cNvPr id="55300" name="Slide Number Placeholder 3"/>
          <p:cNvSpPr>
            <a:spLocks noGrp="1"/>
          </p:cNvSpPr>
          <p:nvPr>
            <p:ph type="sldNum" sz="quarter" idx="5"/>
          </p:nvPr>
        </p:nvSpPr>
        <p:spPr>
          <a:noFill/>
        </p:spPr>
        <p:txBody>
          <a:bodyPr/>
          <a:lstStyle/>
          <a:p>
            <a:fld id="{BF5120FB-DB2F-4316-B49C-3147D5074945}"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4</a:t>
            </a:fld>
            <a:endParaRPr lang="en-US" dirty="0"/>
          </a:p>
        </p:txBody>
      </p:sp>
    </p:spTree>
    <p:extLst>
      <p:ext uri="{BB962C8B-B14F-4D97-AF65-F5344CB8AC3E}">
        <p14:creationId xmlns:p14="http://schemas.microsoft.com/office/powerpoint/2010/main" val="2420688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46F34499-B82A-45E5-967D-F3C4D18AFBEB}" type="slidenum">
              <a:rPr lang="en-US" smtClean="0"/>
              <a:pPr>
                <a:defRPr/>
              </a:pPr>
              <a:t>11</a:t>
            </a:fld>
            <a:endParaRPr lang="en-US" dirty="0"/>
          </a:p>
        </p:txBody>
      </p:sp>
    </p:spTree>
    <p:extLst>
      <p:ext uri="{BB962C8B-B14F-4D97-AF65-F5344CB8AC3E}">
        <p14:creationId xmlns:p14="http://schemas.microsoft.com/office/powerpoint/2010/main" val="3442419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6F34499-B82A-45E5-967D-F3C4D18AFBEB}" type="slidenum">
              <a:rPr lang="en-US" smtClean="0"/>
              <a:pPr>
                <a:defRPr/>
              </a:pPr>
              <a:t>45</a:t>
            </a:fld>
            <a:endParaRPr lang="en-US" dirty="0"/>
          </a:p>
        </p:txBody>
      </p:sp>
    </p:spTree>
    <p:extLst>
      <p:ext uri="{BB962C8B-B14F-4D97-AF65-F5344CB8AC3E}">
        <p14:creationId xmlns:p14="http://schemas.microsoft.com/office/powerpoint/2010/main" val="3161398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6F34499-B82A-45E5-967D-F3C4D18AFBEB}" type="slidenum">
              <a:rPr lang="en-US" smtClean="0"/>
              <a:pPr>
                <a:defRPr/>
              </a:pPr>
              <a:t>46</a:t>
            </a:fld>
            <a:endParaRPr lang="en-US" dirty="0"/>
          </a:p>
        </p:txBody>
      </p:sp>
    </p:spTree>
    <p:extLst>
      <p:ext uri="{BB962C8B-B14F-4D97-AF65-F5344CB8AC3E}">
        <p14:creationId xmlns:p14="http://schemas.microsoft.com/office/powerpoint/2010/main" val="3119465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6F34499-B82A-45E5-967D-F3C4D18AFBEB}" type="slidenum">
              <a:rPr lang="en-US" smtClean="0"/>
              <a:pPr>
                <a:defRPr/>
              </a:pPr>
              <a:t>47</a:t>
            </a:fld>
            <a:endParaRPr lang="en-US" dirty="0"/>
          </a:p>
        </p:txBody>
      </p:sp>
    </p:spTree>
    <p:extLst>
      <p:ext uri="{BB962C8B-B14F-4D97-AF65-F5344CB8AC3E}">
        <p14:creationId xmlns:p14="http://schemas.microsoft.com/office/powerpoint/2010/main" val="3117596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6F34499-B82A-45E5-967D-F3C4D18AFBEB}" type="slidenum">
              <a:rPr lang="en-US" smtClean="0"/>
              <a:pPr>
                <a:defRPr/>
              </a:pPr>
              <a:t>48</a:t>
            </a:fld>
            <a:endParaRPr lang="en-US" dirty="0"/>
          </a:p>
        </p:txBody>
      </p:sp>
    </p:spTree>
    <p:extLst>
      <p:ext uri="{BB962C8B-B14F-4D97-AF65-F5344CB8AC3E}">
        <p14:creationId xmlns:p14="http://schemas.microsoft.com/office/powerpoint/2010/main" val="1345916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6F34499-B82A-45E5-967D-F3C4D18AFBEB}" type="slidenum">
              <a:rPr lang="en-US" smtClean="0"/>
              <a:pPr>
                <a:defRPr/>
              </a:pPr>
              <a:t>49</a:t>
            </a:fld>
            <a:endParaRPr lang="en-US" dirty="0"/>
          </a:p>
        </p:txBody>
      </p:sp>
    </p:spTree>
    <p:extLst>
      <p:ext uri="{BB962C8B-B14F-4D97-AF65-F5344CB8AC3E}">
        <p14:creationId xmlns:p14="http://schemas.microsoft.com/office/powerpoint/2010/main" val="2794960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6F34499-B82A-45E5-967D-F3C4D18AFBEB}" type="slidenum">
              <a:rPr lang="en-US" smtClean="0"/>
              <a:pPr>
                <a:defRPr/>
              </a:pPr>
              <a:t>50</a:t>
            </a:fld>
            <a:endParaRPr lang="en-US" dirty="0"/>
          </a:p>
        </p:txBody>
      </p:sp>
    </p:spTree>
    <p:extLst>
      <p:ext uri="{BB962C8B-B14F-4D97-AF65-F5344CB8AC3E}">
        <p14:creationId xmlns:p14="http://schemas.microsoft.com/office/powerpoint/2010/main" val="351550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C8F429C8-286F-4CBB-8323-E07CB01A2B7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7603967C-F284-4E77-A024-1853F01D660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1C232BB4-75B4-4C69-94AD-424C8FD0F90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7" name="Slide Number Placeholder 5"/>
          <p:cNvSpPr>
            <a:spLocks noGrp="1"/>
          </p:cNvSpPr>
          <p:nvPr>
            <p:ph type="sldNum" sz="quarter" idx="12"/>
          </p:nvPr>
        </p:nvSpPr>
        <p:spPr/>
        <p:txBody>
          <a:bodyPr/>
          <a:lstStyle>
            <a:lvl1pPr>
              <a:defRPr/>
            </a:lvl1pPr>
          </a:lstStyle>
          <a:p>
            <a:pPr>
              <a:defRPr/>
            </a:pPr>
            <a:fld id="{487B63AB-9E04-47FC-9F10-3CEA81C5584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9" name="Slide Number Placeholder 5"/>
          <p:cNvSpPr>
            <a:spLocks noGrp="1"/>
          </p:cNvSpPr>
          <p:nvPr>
            <p:ph type="sldNum" sz="quarter" idx="12"/>
          </p:nvPr>
        </p:nvSpPr>
        <p:spPr/>
        <p:txBody>
          <a:bodyPr/>
          <a:lstStyle>
            <a:lvl1pPr>
              <a:defRPr/>
            </a:lvl1pPr>
          </a:lstStyle>
          <a:p>
            <a:pPr>
              <a:defRPr/>
            </a:pPr>
            <a:fld id="{D6068384-3A5E-42B0-9DB2-68C2834A8D29}"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5" name="Slide Number Placeholder 5"/>
          <p:cNvSpPr>
            <a:spLocks noGrp="1"/>
          </p:cNvSpPr>
          <p:nvPr>
            <p:ph type="sldNum" sz="quarter" idx="12"/>
          </p:nvPr>
        </p:nvSpPr>
        <p:spPr/>
        <p:txBody>
          <a:bodyPr/>
          <a:lstStyle>
            <a:lvl1pPr>
              <a:defRPr/>
            </a:lvl1pPr>
          </a:lstStyle>
          <a:p>
            <a:pPr>
              <a:defRPr/>
            </a:pPr>
            <a:fld id="{D59D01A5-6FD8-44B4-AD7E-D5CC8471AB31}"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4" name="Slide Number Placeholder 5"/>
          <p:cNvSpPr>
            <a:spLocks noGrp="1"/>
          </p:cNvSpPr>
          <p:nvPr>
            <p:ph type="sldNum" sz="quarter" idx="12"/>
          </p:nvPr>
        </p:nvSpPr>
        <p:spPr/>
        <p:txBody>
          <a:bodyPr/>
          <a:lstStyle>
            <a:lvl1pPr>
              <a:defRPr/>
            </a:lvl1pPr>
          </a:lstStyle>
          <a:p>
            <a:pPr>
              <a:defRPr/>
            </a:pPr>
            <a:fld id="{458B6FEB-F9E5-4AD9-9F53-51CC456E2E01}"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7" name="Slide Number Placeholder 5"/>
          <p:cNvSpPr>
            <a:spLocks noGrp="1"/>
          </p:cNvSpPr>
          <p:nvPr>
            <p:ph type="sldNum" sz="quarter" idx="12"/>
          </p:nvPr>
        </p:nvSpPr>
        <p:spPr/>
        <p:txBody>
          <a:bodyPr/>
          <a:lstStyle>
            <a:lvl1pPr>
              <a:defRPr/>
            </a:lvl1pPr>
          </a:lstStyle>
          <a:p>
            <a:pPr>
              <a:defRPr/>
            </a:pPr>
            <a:fld id="{6349C5E4-E79D-433E-94F2-96A93C7FD091}"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7" name="Slide Number Placeholder 5"/>
          <p:cNvSpPr>
            <a:spLocks noGrp="1"/>
          </p:cNvSpPr>
          <p:nvPr>
            <p:ph type="sldNum" sz="quarter" idx="12"/>
          </p:nvPr>
        </p:nvSpPr>
        <p:spPr/>
        <p:txBody>
          <a:bodyPr/>
          <a:lstStyle>
            <a:lvl1pPr>
              <a:defRPr/>
            </a:lvl1pPr>
          </a:lstStyle>
          <a:p>
            <a:pPr>
              <a:defRPr/>
            </a:pPr>
            <a:fld id="{7E4D32EF-206D-4E59-ADF9-6B674F5D28CE}"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E4D68D3E-95C0-4AD3-9DF7-A60E65E6C681}"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EC1AA9CB-A49F-428D-8075-9BAA7E4AAB5B}"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a:t>Information Technology Project Management, Seventh Edition</a:t>
            </a: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E5CE54AD-B30A-469E-AD93-7B59B656CE34}"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Information Technology Project Management, Seventh Edition</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E7041028-70A1-4883-98CC-1414125760B5}"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8" name="Slide Number Placeholder 5"/>
          <p:cNvSpPr>
            <a:spLocks noGrp="1"/>
          </p:cNvSpPr>
          <p:nvPr>
            <p:ph type="sldNum" sz="quarter" idx="12"/>
          </p:nvPr>
        </p:nvSpPr>
        <p:spPr/>
        <p:txBody>
          <a:bodyPr/>
          <a:lstStyle>
            <a:lvl1pPr>
              <a:defRPr/>
            </a:lvl1pPr>
            <a:extLst/>
          </a:lstStyle>
          <a:p>
            <a:pPr>
              <a:defRPr/>
            </a:pPr>
            <a:fld id="{4BDBFCCD-691C-40AA-8EFC-CF970F22E1E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88ECA2BC-76D7-4F9C-9D66-33CDF6D9173E}"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9" name="Slide Number Placeholder 8"/>
          <p:cNvSpPr>
            <a:spLocks noGrp="1"/>
          </p:cNvSpPr>
          <p:nvPr>
            <p:ph type="sldNum" sz="quarter" idx="12"/>
          </p:nvPr>
        </p:nvSpPr>
        <p:spPr/>
        <p:txBody>
          <a:bodyPr/>
          <a:lstStyle>
            <a:lvl1pPr>
              <a:defRPr/>
            </a:lvl1pPr>
            <a:extLst/>
          </a:lstStyle>
          <a:p>
            <a:pPr>
              <a:defRPr/>
            </a:pPr>
            <a:fld id="{80E1AB30-0018-412D-8C9C-E8D2BE76AA17}"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5" name="Slide Number Placeholder 4"/>
          <p:cNvSpPr>
            <a:spLocks noGrp="1"/>
          </p:cNvSpPr>
          <p:nvPr>
            <p:ph type="sldNum" sz="quarter" idx="12"/>
          </p:nvPr>
        </p:nvSpPr>
        <p:spPr/>
        <p:txBody>
          <a:bodyPr/>
          <a:lstStyle>
            <a:lvl1pPr>
              <a:defRPr/>
            </a:lvl1pPr>
            <a:extLst/>
          </a:lstStyle>
          <a:p>
            <a:pPr>
              <a:defRPr/>
            </a:pPr>
            <a:fld id="{84AA60CE-7DB8-4518-9645-A357FEA2E3F6}"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4" name="Slide Number Placeholder 17"/>
          <p:cNvSpPr>
            <a:spLocks noGrp="1"/>
          </p:cNvSpPr>
          <p:nvPr>
            <p:ph type="sldNum" sz="quarter" idx="12"/>
          </p:nvPr>
        </p:nvSpPr>
        <p:spPr/>
        <p:txBody>
          <a:bodyPr/>
          <a:lstStyle>
            <a:lvl1pPr>
              <a:defRPr/>
            </a:lvl1pPr>
          </a:lstStyle>
          <a:p>
            <a:pPr>
              <a:defRPr/>
            </a:pPr>
            <a:fld id="{FE14304E-FB8E-4A11-90C0-0D1234AF3E61}"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0BF5E2FE-52D3-4232-B85F-0C3C8901D3A0}"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a:t>Information Technology Project Management, Seventh Edition</a:t>
            </a: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E5475CA9-08CF-4B16-8E5B-A9E2B9C71B76}"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260BCE2F-BB23-47FB-93E3-7F57817977C3}"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13152180-080B-47A2-A616-2BCCE64515D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dirty="0"/>
              <a:t>Information Technology Project Management, Seventh Edition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7B9482A8-9EF2-49AB-81BA-2929840DBB1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a:t>Information Technology Project Management, Seventh Edition</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7B9482A8-9EF2-49AB-81BA-2929840DBB1F}"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eaLnBrk="1" fontAlgn="auto" hangingPunct="1">
              <a:spcAft>
                <a:spcPts val="0"/>
              </a:spcAft>
              <a:defRPr/>
            </a:pPr>
            <a:r>
              <a:rPr dirty="0">
                <a:effectLst>
                  <a:outerShdw blurRad="38100" dist="38100" dir="2700000" algn="tl">
                    <a:srgbClr val="FFFFFF"/>
                  </a:outerShdw>
                </a:effectLst>
                <a:latin typeface="Arial Rounded MT Bold" pitchFamily="34" charset="0"/>
              </a:rPr>
              <a:t>Chapter 10:</a:t>
            </a:r>
            <a:br>
              <a:rPr dirty="0">
                <a:effectLst>
                  <a:outerShdw blurRad="38100" dist="38100" dir="2700000" algn="tl">
                    <a:srgbClr val="FFFFFF"/>
                  </a:outerShdw>
                </a:effectLst>
                <a:latin typeface="Arial Rounded MT Bold" pitchFamily="34" charset="0"/>
              </a:rPr>
            </a:br>
            <a:r>
              <a:rPr dirty="0">
                <a:effectLst>
                  <a:outerShdw blurRad="38100" dist="38100" dir="2700000" algn="tl">
                    <a:srgbClr val="FFFFFF"/>
                  </a:outerShdw>
                </a:effectLst>
                <a:latin typeface="Arial Rounded MT Bold" pitchFamily="34" charset="0"/>
              </a:rPr>
              <a:t>Project Communications Management</a:t>
            </a:r>
          </a:p>
        </p:txBody>
      </p:sp>
      <p:sp>
        <p:nvSpPr>
          <p:cNvPr id="6" name="TextBox 5"/>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sp>
        <p:nvSpPr>
          <p:cNvPr id="7"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、项目沟通管理的</a:t>
            </a:r>
            <a:r>
              <a:rPr lang="en-US" altLang="zh-CN" b="1" dirty="0"/>
              <a:t>5</a:t>
            </a:r>
            <a:r>
              <a:rPr lang="zh-CN" altLang="en-US" b="1" dirty="0"/>
              <a:t>个过程</a:t>
            </a:r>
            <a:endParaRPr lang="en-US" altLang="zh-CN" b="1" dirty="0"/>
          </a:p>
          <a:p>
            <a:r>
              <a:rPr lang="en-US" altLang="zh-CN" b="1" dirty="0"/>
              <a:t>2</a:t>
            </a:r>
            <a:r>
              <a:rPr lang="zh-CN" altLang="en-US" b="1" dirty="0"/>
              <a:t>、项目沟通管理计划应包括哪些内容？</a:t>
            </a:r>
            <a:endParaRPr lang="en-US" altLang="zh-CN" b="1" dirty="0"/>
          </a:p>
          <a:p>
            <a:r>
              <a:rPr lang="en-US" altLang="zh-CN" b="1" dirty="0"/>
              <a:t>3</a:t>
            </a:r>
            <a:r>
              <a:rPr lang="zh-CN" altLang="en-US" b="1" dirty="0"/>
              <a:t>、发布信息应该注意哪些方面？</a:t>
            </a:r>
            <a:endParaRPr lang="en-US" altLang="zh-CN" b="1" dirty="0"/>
          </a:p>
          <a:p>
            <a:r>
              <a:rPr lang="en-US" altLang="zh-CN" b="1" dirty="0"/>
              <a:t>4</a:t>
            </a:r>
            <a:r>
              <a:rPr lang="zh-CN" altLang="en-US" b="1" dirty="0"/>
              <a:t>、期望管理矩阵包括哪些条目？</a:t>
            </a:r>
            <a:endParaRPr lang="en-US" altLang="zh-CN" b="1" dirty="0"/>
          </a:p>
          <a:p>
            <a:r>
              <a:rPr lang="en-US" altLang="zh-CN" b="1" dirty="0"/>
              <a:t>5</a:t>
            </a:r>
            <a:r>
              <a:rPr lang="zh-CN" altLang="en-US" b="1" dirty="0"/>
              <a:t>、绩效报告</a:t>
            </a:r>
            <a:endParaRPr lang="en-US" altLang="zh-CN" b="1" dirty="0"/>
          </a:p>
          <a:p>
            <a:r>
              <a:rPr lang="en-US" altLang="zh-CN" b="1" dirty="0"/>
              <a:t>6</a:t>
            </a:r>
            <a:r>
              <a:rPr lang="zh-CN" altLang="en-US" b="1" dirty="0"/>
              <a:t>、改善沟通的一些建议</a:t>
            </a:r>
            <a:endParaRPr lang="en-US" altLang="zh-CN" b="1" dirty="0"/>
          </a:p>
          <a:p>
            <a:r>
              <a:rPr lang="en-US" altLang="zh-CN" b="1" dirty="0"/>
              <a:t>7</a:t>
            </a:r>
            <a:r>
              <a:rPr lang="zh-CN" altLang="en-US" b="1" dirty="0"/>
              <a:t>、如何有效开会？</a:t>
            </a:r>
            <a:endParaRPr lang="en-US" altLang="zh-CN" b="1" dirty="0"/>
          </a:p>
          <a:p>
            <a:r>
              <a:rPr lang="en-US" altLang="zh-CN" b="1" dirty="0"/>
              <a:t>8</a:t>
            </a:r>
            <a:r>
              <a:rPr lang="zh-CN" altLang="en-US" b="1" dirty="0"/>
              <a:t>、如何更高效使用电子邮件或其他通讯工具？</a:t>
            </a:r>
            <a:endParaRPr lang="en-US" altLang="zh-CN" b="1" dirty="0"/>
          </a:p>
          <a:p>
            <a:endParaRPr lang="en-US" altLang="zh-CN" b="1" dirty="0"/>
          </a:p>
          <a:p>
            <a:endParaRPr lang="zh-CN" altLang="en-US"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243195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228600" y="1066800"/>
            <a:ext cx="8610600" cy="4800600"/>
          </a:xfrm>
        </p:spPr>
        <p:txBody>
          <a:bodyPr/>
          <a:lstStyle/>
          <a:p>
            <a:r>
              <a:rPr lang="en-US" sz="2800" dirty="0"/>
              <a:t>Understand the </a:t>
            </a:r>
            <a:r>
              <a:rPr lang="en-US" sz="2800" b="1" dirty="0"/>
              <a:t>importance</a:t>
            </a:r>
            <a:r>
              <a:rPr lang="en-US" sz="2800" dirty="0"/>
              <a:t> of good communications on projects and the need to develop soft skills, especially for IT project managers and their teams</a:t>
            </a:r>
          </a:p>
          <a:p>
            <a:r>
              <a:rPr lang="en-US" sz="2800" dirty="0"/>
              <a:t>Review </a:t>
            </a:r>
            <a:r>
              <a:rPr lang="en-US" sz="2800" b="1" dirty="0"/>
              <a:t>key concepts </a:t>
            </a:r>
            <a:r>
              <a:rPr lang="en-US" sz="2800" dirty="0"/>
              <a:t>related to communications</a:t>
            </a:r>
          </a:p>
          <a:p>
            <a:r>
              <a:rPr lang="en-US" sz="2800" dirty="0"/>
              <a:t>Explain the </a:t>
            </a:r>
            <a:r>
              <a:rPr lang="en-US" sz="2800" b="1" dirty="0"/>
              <a:t>elements of planning project communications</a:t>
            </a:r>
            <a:r>
              <a:rPr lang="en-US" sz="2800" dirty="0"/>
              <a:t> and </a:t>
            </a:r>
            <a:r>
              <a:rPr lang="en-US" sz="2800" b="1" dirty="0"/>
              <a:t>how to create a communications management plan</a:t>
            </a:r>
          </a:p>
          <a:p>
            <a:r>
              <a:rPr lang="en-US" sz="2800" dirty="0"/>
              <a:t>Describe how to </a:t>
            </a:r>
            <a:r>
              <a:rPr lang="en-US" sz="2800" b="1" dirty="0"/>
              <a:t>manage communications</a:t>
            </a:r>
            <a:r>
              <a:rPr lang="en-US" sz="2800" dirty="0"/>
              <a:t>, including communication technologies, media, and performance reporting</a:t>
            </a:r>
          </a:p>
        </p:txBody>
      </p:sp>
      <p:sp>
        <p:nvSpPr>
          <p:cNvPr id="9218" name="Rectangle 2"/>
          <p:cNvSpPr>
            <a:spLocks noGrp="1" noChangeArrowheads="1"/>
          </p:cNvSpPr>
          <p:nvPr>
            <p:ph type="title"/>
          </p:nvPr>
        </p:nvSpPr>
        <p:spPr>
          <a:xfrm>
            <a:off x="381000" y="228600"/>
            <a:ext cx="8382000" cy="609600"/>
          </a:xfrm>
        </p:spPr>
        <p:txBody>
          <a:bodyPr>
            <a:normAutofit fontScale="90000"/>
          </a:bodyPr>
          <a:lstStyle/>
          <a:p>
            <a:r>
              <a:rPr lang="en-US" dirty="0"/>
              <a:t>Learning Objectives</a:t>
            </a:r>
          </a:p>
        </p:txBody>
      </p:sp>
      <p:sp>
        <p:nvSpPr>
          <p:cNvPr id="9221"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24835EC-F943-42CB-B61C-C0479D4AB78A}"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228600" y="990600"/>
            <a:ext cx="8458200" cy="4572000"/>
          </a:xfrm>
        </p:spPr>
        <p:txBody>
          <a:bodyPr/>
          <a:lstStyle/>
          <a:p>
            <a:r>
              <a:rPr lang="en-US" sz="2800" dirty="0"/>
              <a:t>Discuss methods for </a:t>
            </a:r>
            <a:r>
              <a:rPr lang="en-US" sz="2800" b="1" dirty="0"/>
              <a:t>controlling communications </a:t>
            </a:r>
            <a:r>
              <a:rPr lang="en-US" sz="2800" dirty="0"/>
              <a:t>to ensure that information needs are met throughout the life of the project</a:t>
            </a:r>
          </a:p>
          <a:p>
            <a:r>
              <a:rPr lang="en-US" sz="2800" dirty="0"/>
              <a:t>List various methods for improving project communications, such as running effective meetings, using various technologies effectively, and using templates</a:t>
            </a:r>
          </a:p>
          <a:p>
            <a:r>
              <a:rPr lang="en-US" sz="2800" dirty="0"/>
              <a:t>Describe how software can enhance project communications management</a:t>
            </a:r>
          </a:p>
        </p:txBody>
      </p:sp>
      <p:sp>
        <p:nvSpPr>
          <p:cNvPr id="10242" name="Rectangle 2"/>
          <p:cNvSpPr>
            <a:spLocks noGrp="1" noChangeArrowheads="1"/>
          </p:cNvSpPr>
          <p:nvPr>
            <p:ph type="title"/>
          </p:nvPr>
        </p:nvSpPr>
        <p:spPr>
          <a:xfrm>
            <a:off x="381000" y="274638"/>
            <a:ext cx="8305800" cy="487362"/>
          </a:xfrm>
        </p:spPr>
        <p:txBody>
          <a:bodyPr>
            <a:normAutofit fontScale="90000"/>
          </a:bodyPr>
          <a:lstStyle/>
          <a:p>
            <a:r>
              <a:rPr lang="en-US" dirty="0"/>
              <a:t>Learning Objectives (cont’d)</a:t>
            </a:r>
          </a:p>
        </p:txBody>
      </p:sp>
      <p:sp>
        <p:nvSpPr>
          <p:cNvPr id="10245"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C9851F4-903B-4357-A1DA-EB6BD89A525D}"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027"/>
          <p:cNvSpPr>
            <a:spLocks noGrp="1" noChangeArrowheads="1"/>
          </p:cNvSpPr>
          <p:nvPr>
            <p:ph idx="1"/>
          </p:nvPr>
        </p:nvSpPr>
        <p:spPr>
          <a:xfrm>
            <a:off x="228600" y="1066800"/>
            <a:ext cx="8458200" cy="4572000"/>
          </a:xfrm>
        </p:spPr>
        <p:txBody>
          <a:bodyPr/>
          <a:lstStyle/>
          <a:p>
            <a:pPr>
              <a:spcBef>
                <a:spcPct val="60000"/>
              </a:spcBef>
              <a:buClr>
                <a:srgbClr val="666699"/>
              </a:buClr>
              <a:buFont typeface="Wingdings" pitchFamily="2" charset="2"/>
              <a:buChar char="§"/>
            </a:pPr>
            <a:r>
              <a:rPr lang="en-US" dirty="0"/>
              <a:t>The </a:t>
            </a:r>
            <a:r>
              <a:rPr lang="en-US" b="1" dirty="0"/>
              <a:t>greatest threat </a:t>
            </a:r>
            <a:r>
              <a:rPr lang="en-US" dirty="0"/>
              <a:t>to many projects is a failure to communicate</a:t>
            </a:r>
          </a:p>
          <a:p>
            <a:pPr>
              <a:spcBef>
                <a:spcPct val="60000"/>
              </a:spcBef>
              <a:buClr>
                <a:srgbClr val="666699"/>
              </a:buClr>
              <a:buFont typeface="Wingdings" pitchFamily="2" charset="2"/>
              <a:buChar char="§"/>
            </a:pPr>
            <a:r>
              <a:rPr lang="en-US" dirty="0"/>
              <a:t>Our culture does not portray IT professionals as being good communicators</a:t>
            </a:r>
          </a:p>
          <a:p>
            <a:pPr>
              <a:spcBef>
                <a:spcPct val="60000"/>
              </a:spcBef>
              <a:buClr>
                <a:srgbClr val="666699"/>
              </a:buClr>
              <a:buFont typeface="Wingdings" pitchFamily="2" charset="2"/>
              <a:buChar char="§"/>
            </a:pPr>
            <a:r>
              <a:rPr lang="en-US" dirty="0"/>
              <a:t>Research shows that IT professionals must be able to communicate effectively to </a:t>
            </a:r>
            <a:r>
              <a:rPr lang="en-US" b="1" dirty="0"/>
              <a:t>succeed in</a:t>
            </a:r>
            <a:r>
              <a:rPr lang="en-US" dirty="0"/>
              <a:t> their positions</a:t>
            </a:r>
          </a:p>
          <a:p>
            <a:pPr>
              <a:spcBef>
                <a:spcPct val="60000"/>
              </a:spcBef>
              <a:buClr>
                <a:srgbClr val="666699"/>
              </a:buClr>
              <a:buFont typeface="Wingdings" pitchFamily="2" charset="2"/>
              <a:buChar char="§"/>
            </a:pPr>
            <a:r>
              <a:rPr lang="en-US" dirty="0"/>
              <a:t>Strong verbal and non-technical skills are a key factor in </a:t>
            </a:r>
            <a:r>
              <a:rPr lang="en-US" b="1" dirty="0"/>
              <a:t>career advancement </a:t>
            </a:r>
            <a:r>
              <a:rPr lang="en-US" dirty="0"/>
              <a:t>for IT professionals</a:t>
            </a:r>
          </a:p>
        </p:txBody>
      </p:sp>
      <p:sp>
        <p:nvSpPr>
          <p:cNvPr id="11266" name="Rectangle 1026"/>
          <p:cNvSpPr>
            <a:spLocks noGrp="1" noChangeArrowheads="1"/>
          </p:cNvSpPr>
          <p:nvPr>
            <p:ph type="title"/>
          </p:nvPr>
        </p:nvSpPr>
        <p:spPr>
          <a:xfrm>
            <a:off x="381000" y="274638"/>
            <a:ext cx="8610600" cy="639762"/>
          </a:xfrm>
        </p:spPr>
        <p:txBody>
          <a:bodyPr>
            <a:normAutofit fontScale="90000"/>
          </a:bodyPr>
          <a:lstStyle/>
          <a:p>
            <a:r>
              <a:rPr lang="en-US" dirty="0"/>
              <a:t>Importance of Good Communications</a:t>
            </a:r>
          </a:p>
        </p:txBody>
      </p:sp>
      <p:sp>
        <p:nvSpPr>
          <p:cNvPr id="11269"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F552E40-316F-4674-A043-23A6DEDF19B8}"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381000" y="1295400"/>
            <a:ext cx="8610600" cy="4572000"/>
          </a:xfrm>
        </p:spPr>
        <p:txBody>
          <a:bodyPr/>
          <a:lstStyle/>
          <a:p>
            <a:pPr>
              <a:spcBef>
                <a:spcPct val="40000"/>
              </a:spcBef>
              <a:buClr>
                <a:srgbClr val="666699"/>
              </a:buClr>
              <a:buFont typeface="Wingdings" pitchFamily="2" charset="2"/>
              <a:buChar char="§"/>
            </a:pPr>
            <a:r>
              <a:rPr lang="en-US" sz="2800" b="1" dirty="0"/>
              <a:t>Planning communications management</a:t>
            </a:r>
            <a:r>
              <a:rPr lang="en-US" sz="2800" dirty="0"/>
              <a:t>: Determining the information and communications needs of the </a:t>
            </a:r>
            <a:r>
              <a:rPr lang="en-US" sz="2800" b="1" dirty="0"/>
              <a:t>stakeholders</a:t>
            </a:r>
          </a:p>
          <a:p>
            <a:r>
              <a:rPr lang="en-US" sz="2800" b="1" dirty="0"/>
              <a:t>Managing communications: </a:t>
            </a:r>
            <a:r>
              <a:rPr lang="en-US" sz="2800" dirty="0"/>
              <a:t>Creating, distributing, storing, retrieving, and disposing of project communications based on the communications management plan</a:t>
            </a:r>
          </a:p>
          <a:p>
            <a:r>
              <a:rPr lang="en-US" sz="2800" b="1" dirty="0"/>
              <a:t>Controlling communications</a:t>
            </a:r>
            <a:r>
              <a:rPr lang="en-US" sz="2800" dirty="0"/>
              <a:t>: Monitoring and controlling project communications to ensure that stakeholder communication needs are met</a:t>
            </a:r>
          </a:p>
        </p:txBody>
      </p:sp>
      <p:sp>
        <p:nvSpPr>
          <p:cNvPr id="12290" name="Rectangle 2"/>
          <p:cNvSpPr>
            <a:spLocks noGrp="1" noChangeArrowheads="1"/>
          </p:cNvSpPr>
          <p:nvPr>
            <p:ph type="title"/>
          </p:nvPr>
        </p:nvSpPr>
        <p:spPr>
          <a:xfrm>
            <a:off x="381000" y="152400"/>
            <a:ext cx="8382000" cy="895350"/>
          </a:xfrm>
        </p:spPr>
        <p:txBody>
          <a:bodyPr>
            <a:normAutofit fontScale="90000"/>
          </a:bodyPr>
          <a:lstStyle/>
          <a:p>
            <a:r>
              <a:rPr lang="en-US" dirty="0"/>
              <a:t>Project Communications</a:t>
            </a:r>
            <a:br>
              <a:rPr lang="en-US" dirty="0"/>
            </a:br>
            <a:r>
              <a:rPr lang="en-US" dirty="0"/>
              <a:t>Management Processes</a:t>
            </a:r>
          </a:p>
        </p:txBody>
      </p:sp>
      <p:sp>
        <p:nvSpPr>
          <p:cNvPr id="12293"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a:xfrm>
            <a:off x="8588375" y="6173787"/>
            <a:ext cx="555625" cy="365125"/>
          </a:xfrm>
        </p:spPr>
        <p:txBody>
          <a:bodyPr/>
          <a:lstStyle/>
          <a:p>
            <a:pPr>
              <a:defRPr/>
            </a:pPr>
            <a:fld id="{B9A1AC6A-E4DB-4E62-8C3D-8A55BC890F75}"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0"/>
            <a:ext cx="8229600" cy="1143000"/>
          </a:xfrm>
        </p:spPr>
        <p:txBody>
          <a:bodyPr>
            <a:normAutofit fontScale="90000"/>
          </a:bodyPr>
          <a:lstStyle/>
          <a:p>
            <a:r>
              <a:rPr lang="en-US" sz="3600" dirty="0"/>
              <a:t>Figure 10-1. Project Communications Management Summary</a:t>
            </a:r>
          </a:p>
        </p:txBody>
      </p:sp>
      <p:sp>
        <p:nvSpPr>
          <p:cNvPr id="13315" name="Footer Placeholder 3"/>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9EA94F58-D761-4128-AD4E-80EF3893F0A6}" type="slidenum">
              <a:rPr lang="en-US" smtClean="0"/>
              <a:pPr>
                <a:defRPr/>
              </a:pPr>
              <a:t>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58" y="1371600"/>
            <a:ext cx="8988042" cy="49629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686800" cy="4525962"/>
          </a:xfrm>
        </p:spPr>
        <p:txBody>
          <a:bodyPr/>
          <a:lstStyle/>
          <a:p>
            <a:r>
              <a:rPr lang="en-US" dirty="0"/>
              <a:t>Project managers say they </a:t>
            </a:r>
            <a:r>
              <a:rPr lang="en-US" b="1" dirty="0"/>
              <a:t>spend as much </a:t>
            </a:r>
            <a:r>
              <a:rPr lang="en-US" dirty="0"/>
              <a:t>as 90 percent of their time communicating</a:t>
            </a:r>
          </a:p>
          <a:p>
            <a:r>
              <a:rPr lang="en-US" dirty="0"/>
              <a:t>Need to </a:t>
            </a:r>
            <a:r>
              <a:rPr lang="en-US" b="1" dirty="0"/>
              <a:t>focus on </a:t>
            </a:r>
            <a:r>
              <a:rPr lang="en-US" dirty="0"/>
              <a:t>group and individual communication </a:t>
            </a:r>
            <a:r>
              <a:rPr lang="en-US" b="1" dirty="0"/>
              <a:t>needs</a:t>
            </a:r>
          </a:p>
          <a:p>
            <a:r>
              <a:rPr lang="en-US" dirty="0"/>
              <a:t>Use </a:t>
            </a:r>
            <a:r>
              <a:rPr lang="en-US" b="1" dirty="0"/>
              <a:t>formal and informal </a:t>
            </a:r>
            <a:r>
              <a:rPr lang="en-US" dirty="0"/>
              <a:t>methods for communicating</a:t>
            </a:r>
          </a:p>
          <a:p>
            <a:r>
              <a:rPr lang="en-US" dirty="0"/>
              <a:t>Distribute important information in an </a:t>
            </a:r>
            <a:r>
              <a:rPr lang="en-US" b="1" dirty="0"/>
              <a:t>effective and timely </a:t>
            </a:r>
            <a:r>
              <a:rPr lang="en-US" dirty="0"/>
              <a:t>manner</a:t>
            </a:r>
          </a:p>
          <a:p>
            <a:r>
              <a:rPr lang="en-US" dirty="0"/>
              <a:t>Set the stage for communicating </a:t>
            </a:r>
            <a:r>
              <a:rPr lang="en-US" b="1" dirty="0"/>
              <a:t>bad news</a:t>
            </a:r>
          </a:p>
          <a:p>
            <a:r>
              <a:rPr lang="en-US" dirty="0"/>
              <a:t>Determine the number of </a:t>
            </a:r>
            <a:r>
              <a:rPr lang="en-US" b="1" dirty="0"/>
              <a:t>communication channels</a:t>
            </a:r>
          </a:p>
        </p:txBody>
      </p:sp>
      <p:sp>
        <p:nvSpPr>
          <p:cNvPr id="3" name="Title 2"/>
          <p:cNvSpPr>
            <a:spLocks noGrp="1"/>
          </p:cNvSpPr>
          <p:nvPr>
            <p:ph type="title"/>
          </p:nvPr>
        </p:nvSpPr>
        <p:spPr/>
        <p:txBody>
          <a:bodyPr/>
          <a:lstStyle/>
          <a:p>
            <a:r>
              <a:rPr lang="en-US" dirty="0"/>
              <a:t>Keys to Good Communications</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8</a:t>
            </a:fld>
            <a:endParaRPr lang="en-US" dirty="0"/>
          </a:p>
        </p:txBody>
      </p:sp>
    </p:spTree>
    <p:extLst>
      <p:ext uri="{BB962C8B-B14F-4D97-AF65-F5344CB8AC3E}">
        <p14:creationId xmlns:p14="http://schemas.microsoft.com/office/powerpoint/2010/main" val="3453784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381000" y="1828800"/>
            <a:ext cx="8458200" cy="4419600"/>
          </a:xfrm>
        </p:spPr>
        <p:txBody>
          <a:bodyPr/>
          <a:lstStyle/>
          <a:p>
            <a:pPr>
              <a:spcBef>
                <a:spcPct val="100000"/>
              </a:spcBef>
              <a:buClr>
                <a:srgbClr val="666699"/>
              </a:buClr>
            </a:pPr>
            <a:r>
              <a:rPr lang="en-US" dirty="0"/>
              <a:t>People are not </a:t>
            </a:r>
            <a:r>
              <a:rPr lang="en-US" b="1" dirty="0"/>
              <a:t>interchangeable</a:t>
            </a:r>
            <a:r>
              <a:rPr lang="en-US" dirty="0"/>
              <a:t> parts</a:t>
            </a:r>
          </a:p>
          <a:p>
            <a:pPr>
              <a:spcBef>
                <a:spcPct val="100000"/>
              </a:spcBef>
              <a:buClr>
                <a:srgbClr val="666699"/>
              </a:buClr>
            </a:pPr>
            <a:r>
              <a:rPr lang="en-US" dirty="0"/>
              <a:t>As illustrated in Brooks’ book </a:t>
            </a:r>
            <a:r>
              <a:rPr lang="en-US" i="1" dirty="0"/>
              <a:t>The Mythical Man-Month</a:t>
            </a:r>
            <a:r>
              <a:rPr lang="en-US" dirty="0"/>
              <a:t>, you cannot assume that a task originally scheduled to take two months of one person’s time can be done in one month by two people</a:t>
            </a:r>
          </a:p>
          <a:p>
            <a:pPr>
              <a:spcBef>
                <a:spcPct val="100000"/>
              </a:spcBef>
              <a:buClr>
                <a:srgbClr val="666699"/>
              </a:buClr>
            </a:pPr>
            <a:r>
              <a:rPr lang="en-US" dirty="0"/>
              <a:t>Nine women cannot produce a baby in one month!</a:t>
            </a:r>
          </a:p>
        </p:txBody>
      </p:sp>
      <p:sp>
        <p:nvSpPr>
          <p:cNvPr id="25602" name="Rectangle 2"/>
          <p:cNvSpPr>
            <a:spLocks noGrp="1" noChangeArrowheads="1"/>
          </p:cNvSpPr>
          <p:nvPr>
            <p:ph type="title"/>
          </p:nvPr>
        </p:nvSpPr>
        <p:spPr/>
        <p:txBody>
          <a:bodyPr>
            <a:normAutofit fontScale="90000"/>
          </a:bodyPr>
          <a:lstStyle/>
          <a:p>
            <a:r>
              <a:rPr lang="en-US" dirty="0"/>
              <a:t>Understanding Group and Individual Communication Needs</a:t>
            </a:r>
          </a:p>
        </p:txBody>
      </p:sp>
      <p:sp>
        <p:nvSpPr>
          <p:cNvPr id="25605"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B3D0A11E-C451-4D2B-9371-63E009872629}"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81000" y="1676400"/>
            <a:ext cx="8458200" cy="4419600"/>
          </a:xfrm>
        </p:spPr>
        <p:txBody>
          <a:bodyPr/>
          <a:lstStyle/>
          <a:p>
            <a:pPr>
              <a:lnSpc>
                <a:spcPct val="90000"/>
              </a:lnSpc>
              <a:buClr>
                <a:srgbClr val="666699"/>
              </a:buClr>
              <a:buFont typeface="Wingdings" pitchFamily="2" charset="2"/>
              <a:buChar char="§"/>
            </a:pPr>
            <a:r>
              <a:rPr lang="en-US" dirty="0"/>
              <a:t>Research says that in a face-to-face interaction:</a:t>
            </a:r>
          </a:p>
          <a:p>
            <a:pPr lvl="1">
              <a:lnSpc>
                <a:spcPct val="90000"/>
              </a:lnSpc>
              <a:buClr>
                <a:srgbClr val="666699"/>
              </a:buClr>
              <a:buFont typeface="Wingdings" pitchFamily="2" charset="2"/>
              <a:buChar char="§"/>
            </a:pPr>
            <a:r>
              <a:rPr lang="en-US" dirty="0"/>
              <a:t>58 percent of communication is through body language.</a:t>
            </a:r>
          </a:p>
          <a:p>
            <a:pPr lvl="1">
              <a:lnSpc>
                <a:spcPct val="90000"/>
              </a:lnSpc>
              <a:buClr>
                <a:srgbClr val="666699"/>
              </a:buClr>
              <a:buFont typeface="Wingdings" pitchFamily="2" charset="2"/>
              <a:buChar char="§"/>
            </a:pPr>
            <a:r>
              <a:rPr lang="en-US" dirty="0"/>
              <a:t>35 percent of communication is through how the words are said</a:t>
            </a:r>
          </a:p>
          <a:p>
            <a:pPr lvl="1">
              <a:lnSpc>
                <a:spcPct val="90000"/>
              </a:lnSpc>
              <a:buClr>
                <a:srgbClr val="666699"/>
              </a:buClr>
              <a:buFont typeface="Wingdings" pitchFamily="2" charset="2"/>
              <a:buChar char="§"/>
            </a:pPr>
            <a:r>
              <a:rPr lang="en-US" dirty="0"/>
              <a:t>7 percent of communication is through the content or words that are spoken</a:t>
            </a:r>
          </a:p>
          <a:p>
            <a:pPr>
              <a:lnSpc>
                <a:spcPct val="90000"/>
              </a:lnSpc>
              <a:buClr>
                <a:srgbClr val="666699"/>
              </a:buClr>
              <a:buFont typeface="Wingdings" pitchFamily="2" charset="2"/>
              <a:buChar char="§"/>
            </a:pPr>
            <a:r>
              <a:rPr lang="en-US" dirty="0"/>
              <a:t>Pay attention to more than just the actual words someone is saying</a:t>
            </a:r>
          </a:p>
          <a:p>
            <a:pPr>
              <a:lnSpc>
                <a:spcPct val="90000"/>
              </a:lnSpc>
              <a:buClr>
                <a:srgbClr val="666699"/>
              </a:buClr>
              <a:buFont typeface="Wingdings" pitchFamily="2" charset="2"/>
              <a:buChar char="§"/>
            </a:pPr>
            <a:r>
              <a:rPr lang="en-US" dirty="0"/>
              <a:t>A person’s tone of voice and body language say a lot about how he or she really feels</a:t>
            </a:r>
          </a:p>
        </p:txBody>
      </p:sp>
      <p:sp>
        <p:nvSpPr>
          <p:cNvPr id="21506" name="Rectangle 2"/>
          <p:cNvSpPr>
            <a:spLocks noGrp="1" noChangeArrowheads="1"/>
          </p:cNvSpPr>
          <p:nvPr>
            <p:ph type="title"/>
          </p:nvPr>
        </p:nvSpPr>
        <p:spPr/>
        <p:txBody>
          <a:bodyPr>
            <a:normAutofit fontScale="90000"/>
          </a:bodyPr>
          <a:lstStyle/>
          <a:p>
            <a:r>
              <a:rPr lang="en-US" dirty="0"/>
              <a:t>Importance of Face-to-Face Communication</a:t>
            </a:r>
          </a:p>
        </p:txBody>
      </p:sp>
      <p:sp>
        <p:nvSpPr>
          <p:cNvPr id="21509"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CC0F8A4-3DA1-437C-B4FE-839391EAD6E6}"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381000" y="1447800"/>
            <a:ext cx="8458200" cy="5181600"/>
          </a:xfrm>
        </p:spPr>
        <p:txBody>
          <a:bodyPr/>
          <a:lstStyle/>
          <a:p>
            <a:pPr>
              <a:buClr>
                <a:srgbClr val="666699"/>
              </a:buClr>
            </a:pPr>
            <a:r>
              <a:rPr lang="en-US" dirty="0"/>
              <a:t>Introverts like more private communications, while extroverts like to discuss things in public</a:t>
            </a:r>
          </a:p>
          <a:p>
            <a:pPr>
              <a:buClr>
                <a:srgbClr val="666699"/>
              </a:buClr>
            </a:pPr>
            <a:r>
              <a:rPr lang="en-US" dirty="0"/>
              <a:t>Intuitive people like to understand the big picture, while sensing people need step-by-step details</a:t>
            </a:r>
          </a:p>
          <a:p>
            <a:pPr>
              <a:buClr>
                <a:srgbClr val="666699"/>
              </a:buClr>
            </a:pPr>
            <a:r>
              <a:rPr lang="en-US" dirty="0"/>
              <a:t>Thinkers want to know the logic behind decisions, while feeling people want to know how something affects them personally</a:t>
            </a:r>
          </a:p>
          <a:p>
            <a:pPr>
              <a:buClr>
                <a:srgbClr val="666699"/>
              </a:buClr>
            </a:pPr>
            <a:r>
              <a:rPr lang="en-US" dirty="0"/>
              <a:t>Judging people are driven to meet deadlines while perceiving people need more help in developing and following plans</a:t>
            </a:r>
          </a:p>
        </p:txBody>
      </p:sp>
      <p:sp>
        <p:nvSpPr>
          <p:cNvPr id="26626" name="Rectangle 2"/>
          <p:cNvSpPr>
            <a:spLocks noGrp="1" noChangeArrowheads="1"/>
          </p:cNvSpPr>
          <p:nvPr>
            <p:ph type="title"/>
          </p:nvPr>
        </p:nvSpPr>
        <p:spPr/>
        <p:txBody>
          <a:bodyPr>
            <a:normAutofit fontScale="90000"/>
          </a:bodyPr>
          <a:lstStyle/>
          <a:p>
            <a:r>
              <a:rPr lang="en-US" dirty="0"/>
              <a:t>Personal Preferences Affect Communication Needs</a:t>
            </a:r>
          </a:p>
        </p:txBody>
      </p:sp>
      <p:sp>
        <p:nvSpPr>
          <p:cNvPr id="26629"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F94D7186-8251-48B7-9EB8-7AB71E3A7154}"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81000" y="1828800"/>
            <a:ext cx="8458200" cy="4343400"/>
          </a:xfrm>
        </p:spPr>
        <p:txBody>
          <a:bodyPr/>
          <a:lstStyle/>
          <a:p>
            <a:pPr>
              <a:spcBef>
                <a:spcPct val="100000"/>
              </a:spcBef>
              <a:buClr>
                <a:srgbClr val="666699"/>
              </a:buClr>
              <a:buFont typeface="Wingdings" pitchFamily="2" charset="2"/>
              <a:buChar char="§"/>
            </a:pPr>
            <a:r>
              <a:rPr lang="en-US" b="1" dirty="0"/>
              <a:t>Short, frequent meetings </a:t>
            </a:r>
            <a:r>
              <a:rPr lang="en-US" dirty="0"/>
              <a:t>are often very effective in IT projects</a:t>
            </a:r>
          </a:p>
          <a:p>
            <a:pPr>
              <a:spcBef>
                <a:spcPct val="100000"/>
              </a:spcBef>
              <a:buClr>
                <a:srgbClr val="666699"/>
              </a:buClr>
              <a:buFont typeface="Wingdings" pitchFamily="2" charset="2"/>
              <a:buChar char="§"/>
            </a:pPr>
            <a:r>
              <a:rPr lang="en-US" b="1" dirty="0"/>
              <a:t>Stand-up meetings </a:t>
            </a:r>
            <a:r>
              <a:rPr lang="en-US" dirty="0"/>
              <a:t>force people to focus on what they really need to communicate</a:t>
            </a:r>
          </a:p>
          <a:p>
            <a:pPr>
              <a:spcBef>
                <a:spcPct val="100000"/>
              </a:spcBef>
              <a:buClr>
                <a:srgbClr val="666699"/>
              </a:buClr>
              <a:buFont typeface="Wingdings" pitchFamily="2" charset="2"/>
              <a:buChar char="§"/>
            </a:pPr>
            <a:r>
              <a:rPr lang="en-US" dirty="0"/>
              <a:t>Some companies have policies preventing the use of e-mail between certain hours or even entire days of the week</a:t>
            </a:r>
          </a:p>
        </p:txBody>
      </p:sp>
      <p:sp>
        <p:nvSpPr>
          <p:cNvPr id="22530" name="Rectangle 2"/>
          <p:cNvSpPr>
            <a:spLocks noGrp="1" noChangeArrowheads="1"/>
          </p:cNvSpPr>
          <p:nvPr>
            <p:ph type="title"/>
          </p:nvPr>
        </p:nvSpPr>
        <p:spPr/>
        <p:txBody>
          <a:bodyPr>
            <a:normAutofit fontScale="90000"/>
          </a:bodyPr>
          <a:lstStyle/>
          <a:p>
            <a:r>
              <a:rPr lang="en-US" dirty="0"/>
              <a:t>Encouraging More Face-to-Face Interactions</a:t>
            </a:r>
          </a:p>
        </p:txBody>
      </p:sp>
      <p:sp>
        <p:nvSpPr>
          <p:cNvPr id="22533"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734D694-D08E-4893-8645-A8AFEF63C205}"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81000" y="1981200"/>
            <a:ext cx="8458200" cy="4343400"/>
          </a:xfrm>
        </p:spPr>
        <p:txBody>
          <a:bodyPr/>
          <a:lstStyle/>
          <a:p>
            <a:pPr>
              <a:spcBef>
                <a:spcPct val="100000"/>
              </a:spcBef>
              <a:buClr>
                <a:srgbClr val="666699"/>
              </a:buClr>
              <a:buFont typeface="Wingdings" pitchFamily="2" charset="2"/>
              <a:buChar char="§"/>
            </a:pPr>
            <a:r>
              <a:rPr lang="en-US" dirty="0"/>
              <a:t>Don’t bury </a:t>
            </a:r>
            <a:r>
              <a:rPr lang="en-US" b="1" dirty="0"/>
              <a:t>crucial information</a:t>
            </a:r>
          </a:p>
          <a:p>
            <a:pPr>
              <a:spcBef>
                <a:spcPct val="100000"/>
              </a:spcBef>
              <a:buClr>
                <a:srgbClr val="666699"/>
              </a:buClr>
              <a:buFont typeface="Wingdings" pitchFamily="2" charset="2"/>
              <a:buChar char="§"/>
            </a:pPr>
            <a:r>
              <a:rPr lang="en-US" dirty="0"/>
              <a:t>Don’t be afraid to report </a:t>
            </a:r>
            <a:r>
              <a:rPr lang="en-US" b="1" dirty="0"/>
              <a:t>bad information</a:t>
            </a:r>
          </a:p>
          <a:p>
            <a:pPr>
              <a:spcBef>
                <a:spcPct val="100000"/>
              </a:spcBef>
              <a:buClr>
                <a:srgbClr val="666699"/>
              </a:buClr>
              <a:buFont typeface="Wingdings" pitchFamily="2" charset="2"/>
              <a:buChar char="§"/>
            </a:pPr>
            <a:r>
              <a:rPr lang="en-US" b="1" dirty="0"/>
              <a:t>Oral communication </a:t>
            </a:r>
            <a:r>
              <a:rPr lang="en-US" dirty="0"/>
              <a:t>via meetings and informal talks helps bring important information</a:t>
            </a:r>
            <a:r>
              <a:rPr lang="en-US" dirty="0">
                <a:cs typeface="Times New Roman" pitchFamily="18" charset="0"/>
              </a:rPr>
              <a:t>—</a:t>
            </a:r>
            <a:r>
              <a:rPr lang="en-US" dirty="0"/>
              <a:t>good and bad</a:t>
            </a:r>
            <a:r>
              <a:rPr lang="en-US" dirty="0">
                <a:cs typeface="Times New Roman" pitchFamily="18" charset="0"/>
              </a:rPr>
              <a:t>—</a:t>
            </a:r>
            <a:r>
              <a:rPr lang="en-US" dirty="0"/>
              <a:t>out into the open</a:t>
            </a:r>
          </a:p>
        </p:txBody>
      </p:sp>
      <p:sp>
        <p:nvSpPr>
          <p:cNvPr id="20482" name="Rectangle 2"/>
          <p:cNvSpPr>
            <a:spLocks noGrp="1" noChangeArrowheads="1"/>
          </p:cNvSpPr>
          <p:nvPr>
            <p:ph type="title"/>
          </p:nvPr>
        </p:nvSpPr>
        <p:spPr/>
        <p:txBody>
          <a:bodyPr>
            <a:normAutofit fontScale="90000"/>
          </a:bodyPr>
          <a:lstStyle/>
          <a:p>
            <a:r>
              <a:rPr lang="en-US" dirty="0"/>
              <a:t>Distributing Information in an Effective and Timely Manner</a:t>
            </a:r>
          </a:p>
        </p:txBody>
      </p:sp>
      <p:sp>
        <p:nvSpPr>
          <p:cNvPr id="20485"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D18C68D1-3354-47B1-B13F-4C776BE79FAF}"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81000" y="1600200"/>
            <a:ext cx="8458200" cy="4572000"/>
          </a:xfrm>
        </p:spPr>
        <p:txBody>
          <a:bodyPr/>
          <a:lstStyle/>
          <a:p>
            <a:pPr>
              <a:spcBef>
                <a:spcPct val="80000"/>
              </a:spcBef>
              <a:buClr>
                <a:srgbClr val="666699"/>
              </a:buClr>
            </a:pPr>
            <a:r>
              <a:rPr lang="en-US" dirty="0"/>
              <a:t>Rarely does the receiver interpret a message exactly as the sender intended</a:t>
            </a:r>
          </a:p>
          <a:p>
            <a:pPr>
              <a:spcBef>
                <a:spcPct val="80000"/>
              </a:spcBef>
              <a:buClr>
                <a:srgbClr val="666699"/>
              </a:buClr>
            </a:pPr>
            <a:r>
              <a:rPr lang="en-US" dirty="0"/>
              <a:t>Geographic location and cultural background affect the complexity of project communications</a:t>
            </a:r>
          </a:p>
          <a:p>
            <a:pPr lvl="1">
              <a:spcBef>
                <a:spcPct val="80000"/>
              </a:spcBef>
              <a:buClr>
                <a:srgbClr val="666699"/>
              </a:buClr>
            </a:pPr>
            <a:r>
              <a:rPr lang="en-US" dirty="0"/>
              <a:t>Different working hours</a:t>
            </a:r>
          </a:p>
          <a:p>
            <a:pPr lvl="1">
              <a:spcBef>
                <a:spcPct val="80000"/>
              </a:spcBef>
              <a:buClr>
                <a:srgbClr val="666699"/>
              </a:buClr>
            </a:pPr>
            <a:r>
              <a:rPr lang="en-US" dirty="0"/>
              <a:t>Language barriers</a:t>
            </a:r>
          </a:p>
          <a:p>
            <a:pPr lvl="1">
              <a:spcBef>
                <a:spcPct val="80000"/>
              </a:spcBef>
              <a:buClr>
                <a:srgbClr val="666699"/>
              </a:buClr>
            </a:pPr>
            <a:r>
              <a:rPr lang="en-US" dirty="0"/>
              <a:t>Different cultural norms</a:t>
            </a:r>
          </a:p>
          <a:p>
            <a:endParaRPr lang="en-US" dirty="0"/>
          </a:p>
        </p:txBody>
      </p:sp>
      <p:sp>
        <p:nvSpPr>
          <p:cNvPr id="27650" name="Rectangle 2"/>
          <p:cNvSpPr>
            <a:spLocks noGrp="1" noChangeArrowheads="1"/>
          </p:cNvSpPr>
          <p:nvPr>
            <p:ph type="title"/>
          </p:nvPr>
        </p:nvSpPr>
        <p:spPr/>
        <p:txBody>
          <a:bodyPr>
            <a:normAutofit fontScale="90000"/>
          </a:bodyPr>
          <a:lstStyle/>
          <a:p>
            <a:r>
              <a:rPr lang="en-US" dirty="0"/>
              <a:t>Other Communication Considerations</a:t>
            </a:r>
          </a:p>
        </p:txBody>
      </p:sp>
      <p:sp>
        <p:nvSpPr>
          <p:cNvPr id="27653"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3ED1362-77DC-4486-BA61-3B6FCC150406}"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381000" y="2057400"/>
            <a:ext cx="8458200" cy="4267200"/>
          </a:xfrm>
        </p:spPr>
        <p:txBody>
          <a:bodyPr/>
          <a:lstStyle/>
          <a:p>
            <a:pPr>
              <a:buClr>
                <a:srgbClr val="666699"/>
              </a:buClr>
            </a:pPr>
            <a:r>
              <a:rPr lang="en-US" dirty="0"/>
              <a:t>As the number of people involved increases, the complexity of communications increases because there are more communications channels or pathways through which people can communicate.</a:t>
            </a:r>
          </a:p>
          <a:p>
            <a:pPr>
              <a:buClr>
                <a:srgbClr val="666699"/>
              </a:buClr>
            </a:pPr>
            <a:r>
              <a:rPr lang="en-US" dirty="0"/>
              <a:t>Number of communications channels = </a:t>
            </a:r>
            <a:r>
              <a:rPr lang="en-US" i="1" u="sng" dirty="0"/>
              <a:t>n</a:t>
            </a:r>
            <a:r>
              <a:rPr lang="en-US" u="sng" dirty="0"/>
              <a:t>(</a:t>
            </a:r>
            <a:r>
              <a:rPr lang="en-US" i="1" u="sng" dirty="0"/>
              <a:t>n-1</a:t>
            </a:r>
            <a:r>
              <a:rPr lang="en-US" u="sng" dirty="0"/>
              <a:t>)</a:t>
            </a:r>
            <a:endParaRPr lang="en-US" dirty="0"/>
          </a:p>
          <a:p>
            <a:pPr>
              <a:buClr>
                <a:srgbClr val="666699"/>
              </a:buClr>
              <a:buNone/>
            </a:pPr>
            <a:r>
              <a:rPr lang="en-US" dirty="0"/>
              <a:t>				      			 	     2		 </a:t>
            </a:r>
            <a:br>
              <a:rPr lang="en-US" dirty="0"/>
            </a:br>
            <a:r>
              <a:rPr lang="en-US" dirty="0"/>
              <a:t>where</a:t>
            </a:r>
            <a:r>
              <a:rPr lang="en-US" i="1" dirty="0"/>
              <a:t> n</a:t>
            </a:r>
            <a:r>
              <a:rPr lang="en-US" dirty="0"/>
              <a:t> is the number of people involved</a:t>
            </a:r>
          </a:p>
        </p:txBody>
      </p:sp>
      <p:sp>
        <p:nvSpPr>
          <p:cNvPr id="29698" name="Rectangle 2"/>
          <p:cNvSpPr>
            <a:spLocks noGrp="1" noChangeArrowheads="1"/>
          </p:cNvSpPr>
          <p:nvPr>
            <p:ph type="title"/>
          </p:nvPr>
        </p:nvSpPr>
        <p:spPr/>
        <p:txBody>
          <a:bodyPr>
            <a:normAutofit fontScale="90000"/>
          </a:bodyPr>
          <a:lstStyle/>
          <a:p>
            <a:r>
              <a:rPr lang="en-US" dirty="0"/>
              <a:t>Determining the Number of Communications Channels</a:t>
            </a:r>
          </a:p>
        </p:txBody>
      </p:sp>
      <p:sp>
        <p:nvSpPr>
          <p:cNvPr id="29701"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9A9DAF9-50B2-4BD0-A6D7-3428D1B547B9}"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r>
              <a:rPr lang="en-US" sz="3600" dirty="0"/>
              <a:t>Figure 10-2. The Impact of the Number of People on Communications Channels</a:t>
            </a:r>
            <a:endParaRPr lang="en-US" sz="4400" dirty="0"/>
          </a:p>
        </p:txBody>
      </p:sp>
      <p:sp>
        <p:nvSpPr>
          <p:cNvPr id="30725" name="Footer Placeholder 6"/>
          <p:cNvSpPr>
            <a:spLocks noGrp="1"/>
          </p:cNvSpPr>
          <p:nvPr>
            <p:ph type="ftr" sz="quarter" idx="10"/>
          </p:nvPr>
        </p:nvSpPr>
        <p:spPr bwMode="auto">
          <a:noFill/>
          <a:ln>
            <a:miter lim="800000"/>
            <a:headEnd/>
            <a:tailEnd/>
          </a:ln>
        </p:spPr>
        <p:txBody>
          <a:bodyPr/>
          <a:lstStyle/>
          <a:p>
            <a:pPr>
              <a:buFontTx/>
              <a:buNone/>
            </a:pPr>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97773767-0404-439F-BDD5-8029323C6671}" type="slidenum">
              <a:rPr lang="en-US" smtClean="0"/>
              <a:pPr>
                <a:defRPr/>
              </a:pPr>
              <a:t>16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295400"/>
            <a:ext cx="7599043" cy="51377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p:txBody>
          <a:bodyPr/>
          <a:lstStyle/>
          <a:p>
            <a:pPr>
              <a:spcBef>
                <a:spcPct val="100000"/>
              </a:spcBef>
              <a:buClr>
                <a:srgbClr val="666699"/>
              </a:buClr>
              <a:buFont typeface="Wingdings" pitchFamily="2" charset="2"/>
              <a:buChar char="§"/>
            </a:pPr>
            <a:r>
              <a:rPr lang="en-US" dirty="0"/>
              <a:t>Every project should include some type of </a:t>
            </a:r>
            <a:r>
              <a:rPr lang="en-US" b="1" dirty="0"/>
              <a:t>communications management </a:t>
            </a:r>
            <a:r>
              <a:rPr lang="en-US" dirty="0"/>
              <a:t>plan, a document that guides project communications</a:t>
            </a:r>
          </a:p>
          <a:p>
            <a:r>
              <a:rPr lang="en-US" dirty="0"/>
              <a:t>The communications management plan varies with the needs of the project, but some type of written plan should always be prepared</a:t>
            </a:r>
          </a:p>
          <a:p>
            <a:r>
              <a:rPr lang="en-US" dirty="0"/>
              <a:t>For small projects, the communications management plan can be part of the team contract</a:t>
            </a:r>
          </a:p>
          <a:p>
            <a:r>
              <a:rPr lang="en-US" dirty="0"/>
              <a:t>For large projects, it should be a separate document</a:t>
            </a:r>
          </a:p>
        </p:txBody>
      </p:sp>
      <p:sp>
        <p:nvSpPr>
          <p:cNvPr id="14338" name="Rectangle 2"/>
          <p:cNvSpPr>
            <a:spLocks noGrp="1" noChangeArrowheads="1"/>
          </p:cNvSpPr>
          <p:nvPr>
            <p:ph type="title"/>
          </p:nvPr>
        </p:nvSpPr>
        <p:spPr/>
        <p:txBody>
          <a:bodyPr>
            <a:normAutofit fontScale="90000"/>
          </a:bodyPr>
          <a:lstStyle/>
          <a:p>
            <a:r>
              <a:rPr lang="en-US" dirty="0"/>
              <a:t>Planning Communications Management</a:t>
            </a:r>
          </a:p>
        </p:txBody>
      </p:sp>
      <p:sp>
        <p:nvSpPr>
          <p:cNvPr id="14341"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6750A1E-0D14-4AFD-BFA9-02B84F7E0A76}"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381000" y="1219200"/>
            <a:ext cx="8458200" cy="4419600"/>
          </a:xfrm>
        </p:spPr>
        <p:txBody>
          <a:bodyPr/>
          <a:lstStyle/>
          <a:p>
            <a:pPr marL="109537" indent="0">
              <a:buNone/>
            </a:pPr>
            <a:r>
              <a:rPr lang="en-US" sz="2400" dirty="0"/>
              <a:t>1. Stakeholder communications requirements</a:t>
            </a:r>
          </a:p>
          <a:p>
            <a:pPr marL="109537" indent="0">
              <a:buNone/>
            </a:pPr>
            <a:r>
              <a:rPr lang="en-US" sz="2400" dirty="0"/>
              <a:t>2. Information to be communicated, including format, content, and level of detail</a:t>
            </a:r>
          </a:p>
          <a:p>
            <a:pPr marL="109537" indent="0">
              <a:buNone/>
            </a:pPr>
            <a:r>
              <a:rPr lang="en-US" sz="2400" dirty="0"/>
              <a:t>3. Who will receive the information and who will produce it</a:t>
            </a:r>
          </a:p>
          <a:p>
            <a:pPr marL="109537" indent="0">
              <a:buNone/>
            </a:pPr>
            <a:r>
              <a:rPr lang="en-US" sz="2400" dirty="0"/>
              <a:t>4. Suggested methods or technologies for conveying the information</a:t>
            </a:r>
          </a:p>
          <a:p>
            <a:pPr marL="109537" indent="0">
              <a:buNone/>
            </a:pPr>
            <a:r>
              <a:rPr lang="en-US" sz="2400" dirty="0"/>
              <a:t>5. Frequency of communication</a:t>
            </a:r>
          </a:p>
          <a:p>
            <a:pPr marL="109537" indent="0">
              <a:buNone/>
            </a:pPr>
            <a:r>
              <a:rPr lang="en-US" sz="2400" dirty="0"/>
              <a:t>6. Escalation procedures for resolving issues</a:t>
            </a:r>
          </a:p>
          <a:p>
            <a:pPr marL="109537" indent="0">
              <a:buNone/>
            </a:pPr>
            <a:r>
              <a:rPr lang="en-US" sz="2400" dirty="0"/>
              <a:t>7. Revision procedures for updating the communications management plan</a:t>
            </a:r>
          </a:p>
          <a:p>
            <a:pPr marL="109537" indent="0">
              <a:buNone/>
            </a:pPr>
            <a:r>
              <a:rPr lang="en-US" sz="2400" dirty="0"/>
              <a:t>8. A glossary of common terminology</a:t>
            </a:r>
          </a:p>
        </p:txBody>
      </p:sp>
      <p:sp>
        <p:nvSpPr>
          <p:cNvPr id="15362" name="Rectangle 2"/>
          <p:cNvSpPr>
            <a:spLocks noGrp="1" noChangeArrowheads="1"/>
          </p:cNvSpPr>
          <p:nvPr>
            <p:ph type="title"/>
          </p:nvPr>
        </p:nvSpPr>
        <p:spPr>
          <a:xfrm>
            <a:off x="457200" y="0"/>
            <a:ext cx="8229600" cy="1143000"/>
          </a:xfrm>
        </p:spPr>
        <p:txBody>
          <a:bodyPr>
            <a:normAutofit fontScale="90000"/>
          </a:bodyPr>
          <a:lstStyle/>
          <a:p>
            <a:r>
              <a:rPr lang="en-US" dirty="0"/>
              <a:t>Communications Management</a:t>
            </a:r>
            <a:br>
              <a:rPr lang="en-US" dirty="0"/>
            </a:br>
            <a:r>
              <a:rPr lang="en-US" dirty="0"/>
              <a:t>Plan Contents</a:t>
            </a:r>
          </a:p>
        </p:txBody>
      </p:sp>
      <p:sp>
        <p:nvSpPr>
          <p:cNvPr id="15365"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1901660-625A-429A-86A8-6CD93411A105}"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0"/>
            <a:ext cx="8229600" cy="1143000"/>
          </a:xfrm>
        </p:spPr>
        <p:txBody>
          <a:bodyPr>
            <a:normAutofit fontScale="90000"/>
          </a:bodyPr>
          <a:lstStyle/>
          <a:p>
            <a:r>
              <a:rPr lang="en-US" sz="3600" dirty="0"/>
              <a:t>Table 10-1. Sample Stakeholder Analysis for Project Communications</a:t>
            </a:r>
          </a:p>
        </p:txBody>
      </p:sp>
      <p:sp>
        <p:nvSpPr>
          <p:cNvPr id="17412" name="Footer Placeholder 7"/>
          <p:cNvSpPr>
            <a:spLocks noGrp="1"/>
          </p:cNvSpPr>
          <p:nvPr>
            <p:ph type="ftr" sz="quarter" idx="10"/>
          </p:nvPr>
        </p:nvSpPr>
        <p:spPr bwMode="auto">
          <a:noFill/>
          <a:ln>
            <a:miter lim="800000"/>
            <a:headEnd/>
            <a:tailEnd/>
          </a:ln>
        </p:spPr>
        <p:txBody>
          <a:bodyPr/>
          <a:lstStyle/>
          <a:p>
            <a:pPr>
              <a:buFontTx/>
              <a:buNone/>
            </a:pPr>
            <a:r>
              <a:rPr lang="en-US" dirty="0"/>
              <a:t>Information Technology Project Management, Seventh Edition</a:t>
            </a:r>
          </a:p>
        </p:txBody>
      </p:sp>
      <p:sp>
        <p:nvSpPr>
          <p:cNvPr id="7" name="Slide Number Placeholder 6"/>
          <p:cNvSpPr>
            <a:spLocks noGrp="1"/>
          </p:cNvSpPr>
          <p:nvPr>
            <p:ph type="sldNum" sz="quarter" idx="11"/>
          </p:nvPr>
        </p:nvSpPr>
        <p:spPr/>
        <p:txBody>
          <a:bodyPr/>
          <a:lstStyle/>
          <a:p>
            <a:pPr>
              <a:buFontTx/>
              <a:buNone/>
              <a:defRPr/>
            </a:pPr>
            <a:fld id="{59E06270-8745-46BE-905A-87514833B8ED}" type="slidenum">
              <a:rPr lang="en-US" smtClean="0"/>
              <a:pPr>
                <a:buFontTx/>
                <a:buNone/>
                <a:defRPr/>
              </a:pPr>
              <a:t>19</a:t>
            </a:fld>
            <a:endParaRPr lang="en-US" dirty="0"/>
          </a:p>
        </p:txBody>
      </p:sp>
      <p:pic>
        <p:nvPicPr>
          <p:cNvPr id="17415" name="Picture 7"/>
          <p:cNvPicPr>
            <a:picLocks noChangeAspect="1" noChangeArrowheads="1"/>
          </p:cNvPicPr>
          <p:nvPr/>
        </p:nvPicPr>
        <p:blipFill>
          <a:blip r:embed="rId2"/>
          <a:srcRect l="23125" t="29000" r="26875" b="13000"/>
          <a:stretch>
            <a:fillRect/>
          </a:stretch>
        </p:blipFill>
        <p:spPr bwMode="auto">
          <a:xfrm>
            <a:off x="914400" y="1143000"/>
            <a:ext cx="7147034" cy="51816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Managing communications is a large part of a project manager’s job</a:t>
            </a:r>
          </a:p>
          <a:p>
            <a:r>
              <a:rPr lang="en-US" dirty="0"/>
              <a:t>Getting project information to the right people at the right time and in a useful format is just as important as developing the information in the first place</a:t>
            </a:r>
          </a:p>
          <a:p>
            <a:r>
              <a:rPr lang="en-US" dirty="0"/>
              <a:t>Important considerations include </a:t>
            </a:r>
            <a:r>
              <a:rPr lang="en-US" b="1" dirty="0"/>
              <a:t>the use of technology</a:t>
            </a:r>
            <a:r>
              <a:rPr lang="en-US" dirty="0"/>
              <a:t>, the appropriate methods and </a:t>
            </a:r>
            <a:r>
              <a:rPr lang="en-US" b="1" dirty="0"/>
              <a:t>media </a:t>
            </a:r>
            <a:r>
              <a:rPr lang="en-US" dirty="0"/>
              <a:t>to use, and </a:t>
            </a:r>
            <a:r>
              <a:rPr lang="en-US" b="1" dirty="0"/>
              <a:t>performance reporting</a:t>
            </a:r>
          </a:p>
        </p:txBody>
      </p:sp>
      <p:sp>
        <p:nvSpPr>
          <p:cNvPr id="3" name="Title 2"/>
          <p:cNvSpPr>
            <a:spLocks noGrp="1"/>
          </p:cNvSpPr>
          <p:nvPr>
            <p:ph type="title"/>
          </p:nvPr>
        </p:nvSpPr>
        <p:spPr/>
        <p:txBody>
          <a:bodyPr/>
          <a:lstStyle/>
          <a:p>
            <a:r>
              <a:rPr lang="en-US" dirty="0"/>
              <a:t>Managing Communications</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20</a:t>
            </a:fld>
            <a:endParaRPr lang="en-US" dirty="0"/>
          </a:p>
        </p:txBody>
      </p:sp>
    </p:spTree>
    <p:extLst>
      <p:ext uri="{BB962C8B-B14F-4D97-AF65-F5344CB8AC3E}">
        <p14:creationId xmlns:p14="http://schemas.microsoft.com/office/powerpoint/2010/main" val="4288651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Technology can </a:t>
            </a:r>
            <a:r>
              <a:rPr lang="en-US" b="1" dirty="0"/>
              <a:t>facilitate</a:t>
            </a:r>
            <a:r>
              <a:rPr lang="en-US" dirty="0"/>
              <a:t> the process of creating and distributing information, when used properly</a:t>
            </a:r>
          </a:p>
          <a:p>
            <a:r>
              <a:rPr lang="en-US" dirty="0"/>
              <a:t>It is important to select the appropriate communication method and media</a:t>
            </a:r>
          </a:p>
        </p:txBody>
      </p:sp>
      <p:sp>
        <p:nvSpPr>
          <p:cNvPr id="3" name="Title 2"/>
          <p:cNvSpPr>
            <a:spLocks noGrp="1"/>
          </p:cNvSpPr>
          <p:nvPr>
            <p:ph type="title"/>
          </p:nvPr>
        </p:nvSpPr>
        <p:spPr/>
        <p:txBody>
          <a:bodyPr>
            <a:normAutofit fontScale="90000"/>
          </a:bodyPr>
          <a:lstStyle/>
          <a:p>
            <a:r>
              <a:rPr lang="en-US" dirty="0"/>
              <a:t>Using Technology to Enhance Creation and Distribution</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21</a:t>
            </a:fld>
            <a:endParaRPr lang="en-US" dirty="0"/>
          </a:p>
        </p:txBody>
      </p:sp>
    </p:spTree>
    <p:extLst>
      <p:ext uri="{BB962C8B-B14F-4D97-AF65-F5344CB8AC3E}">
        <p14:creationId xmlns:p14="http://schemas.microsoft.com/office/powerpoint/2010/main" val="628216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Natural disasters often disrupt communications around the world. For example, the scale of the damage to Japan’s communications infrastructure after a 9.0 magnitude earthquake in March 2011 was unprecedented. Fortunately, thousands of employees from NTT East worked around the clock to restore communications. As a result of their efforts, 4.75 million public phone calls were made on the day after the disaster.</a:t>
            </a:r>
          </a:p>
        </p:txBody>
      </p:sp>
      <p:sp>
        <p:nvSpPr>
          <p:cNvPr id="3" name="Title 2"/>
          <p:cNvSpPr>
            <a:spLocks noGrp="1"/>
          </p:cNvSpPr>
          <p:nvPr>
            <p:ph type="title"/>
          </p:nvPr>
        </p:nvSpPr>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22</a:t>
            </a:fld>
            <a:endParaRPr lang="en-US" dirty="0"/>
          </a:p>
        </p:txBody>
      </p:sp>
    </p:spTree>
    <p:extLst>
      <p:ext uri="{BB962C8B-B14F-4D97-AF65-F5344CB8AC3E}">
        <p14:creationId xmlns:p14="http://schemas.microsoft.com/office/powerpoint/2010/main" val="3635312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b="1" i="1" dirty="0"/>
              <a:t>Interactive communication</a:t>
            </a:r>
            <a:r>
              <a:rPr lang="en-US" sz="2400" dirty="0"/>
              <a:t>: Two or more people interact to exchange information via meetings, phone calls, or video conferencing. Most effective way to ensure common understanding</a:t>
            </a:r>
          </a:p>
          <a:p>
            <a:r>
              <a:rPr lang="en-US" sz="2400" b="1" i="1" dirty="0"/>
              <a:t>Push communication</a:t>
            </a:r>
            <a:r>
              <a:rPr lang="en-US" sz="2400" dirty="0"/>
              <a:t>: Information is sent or pushed to recipients without their request via reports, e-mails, faxes, voice mails, and other means. Ensures that the information is distributed, but does not ensure that it was received or understood</a:t>
            </a:r>
          </a:p>
          <a:p>
            <a:r>
              <a:rPr lang="en-US" sz="2400" b="1" i="1" dirty="0"/>
              <a:t>Pull communication</a:t>
            </a:r>
            <a:r>
              <a:rPr lang="en-US" sz="2400" dirty="0"/>
              <a:t>: Information is sent to recipients at their request via Web sites, bulletin boards, e-learning, knowledge repositories like blogs, and other means</a:t>
            </a:r>
          </a:p>
        </p:txBody>
      </p:sp>
      <p:sp>
        <p:nvSpPr>
          <p:cNvPr id="3" name="Title 2"/>
          <p:cNvSpPr>
            <a:spLocks noGrp="1"/>
          </p:cNvSpPr>
          <p:nvPr>
            <p:ph type="title"/>
          </p:nvPr>
        </p:nvSpPr>
        <p:spPr/>
        <p:txBody>
          <a:bodyPr>
            <a:normAutofit fontScale="90000"/>
          </a:bodyPr>
          <a:lstStyle/>
          <a:p>
            <a:r>
              <a:rPr lang="en-US" dirty="0"/>
              <a:t>Classifications for Communication Methods</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23</a:t>
            </a:fld>
            <a:endParaRPr lang="en-US" dirty="0"/>
          </a:p>
        </p:txBody>
      </p:sp>
    </p:spTree>
    <p:extLst>
      <p:ext uri="{BB962C8B-B14F-4D97-AF65-F5344CB8AC3E}">
        <p14:creationId xmlns:p14="http://schemas.microsoft.com/office/powerpoint/2010/main" val="2303847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0"/>
            <a:ext cx="8229600" cy="1143000"/>
          </a:xfrm>
        </p:spPr>
        <p:txBody>
          <a:bodyPr/>
          <a:lstStyle/>
          <a:p>
            <a:r>
              <a:rPr lang="en-US" dirty="0"/>
              <a:t>Table 10-2. Media Choice Table</a:t>
            </a:r>
          </a:p>
        </p:txBody>
      </p:sp>
      <p:sp>
        <p:nvSpPr>
          <p:cNvPr id="23557" name="Footer Placeholder 6"/>
          <p:cNvSpPr>
            <a:spLocks noGrp="1"/>
          </p:cNvSpPr>
          <p:nvPr>
            <p:ph type="ftr" sz="quarter" idx="10"/>
          </p:nvPr>
        </p:nvSpPr>
        <p:spPr bwMode="auto">
          <a:noFill/>
          <a:ln>
            <a:miter lim="800000"/>
            <a:headEnd/>
            <a:tailEnd/>
          </a:ln>
        </p:spPr>
        <p:txBody>
          <a:bodyPr/>
          <a:lstStyle/>
          <a:p>
            <a:pPr>
              <a:buFontTx/>
              <a:buNone/>
            </a:pPr>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95391B64-C9E9-4235-A033-31FD3F518CEE}" type="slidenum">
              <a:rPr lang="en-US" smtClean="0"/>
              <a:pPr>
                <a:buFontTx/>
                <a:buNone/>
                <a:defRPr/>
              </a:pPr>
              <a:t>24</a:t>
            </a:fld>
            <a:endParaRPr lang="en-US" dirty="0"/>
          </a:p>
        </p:txBody>
      </p:sp>
      <p:pic>
        <p:nvPicPr>
          <p:cNvPr id="23555" name="Picture 3"/>
          <p:cNvPicPr>
            <a:picLocks noChangeAspect="1" noChangeArrowheads="1"/>
          </p:cNvPicPr>
          <p:nvPr/>
        </p:nvPicPr>
        <p:blipFill>
          <a:blip r:embed="rId2"/>
          <a:srcRect/>
          <a:stretch>
            <a:fillRect/>
          </a:stretch>
        </p:blipFill>
        <p:spPr bwMode="auto">
          <a:xfrm>
            <a:off x="1676400" y="838200"/>
            <a:ext cx="5715000" cy="5487987"/>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381000" y="1447800"/>
            <a:ext cx="8534400" cy="5029200"/>
          </a:xfrm>
        </p:spPr>
        <p:txBody>
          <a:bodyPr/>
          <a:lstStyle/>
          <a:p>
            <a:pPr>
              <a:spcBef>
                <a:spcPct val="80000"/>
              </a:spcBef>
              <a:buClr>
                <a:srgbClr val="666699"/>
              </a:buClr>
              <a:buNone/>
            </a:pPr>
            <a:r>
              <a:rPr lang="en-US" dirty="0"/>
              <a:t>   Performance reporting keeps stakeholders informed about how resources are being used to achieve project objectives</a:t>
            </a:r>
          </a:p>
          <a:p>
            <a:pPr lvl="1">
              <a:spcBef>
                <a:spcPct val="80000"/>
              </a:spcBef>
              <a:buClr>
                <a:srgbClr val="666699"/>
              </a:buClr>
            </a:pPr>
            <a:r>
              <a:rPr lang="en-US" b="1" dirty="0"/>
              <a:t>Status reports</a:t>
            </a:r>
            <a:r>
              <a:rPr lang="en-US" dirty="0"/>
              <a:t> describe where the project stands at a specific point in time</a:t>
            </a:r>
          </a:p>
          <a:p>
            <a:pPr lvl="1">
              <a:spcBef>
                <a:spcPct val="80000"/>
              </a:spcBef>
              <a:buClr>
                <a:srgbClr val="666699"/>
              </a:buClr>
            </a:pPr>
            <a:r>
              <a:rPr lang="en-US" b="1" dirty="0"/>
              <a:t>Progress reports</a:t>
            </a:r>
            <a:r>
              <a:rPr lang="en-US" dirty="0"/>
              <a:t> describe what the project team has accomplished during a certain period of time</a:t>
            </a:r>
          </a:p>
          <a:p>
            <a:pPr lvl="1">
              <a:spcBef>
                <a:spcPct val="80000"/>
              </a:spcBef>
              <a:buClr>
                <a:srgbClr val="666699"/>
              </a:buClr>
            </a:pPr>
            <a:r>
              <a:rPr lang="en-US" b="1" dirty="0"/>
              <a:t>Forecasts</a:t>
            </a:r>
            <a:r>
              <a:rPr lang="en-US" dirty="0"/>
              <a:t> predict future project status and progress based on past information and trends</a:t>
            </a:r>
          </a:p>
        </p:txBody>
      </p:sp>
      <p:sp>
        <p:nvSpPr>
          <p:cNvPr id="31746" name="Rectangle 2"/>
          <p:cNvSpPr>
            <a:spLocks noGrp="1" noChangeArrowheads="1"/>
          </p:cNvSpPr>
          <p:nvPr>
            <p:ph type="title"/>
          </p:nvPr>
        </p:nvSpPr>
        <p:spPr/>
        <p:txBody>
          <a:bodyPr>
            <a:normAutofit/>
          </a:bodyPr>
          <a:lstStyle/>
          <a:p>
            <a:r>
              <a:rPr lang="en-US" dirty="0"/>
              <a:t>Reporting Performance</a:t>
            </a:r>
          </a:p>
        </p:txBody>
      </p:sp>
      <p:sp>
        <p:nvSpPr>
          <p:cNvPr id="31749"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A2B9A5C-0C64-41FA-8381-4F909A8E042F}"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534400" cy="4525962"/>
          </a:xfrm>
        </p:spPr>
        <p:txBody>
          <a:bodyPr/>
          <a:lstStyle/>
          <a:p>
            <a:r>
              <a:rPr lang="en-US" sz="2400" dirty="0"/>
              <a:t>The main goal of controlling communications is to </a:t>
            </a:r>
            <a:r>
              <a:rPr lang="en-US" sz="2400" b="1" dirty="0"/>
              <a:t>ensure the optimal flow of information </a:t>
            </a:r>
            <a:r>
              <a:rPr lang="en-US" sz="2400" dirty="0"/>
              <a:t>throughout the entire project life cycle</a:t>
            </a:r>
          </a:p>
          <a:p>
            <a:r>
              <a:rPr lang="en-US" sz="2400" dirty="0"/>
              <a:t>The project manager and project team should use their various </a:t>
            </a:r>
            <a:r>
              <a:rPr lang="en-US" sz="2400" b="1" dirty="0"/>
              <a:t>reporting systems, expert judgment, and meetings </a:t>
            </a:r>
            <a:r>
              <a:rPr lang="en-US" sz="2400" dirty="0"/>
              <a:t>to assess how well communications are working. If problems exist, the project manager and team need to take action, which often requires changes to the earlier processes of planning and managing project communications</a:t>
            </a:r>
          </a:p>
          <a:p>
            <a:r>
              <a:rPr lang="en-US" sz="2400" dirty="0"/>
              <a:t>It is often beneficial to have a facilitator from outside the project team assess how well communications are working</a:t>
            </a:r>
          </a:p>
        </p:txBody>
      </p:sp>
      <p:sp>
        <p:nvSpPr>
          <p:cNvPr id="3" name="Title 2"/>
          <p:cNvSpPr>
            <a:spLocks noGrp="1"/>
          </p:cNvSpPr>
          <p:nvPr>
            <p:ph type="title"/>
          </p:nvPr>
        </p:nvSpPr>
        <p:spPr/>
        <p:txBody>
          <a:bodyPr/>
          <a:lstStyle/>
          <a:p>
            <a:r>
              <a:rPr lang="en-US" dirty="0"/>
              <a:t>Controlling Communications</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26</a:t>
            </a:fld>
            <a:endParaRPr lang="en-US" dirty="0"/>
          </a:p>
        </p:txBody>
      </p:sp>
    </p:spTree>
    <p:extLst>
      <p:ext uri="{BB962C8B-B14F-4D97-AF65-F5344CB8AC3E}">
        <p14:creationId xmlns:p14="http://schemas.microsoft.com/office/powerpoint/2010/main" val="1298207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381000" y="1905000"/>
            <a:ext cx="8458200" cy="4343400"/>
          </a:xfrm>
        </p:spPr>
        <p:txBody>
          <a:bodyPr/>
          <a:lstStyle/>
          <a:p>
            <a:pPr>
              <a:spcBef>
                <a:spcPct val="100000"/>
              </a:spcBef>
              <a:buClr>
                <a:srgbClr val="666699"/>
              </a:buClr>
            </a:pPr>
            <a:r>
              <a:rPr lang="en-US" dirty="0"/>
              <a:t>Develop better communication skills</a:t>
            </a:r>
          </a:p>
          <a:p>
            <a:pPr>
              <a:spcBef>
                <a:spcPct val="100000"/>
              </a:spcBef>
              <a:buClr>
                <a:srgbClr val="666699"/>
              </a:buClr>
            </a:pPr>
            <a:r>
              <a:rPr lang="en-US" dirty="0"/>
              <a:t>Run effective meetings</a:t>
            </a:r>
          </a:p>
          <a:p>
            <a:pPr>
              <a:spcBef>
                <a:spcPct val="100000"/>
              </a:spcBef>
              <a:buClr>
                <a:srgbClr val="666699"/>
              </a:buClr>
            </a:pPr>
            <a:r>
              <a:rPr lang="en-US" dirty="0"/>
              <a:t>Use e-mail and other technologies effectively</a:t>
            </a:r>
          </a:p>
          <a:p>
            <a:pPr>
              <a:spcBef>
                <a:spcPct val="100000"/>
              </a:spcBef>
              <a:buClr>
                <a:srgbClr val="666699"/>
              </a:buClr>
            </a:pPr>
            <a:r>
              <a:rPr lang="en-US" dirty="0"/>
              <a:t>Use templates for project communications</a:t>
            </a:r>
          </a:p>
          <a:p>
            <a:endParaRPr lang="en-US" dirty="0"/>
          </a:p>
          <a:p>
            <a:endParaRPr lang="en-US" dirty="0"/>
          </a:p>
        </p:txBody>
      </p:sp>
      <p:sp>
        <p:nvSpPr>
          <p:cNvPr id="35842" name="Rectangle 2"/>
          <p:cNvSpPr>
            <a:spLocks noGrp="1" noChangeArrowheads="1"/>
          </p:cNvSpPr>
          <p:nvPr>
            <p:ph type="title"/>
          </p:nvPr>
        </p:nvSpPr>
        <p:spPr/>
        <p:txBody>
          <a:bodyPr>
            <a:normAutofit fontScale="90000"/>
          </a:bodyPr>
          <a:lstStyle/>
          <a:p>
            <a:r>
              <a:rPr lang="en-US" dirty="0"/>
              <a:t>Suggestions for Improving Project Communications</a:t>
            </a:r>
          </a:p>
        </p:txBody>
      </p:sp>
      <p:sp>
        <p:nvSpPr>
          <p:cNvPr id="35845"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5BA7D44-575A-473D-AB4F-693D9AC55880}"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381000" y="1676400"/>
            <a:ext cx="8686800" cy="4572000"/>
          </a:xfrm>
        </p:spPr>
        <p:txBody>
          <a:bodyPr/>
          <a:lstStyle/>
          <a:p>
            <a:r>
              <a:rPr lang="en-US" dirty="0"/>
              <a:t>Most companies spend a lot of money on technical training for their employees, even when employees might </a:t>
            </a:r>
            <a:r>
              <a:rPr lang="en-US" b="1" dirty="0"/>
              <a:t>benefit more from communications training</a:t>
            </a:r>
          </a:p>
          <a:p>
            <a:r>
              <a:rPr lang="en-US" dirty="0"/>
              <a:t>Individual employees are also more likely to enroll voluntarily in classes to learn the latest technology than in classes that develop </a:t>
            </a:r>
            <a:r>
              <a:rPr lang="en-US" b="1" dirty="0"/>
              <a:t>soft skills</a:t>
            </a:r>
          </a:p>
          <a:p>
            <a:r>
              <a:rPr lang="en-US" dirty="0"/>
              <a:t>As organizations become </a:t>
            </a:r>
            <a:r>
              <a:rPr lang="en-US" b="1" dirty="0"/>
              <a:t>more global</a:t>
            </a:r>
            <a:r>
              <a:rPr lang="en-US" dirty="0"/>
              <a:t>, they realize they must invest in ways to improve communication with people from different countries and cultures</a:t>
            </a:r>
          </a:p>
          <a:p>
            <a:r>
              <a:rPr lang="en-US" dirty="0"/>
              <a:t>It takes </a:t>
            </a:r>
            <a:r>
              <a:rPr lang="en-US" b="1" dirty="0"/>
              <a:t>leadership</a:t>
            </a:r>
            <a:r>
              <a:rPr lang="en-US" dirty="0"/>
              <a:t> to improve communication</a:t>
            </a:r>
          </a:p>
        </p:txBody>
      </p:sp>
      <p:sp>
        <p:nvSpPr>
          <p:cNvPr id="38914" name="Rectangle 2"/>
          <p:cNvSpPr>
            <a:spLocks noGrp="1" noChangeArrowheads="1"/>
          </p:cNvSpPr>
          <p:nvPr>
            <p:ph type="title"/>
          </p:nvPr>
        </p:nvSpPr>
        <p:spPr>
          <a:xfrm>
            <a:off x="228600" y="228600"/>
            <a:ext cx="8686800" cy="1219200"/>
          </a:xfrm>
        </p:spPr>
        <p:txBody>
          <a:bodyPr>
            <a:normAutofit fontScale="90000"/>
          </a:bodyPr>
          <a:lstStyle/>
          <a:p>
            <a:r>
              <a:rPr lang="en-US" sz="4200" dirty="0"/>
              <a:t>Developing Better Communication Skills</a:t>
            </a:r>
          </a:p>
        </p:txBody>
      </p:sp>
      <p:sp>
        <p:nvSpPr>
          <p:cNvPr id="38917"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3421E75-015D-49C3-B778-9A793BB407F7}"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457200" y="1143000"/>
            <a:ext cx="8229600" cy="4525962"/>
          </a:xfrm>
        </p:spPr>
        <p:txBody>
          <a:bodyPr/>
          <a:lstStyle/>
          <a:p>
            <a:pPr>
              <a:buClr>
                <a:srgbClr val="666699"/>
              </a:buClr>
            </a:pPr>
            <a:r>
              <a:rPr lang="en-US" dirty="0"/>
              <a:t>Determine if a meeting can be avoided</a:t>
            </a:r>
          </a:p>
          <a:p>
            <a:pPr>
              <a:buClr>
                <a:srgbClr val="666699"/>
              </a:buClr>
            </a:pPr>
            <a:r>
              <a:rPr lang="en-US" dirty="0"/>
              <a:t>Define the purpose and intended outcome of the meeting</a:t>
            </a:r>
          </a:p>
          <a:p>
            <a:pPr>
              <a:buClr>
                <a:srgbClr val="666699"/>
              </a:buClr>
            </a:pPr>
            <a:r>
              <a:rPr lang="en-US" dirty="0"/>
              <a:t>Determine who should attend the meeting</a:t>
            </a:r>
          </a:p>
          <a:p>
            <a:pPr>
              <a:buClr>
                <a:srgbClr val="666699"/>
              </a:buClr>
            </a:pPr>
            <a:r>
              <a:rPr lang="en-US" dirty="0"/>
              <a:t>Provide an agenda to participants before the meeting</a:t>
            </a:r>
          </a:p>
          <a:p>
            <a:pPr>
              <a:buClr>
                <a:srgbClr val="666699"/>
              </a:buClr>
            </a:pPr>
            <a:r>
              <a:rPr lang="en-US" dirty="0"/>
              <a:t>Prepare handouts and visual aids, and make logistical arrangements ahead of time</a:t>
            </a:r>
          </a:p>
          <a:p>
            <a:pPr>
              <a:buClr>
                <a:srgbClr val="666699"/>
              </a:buClr>
            </a:pPr>
            <a:r>
              <a:rPr lang="en-US" dirty="0"/>
              <a:t>Run the meeting professionally</a:t>
            </a:r>
          </a:p>
          <a:p>
            <a:pPr>
              <a:buClr>
                <a:srgbClr val="666699"/>
              </a:buClr>
            </a:pPr>
            <a:r>
              <a:rPr lang="en-US" dirty="0"/>
              <a:t>Set the ground rules for the meeting</a:t>
            </a:r>
          </a:p>
          <a:p>
            <a:pPr>
              <a:buClr>
                <a:srgbClr val="666699"/>
              </a:buClr>
            </a:pPr>
            <a:r>
              <a:rPr lang="en-US" dirty="0"/>
              <a:t>Build relationships</a:t>
            </a:r>
          </a:p>
        </p:txBody>
      </p:sp>
      <p:sp>
        <p:nvSpPr>
          <p:cNvPr id="40962" name="Rectangle 2"/>
          <p:cNvSpPr>
            <a:spLocks noGrp="1" noChangeArrowheads="1"/>
          </p:cNvSpPr>
          <p:nvPr>
            <p:ph type="title"/>
          </p:nvPr>
        </p:nvSpPr>
        <p:spPr/>
        <p:txBody>
          <a:bodyPr/>
          <a:lstStyle/>
          <a:p>
            <a:r>
              <a:rPr lang="en-US" dirty="0"/>
              <a:t>Running Effective Meetings</a:t>
            </a:r>
          </a:p>
        </p:txBody>
      </p:sp>
      <p:sp>
        <p:nvSpPr>
          <p:cNvPr id="40965"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E8DA428-FE21-4B1B-B832-4011C6449F06}"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533400" y="1524000"/>
            <a:ext cx="8153400" cy="4572000"/>
          </a:xfrm>
        </p:spPr>
        <p:txBody>
          <a:bodyPr/>
          <a:lstStyle/>
          <a:p>
            <a:pPr>
              <a:buClr>
                <a:srgbClr val="666699"/>
              </a:buClr>
            </a:pPr>
            <a:r>
              <a:rPr lang="en-US" dirty="0"/>
              <a:t>Make sure that e-mail, instant messaging, texting, or collaborative tools are an </a:t>
            </a:r>
            <a:r>
              <a:rPr lang="en-US" b="1" dirty="0"/>
              <a:t>appropriate</a:t>
            </a:r>
            <a:r>
              <a:rPr lang="en-US" dirty="0"/>
              <a:t> medium for what you want to communicate </a:t>
            </a:r>
          </a:p>
          <a:p>
            <a:pPr>
              <a:buClr>
                <a:srgbClr val="666699"/>
              </a:buClr>
            </a:pPr>
            <a:r>
              <a:rPr lang="en-US" dirty="0"/>
              <a:t>Be sure to send information to the </a:t>
            </a:r>
            <a:r>
              <a:rPr lang="en-US" b="1" dirty="0"/>
              <a:t>right people</a:t>
            </a:r>
          </a:p>
          <a:p>
            <a:pPr>
              <a:buClr>
                <a:srgbClr val="666699"/>
              </a:buClr>
            </a:pPr>
            <a:r>
              <a:rPr lang="en-US" dirty="0"/>
              <a:t>Use meaningful subject lines and limit the content of emails to </a:t>
            </a:r>
            <a:r>
              <a:rPr lang="en-US" b="1" dirty="0"/>
              <a:t>one main subject</a:t>
            </a:r>
            <a:r>
              <a:rPr lang="en-US" dirty="0"/>
              <a:t>, and be as clear and concise as possible</a:t>
            </a:r>
          </a:p>
          <a:p>
            <a:pPr>
              <a:buClr>
                <a:srgbClr val="666699"/>
              </a:buClr>
            </a:pPr>
            <a:r>
              <a:rPr lang="en-US" dirty="0"/>
              <a:t>Be sure to </a:t>
            </a:r>
            <a:r>
              <a:rPr lang="en-US" b="1" dirty="0"/>
              <a:t>authorize the right people </a:t>
            </a:r>
            <a:r>
              <a:rPr lang="en-US" dirty="0"/>
              <a:t>to share and edit your collaborative documents</a:t>
            </a:r>
          </a:p>
          <a:p>
            <a:pPr>
              <a:spcBef>
                <a:spcPct val="100000"/>
              </a:spcBef>
              <a:buClr>
                <a:srgbClr val="666699"/>
              </a:buClr>
              <a:buFont typeface="Wingdings" pitchFamily="2" charset="2"/>
              <a:buChar char="§"/>
            </a:pPr>
            <a:endParaRPr lang="en-US" dirty="0"/>
          </a:p>
          <a:p>
            <a:pPr lvl="1">
              <a:lnSpc>
                <a:spcPct val="90000"/>
              </a:lnSpc>
            </a:pPr>
            <a:endParaRPr lang="en-US" dirty="0"/>
          </a:p>
        </p:txBody>
      </p:sp>
      <p:sp>
        <p:nvSpPr>
          <p:cNvPr id="41986" name="Rectangle 2"/>
          <p:cNvSpPr>
            <a:spLocks noGrp="1" noChangeArrowheads="1"/>
          </p:cNvSpPr>
          <p:nvPr>
            <p:ph type="title"/>
          </p:nvPr>
        </p:nvSpPr>
        <p:spPr>
          <a:xfrm>
            <a:off x="381000" y="274638"/>
            <a:ext cx="8305800" cy="944562"/>
          </a:xfrm>
        </p:spPr>
        <p:txBody>
          <a:bodyPr>
            <a:normAutofit fontScale="90000"/>
          </a:bodyPr>
          <a:lstStyle/>
          <a:p>
            <a:r>
              <a:rPr lang="en-US" sz="3600" dirty="0"/>
              <a:t>Using E-Mail, Instant Messaging, Texting, and Collaborative Tools Effectively</a:t>
            </a:r>
          </a:p>
        </p:txBody>
      </p:sp>
      <p:sp>
        <p:nvSpPr>
          <p:cNvPr id="41989"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A78C4353-7F2B-49DB-B587-1D6E1530DCAD}"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a:t>
            </a:r>
            <a:r>
              <a:rPr lang="en-US" b="1" dirty="0"/>
              <a:t>SharePoint portal </a:t>
            </a:r>
            <a:r>
              <a:rPr lang="en-US" dirty="0"/>
              <a:t>allows users to create custom Web sites to access documents and applications stored on shared devices</a:t>
            </a:r>
          </a:p>
          <a:p>
            <a:r>
              <a:rPr lang="en-US" b="1" dirty="0"/>
              <a:t>Google Docs </a:t>
            </a:r>
            <a:r>
              <a:rPr lang="en-US" dirty="0"/>
              <a:t>allow users to create, share, and edit documents, spreadsheets, and presentations online</a:t>
            </a:r>
          </a:p>
          <a:p>
            <a:r>
              <a:rPr lang="en-US" dirty="0"/>
              <a:t>A </a:t>
            </a:r>
            <a:r>
              <a:rPr lang="en-US" b="1" dirty="0"/>
              <a:t>wiki </a:t>
            </a:r>
            <a:r>
              <a:rPr lang="en-US" dirty="0"/>
              <a:t>is a Web site designed to enable anyone who accesses it to contribute or modify Web page content</a:t>
            </a:r>
          </a:p>
          <a:p>
            <a:endParaRPr lang="en-US" dirty="0"/>
          </a:p>
        </p:txBody>
      </p:sp>
      <p:sp>
        <p:nvSpPr>
          <p:cNvPr id="3" name="Title 2"/>
          <p:cNvSpPr>
            <a:spLocks noGrp="1"/>
          </p:cNvSpPr>
          <p:nvPr>
            <p:ph type="title"/>
          </p:nvPr>
        </p:nvSpPr>
        <p:spPr/>
        <p:txBody>
          <a:bodyPr/>
          <a:lstStyle/>
          <a:p>
            <a:r>
              <a:rPr lang="en-US" dirty="0"/>
              <a:t>Sample Collaborative Tools</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381000" y="1295400"/>
            <a:ext cx="8458200" cy="4572000"/>
          </a:xfrm>
        </p:spPr>
        <p:txBody>
          <a:bodyPr/>
          <a:lstStyle/>
          <a:p>
            <a:pPr>
              <a:spcBef>
                <a:spcPct val="70000"/>
              </a:spcBef>
              <a:buClr>
                <a:srgbClr val="666699"/>
              </a:buClr>
            </a:pPr>
            <a:r>
              <a:rPr lang="en-US" dirty="0"/>
              <a:t>Many technical people are afraid to ask for help</a:t>
            </a:r>
          </a:p>
          <a:p>
            <a:pPr>
              <a:spcBef>
                <a:spcPct val="70000"/>
              </a:spcBef>
              <a:buClr>
                <a:srgbClr val="666699"/>
              </a:buClr>
            </a:pPr>
            <a:r>
              <a:rPr lang="en-US" dirty="0"/>
              <a:t>Providing examples and templates for project communications </a:t>
            </a:r>
            <a:r>
              <a:rPr lang="en-US" b="1" dirty="0"/>
              <a:t>saves time and money</a:t>
            </a:r>
          </a:p>
          <a:p>
            <a:pPr>
              <a:spcBef>
                <a:spcPct val="70000"/>
              </a:spcBef>
              <a:buClr>
                <a:srgbClr val="666699"/>
              </a:buClr>
            </a:pPr>
            <a:r>
              <a:rPr lang="en-US" dirty="0"/>
              <a:t>Organizations can </a:t>
            </a:r>
            <a:r>
              <a:rPr lang="en-US" b="1" dirty="0"/>
              <a:t>develop their own templates</a:t>
            </a:r>
            <a:r>
              <a:rPr lang="en-US" dirty="0"/>
              <a:t>, use some provided by </a:t>
            </a:r>
            <a:r>
              <a:rPr lang="en-US" b="1" dirty="0"/>
              <a:t>outside organizations</a:t>
            </a:r>
            <a:r>
              <a:rPr lang="en-US" dirty="0"/>
              <a:t>, or use samples from </a:t>
            </a:r>
            <a:r>
              <a:rPr lang="en-US" b="1" dirty="0"/>
              <a:t>textbooks</a:t>
            </a:r>
          </a:p>
          <a:p>
            <a:pPr>
              <a:spcBef>
                <a:spcPct val="70000"/>
              </a:spcBef>
              <a:buClr>
                <a:srgbClr val="666699"/>
              </a:buClr>
            </a:pPr>
            <a:r>
              <a:rPr lang="en-US" dirty="0"/>
              <a:t>Recall that research shows that companies that excel in project management make effective use of templates</a:t>
            </a:r>
          </a:p>
        </p:txBody>
      </p:sp>
      <p:sp>
        <p:nvSpPr>
          <p:cNvPr id="44034" name="Rectangle 2"/>
          <p:cNvSpPr>
            <a:spLocks noGrp="1" noChangeArrowheads="1"/>
          </p:cNvSpPr>
          <p:nvPr>
            <p:ph type="title"/>
          </p:nvPr>
        </p:nvSpPr>
        <p:spPr>
          <a:xfrm>
            <a:off x="457200" y="0"/>
            <a:ext cx="8229600" cy="1143000"/>
          </a:xfrm>
        </p:spPr>
        <p:txBody>
          <a:bodyPr>
            <a:normAutofit fontScale="90000"/>
          </a:bodyPr>
          <a:lstStyle/>
          <a:p>
            <a:r>
              <a:rPr lang="en-US" dirty="0"/>
              <a:t>Using Templates for Project Communications</a:t>
            </a:r>
          </a:p>
        </p:txBody>
      </p:sp>
      <p:sp>
        <p:nvSpPr>
          <p:cNvPr id="44037"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FEF57902-66F0-4ADD-B262-093048E70547}" type="slidenum">
              <a:rPr lang="en-US" smtClean="0"/>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76200" y="0"/>
            <a:ext cx="8610600" cy="1143000"/>
          </a:xfrm>
        </p:spPr>
        <p:txBody>
          <a:bodyPr>
            <a:normAutofit fontScale="90000"/>
          </a:bodyPr>
          <a:lstStyle/>
          <a:p>
            <a:r>
              <a:rPr lang="en-US" sz="3600" dirty="0"/>
              <a:t>Figure 10-3. Sample Template for a </a:t>
            </a:r>
            <a:br>
              <a:rPr lang="en-US" sz="3600" dirty="0"/>
            </a:br>
            <a:r>
              <a:rPr lang="en-US" sz="3600" dirty="0"/>
              <a:t>Project Description (corrected from p. 427)</a:t>
            </a:r>
          </a:p>
        </p:txBody>
      </p:sp>
      <p:sp>
        <p:nvSpPr>
          <p:cNvPr id="45061" name="Footer Placeholder 6"/>
          <p:cNvSpPr>
            <a:spLocks noGrp="1"/>
          </p:cNvSpPr>
          <p:nvPr>
            <p:ph type="ftr" sz="quarter" idx="10"/>
          </p:nvPr>
        </p:nvSpPr>
        <p:spPr bwMode="auto">
          <a:noFill/>
          <a:ln>
            <a:miter lim="800000"/>
            <a:headEnd/>
            <a:tailEnd/>
          </a:ln>
        </p:spPr>
        <p:txBody>
          <a:bodyPr/>
          <a:lstStyle/>
          <a:p>
            <a:pPr>
              <a:buFontTx/>
              <a:buNone/>
            </a:pPr>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BEB61753-3085-4DFB-A2B2-F492B6419F58}" type="slidenum">
              <a:rPr lang="en-US" smtClean="0"/>
              <a:pPr>
                <a:buFontTx/>
                <a:buNone/>
                <a:defRPr/>
              </a:pPr>
              <a:t>33</a:t>
            </a:fld>
            <a:endParaRPr lang="en-US" dirty="0"/>
          </a:p>
        </p:txBody>
      </p:sp>
      <p:pic>
        <p:nvPicPr>
          <p:cNvPr id="7" name="Picture 6" descr="86921_10_F03.jpg"/>
          <p:cNvPicPr>
            <a:picLocks noChangeAspect="1"/>
          </p:cNvPicPr>
          <p:nvPr/>
        </p:nvPicPr>
        <p:blipFill>
          <a:blip r:embed="rId2"/>
          <a:stretch>
            <a:fillRect/>
          </a:stretch>
        </p:blipFill>
        <p:spPr>
          <a:xfrm>
            <a:off x="1371600" y="1109869"/>
            <a:ext cx="5867400" cy="510208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fontScale="90000"/>
          </a:bodyPr>
          <a:lstStyle/>
          <a:p>
            <a:r>
              <a:rPr lang="en-US" dirty="0"/>
              <a:t>Table 10-3. Sample Template for a Monthly Progress Report</a:t>
            </a:r>
          </a:p>
        </p:txBody>
      </p:sp>
      <p:sp>
        <p:nvSpPr>
          <p:cNvPr id="46085" name="Footer Placeholder 6"/>
          <p:cNvSpPr>
            <a:spLocks noGrp="1"/>
          </p:cNvSpPr>
          <p:nvPr>
            <p:ph type="ftr" sz="quarter" idx="10"/>
          </p:nvPr>
        </p:nvSpPr>
        <p:spPr bwMode="auto">
          <a:noFill/>
          <a:ln>
            <a:miter lim="800000"/>
            <a:headEnd/>
            <a:tailEnd/>
          </a:ln>
        </p:spPr>
        <p:txBody>
          <a:bodyPr/>
          <a:lstStyle/>
          <a:p>
            <a:pPr>
              <a:buFontTx/>
              <a:buNone/>
            </a:pPr>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3F96509D-2F51-4E30-B355-2A9B8CF30081}" type="slidenum">
              <a:rPr lang="en-US" smtClean="0"/>
              <a:pPr>
                <a:buFontTx/>
                <a:buNone/>
                <a:defRPr/>
              </a:pPr>
              <a:t>34</a:t>
            </a:fld>
            <a:endParaRPr lang="en-US" dirty="0"/>
          </a:p>
        </p:txBody>
      </p:sp>
      <p:pic>
        <p:nvPicPr>
          <p:cNvPr id="46083" name="Picture 3"/>
          <p:cNvPicPr>
            <a:picLocks noChangeAspect="1" noChangeArrowheads="1"/>
          </p:cNvPicPr>
          <p:nvPr/>
        </p:nvPicPr>
        <p:blipFill>
          <a:blip r:embed="rId2"/>
          <a:srcRect/>
          <a:stretch>
            <a:fillRect/>
          </a:stretch>
        </p:blipFill>
        <p:spPr bwMode="auto">
          <a:xfrm>
            <a:off x="304800" y="1752600"/>
            <a:ext cx="8534400" cy="38195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r>
              <a:rPr lang="en-US" dirty="0"/>
              <a:t>Table 10-4. Final Project</a:t>
            </a:r>
            <a:br>
              <a:rPr lang="en-US" dirty="0"/>
            </a:br>
            <a:r>
              <a:rPr lang="en-US" dirty="0"/>
              <a:t>Documentation Items</a:t>
            </a:r>
          </a:p>
        </p:txBody>
      </p:sp>
      <p:sp>
        <p:nvSpPr>
          <p:cNvPr id="47110" name="Footer Placeholder 7"/>
          <p:cNvSpPr>
            <a:spLocks noGrp="1"/>
          </p:cNvSpPr>
          <p:nvPr>
            <p:ph type="ftr" sz="quarter" idx="10"/>
          </p:nvPr>
        </p:nvSpPr>
        <p:spPr bwMode="auto">
          <a:noFill/>
          <a:ln>
            <a:miter lim="800000"/>
            <a:headEnd/>
            <a:tailEnd/>
          </a:ln>
        </p:spPr>
        <p:txBody>
          <a:bodyPr/>
          <a:lstStyle/>
          <a:p>
            <a:pPr>
              <a:buFontTx/>
              <a:buNone/>
            </a:pPr>
            <a:r>
              <a:rPr lang="en-US" dirty="0"/>
              <a:t>Information Technology Project Management, Seventh Edition</a:t>
            </a:r>
          </a:p>
        </p:txBody>
      </p:sp>
      <p:sp>
        <p:nvSpPr>
          <p:cNvPr id="7" name="Slide Number Placeholder 6"/>
          <p:cNvSpPr>
            <a:spLocks noGrp="1"/>
          </p:cNvSpPr>
          <p:nvPr>
            <p:ph type="sldNum" sz="quarter" idx="11"/>
          </p:nvPr>
        </p:nvSpPr>
        <p:spPr/>
        <p:txBody>
          <a:bodyPr/>
          <a:lstStyle/>
          <a:p>
            <a:pPr>
              <a:buFontTx/>
              <a:buNone/>
              <a:defRPr/>
            </a:pPr>
            <a:fld id="{45FDA56A-BA2F-4733-B083-3E5F89F68CAD}" type="slidenum">
              <a:rPr lang="en-US" smtClean="0"/>
              <a:pPr>
                <a:buFontTx/>
                <a:buNone/>
                <a:defRPr/>
              </a:pPr>
              <a:t>35</a:t>
            </a:fld>
            <a:endParaRPr lang="en-US" dirty="0"/>
          </a:p>
        </p:txBody>
      </p:sp>
      <p:pic>
        <p:nvPicPr>
          <p:cNvPr id="47107" name="Picture 4" descr="Tbl10-06a"/>
          <p:cNvPicPr>
            <a:picLocks noChangeAspect="1" noChangeArrowheads="1"/>
          </p:cNvPicPr>
          <p:nvPr/>
        </p:nvPicPr>
        <p:blipFill>
          <a:blip r:embed="rId2"/>
          <a:srcRect t="8931"/>
          <a:stretch>
            <a:fillRect/>
          </a:stretch>
        </p:blipFill>
        <p:spPr bwMode="auto">
          <a:xfrm>
            <a:off x="381000" y="1552575"/>
            <a:ext cx="8382000" cy="3108325"/>
          </a:xfrm>
          <a:prstGeom prst="rect">
            <a:avLst/>
          </a:prstGeom>
          <a:noFill/>
          <a:ln w="9525">
            <a:noFill/>
            <a:miter lim="800000"/>
            <a:headEnd/>
            <a:tailEnd/>
          </a:ln>
        </p:spPr>
      </p:pic>
      <p:pic>
        <p:nvPicPr>
          <p:cNvPr id="47108" name="Picture 5" descr="Tbl10-06b"/>
          <p:cNvPicPr>
            <a:picLocks noChangeAspect="1" noChangeArrowheads="1"/>
          </p:cNvPicPr>
          <p:nvPr/>
        </p:nvPicPr>
        <p:blipFill>
          <a:blip r:embed="rId3"/>
          <a:srcRect t="22099"/>
          <a:stretch>
            <a:fillRect/>
          </a:stretch>
        </p:blipFill>
        <p:spPr bwMode="auto">
          <a:xfrm>
            <a:off x="381000" y="4752975"/>
            <a:ext cx="8534400" cy="134302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p:txBody>
          <a:bodyPr/>
          <a:lstStyle/>
          <a:p>
            <a:pPr>
              <a:spcBef>
                <a:spcPct val="80000"/>
              </a:spcBef>
              <a:buClr>
                <a:srgbClr val="666699"/>
              </a:buClr>
            </a:pPr>
            <a:r>
              <a:rPr lang="en-US" dirty="0"/>
              <a:t>The project manager and project team members should each prepare a </a:t>
            </a:r>
            <a:r>
              <a:rPr lang="en-US" b="1" dirty="0"/>
              <a:t>lessons-learned report</a:t>
            </a:r>
          </a:p>
          <a:p>
            <a:pPr lvl="1">
              <a:spcBef>
                <a:spcPct val="80000"/>
              </a:spcBef>
              <a:buClr>
                <a:srgbClr val="666699"/>
              </a:buClr>
            </a:pPr>
            <a:r>
              <a:rPr lang="en-US" dirty="0"/>
              <a:t>A reflective statement that documents important things an individual learned from working on the project </a:t>
            </a:r>
          </a:p>
          <a:p>
            <a:pPr>
              <a:spcBef>
                <a:spcPct val="80000"/>
              </a:spcBef>
              <a:buClr>
                <a:srgbClr val="666699"/>
              </a:buClr>
            </a:pPr>
            <a:r>
              <a:rPr lang="en-US" dirty="0"/>
              <a:t>The project manager often combines information from all of the lessons-learned reports into a project summary report</a:t>
            </a:r>
          </a:p>
          <a:p>
            <a:pPr>
              <a:spcBef>
                <a:spcPct val="80000"/>
              </a:spcBef>
              <a:buClr>
                <a:srgbClr val="666699"/>
              </a:buClr>
            </a:pPr>
            <a:r>
              <a:rPr lang="en-US" dirty="0"/>
              <a:t>See template and sample in Chapter 3</a:t>
            </a:r>
          </a:p>
        </p:txBody>
      </p:sp>
      <p:sp>
        <p:nvSpPr>
          <p:cNvPr id="48130" name="Rectangle 2"/>
          <p:cNvSpPr>
            <a:spLocks noGrp="1" noChangeArrowheads="1"/>
          </p:cNvSpPr>
          <p:nvPr>
            <p:ph type="title"/>
          </p:nvPr>
        </p:nvSpPr>
        <p:spPr/>
        <p:txBody>
          <a:bodyPr/>
          <a:lstStyle/>
          <a:p>
            <a:r>
              <a:rPr lang="en-US" dirty="0"/>
              <a:t>Lessons Learned Reports</a:t>
            </a:r>
          </a:p>
        </p:txBody>
      </p:sp>
      <p:sp>
        <p:nvSpPr>
          <p:cNvPr id="48133"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F3B4F694-095F-486F-8387-699AF9EC3794}" type="slidenum">
              <a:rPr lang="en-US" smtClean="0"/>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Content Placeholder 2"/>
          <p:cNvSpPr>
            <a:spLocks noGrp="1"/>
          </p:cNvSpPr>
          <p:nvPr>
            <p:ph idx="1"/>
          </p:nvPr>
        </p:nvSpPr>
        <p:spPr/>
        <p:txBody>
          <a:bodyPr/>
          <a:lstStyle/>
          <a:p>
            <a:r>
              <a:rPr lang="en-US" dirty="0"/>
              <a:t>It is also important to organize and prepare project archives</a:t>
            </a:r>
          </a:p>
          <a:p>
            <a:r>
              <a:rPr lang="en-US" b="1" dirty="0"/>
              <a:t>Project archives </a:t>
            </a:r>
            <a:r>
              <a:rPr lang="en-US" dirty="0"/>
              <a:t>are a complete set of organized project records that provide an accurate history of the project</a:t>
            </a:r>
          </a:p>
          <a:p>
            <a:r>
              <a:rPr lang="en-US" dirty="0"/>
              <a:t>These archives can provide valuable information for future projects as well</a:t>
            </a:r>
          </a:p>
          <a:p>
            <a:endParaRPr lang="en-US" dirty="0"/>
          </a:p>
        </p:txBody>
      </p:sp>
      <p:sp>
        <p:nvSpPr>
          <p:cNvPr id="49154" name="Title 1"/>
          <p:cNvSpPr>
            <a:spLocks noGrp="1"/>
          </p:cNvSpPr>
          <p:nvPr>
            <p:ph type="title"/>
          </p:nvPr>
        </p:nvSpPr>
        <p:spPr/>
        <p:txBody>
          <a:bodyPr/>
          <a:lstStyle/>
          <a:p>
            <a:r>
              <a:rPr lang="en-US" dirty="0"/>
              <a:t>Project Archives</a:t>
            </a:r>
          </a:p>
        </p:txBody>
      </p:sp>
      <p:sp>
        <p:nvSpPr>
          <p:cNvPr id="49156" name="Footer Placeholder 3"/>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07FB6DEF-E33D-4378-843F-C19DAA629D47}"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p:txBody>
          <a:bodyPr/>
          <a:lstStyle/>
          <a:p>
            <a:r>
              <a:rPr lang="en-US" dirty="0"/>
              <a:t>Many project teams create a project Web site to store important product documents and other information</a:t>
            </a:r>
          </a:p>
          <a:p>
            <a:r>
              <a:rPr lang="en-US" dirty="0"/>
              <a:t>Can create the site using various types of software, such as enterprise project management software</a:t>
            </a:r>
          </a:p>
        </p:txBody>
      </p:sp>
      <p:sp>
        <p:nvSpPr>
          <p:cNvPr id="50178" name="Rectangle 2"/>
          <p:cNvSpPr>
            <a:spLocks noGrp="1" noChangeArrowheads="1"/>
          </p:cNvSpPr>
          <p:nvPr>
            <p:ph type="title"/>
          </p:nvPr>
        </p:nvSpPr>
        <p:spPr/>
        <p:txBody>
          <a:bodyPr/>
          <a:lstStyle/>
          <a:p>
            <a:r>
              <a:rPr lang="en-US" dirty="0"/>
              <a:t>Project Web Sites</a:t>
            </a:r>
          </a:p>
        </p:txBody>
      </p:sp>
      <p:sp>
        <p:nvSpPr>
          <p:cNvPr id="50181"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AD48DC6-0253-4A93-AB7F-1DA77469CDAA}"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76200" y="76200"/>
            <a:ext cx="8915400" cy="1219200"/>
          </a:xfrm>
        </p:spPr>
        <p:txBody>
          <a:bodyPr>
            <a:normAutofit fontScale="90000"/>
          </a:bodyPr>
          <a:lstStyle/>
          <a:p>
            <a:r>
              <a:rPr lang="en-US" sz="3600" dirty="0"/>
              <a:t>Figure 10-4. Microsoft’s Project Web Application Master Project Summary Screen</a:t>
            </a:r>
          </a:p>
        </p:txBody>
      </p:sp>
      <p:sp>
        <p:nvSpPr>
          <p:cNvPr id="51204"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A4747D1-F701-4EA4-A685-5DBB864E7A4B}" type="slidenum">
              <a:rPr lang="en-US" smtClean="0"/>
              <a:pPr>
                <a:defRPr/>
              </a:pPr>
              <a:t>39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263" y="1273064"/>
            <a:ext cx="7976537" cy="51573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152400" y="1219200"/>
            <a:ext cx="8686800" cy="4572000"/>
          </a:xfrm>
        </p:spPr>
        <p:txBody>
          <a:bodyPr/>
          <a:lstStyle/>
          <a:p>
            <a:r>
              <a:rPr lang="en-US" sz="2400" dirty="0"/>
              <a:t>There are many software tools to aid in project communications</a:t>
            </a:r>
          </a:p>
          <a:p>
            <a:r>
              <a:rPr lang="en-US" sz="2400" dirty="0"/>
              <a:t>Today many people telecommute or work remotely at least part-time. TechCast at George Washington University forecasts that by 2019, 30 percent of U.S. private-sector workers could work from home</a:t>
            </a:r>
          </a:p>
          <a:p>
            <a:r>
              <a:rPr lang="en-US" sz="2400" dirty="0"/>
              <a:t>Project management software includes new capabilities to enhance virtual communications</a:t>
            </a:r>
          </a:p>
          <a:p>
            <a:r>
              <a:rPr lang="en-US" sz="2400" dirty="0"/>
              <a:t>While technology can aid in the communications process, it is not the most important. Far more important is improving an organization’s ability to communicate, which often involves cultural change</a:t>
            </a:r>
          </a:p>
        </p:txBody>
      </p:sp>
      <p:sp>
        <p:nvSpPr>
          <p:cNvPr id="52226" name="Rectangle 2"/>
          <p:cNvSpPr>
            <a:spLocks noGrp="1" noChangeArrowheads="1"/>
          </p:cNvSpPr>
          <p:nvPr>
            <p:ph type="title"/>
          </p:nvPr>
        </p:nvSpPr>
        <p:spPr>
          <a:xfrm>
            <a:off x="457200" y="0"/>
            <a:ext cx="8229600" cy="1143000"/>
          </a:xfrm>
        </p:spPr>
        <p:txBody>
          <a:bodyPr>
            <a:normAutofit fontScale="90000"/>
          </a:bodyPr>
          <a:lstStyle/>
          <a:p>
            <a:r>
              <a:rPr lang="en-US" dirty="0"/>
              <a:t>Using Software to Assist in Project Communications</a:t>
            </a:r>
          </a:p>
        </p:txBody>
      </p:sp>
      <p:sp>
        <p:nvSpPr>
          <p:cNvPr id="52229"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5C8DC91-7EC3-46AE-90CF-83008C4FC803}"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4800" y="1143000"/>
            <a:ext cx="8229600" cy="4525962"/>
          </a:xfrm>
        </p:spPr>
        <p:txBody>
          <a:bodyPr/>
          <a:lstStyle/>
          <a:p>
            <a:pPr>
              <a:spcBef>
                <a:spcPct val="40000"/>
              </a:spcBef>
              <a:buClr>
                <a:srgbClr val="666699"/>
              </a:buClr>
            </a:pPr>
            <a:r>
              <a:rPr lang="en-US" dirty="0"/>
              <a:t>The goal of project communications management is to ensure timely and appropriate generation, collection, dissemination, storage, and disposition of project information</a:t>
            </a:r>
          </a:p>
          <a:p>
            <a:pPr>
              <a:spcBef>
                <a:spcPct val="40000"/>
              </a:spcBef>
              <a:buClr>
                <a:srgbClr val="666699"/>
              </a:buClr>
            </a:pPr>
            <a:r>
              <a:rPr lang="en-US" dirty="0"/>
              <a:t>Main process include:</a:t>
            </a:r>
          </a:p>
          <a:p>
            <a:pPr lvl="1">
              <a:spcBef>
                <a:spcPct val="40000"/>
              </a:spcBef>
              <a:buClr>
                <a:srgbClr val="666699"/>
              </a:buClr>
            </a:pPr>
            <a:r>
              <a:rPr lang="en-US" dirty="0"/>
              <a:t>Plan communications management</a:t>
            </a:r>
          </a:p>
          <a:p>
            <a:pPr lvl="1">
              <a:spcBef>
                <a:spcPct val="40000"/>
              </a:spcBef>
              <a:buClr>
                <a:srgbClr val="666699"/>
              </a:buClr>
            </a:pPr>
            <a:r>
              <a:rPr lang="en-US" dirty="0"/>
              <a:t>Manage communications</a:t>
            </a:r>
          </a:p>
          <a:p>
            <a:pPr lvl="1">
              <a:spcBef>
                <a:spcPct val="40000"/>
              </a:spcBef>
              <a:buClr>
                <a:srgbClr val="666699"/>
              </a:buClr>
            </a:pPr>
            <a:r>
              <a:rPr lang="en-US" dirty="0"/>
              <a:t>Control communications</a:t>
            </a:r>
          </a:p>
          <a:p>
            <a:pPr lvl="1">
              <a:lnSpc>
                <a:spcPct val="90000"/>
              </a:lnSpc>
            </a:pPr>
            <a:endParaRPr lang="en-US" dirty="0"/>
          </a:p>
        </p:txBody>
      </p:sp>
      <p:sp>
        <p:nvSpPr>
          <p:cNvPr id="53250" name="Rectangle 2"/>
          <p:cNvSpPr>
            <a:spLocks noGrp="1" noChangeArrowheads="1"/>
          </p:cNvSpPr>
          <p:nvPr>
            <p:ph type="title"/>
          </p:nvPr>
        </p:nvSpPr>
        <p:spPr>
          <a:xfrm>
            <a:off x="457200" y="152400"/>
            <a:ext cx="8229600" cy="1143000"/>
          </a:xfrm>
        </p:spPr>
        <p:txBody>
          <a:bodyPr/>
          <a:lstStyle/>
          <a:p>
            <a:r>
              <a:rPr lang="en-US" dirty="0"/>
              <a:t>Chapter Summary</a:t>
            </a:r>
          </a:p>
        </p:txBody>
      </p:sp>
      <p:sp>
        <p:nvSpPr>
          <p:cNvPr id="53253"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722CF15-3671-4501-9D90-6BA9507B9448}"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、项目沟通管理的</a:t>
            </a:r>
            <a:r>
              <a:rPr lang="en-US" altLang="zh-CN" b="1" dirty="0"/>
              <a:t>5</a:t>
            </a:r>
            <a:r>
              <a:rPr lang="zh-CN" altLang="en-US" b="1" dirty="0"/>
              <a:t>个过程</a:t>
            </a:r>
            <a:endParaRPr lang="en-US" altLang="zh-CN" b="1" dirty="0"/>
          </a:p>
          <a:p>
            <a:r>
              <a:rPr lang="en-US" altLang="zh-CN" b="1" dirty="0"/>
              <a:t>2</a:t>
            </a:r>
            <a:r>
              <a:rPr lang="zh-CN" altLang="en-US" b="1" dirty="0"/>
              <a:t>、项目沟通管理计划应包括哪些内容？</a:t>
            </a:r>
            <a:endParaRPr lang="en-US" altLang="zh-CN" b="1" dirty="0"/>
          </a:p>
          <a:p>
            <a:r>
              <a:rPr lang="en-US" altLang="zh-CN" b="1" dirty="0"/>
              <a:t>3</a:t>
            </a:r>
            <a:r>
              <a:rPr lang="zh-CN" altLang="en-US" b="1" dirty="0"/>
              <a:t>、发布信息应该注意哪些方面？</a:t>
            </a:r>
            <a:endParaRPr lang="en-US" altLang="zh-CN" b="1" dirty="0"/>
          </a:p>
          <a:p>
            <a:r>
              <a:rPr lang="en-US" altLang="zh-CN" b="1" dirty="0"/>
              <a:t>4</a:t>
            </a:r>
            <a:r>
              <a:rPr lang="zh-CN" altLang="en-US" b="1" dirty="0"/>
              <a:t>、期望管理矩阵包括哪些条目？</a:t>
            </a:r>
            <a:endParaRPr lang="en-US" altLang="zh-CN" b="1" dirty="0"/>
          </a:p>
          <a:p>
            <a:r>
              <a:rPr lang="en-US" altLang="zh-CN" b="1" dirty="0"/>
              <a:t>5</a:t>
            </a:r>
            <a:r>
              <a:rPr lang="zh-CN" altLang="en-US" b="1" dirty="0"/>
              <a:t>、绩效报告</a:t>
            </a:r>
            <a:endParaRPr lang="en-US" altLang="zh-CN" b="1" dirty="0"/>
          </a:p>
          <a:p>
            <a:r>
              <a:rPr lang="en-US" altLang="zh-CN" b="1" dirty="0"/>
              <a:t>6</a:t>
            </a:r>
            <a:r>
              <a:rPr lang="zh-CN" altLang="en-US" b="1" dirty="0"/>
              <a:t>、如何有效开会？</a:t>
            </a:r>
            <a:endParaRPr lang="en-US" altLang="zh-CN" b="1" dirty="0"/>
          </a:p>
          <a:p>
            <a:r>
              <a:rPr lang="en-US" altLang="zh-CN" b="1" dirty="0"/>
              <a:t>7</a:t>
            </a:r>
            <a:r>
              <a:rPr lang="zh-CN" altLang="en-US" b="1" dirty="0"/>
              <a:t>、改善沟通的一些建议</a:t>
            </a:r>
            <a:endParaRPr lang="en-US" altLang="zh-CN" b="1" dirty="0"/>
          </a:p>
          <a:p>
            <a:r>
              <a:rPr lang="en-US" altLang="zh-CN" b="1" dirty="0"/>
              <a:t>8</a:t>
            </a:r>
            <a:r>
              <a:rPr lang="zh-CN" altLang="en-US" b="1" dirty="0"/>
              <a:t>、如何更高效使用电子邮件或其他通讯工具？</a:t>
            </a:r>
            <a:endParaRPr lang="en-US" altLang="zh-CN" b="1" dirty="0"/>
          </a:p>
          <a:p>
            <a:endParaRPr lang="en-US" altLang="zh-CN" b="1" dirty="0"/>
          </a:p>
          <a:p>
            <a:endParaRPr lang="zh-CN" altLang="en-US"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914899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、项目沟通管理的</a:t>
            </a:r>
            <a:r>
              <a:rPr lang="en-US" altLang="zh-CN" b="1" dirty="0"/>
              <a:t>5</a:t>
            </a:r>
            <a:r>
              <a:rPr lang="zh-CN" altLang="en-US" b="1" dirty="0"/>
              <a:t>个过程</a:t>
            </a:r>
            <a:endParaRPr lang="en-US" altLang="zh-CN" b="1" dirty="0"/>
          </a:p>
          <a:p>
            <a:pPr marL="109537" indent="0">
              <a:buNone/>
            </a:pPr>
            <a:r>
              <a:rPr lang="zh-CN" altLang="en-US" b="1" dirty="0"/>
              <a:t>识别利益相关者；</a:t>
            </a:r>
            <a:endParaRPr lang="en-US" altLang="zh-CN" b="1" dirty="0"/>
          </a:p>
          <a:p>
            <a:pPr marL="109537" indent="0">
              <a:buNone/>
            </a:pPr>
            <a:r>
              <a:rPr lang="zh-CN" altLang="en-US" b="1" dirty="0"/>
              <a:t>规划沟通；</a:t>
            </a:r>
            <a:endParaRPr lang="en-US" altLang="zh-CN" b="1" dirty="0"/>
          </a:p>
          <a:p>
            <a:pPr marL="109537" indent="0">
              <a:buNone/>
            </a:pPr>
            <a:r>
              <a:rPr lang="zh-CN" altLang="en-US" b="1" dirty="0"/>
              <a:t>分布信息；</a:t>
            </a:r>
            <a:endParaRPr lang="en-US" altLang="zh-CN" b="1" dirty="0"/>
          </a:p>
          <a:p>
            <a:pPr marL="109537" indent="0">
              <a:buNone/>
            </a:pPr>
            <a:r>
              <a:rPr lang="zh-CN" altLang="en-US" b="1" dirty="0"/>
              <a:t>管理利益相关者期望；</a:t>
            </a:r>
            <a:endParaRPr lang="en-US" altLang="zh-CN" b="1" dirty="0"/>
          </a:p>
          <a:p>
            <a:pPr marL="109537" indent="0">
              <a:buNone/>
            </a:pPr>
            <a:r>
              <a:rPr lang="zh-CN" altLang="en-US" b="1"/>
              <a:t>报告绩效；</a:t>
            </a:r>
            <a:endParaRPr lang="zh-CN" altLang="en-US" b="1"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4209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138"/>
            <a:ext cx="8458200" cy="4525962"/>
          </a:xfrm>
        </p:spPr>
        <p:txBody>
          <a:bodyPr/>
          <a:lstStyle/>
          <a:p>
            <a:r>
              <a:rPr lang="en-US" altLang="zh-CN" b="1" dirty="0"/>
              <a:t>2</a:t>
            </a:r>
            <a:r>
              <a:rPr lang="zh-CN" altLang="en-US" b="1" dirty="0"/>
              <a:t>、沟通管理计划应包括哪些内容？</a:t>
            </a:r>
            <a:endParaRPr lang="en-US" altLang="zh-CN" b="1" dirty="0"/>
          </a:p>
          <a:p>
            <a:pPr marL="109537" indent="0">
              <a:buNone/>
            </a:pPr>
            <a:r>
              <a:rPr lang="zh-CN" altLang="en-US" b="1" dirty="0"/>
              <a:t>干系人的沟通需求；</a:t>
            </a:r>
          </a:p>
          <a:p>
            <a:pPr marL="109537" indent="0">
              <a:buNone/>
            </a:pPr>
            <a:r>
              <a:rPr lang="zh-CN" altLang="en-US" b="1" dirty="0"/>
              <a:t>需要沟通的信息，包括语言、内容、格式、详细程度；</a:t>
            </a:r>
          </a:p>
          <a:p>
            <a:pPr marL="109537" indent="0">
              <a:buNone/>
            </a:pPr>
            <a:r>
              <a:rPr lang="zh-CN" altLang="en-US" b="1" dirty="0"/>
              <a:t>产生和接收信息的个人或小组；</a:t>
            </a:r>
            <a:endParaRPr lang="en-US" altLang="zh-CN" b="1" dirty="0"/>
          </a:p>
          <a:p>
            <a:pPr marL="109537" indent="0">
              <a:buNone/>
            </a:pPr>
            <a:r>
              <a:rPr lang="zh-CN" altLang="en-US" b="1" dirty="0"/>
              <a:t>传达信息的推荐方式或技术；</a:t>
            </a:r>
          </a:p>
          <a:p>
            <a:pPr marL="109537" indent="0">
              <a:buNone/>
            </a:pPr>
            <a:r>
              <a:rPr lang="zh-CN" altLang="en-US" b="1" dirty="0"/>
              <a:t>沟通频率；</a:t>
            </a:r>
          </a:p>
          <a:p>
            <a:pPr marL="109537" indent="0">
              <a:buNone/>
            </a:pPr>
            <a:r>
              <a:rPr lang="zh-CN" altLang="en-US" b="1" dirty="0"/>
              <a:t>为解决问题所需的向上提报程序；</a:t>
            </a:r>
            <a:endParaRPr lang="en-US" altLang="zh-CN" b="1" dirty="0"/>
          </a:p>
          <a:p>
            <a:pPr marL="109537" indent="0">
              <a:buNone/>
            </a:pPr>
            <a:r>
              <a:rPr lang="zh-CN" altLang="en-US" b="1" dirty="0"/>
              <a:t>更新沟通管理计划的再版程序；</a:t>
            </a:r>
            <a:endParaRPr lang="en-US" altLang="zh-CN" b="1" dirty="0"/>
          </a:p>
          <a:p>
            <a:pPr marL="109537" indent="0">
              <a:buNone/>
            </a:pPr>
            <a:r>
              <a:rPr lang="zh-CN" altLang="en-US" b="1" dirty="0"/>
              <a:t>常用术语表；</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9123936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138"/>
            <a:ext cx="8458200" cy="4525962"/>
          </a:xfrm>
        </p:spPr>
        <p:txBody>
          <a:bodyPr/>
          <a:lstStyle/>
          <a:p>
            <a:r>
              <a:rPr lang="en-US" altLang="zh-CN" b="1" dirty="0"/>
              <a:t>3</a:t>
            </a:r>
            <a:r>
              <a:rPr lang="zh-CN" altLang="en-US" b="1" dirty="0"/>
              <a:t>、良好沟通的关键？</a:t>
            </a:r>
            <a:endParaRPr lang="en-US" altLang="zh-CN" b="1" dirty="0"/>
          </a:p>
          <a:p>
            <a:pPr marL="109537" indent="0">
              <a:buNone/>
            </a:pPr>
            <a:r>
              <a:rPr lang="zh-CN" altLang="en-US" b="1" dirty="0"/>
              <a:t>增加沟通的频次；</a:t>
            </a:r>
            <a:endParaRPr lang="en-US" altLang="zh-CN" b="1" dirty="0"/>
          </a:p>
          <a:p>
            <a:pPr marL="109537" indent="0">
              <a:buNone/>
            </a:pPr>
            <a:r>
              <a:rPr lang="zh-CN" altLang="en-US" b="1" dirty="0"/>
              <a:t>理解小组和个人的沟通需求；</a:t>
            </a:r>
          </a:p>
          <a:p>
            <a:pPr marL="109537" indent="0">
              <a:buNone/>
            </a:pPr>
            <a:r>
              <a:rPr lang="zh-CN" altLang="en-US" b="1" dirty="0"/>
              <a:t>同时使用正式与非正式沟通；</a:t>
            </a:r>
          </a:p>
          <a:p>
            <a:pPr marL="109537" indent="0">
              <a:buNone/>
            </a:pPr>
            <a:r>
              <a:rPr lang="zh-CN" altLang="en-US" b="1" dirty="0"/>
              <a:t>用有效、适时的方式发布重要信息；</a:t>
            </a:r>
            <a:endParaRPr lang="en-US" altLang="zh-CN" b="1" dirty="0"/>
          </a:p>
          <a:p>
            <a:pPr marL="109537" indent="0">
              <a:buNone/>
            </a:pPr>
            <a:r>
              <a:rPr lang="zh-CN" altLang="en-US" b="1" dirty="0"/>
              <a:t>选择适当的交流媒介；</a:t>
            </a:r>
            <a:endParaRPr lang="en-US" altLang="zh-CN" b="1" dirty="0"/>
          </a:p>
          <a:p>
            <a:pPr marL="109537" indent="0">
              <a:buNone/>
            </a:pPr>
            <a:r>
              <a:rPr lang="zh-CN" altLang="en-US" b="1" dirty="0"/>
              <a:t>为坏消息搭建语境；</a:t>
            </a:r>
            <a:endParaRPr lang="en-US" altLang="zh-CN" b="1" dirty="0"/>
          </a:p>
          <a:p>
            <a:pPr marL="109537" indent="0">
              <a:buNone/>
            </a:pPr>
            <a:r>
              <a:rPr lang="zh-CN" altLang="en-US" b="1" dirty="0"/>
              <a:t>确定沟通渠道的数量；</a:t>
            </a:r>
            <a:endParaRPr lang="en-US" altLang="zh-CN" b="1" dirty="0"/>
          </a:p>
          <a:p>
            <a:pPr marL="109537" indent="0">
              <a:buNone/>
            </a:pPr>
            <a:endParaRPr lang="en-US" altLang="zh-CN" b="1"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1172819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138"/>
            <a:ext cx="8458200" cy="4525962"/>
          </a:xfrm>
        </p:spPr>
        <p:txBody>
          <a:bodyPr/>
          <a:lstStyle/>
          <a:p>
            <a:r>
              <a:rPr lang="en-US" altLang="zh-CN" b="1" dirty="0"/>
              <a:t>4</a:t>
            </a:r>
            <a:r>
              <a:rPr lang="zh-CN" altLang="en-US" b="1" dirty="0"/>
              <a:t>、期望管理矩阵包括哪些条目？</a:t>
            </a:r>
            <a:endParaRPr lang="en-US" altLang="zh-CN" b="1" dirty="0"/>
          </a:p>
          <a:p>
            <a:pPr marL="109537" indent="0">
              <a:buNone/>
            </a:pPr>
            <a:r>
              <a:rPr lang="zh-CN" altLang="en-US" b="1" dirty="0"/>
              <a:t>标准；</a:t>
            </a:r>
            <a:endParaRPr lang="en-US" altLang="zh-CN" b="1" dirty="0"/>
          </a:p>
          <a:p>
            <a:pPr marL="109537" indent="0">
              <a:buNone/>
            </a:pPr>
            <a:r>
              <a:rPr lang="zh-CN" altLang="en-US" b="1" dirty="0"/>
              <a:t>优先权；</a:t>
            </a:r>
          </a:p>
          <a:p>
            <a:pPr marL="109537" indent="0">
              <a:buNone/>
            </a:pPr>
            <a:r>
              <a:rPr lang="zh-CN" altLang="en-US" b="1" dirty="0"/>
              <a:t>期望；</a:t>
            </a:r>
          </a:p>
          <a:p>
            <a:pPr marL="109537" indent="0">
              <a:buNone/>
            </a:pPr>
            <a:r>
              <a:rPr lang="zh-CN" altLang="en-US" b="1" dirty="0"/>
              <a:t>各项标准的衡量指南；</a:t>
            </a:r>
            <a:endParaRPr lang="en-US" altLang="zh-CN" b="1"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9401508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138"/>
            <a:ext cx="8458200" cy="4525962"/>
          </a:xfrm>
        </p:spPr>
        <p:txBody>
          <a:bodyPr/>
          <a:lstStyle/>
          <a:p>
            <a:r>
              <a:rPr lang="en-US" altLang="zh-CN" b="1" dirty="0"/>
              <a:t>5</a:t>
            </a:r>
            <a:r>
              <a:rPr lang="zh-CN" altLang="en-US" b="1" dirty="0"/>
              <a:t>、绩效报告包括</a:t>
            </a:r>
            <a:endParaRPr lang="en-US" altLang="zh-CN" b="1" dirty="0"/>
          </a:p>
          <a:p>
            <a:pPr marL="109537" indent="0">
              <a:buNone/>
            </a:pPr>
            <a:r>
              <a:rPr lang="zh-CN" altLang="en-US" b="1" dirty="0"/>
              <a:t>状态报告；</a:t>
            </a:r>
            <a:endParaRPr lang="en-US" altLang="zh-CN" b="1" dirty="0"/>
          </a:p>
          <a:p>
            <a:pPr marL="109537" indent="0">
              <a:buNone/>
            </a:pPr>
            <a:r>
              <a:rPr lang="zh-CN" altLang="en-US" b="1" dirty="0"/>
              <a:t>进度报告；</a:t>
            </a:r>
          </a:p>
          <a:p>
            <a:pPr marL="109537" indent="0">
              <a:buNone/>
            </a:pPr>
            <a:r>
              <a:rPr lang="zh-CN" altLang="en-US" b="1" dirty="0"/>
              <a:t>预测；</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9153054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138"/>
            <a:ext cx="8458200" cy="4525962"/>
          </a:xfrm>
        </p:spPr>
        <p:txBody>
          <a:bodyPr/>
          <a:lstStyle/>
          <a:p>
            <a:r>
              <a:rPr lang="en-US" altLang="zh-CN" b="1" dirty="0"/>
              <a:t>6</a:t>
            </a:r>
            <a:r>
              <a:rPr lang="zh-CN" altLang="en-US" b="1" dirty="0"/>
              <a:t>、改善沟通的一些建议</a:t>
            </a:r>
            <a:endParaRPr lang="en-US" altLang="zh-CN" b="1" dirty="0"/>
          </a:p>
          <a:p>
            <a:pPr marL="109537" indent="0">
              <a:buNone/>
            </a:pPr>
            <a:r>
              <a:rPr lang="zh-CN" altLang="en-US" dirty="0"/>
              <a:t>使用沟通技巧来管理冲突；</a:t>
            </a:r>
            <a:endParaRPr lang="en-US" altLang="zh-CN" dirty="0"/>
          </a:p>
          <a:p>
            <a:pPr marL="109537" indent="0">
              <a:buNone/>
            </a:pPr>
            <a:r>
              <a:rPr lang="zh-CN" altLang="en-US" dirty="0"/>
              <a:t>开发更好的沟通技巧；</a:t>
            </a:r>
            <a:endParaRPr lang="en-US" altLang="zh-CN" dirty="0"/>
          </a:p>
          <a:p>
            <a:pPr marL="109537" indent="0">
              <a:buNone/>
            </a:pPr>
            <a:r>
              <a:rPr lang="zh-CN" altLang="en-US" dirty="0"/>
              <a:t>召开有效的会议；</a:t>
            </a:r>
            <a:endParaRPr lang="en-US" altLang="zh-CN" dirty="0"/>
          </a:p>
          <a:p>
            <a:pPr marL="109537" indent="0">
              <a:buNone/>
            </a:pPr>
            <a:r>
              <a:rPr lang="zh-CN" altLang="en-US" dirty="0"/>
              <a:t>有效使用电子邮件、即时通讯等协作工具；</a:t>
            </a:r>
            <a:endParaRPr lang="en-US" altLang="zh-CN" dirty="0"/>
          </a:p>
          <a:p>
            <a:pPr marL="109537" indent="0">
              <a:buNone/>
            </a:pPr>
            <a:r>
              <a:rPr lang="zh-CN" altLang="en-US" dirty="0"/>
              <a:t>使用项目沟通模板；</a:t>
            </a:r>
            <a:endParaRPr lang="en-US" altLang="zh-CN" b="1"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258383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138"/>
            <a:ext cx="8458200" cy="4525962"/>
          </a:xfrm>
        </p:spPr>
        <p:txBody>
          <a:bodyPr/>
          <a:lstStyle/>
          <a:p>
            <a:r>
              <a:rPr lang="en-US" altLang="zh-CN" b="1" dirty="0"/>
              <a:t>7</a:t>
            </a:r>
            <a:r>
              <a:rPr lang="zh-CN" altLang="en-US" b="1" dirty="0"/>
              <a:t>、如何有效开会？</a:t>
            </a:r>
            <a:endParaRPr lang="en-US" altLang="zh-CN" b="1" dirty="0"/>
          </a:p>
          <a:p>
            <a:pPr marL="109537" indent="0">
              <a:buClr>
                <a:srgbClr val="666699"/>
              </a:buClr>
              <a:buNone/>
            </a:pPr>
            <a:r>
              <a:rPr lang="zh-CN" altLang="en-US" dirty="0"/>
              <a:t>确定会议是否必要；</a:t>
            </a:r>
            <a:endParaRPr lang="en-US" altLang="zh-CN" dirty="0"/>
          </a:p>
          <a:p>
            <a:pPr marL="109537" indent="0">
              <a:buClr>
                <a:srgbClr val="666699"/>
              </a:buClr>
              <a:buNone/>
            </a:pPr>
            <a:r>
              <a:rPr lang="zh-CN" altLang="en-US" dirty="0"/>
              <a:t>定义会议目的和预期产出；</a:t>
            </a:r>
            <a:endParaRPr lang="en-US" altLang="zh-CN" dirty="0"/>
          </a:p>
          <a:p>
            <a:pPr marL="109537" indent="0">
              <a:buClr>
                <a:srgbClr val="666699"/>
              </a:buClr>
              <a:buNone/>
            </a:pPr>
            <a:r>
              <a:rPr lang="zh-CN" altLang="en-US" dirty="0"/>
              <a:t>决定会议参与人；</a:t>
            </a:r>
            <a:endParaRPr lang="en-US" altLang="zh-CN" dirty="0"/>
          </a:p>
          <a:p>
            <a:pPr marL="109537" indent="0">
              <a:buClr>
                <a:srgbClr val="666699"/>
              </a:buClr>
              <a:buNone/>
            </a:pPr>
            <a:r>
              <a:rPr lang="zh-CN" altLang="en-US" dirty="0"/>
              <a:t>在会议开启前提供会议议程；</a:t>
            </a:r>
            <a:endParaRPr lang="en-US" altLang="zh-CN" dirty="0"/>
          </a:p>
          <a:p>
            <a:pPr marL="109537" indent="0">
              <a:buClr>
                <a:srgbClr val="666699"/>
              </a:buClr>
              <a:buNone/>
            </a:pPr>
            <a:r>
              <a:rPr lang="zh-CN" altLang="en-US" dirty="0"/>
              <a:t>准备手稿和直观教具，提前做好后勤安排；</a:t>
            </a:r>
            <a:endParaRPr lang="en-US" altLang="zh-CN" dirty="0"/>
          </a:p>
          <a:p>
            <a:pPr marL="109537" indent="0">
              <a:buClr>
                <a:srgbClr val="666699"/>
              </a:buClr>
              <a:buNone/>
            </a:pPr>
            <a:r>
              <a:rPr lang="zh-CN" altLang="en-US" dirty="0"/>
              <a:t>专业地开会；</a:t>
            </a:r>
            <a:endParaRPr lang="en-US" altLang="zh-CN" dirty="0"/>
          </a:p>
          <a:p>
            <a:pPr marL="109537" indent="0">
              <a:buClr>
                <a:srgbClr val="666699"/>
              </a:buClr>
              <a:buNone/>
            </a:pPr>
            <a:r>
              <a:rPr lang="zh-CN" altLang="en-US" dirty="0"/>
              <a:t>为会议制定基本要求；</a:t>
            </a:r>
            <a:endParaRPr lang="en-US" altLang="zh-CN" dirty="0"/>
          </a:p>
          <a:p>
            <a:pPr marL="109537" indent="0">
              <a:buClr>
                <a:srgbClr val="666699"/>
              </a:buClr>
              <a:buNone/>
            </a:pPr>
            <a:r>
              <a:rPr lang="zh-CN" altLang="en-US" dirty="0"/>
              <a:t>建立关系；</a:t>
            </a:r>
            <a:endParaRPr lang="en-US" altLang="zh-CN" b="1"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4223207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138"/>
            <a:ext cx="8458200" cy="4525962"/>
          </a:xfrm>
        </p:spPr>
        <p:txBody>
          <a:bodyPr/>
          <a:lstStyle/>
          <a:p>
            <a:r>
              <a:rPr lang="en-US" altLang="zh-CN" b="1" dirty="0"/>
              <a:t>8</a:t>
            </a:r>
            <a:r>
              <a:rPr lang="zh-CN" altLang="en-US" b="1" dirty="0"/>
              <a:t>、如何更高效使用电子邮件或其他通讯工具？</a:t>
            </a:r>
            <a:endParaRPr lang="en-US" altLang="zh-CN" b="1" dirty="0"/>
          </a:p>
          <a:p>
            <a:pPr marL="109537" indent="0">
              <a:buClr>
                <a:srgbClr val="666699"/>
              </a:buClr>
              <a:buNone/>
            </a:pPr>
            <a:r>
              <a:rPr lang="zh-CN" altLang="en-US" dirty="0"/>
              <a:t>选择最适合的媒介；</a:t>
            </a:r>
            <a:endParaRPr lang="en-US" altLang="zh-CN" dirty="0"/>
          </a:p>
          <a:p>
            <a:pPr marL="109537" indent="0">
              <a:buClr>
                <a:srgbClr val="666699"/>
              </a:buClr>
              <a:buNone/>
            </a:pPr>
            <a:r>
              <a:rPr lang="zh-CN" altLang="en-US" dirty="0"/>
              <a:t>确保信息发送给了正确的人；</a:t>
            </a:r>
            <a:endParaRPr lang="en-US" altLang="zh-CN" dirty="0"/>
          </a:p>
          <a:p>
            <a:pPr marL="109537" indent="0">
              <a:buClr>
                <a:srgbClr val="666699"/>
              </a:buClr>
              <a:buNone/>
            </a:pPr>
            <a:r>
              <a:rPr lang="zh-CN" altLang="en-US" dirty="0"/>
              <a:t>在邮件中使用有意义的主题行，并尽量将内容限制在一个主题下，如果有其他主题，那么就发另外的邮件；</a:t>
            </a:r>
            <a:endParaRPr lang="en-US" altLang="zh-CN" dirty="0"/>
          </a:p>
          <a:p>
            <a:pPr marL="109537" indent="0">
              <a:buClr>
                <a:srgbClr val="666699"/>
              </a:buClr>
              <a:buNone/>
            </a:pPr>
            <a:r>
              <a:rPr lang="zh-CN" altLang="en-US" dirty="0"/>
              <a:t>确保授权了合适的人来分享协作文档；</a:t>
            </a:r>
            <a:endParaRPr lang="en-US" altLang="zh-CN"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71720662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3943</TotalTime>
  <Words>2809</Words>
  <Application>Microsoft Office PowerPoint</Application>
  <PresentationFormat>全屏显示(4:3)</PresentationFormat>
  <Paragraphs>337</Paragraphs>
  <Slides>50</Slides>
  <Notes>9</Notes>
  <HiddenSlides>1</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50</vt:i4>
      </vt:variant>
    </vt:vector>
  </HeadingPairs>
  <TitlesOfParts>
    <vt:vector size="63" baseType="lpstr">
      <vt:lpstr>黑体</vt:lpstr>
      <vt:lpstr>宋体</vt:lpstr>
      <vt:lpstr>Arial</vt:lpstr>
      <vt:lpstr>Arial Rounded MT Bold</vt:lpstr>
      <vt:lpstr>Calibri</vt:lpstr>
      <vt:lpstr>Lucida Sans Unicode</vt:lpstr>
      <vt:lpstr>Times New Roman</vt:lpstr>
      <vt:lpstr>Verdana</vt:lpstr>
      <vt:lpstr>Wingdings</vt:lpstr>
      <vt:lpstr>Wingdings 2</vt:lpstr>
      <vt:lpstr>Wingdings 3</vt:lpstr>
      <vt:lpstr>Custom Design</vt:lpstr>
      <vt:lpstr>Theme1</vt:lpstr>
      <vt:lpstr>Chapter 10: Project Communications Management</vt:lpstr>
      <vt:lpstr>讨论问题</vt:lpstr>
      <vt:lpstr>Learning Objectives</vt:lpstr>
      <vt:lpstr>Learning Objectives (cont’d)</vt:lpstr>
      <vt:lpstr>Importance of Good Communications</vt:lpstr>
      <vt:lpstr>Project Communications Management Processes</vt:lpstr>
      <vt:lpstr>Figure 10-1. Project Communications Management Summary</vt:lpstr>
      <vt:lpstr>Keys to Good Communications</vt:lpstr>
      <vt:lpstr>Understanding Group and Individual Communication Needs</vt:lpstr>
      <vt:lpstr>Importance of Face-to-Face Communication</vt:lpstr>
      <vt:lpstr>Personal Preferences Affect Communication Needs</vt:lpstr>
      <vt:lpstr>Encouraging More Face-to-Face Interactions</vt:lpstr>
      <vt:lpstr>Distributing Information in an Effective and Timely Manner</vt:lpstr>
      <vt:lpstr>Other Communication Considerations</vt:lpstr>
      <vt:lpstr>Determining the Number of Communications Channels</vt:lpstr>
      <vt:lpstr>Figure 10-2. The Impact of the Number of People on Communications Channels</vt:lpstr>
      <vt:lpstr>Planning Communications Management</vt:lpstr>
      <vt:lpstr>Communications Management Plan Contents</vt:lpstr>
      <vt:lpstr>Table 10-1. Sample Stakeholder Analysis for Project Communications</vt:lpstr>
      <vt:lpstr>Managing Communications</vt:lpstr>
      <vt:lpstr>Using Technology to Enhance Creation and Distribution</vt:lpstr>
      <vt:lpstr>Global Issues</vt:lpstr>
      <vt:lpstr>Classifications for Communication Methods</vt:lpstr>
      <vt:lpstr>Table 10-2. Media Choice Table</vt:lpstr>
      <vt:lpstr>Reporting Performance</vt:lpstr>
      <vt:lpstr>Controlling Communications</vt:lpstr>
      <vt:lpstr>Suggestions for Improving Project Communications</vt:lpstr>
      <vt:lpstr>Developing Better Communication Skills</vt:lpstr>
      <vt:lpstr>Running Effective Meetings</vt:lpstr>
      <vt:lpstr>Using E-Mail, Instant Messaging, Texting, and Collaborative Tools Effectively</vt:lpstr>
      <vt:lpstr>Sample Collaborative Tools</vt:lpstr>
      <vt:lpstr>Using Templates for Project Communications</vt:lpstr>
      <vt:lpstr>Figure 10-3. Sample Template for a  Project Description (corrected from p. 427)</vt:lpstr>
      <vt:lpstr>Table 10-3. Sample Template for a Monthly Progress Report</vt:lpstr>
      <vt:lpstr>Table 10-4. Final Project Documentation Items</vt:lpstr>
      <vt:lpstr>Lessons Learned Reports</vt:lpstr>
      <vt:lpstr>Project Archives</vt:lpstr>
      <vt:lpstr>Project Web Sites</vt:lpstr>
      <vt:lpstr>Figure 10-4. Microsoft’s Project Web Application Master Project Summary Screen</vt:lpstr>
      <vt:lpstr>Using Software to Assist in Project Communications</vt:lpstr>
      <vt:lpstr>Chapter Summary</vt:lpstr>
      <vt:lpstr>讨论问题</vt:lpstr>
      <vt:lpstr>讨论问题</vt:lpstr>
      <vt:lpstr>讨论问题</vt:lpstr>
      <vt:lpstr>讨论问题</vt:lpstr>
      <vt:lpstr>讨论问题</vt:lpstr>
      <vt:lpstr>讨论问题</vt:lpstr>
      <vt:lpstr>讨论问题</vt:lpstr>
      <vt:lpstr>讨论问题</vt:lpstr>
      <vt:lpstr>讨论问题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Administrator</cp:lastModifiedBy>
  <cp:revision>201</cp:revision>
  <dcterms:created xsi:type="dcterms:W3CDTF">2001-07-05T23:10:12Z</dcterms:created>
  <dcterms:modified xsi:type="dcterms:W3CDTF">2022-11-28T06:53:23Z</dcterms:modified>
</cp:coreProperties>
</file>