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65"/>
  </p:notesMasterIdLst>
  <p:handoutMasterIdLst>
    <p:handoutMasterId r:id="rId66"/>
  </p:handoutMasterIdLst>
  <p:sldIdLst>
    <p:sldId id="379" r:id="rId3"/>
    <p:sldId id="351" r:id="rId4"/>
    <p:sldId id="352" r:id="rId5"/>
    <p:sldId id="353" r:id="rId6"/>
    <p:sldId id="354" r:id="rId7"/>
    <p:sldId id="356" r:id="rId8"/>
    <p:sldId id="403" r:id="rId9"/>
    <p:sldId id="357" r:id="rId10"/>
    <p:sldId id="358" r:id="rId11"/>
    <p:sldId id="359" r:id="rId12"/>
    <p:sldId id="360" r:id="rId13"/>
    <p:sldId id="361" r:id="rId14"/>
    <p:sldId id="362" r:id="rId15"/>
    <p:sldId id="363" r:id="rId16"/>
    <p:sldId id="364" r:id="rId17"/>
    <p:sldId id="380" r:id="rId18"/>
    <p:sldId id="381" r:id="rId19"/>
    <p:sldId id="382" r:id="rId20"/>
    <p:sldId id="408" r:id="rId21"/>
    <p:sldId id="378" r:id="rId22"/>
    <p:sldId id="400" r:id="rId23"/>
    <p:sldId id="401" r:id="rId24"/>
    <p:sldId id="402" r:id="rId25"/>
    <p:sldId id="366" r:id="rId26"/>
    <p:sldId id="367" r:id="rId27"/>
    <p:sldId id="368" r:id="rId28"/>
    <p:sldId id="369" r:id="rId29"/>
    <p:sldId id="370" r:id="rId30"/>
    <p:sldId id="371" r:id="rId31"/>
    <p:sldId id="372" r:id="rId32"/>
    <p:sldId id="389" r:id="rId33"/>
    <p:sldId id="383" r:id="rId34"/>
    <p:sldId id="374" r:id="rId35"/>
    <p:sldId id="375" r:id="rId36"/>
    <p:sldId id="376" r:id="rId37"/>
    <p:sldId id="384" r:id="rId38"/>
    <p:sldId id="385" r:id="rId39"/>
    <p:sldId id="386" r:id="rId40"/>
    <p:sldId id="390" r:id="rId41"/>
    <p:sldId id="387" r:id="rId42"/>
    <p:sldId id="388" r:id="rId43"/>
    <p:sldId id="391" r:id="rId44"/>
    <p:sldId id="392" r:id="rId45"/>
    <p:sldId id="393" r:id="rId46"/>
    <p:sldId id="394" r:id="rId47"/>
    <p:sldId id="395" r:id="rId48"/>
    <p:sldId id="396" r:id="rId49"/>
    <p:sldId id="377" r:id="rId50"/>
    <p:sldId id="449" r:id="rId51"/>
    <p:sldId id="450" r:id="rId52"/>
    <p:sldId id="451" r:id="rId53"/>
    <p:sldId id="452" r:id="rId54"/>
    <p:sldId id="453" r:id="rId55"/>
    <p:sldId id="454" r:id="rId56"/>
    <p:sldId id="455" r:id="rId57"/>
    <p:sldId id="456" r:id="rId58"/>
    <p:sldId id="457" r:id="rId59"/>
    <p:sldId id="458" r:id="rId60"/>
    <p:sldId id="459" r:id="rId61"/>
    <p:sldId id="460" r:id="rId62"/>
    <p:sldId id="461" r:id="rId63"/>
    <p:sldId id="462" r:id="rId64"/>
  </p:sldIdLst>
  <p:sldSz cx="9144000" cy="6858000" type="screen4x3"/>
  <p:notesSz cx="6858000" cy="9144000"/>
  <p:custDataLst>
    <p:tags r:id="rId67"/>
  </p:custDataLst>
  <p:defaultTextStyle>
    <a:defPPr>
      <a:defRPr lang="en-US"/>
    </a:defPPr>
    <a:lvl1pPr algn="l" rtl="0" fontAlgn="base">
      <a:spcBef>
        <a:spcPct val="0"/>
      </a:spcBef>
      <a:spcAft>
        <a:spcPct val="0"/>
      </a:spcAft>
      <a:defRPr sz="22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2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2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2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200" kern="1200">
        <a:solidFill>
          <a:schemeClr val="tx1"/>
        </a:solidFill>
        <a:latin typeface="Arial" panose="020B0604020202020204" pitchFamily="34" charset="0"/>
        <a:ea typeface="+mn-ea"/>
        <a:cs typeface="+mn-cs"/>
      </a:defRPr>
    </a:lvl5pPr>
    <a:lvl6pPr marL="2286000" algn="l" defTabSz="914400" rtl="0" eaLnBrk="1" latinLnBrk="0" hangingPunct="1">
      <a:defRPr sz="2200" kern="1200">
        <a:solidFill>
          <a:schemeClr val="tx1"/>
        </a:solidFill>
        <a:latin typeface="Arial" panose="020B0604020202020204" pitchFamily="34" charset="0"/>
        <a:ea typeface="+mn-ea"/>
        <a:cs typeface="+mn-cs"/>
      </a:defRPr>
    </a:lvl6pPr>
    <a:lvl7pPr marL="2743200" algn="l" defTabSz="914400" rtl="0" eaLnBrk="1" latinLnBrk="0" hangingPunct="1">
      <a:defRPr sz="2200" kern="1200">
        <a:solidFill>
          <a:schemeClr val="tx1"/>
        </a:solidFill>
        <a:latin typeface="Arial" panose="020B0604020202020204" pitchFamily="34" charset="0"/>
        <a:ea typeface="+mn-ea"/>
        <a:cs typeface="+mn-cs"/>
      </a:defRPr>
    </a:lvl7pPr>
    <a:lvl8pPr marL="3200400" algn="l" defTabSz="914400" rtl="0" eaLnBrk="1" latinLnBrk="0" hangingPunct="1">
      <a:defRPr sz="2200" kern="1200">
        <a:solidFill>
          <a:schemeClr val="tx1"/>
        </a:solidFill>
        <a:latin typeface="Arial" panose="020B0604020202020204" pitchFamily="34" charset="0"/>
        <a:ea typeface="+mn-ea"/>
        <a:cs typeface="+mn-cs"/>
      </a:defRPr>
    </a:lvl8pPr>
    <a:lvl9pPr marL="3657600" algn="l" defTabSz="914400" rtl="0" eaLnBrk="1" latinLnBrk="0" hangingPunct="1">
      <a:defRPr sz="2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551" autoAdjust="0"/>
  </p:normalViewPr>
  <p:slideViewPr>
    <p:cSldViewPr showGuides="1">
      <p:cViewPr varScale="1">
        <p:scale>
          <a:sx n="117" d="100"/>
          <a:sy n="117" d="100"/>
        </p:scale>
        <p:origin x="9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FontTx/>
              <a:buNone/>
              <a:defRPr sz="1200">
                <a:latin typeface="Times New Roman" panose="02020603050405020304" pitchFamily="18" charset="0"/>
              </a:defRPr>
            </a:lvl1pPr>
          </a:lstStyle>
          <a:p>
            <a:pPr>
              <a:defRPr/>
            </a:pPr>
            <a:fld id="{A471A8CE-0E72-460B-898D-9FCAF66DD7DD}" type="slidenum">
              <a:rPr lang="en-US"/>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FontTx/>
              <a:buNone/>
              <a:defRPr sz="1200">
                <a:latin typeface="Times New Roman" panose="02020603050405020304" pitchFamily="18" charset="0"/>
              </a:defRPr>
            </a:lvl1pPr>
          </a:lstStyle>
          <a:p>
            <a:pPr>
              <a:defRPr/>
            </a:pPr>
            <a:fld id="{E39DB59F-DBFB-47E5-BFE8-743E11972470}"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p:sp>
      <p:sp>
        <p:nvSpPr>
          <p:cNvPr id="59395" name="Notes Placeholder 2"/>
          <p:cNvSpPr>
            <a:spLocks noGrp="1"/>
          </p:cNvSpPr>
          <p:nvPr>
            <p:ph type="body" idx="1"/>
          </p:nvPr>
        </p:nvSpPr>
        <p:spPr>
          <a:noFill/>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4BEDAA1-AB8B-4818-B524-3A50969A2F07}"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4F7053E-F83E-4271-AA08-D5C8F0521D54}" type="slidenum">
              <a:rPr lang="en-US"/>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7F9E4DD-5D64-4A63-89E9-4C623F7791FD}" type="slidenum">
              <a:rPr lang="en-US"/>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FD5B2B2-4C46-45EE-BEF1-8C3D9FBA3991}"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8E8515F-EAA7-497F-A8F6-4CE386C3FAC6}"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733A7672-6F35-4B80-8974-351A77EC4C87}"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C99E3D6-3C62-42FF-A07A-362FC34BCCC8}" type="slidenum">
              <a:rPr lang="en-US"/>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319A391-6174-4976-A8AD-AEA04E687975}" type="slidenum">
              <a:rPr lang="en-US"/>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FFDDE7D-2F39-4F2E-B126-93BFCEB7FB45}"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D4141E6-86B5-4F33-80CE-1E6AB03295B2}"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FFDBA7C-0D50-4EB9-909A-D860461C6E19}" type="slidenum">
              <a:rPr lang="en-US"/>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p:nvPr/>
        </p:nvGrpSpPr>
        <p:grpSpPr bwMode="auto">
          <a:xfrm>
            <a:off x="-3175" y="4953000"/>
            <a:ext cx="9147175" cy="1911350"/>
            <a:chOff x="-3765" y="4832896"/>
            <a:chExt cx="9147765" cy="2032192"/>
          </a:xfrm>
        </p:grpSpPr>
        <p:sp>
          <p:nvSpPr>
            <p:cNvPr id="6" name="Freeform 5"/>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lstStyle>
          <a:p>
            <a:pPr>
              <a:defRPr/>
            </a:pPr>
            <a:r>
              <a:rPr lang="en-US"/>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lstStyle>
          <a:p>
            <a:pPr>
              <a:defRPr/>
            </a:pPr>
            <a:fld id="{99C9FF7E-57B2-43A2-BA09-B73DB1F96FF2}"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D4FD9659-824B-46C0-8A9A-C90F38C1F825}"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endParaRPr lang="en-US" dirty="0"/>
          </a:p>
        </p:txBody>
      </p:sp>
      <p:sp>
        <p:nvSpPr>
          <p:cNvPr id="7"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lstStyle>
          <a:p>
            <a:pPr>
              <a:defRPr/>
            </a:pPr>
            <a:fld id="{2799675F-4A93-44A1-8896-452D54AE32F2}"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Footer Placeholder 5"/>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lstStyle>
          <a:p>
            <a:pPr>
              <a:defRPr/>
            </a:pPr>
            <a:fld id="{45A903A5-3145-4C33-861E-F726013C416E}"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lstStyle>
          <a:p>
            <a:pPr>
              <a:defRPr/>
            </a:pPr>
            <a:fld id="{79F8D2C1-FDC8-4049-A2F1-36C9287BEF68}"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dirty="0"/>
          </a:p>
        </p:txBody>
      </p:sp>
      <p:sp>
        <p:nvSpPr>
          <p:cNvPr id="4" name="Footer Placeholder 3"/>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lstStyle>
          <a:p>
            <a:pPr>
              <a:defRPr/>
            </a:pPr>
            <a:fld id="{0BD84499-56DB-4FF3-8D99-174F9EB97545}"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88BFF443-6094-4853-B8BA-F1264293BEA5}"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Footer Placeholder 5"/>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lstStyle>
          <a:p>
            <a:pPr>
              <a:defRPr/>
            </a:pPr>
            <a:fld id="{A521D880-5042-48D3-9E9D-9C6275C0D5B4}"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lstStyle>
          <a:p>
            <a:pPr>
              <a:defRPr/>
            </a:pPr>
            <a:r>
              <a:rPr lang="en-US"/>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lstStyle>
          <a:p>
            <a:pPr>
              <a:defRPr/>
            </a:pPr>
            <a:fld id="{0A9D95BA-DBCE-4585-9D62-69E5B33609E2}"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79C7716B-8CDB-4114-B58A-CD791D036412}"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A5896A34-DE02-4C2F-B86D-63B07783C00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lnSpc>
                <a:spcPct val="90000"/>
              </a:lnSpc>
              <a:spcBef>
                <a:spcPct val="20000"/>
              </a:spcBef>
              <a:buFontTx/>
              <a:buChar char="•"/>
              <a:defRPr sz="1200">
                <a:solidFill>
                  <a:srgbClr val="898989"/>
                </a:solidFill>
                <a:latin typeface="Times New Roman" panose="02020603050405020304"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a:lnSpc>
                <a:spcPct val="90000"/>
              </a:lnSpc>
              <a:spcBef>
                <a:spcPct val="20000"/>
              </a:spcBef>
              <a:buFontTx/>
              <a:buChar char="•"/>
              <a:defRPr sz="1200">
                <a:solidFill>
                  <a:srgbClr val="898989"/>
                </a:solidFill>
                <a:latin typeface="Times New Roman" panose="02020603050405020304"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anose="02020603050405020304" pitchFamily="18" charset="0"/>
              </a:defRPr>
            </a:lvl1pPr>
          </a:lstStyle>
          <a:p>
            <a:pPr>
              <a:defRPr/>
            </a:pPr>
            <a:fld id="{1F0DB9A2-6BF9-4BB6-B94C-EBCA49169742}"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lstStyle>
          <a:p>
            <a:pPr>
              <a:defRPr/>
            </a:pPr>
            <a:fld id="{1F0DB9A2-6BF9-4BB6-B94C-EBCA4916974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panose="020B0604020202020204" pitchFamily="34" charset="0"/>
        </a:defRPr>
      </a:lvl2pPr>
      <a:lvl3pPr algn="l" rtl="0" eaLnBrk="1" fontAlgn="base" hangingPunct="1">
        <a:spcBef>
          <a:spcPct val="0"/>
        </a:spcBef>
        <a:spcAft>
          <a:spcPct val="0"/>
        </a:spcAft>
        <a:defRPr sz="4100" b="1">
          <a:solidFill>
            <a:schemeClr val="tx2"/>
          </a:solidFill>
          <a:latin typeface="Arial" panose="020B0604020202020204" pitchFamily="34" charset="0"/>
        </a:defRPr>
      </a:lvl3pPr>
      <a:lvl4pPr algn="l" rtl="0" eaLnBrk="1" fontAlgn="base" hangingPunct="1">
        <a:spcBef>
          <a:spcPct val="0"/>
        </a:spcBef>
        <a:spcAft>
          <a:spcPct val="0"/>
        </a:spcAft>
        <a:defRPr sz="4100" b="1">
          <a:solidFill>
            <a:schemeClr val="tx2"/>
          </a:solidFill>
          <a:latin typeface="Arial" panose="020B0604020202020204" pitchFamily="34" charset="0"/>
        </a:defRPr>
      </a:lvl4pPr>
      <a:lvl5pPr algn="l" rtl="0" eaLnBrk="1" fontAlgn="base" hangingPunct="1">
        <a:spcBef>
          <a:spcPct val="0"/>
        </a:spcBef>
        <a:spcAft>
          <a:spcPct val="0"/>
        </a:spcAft>
        <a:defRPr sz="4100" b="1">
          <a:solidFill>
            <a:schemeClr val="tx2"/>
          </a:solidFill>
          <a:latin typeface="Arial" panose="020B0604020202020204" pitchFamily="34" charset="0"/>
        </a:defRPr>
      </a:lvl5pPr>
      <a:lvl6pPr marL="457200" algn="l" rtl="0" eaLnBrk="1" fontAlgn="base" hangingPunct="1">
        <a:spcBef>
          <a:spcPct val="0"/>
        </a:spcBef>
        <a:spcAft>
          <a:spcPct val="0"/>
        </a:spcAft>
        <a:defRPr sz="4100" b="1">
          <a:solidFill>
            <a:schemeClr val="tx2"/>
          </a:solidFill>
          <a:latin typeface="Lucida Sans Unicode" panose="020B0602030504020204" pitchFamily="34" charset="0"/>
        </a:defRPr>
      </a:lvl6pPr>
      <a:lvl7pPr marL="914400" algn="l" rtl="0" eaLnBrk="1" fontAlgn="base" hangingPunct="1">
        <a:spcBef>
          <a:spcPct val="0"/>
        </a:spcBef>
        <a:spcAft>
          <a:spcPct val="0"/>
        </a:spcAft>
        <a:defRPr sz="4100" b="1">
          <a:solidFill>
            <a:schemeClr val="tx2"/>
          </a:solidFill>
          <a:latin typeface="Lucida Sans Unicode" panose="020B0602030504020204" pitchFamily="34" charset="0"/>
        </a:defRPr>
      </a:lvl7pPr>
      <a:lvl8pPr marL="1371600" algn="l" rtl="0" eaLnBrk="1" fontAlgn="base" hangingPunct="1">
        <a:spcBef>
          <a:spcPct val="0"/>
        </a:spcBef>
        <a:spcAft>
          <a:spcPct val="0"/>
        </a:spcAft>
        <a:defRPr sz="4100" b="1">
          <a:solidFill>
            <a:schemeClr val="tx2"/>
          </a:solidFill>
          <a:latin typeface="Lucida Sans Unicode" panose="020B0602030504020204" pitchFamily="34" charset="0"/>
        </a:defRPr>
      </a:lvl8pPr>
      <a:lvl9pPr marL="1828800" algn="l" rtl="0" eaLnBrk="1" fontAlgn="base" hangingPunct="1">
        <a:spcBef>
          <a:spcPct val="0"/>
        </a:spcBef>
        <a:spcAft>
          <a:spcPct val="0"/>
        </a:spcAft>
        <a:defRPr sz="4100" b="1">
          <a:solidFill>
            <a:schemeClr val="tx2"/>
          </a:solidFill>
          <a:latin typeface="Lucida Sans Unicode" panose="020B0602030504020204" pitchFamily="34" charset="0"/>
        </a:defRPr>
      </a:lvl9pPr>
    </p:titleStyle>
    <p:bodyStyle>
      <a:lvl1pPr marL="365125" indent="-255905"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1600200"/>
            <a:ext cx="9144000" cy="1349375"/>
          </a:xfrm>
        </p:spPr>
        <p:txBody>
          <a:bodyPr>
            <a:noAutofit/>
          </a:bodyPr>
          <a:lstStyle/>
          <a:p>
            <a:pPr fontAlgn="auto">
              <a:spcAft>
                <a:spcPts val="0"/>
              </a:spcAft>
              <a:defRPr/>
            </a:pPr>
            <a:r>
              <a:rPr>
                <a:effectLst>
                  <a:outerShdw blurRad="38100" dist="38100" dir="2700000" algn="tl">
                    <a:srgbClr val="FFFFFF"/>
                  </a:outerShdw>
                </a:effectLst>
                <a:latin typeface="Arial Rounded MT Bold" panose="020F0704030504030204" pitchFamily="34" charset="0"/>
              </a:rPr>
              <a:t>Chapter </a:t>
            </a:r>
            <a:r>
              <a:rPr lang="en-US" dirty="0">
                <a:effectLst>
                  <a:outerShdw blurRad="38100" dist="38100" dir="2700000" algn="tl">
                    <a:srgbClr val="FFFFFF"/>
                  </a:outerShdw>
                </a:effectLst>
                <a:latin typeface="Arial Rounded MT Bold" panose="020F0704030504030204" pitchFamily="34" charset="0"/>
              </a:rPr>
              <a:t>2</a:t>
            </a:r>
            <a:r>
              <a:rPr>
                <a:effectLst>
                  <a:outerShdw blurRad="38100" dist="38100" dir="2700000" algn="tl">
                    <a:srgbClr val="FFFFFF"/>
                  </a:outerShdw>
                </a:effectLst>
                <a:latin typeface="Arial Rounded MT Bold" panose="020F0704030504030204" pitchFamily="34" charset="0"/>
              </a:rPr>
              <a:t>:</a:t>
            </a:r>
            <a:br>
              <a:rPr>
                <a:effectLst>
                  <a:outerShdw blurRad="38100" dist="38100" dir="2700000" algn="tl">
                    <a:srgbClr val="FFFFFF"/>
                  </a:outerShdw>
                </a:effectLst>
                <a:latin typeface="Arial Rounded MT Bold" panose="020F0704030504030204" pitchFamily="34" charset="0"/>
              </a:rPr>
            </a:br>
            <a:r>
              <a:rPr lang="en-US" sz="4400" dirty="0">
                <a:effectLst>
                  <a:outerShdw blurRad="38100" dist="38100" dir="2700000" algn="tl">
                    <a:srgbClr val="FFFFFF"/>
                  </a:outerShdw>
                </a:effectLst>
                <a:latin typeface="Arial Rounded MT Bold" panose="020F0704030504030204" pitchFamily="34" charset="0"/>
              </a:rPr>
              <a:t>The Project Management and Information Technology Context</a:t>
            </a:r>
            <a:endParaRPr>
              <a:effectLst>
                <a:outerShdw blurRad="38100" dist="38100" dir="2700000" algn="tl">
                  <a:srgbClr val="FFFFFF"/>
                </a:outerShdw>
              </a:effectLst>
              <a:latin typeface="Arial Rounded MT Bold" panose="020F0704030504030204" pitchFamily="34" charset="0"/>
            </a:endParaRPr>
          </a:p>
        </p:txBody>
      </p:sp>
      <p:sp>
        <p:nvSpPr>
          <p:cNvPr id="3075" name="Rectangle 3"/>
          <p:cNvSpPr>
            <a:spLocks noChangeArrowheads="1"/>
          </p:cNvSpPr>
          <p:nvPr/>
        </p:nvSpPr>
        <p:spPr bwMode="auto">
          <a:xfrm>
            <a:off x="152400" y="3657600"/>
            <a:ext cx="5791200" cy="1349375"/>
          </a:xfrm>
          <a:prstGeom prst="rect">
            <a:avLst/>
          </a:prstGeom>
          <a:noFill/>
          <a:ln w="9525">
            <a:noFill/>
            <a:miter lim="800000"/>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anose="020F0704030504030204" pitchFamily="34" charset="0"/>
                <a:ea typeface="+mj-ea"/>
                <a:cs typeface="+mj-cs"/>
              </a:rPr>
              <a:t>Information Technology Project Management, Seventh Edition</a:t>
            </a:r>
          </a:p>
        </p:txBody>
      </p:sp>
      <p:sp>
        <p:nvSpPr>
          <p:cNvPr id="6" name="TextBox 5"/>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7"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3"/>
          <p:cNvSpPr>
            <a:spLocks noGrp="1" noChangeArrowheads="1"/>
          </p:cNvSpPr>
          <p:nvPr>
            <p:ph idx="1"/>
          </p:nvPr>
        </p:nvSpPr>
        <p:spPr>
          <a:xfrm>
            <a:off x="228600" y="1447800"/>
            <a:ext cx="8534400" cy="4876800"/>
          </a:xfrm>
        </p:spPr>
        <p:txBody>
          <a:bodyPr/>
          <a:lstStyle/>
          <a:p>
            <a:r>
              <a:rPr lang="en-US" dirty="0"/>
              <a:t>Describe the systems view of project management and how it applies to information technology (IT) projects</a:t>
            </a:r>
          </a:p>
          <a:p>
            <a:r>
              <a:rPr lang="en-US" dirty="0"/>
              <a:t>Understand organizations, including the four frames, organizational structures, and organizational culture</a:t>
            </a:r>
          </a:p>
          <a:p>
            <a:r>
              <a:rPr lang="en-US" dirty="0"/>
              <a:t>Explain why stakeholder management and top management commitment are critical for a project’s success</a:t>
            </a:r>
          </a:p>
        </p:txBody>
      </p:sp>
      <p:sp>
        <p:nvSpPr>
          <p:cNvPr id="10244" name="Rectangle 2"/>
          <p:cNvSpPr>
            <a:spLocks noGrp="1" noChangeArrowheads="1"/>
          </p:cNvSpPr>
          <p:nvPr>
            <p:ph type="title"/>
          </p:nvPr>
        </p:nvSpPr>
        <p:spPr/>
        <p:txBody>
          <a:bodyPr/>
          <a:lstStyle/>
          <a:p>
            <a:r>
              <a:rPr lang="en-US" dirty="0"/>
              <a:t>Learning Objectives</a:t>
            </a:r>
          </a:p>
        </p:txBody>
      </p:sp>
      <p:sp>
        <p:nvSpPr>
          <p:cNvPr id="5" name="Slide Number Placeholder 4"/>
          <p:cNvSpPr>
            <a:spLocks noGrp="1"/>
          </p:cNvSpPr>
          <p:nvPr>
            <p:ph type="sldNum" sz="quarter" idx="11"/>
          </p:nvPr>
        </p:nvSpPr>
        <p:spPr/>
        <p:txBody>
          <a:bodyPr/>
          <a:lstStyle/>
          <a:p>
            <a:pPr>
              <a:defRPr/>
            </a:pPr>
            <a:fld id="{426FA929-6FB7-45E1-AD52-83E4868EF495}" type="slidenum">
              <a:rPr lang="en-US"/>
              <a:t>2</a:t>
            </a:fld>
            <a:endParaRPr lang="en-US" dirty="0"/>
          </a:p>
        </p:txBody>
      </p:sp>
      <p:sp>
        <p:nvSpPr>
          <p:cNvPr id="6" name="Footer Placeholder 5"/>
          <p:cNvSpPr>
            <a:spLocks noGrp="1"/>
          </p:cNvSpPr>
          <p:nvPr>
            <p:ph type="ftr" sz="quarter" idx="10"/>
          </p:nvPr>
        </p:nvSpPr>
        <p:spPr/>
        <p:txBody>
          <a:bodyPr/>
          <a:lstStyle/>
          <a:p>
            <a:pPr>
              <a:defRPr/>
            </a:pPr>
            <a:r>
              <a:rPr lang="en-US" dirty="0"/>
              <a:t>Information Technology Project Management, Seventh Edition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p:txBody>
          <a:bodyPr/>
          <a:lstStyle/>
          <a:p>
            <a:r>
              <a:rPr lang="en-US" dirty="0"/>
              <a:t>Understand the concept of a project phase and the project life cycle, and distinguish between project development and product development</a:t>
            </a:r>
          </a:p>
          <a:p>
            <a:r>
              <a:rPr lang="en-US" dirty="0"/>
              <a:t>Discuss the unique attributes and diverse nature of IT projects</a:t>
            </a:r>
          </a:p>
          <a:p>
            <a:r>
              <a:rPr lang="en-US" dirty="0"/>
              <a:t>Describe recent trends affecting IT project management, including globalization, outsourcing, virtual teams, and agile project management</a:t>
            </a:r>
          </a:p>
          <a:p>
            <a:endParaRPr lang="en-US" dirty="0"/>
          </a:p>
        </p:txBody>
      </p:sp>
      <p:sp>
        <p:nvSpPr>
          <p:cNvPr id="11268" name="Rectangle 2"/>
          <p:cNvSpPr>
            <a:spLocks noGrp="1" noChangeArrowheads="1"/>
          </p:cNvSpPr>
          <p:nvPr>
            <p:ph type="title"/>
          </p:nvPr>
        </p:nvSpPr>
        <p:spPr/>
        <p:txBody>
          <a:bodyPr/>
          <a:lstStyle/>
          <a:p>
            <a:r>
              <a:rPr lang="en-US" dirty="0"/>
              <a:t>Learning Objectives</a:t>
            </a:r>
          </a:p>
        </p:txBody>
      </p:sp>
      <p:sp>
        <p:nvSpPr>
          <p:cNvPr id="11266"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C9F6AAD2-4971-4595-8E55-186EFA782765}"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3"/>
          <p:cNvSpPr>
            <a:spLocks noGrp="1" noChangeArrowheads="1"/>
          </p:cNvSpPr>
          <p:nvPr>
            <p:ph idx="1"/>
          </p:nvPr>
        </p:nvSpPr>
        <p:spPr/>
        <p:txBody>
          <a:bodyPr/>
          <a:lstStyle/>
          <a:p>
            <a:r>
              <a:rPr lang="en-US" dirty="0"/>
              <a:t>Projects must operate in a broad organizational environment</a:t>
            </a:r>
          </a:p>
          <a:p>
            <a:r>
              <a:rPr lang="en-US" dirty="0"/>
              <a:t>Project managers need to use </a:t>
            </a:r>
            <a:r>
              <a:rPr lang="en-US" b="1" dirty="0"/>
              <a:t>systems thinking:</a:t>
            </a:r>
          </a:p>
          <a:p>
            <a:pPr lvl="1"/>
            <a:r>
              <a:rPr lang="en-US" dirty="0"/>
              <a:t>taking a holistic view of carrying out projects within the context of the organization</a:t>
            </a:r>
          </a:p>
          <a:p>
            <a:r>
              <a:rPr lang="en-US" dirty="0"/>
              <a:t>Senior managers must make sure projects continue to support current business needs</a:t>
            </a:r>
          </a:p>
          <a:p>
            <a:endParaRPr lang="en-US" dirty="0"/>
          </a:p>
        </p:txBody>
      </p:sp>
      <p:sp>
        <p:nvSpPr>
          <p:cNvPr id="12292" name="Rectangle 2"/>
          <p:cNvSpPr>
            <a:spLocks noGrp="1" noChangeArrowheads="1"/>
          </p:cNvSpPr>
          <p:nvPr>
            <p:ph type="title"/>
          </p:nvPr>
        </p:nvSpPr>
        <p:spPr>
          <a:xfrm>
            <a:off x="304800" y="228600"/>
            <a:ext cx="8839200" cy="1143000"/>
          </a:xfrm>
        </p:spPr>
        <p:txBody>
          <a:bodyPr>
            <a:normAutofit fontScale="90000"/>
          </a:bodyPr>
          <a:lstStyle/>
          <a:p>
            <a:r>
              <a:rPr lang="en-US" dirty="0"/>
              <a:t>Projects Cannot Be Run</a:t>
            </a:r>
            <a:br>
              <a:rPr lang="en-US" dirty="0"/>
            </a:br>
            <a:r>
              <a:rPr lang="en-US" dirty="0"/>
              <a:t>In Isolation</a:t>
            </a:r>
          </a:p>
        </p:txBody>
      </p:sp>
      <p:sp>
        <p:nvSpPr>
          <p:cNvPr id="12290"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EB3A963B-2A76-42DC-B4A5-25130FB0888A}"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Grp="1" noChangeArrowheads="1"/>
          </p:cNvSpPr>
          <p:nvPr>
            <p:ph idx="1"/>
          </p:nvPr>
        </p:nvSpPr>
        <p:spPr>
          <a:xfrm>
            <a:off x="381000" y="1295400"/>
            <a:ext cx="8458200" cy="4572000"/>
          </a:xfrm>
        </p:spPr>
        <p:txBody>
          <a:bodyPr/>
          <a:lstStyle/>
          <a:p>
            <a:pPr>
              <a:lnSpc>
                <a:spcPct val="90000"/>
              </a:lnSpc>
            </a:pPr>
            <a:r>
              <a:rPr lang="en-US" dirty="0"/>
              <a:t>A </a:t>
            </a:r>
            <a:r>
              <a:rPr lang="en-US" b="1" dirty="0"/>
              <a:t>systems approach </a:t>
            </a:r>
            <a:r>
              <a:rPr lang="en-US" dirty="0"/>
              <a:t>emerged in the 1950s to describe a more analytical approach to management and problem solving</a:t>
            </a:r>
          </a:p>
          <a:p>
            <a:pPr>
              <a:lnSpc>
                <a:spcPct val="90000"/>
              </a:lnSpc>
            </a:pPr>
            <a:r>
              <a:rPr lang="en-US" dirty="0"/>
              <a:t>Three parts include:</a:t>
            </a:r>
          </a:p>
          <a:p>
            <a:pPr lvl="1">
              <a:lnSpc>
                <a:spcPct val="90000"/>
              </a:lnSpc>
            </a:pPr>
            <a:r>
              <a:rPr lang="en-US" b="1" dirty="0"/>
              <a:t>Systems philosophy</a:t>
            </a:r>
            <a:r>
              <a:rPr lang="en-US" dirty="0"/>
              <a:t>: an overall model for thinking about things as systems</a:t>
            </a:r>
          </a:p>
          <a:p>
            <a:pPr lvl="1">
              <a:lnSpc>
                <a:spcPct val="90000"/>
              </a:lnSpc>
            </a:pPr>
            <a:r>
              <a:rPr lang="en-US" b="1" dirty="0"/>
              <a:t>Systems analysis</a:t>
            </a:r>
            <a:r>
              <a:rPr lang="en-US" dirty="0"/>
              <a:t>: problem-solving approach</a:t>
            </a:r>
          </a:p>
          <a:p>
            <a:pPr lvl="1">
              <a:lnSpc>
                <a:spcPct val="90000"/>
              </a:lnSpc>
            </a:pPr>
            <a:r>
              <a:rPr lang="en-US" b="1" dirty="0"/>
              <a:t>Systems management</a:t>
            </a:r>
            <a:r>
              <a:rPr lang="en-US" dirty="0"/>
              <a:t>: address business, technological, and organizational issues before making changes to systems</a:t>
            </a:r>
          </a:p>
        </p:txBody>
      </p:sp>
      <p:sp>
        <p:nvSpPr>
          <p:cNvPr id="13316" name="Rectangle 2"/>
          <p:cNvSpPr>
            <a:spLocks noGrp="1" noChangeArrowheads="1"/>
          </p:cNvSpPr>
          <p:nvPr>
            <p:ph type="title"/>
          </p:nvPr>
        </p:nvSpPr>
        <p:spPr>
          <a:xfrm>
            <a:off x="304800" y="152400"/>
            <a:ext cx="8839200" cy="1143000"/>
          </a:xfrm>
        </p:spPr>
        <p:txBody>
          <a:bodyPr>
            <a:normAutofit fontScale="90000"/>
          </a:bodyPr>
          <a:lstStyle/>
          <a:p>
            <a:r>
              <a:rPr lang="en-US" dirty="0"/>
              <a:t>A Systems View of Project Management</a:t>
            </a:r>
          </a:p>
        </p:txBody>
      </p:sp>
      <p:sp>
        <p:nvSpPr>
          <p:cNvPr id="13314"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1C533D4-6C77-4C28-9310-1A48D750367A}"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Figure 2-1. Three Sphere Model for Systems Management</a:t>
            </a:r>
          </a:p>
        </p:txBody>
      </p:sp>
      <p:sp>
        <p:nvSpPr>
          <p:cNvPr id="7" name="Footer Placeholder 6"/>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BD84499-56DB-4FF3-8D99-174F9EB97545}" type="slidenum">
              <a:rPr lang="en-US" smtClean="0"/>
              <a:t>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57048"/>
            <a:ext cx="6781800" cy="48306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Figure 2-1. Three Sphere Model for Systems Management</a:t>
            </a:r>
          </a:p>
        </p:txBody>
      </p:sp>
      <p:sp>
        <p:nvSpPr>
          <p:cNvPr id="7" name="Footer Placeholder 6"/>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BD84499-56DB-4FF3-8D99-174F9EB97545}" type="slidenum">
              <a:rPr lang="en-US" smtClean="0"/>
              <a:t>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57048"/>
            <a:ext cx="6781800" cy="48306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228600" y="228600"/>
            <a:ext cx="8915400" cy="685800"/>
          </a:xfrm>
        </p:spPr>
        <p:txBody>
          <a:bodyPr>
            <a:normAutofit fontScale="90000"/>
          </a:bodyPr>
          <a:lstStyle/>
          <a:p>
            <a:r>
              <a:rPr lang="en-US" dirty="0"/>
              <a:t>Figure 2-2. Perspectives on Organizations</a:t>
            </a:r>
          </a:p>
        </p:txBody>
      </p:sp>
      <p:sp>
        <p:nvSpPr>
          <p:cNvPr id="16386"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12" name="Slide Number Placeholder 4"/>
          <p:cNvSpPr>
            <a:spLocks noGrp="1"/>
          </p:cNvSpPr>
          <p:nvPr>
            <p:ph type="sldNum" sz="quarter" idx="11"/>
          </p:nvPr>
        </p:nvSpPr>
        <p:spPr/>
        <p:txBody>
          <a:bodyPr/>
          <a:lstStyle/>
          <a:p>
            <a:pPr>
              <a:defRPr/>
            </a:pPr>
            <a:fld id="{54D9EE01-122A-4F6B-878B-46264A60159F}" type="slidenum">
              <a:rPr lang="en-US"/>
              <a:t>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17491"/>
            <a:ext cx="8456096" cy="4985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92162"/>
          </a:xfrm>
        </p:spPr>
        <p:txBody>
          <a:bodyPr>
            <a:normAutofit/>
          </a:bodyPr>
          <a:lstStyle/>
          <a:p>
            <a:r>
              <a:rPr lang="en-US" dirty="0"/>
              <a:t>What Went Wrong?</a:t>
            </a:r>
          </a:p>
        </p:txBody>
      </p:sp>
      <p:sp>
        <p:nvSpPr>
          <p:cNvPr id="8" name="Footer Placeholder 7"/>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defRPr/>
            </a:pPr>
            <a:fld id="{0BD84499-56DB-4FF3-8D99-174F9EB97545}" type="slidenum">
              <a:rPr lang="en-US" smtClean="0"/>
              <a:t>9</a:t>
            </a:fld>
            <a:endParaRPr lang="en-US" dirty="0"/>
          </a:p>
        </p:txBody>
      </p:sp>
      <p:sp>
        <p:nvSpPr>
          <p:cNvPr id="17411" name="Rectangle 3"/>
          <p:cNvSpPr>
            <a:spLocks noChangeArrowheads="1"/>
          </p:cNvSpPr>
          <p:nvPr/>
        </p:nvSpPr>
        <p:spPr bwMode="auto">
          <a:xfrm>
            <a:off x="381000" y="1295400"/>
            <a:ext cx="8534400" cy="4154984"/>
          </a:xfrm>
          <a:prstGeom prst="rect">
            <a:avLst/>
          </a:prstGeom>
          <a:noFill/>
          <a:ln w="9525">
            <a:noFill/>
            <a:miter lim="800000"/>
          </a:ln>
        </p:spPr>
        <p:txBody>
          <a:bodyPr>
            <a:spAutoFit/>
          </a:bodyPr>
          <a:lstStyle/>
          <a:p>
            <a:pPr marL="342900" indent="-342900">
              <a:buFont typeface="Arial" panose="020B0604020202020204" pitchFamily="34" charset="0"/>
              <a:buChar char="•"/>
            </a:pPr>
            <a:r>
              <a:rPr lang="en-US" sz="2400" dirty="0"/>
              <a:t>In a paper titled “A Study in Project Failure,” two researchers examined the success and failure of 214 IT projects over an eight-year period in several European countries. </a:t>
            </a:r>
          </a:p>
          <a:p>
            <a:pPr marL="342900" indent="-342900">
              <a:buFont typeface="Arial" panose="020B0604020202020204" pitchFamily="34" charset="0"/>
              <a:buChar char="•"/>
            </a:pPr>
            <a:r>
              <a:rPr lang="en-US" sz="2400" dirty="0"/>
              <a:t>The researchers found that only one in eight (12.5 percent) were considered successful in terms of meeting scope, time, and cost goals. </a:t>
            </a:r>
          </a:p>
          <a:p>
            <a:pPr marL="342900" indent="-342900">
              <a:buFont typeface="Arial" panose="020B0604020202020204" pitchFamily="34" charset="0"/>
              <a:buChar char="•"/>
            </a:pPr>
            <a:r>
              <a:rPr lang="en-US" sz="2400" dirty="0"/>
              <a:t>The authors said that the culture within many organizations is often to blame</a:t>
            </a:r>
          </a:p>
          <a:p>
            <a:pPr marL="342900" indent="-342900">
              <a:buFont typeface="Arial" panose="020B0604020202020204" pitchFamily="34" charset="0"/>
              <a:buChar char="•"/>
            </a:pPr>
            <a:r>
              <a:rPr lang="en-US" sz="2400" dirty="0">
                <a:cs typeface="Times New Roman" panose="02020603050405020304" pitchFamily="18" charset="0"/>
              </a:rPr>
              <a:t>Among other things, people often do not discuss important leadership, stakeholder, and risk management issues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3"/>
          <p:cNvSpPr>
            <a:spLocks noGrp="1" noChangeArrowheads="1"/>
          </p:cNvSpPr>
          <p:nvPr>
            <p:ph idx="1"/>
          </p:nvPr>
        </p:nvSpPr>
        <p:spPr/>
        <p:txBody>
          <a:bodyPr/>
          <a:lstStyle/>
          <a:p>
            <a:r>
              <a:rPr lang="en-US" dirty="0"/>
              <a:t>3 basic organization structures</a:t>
            </a:r>
          </a:p>
          <a:p>
            <a:pPr lvl="1"/>
            <a:r>
              <a:rPr lang="en-US" sz="2800" b="1" dirty="0"/>
              <a:t>Functional:</a:t>
            </a:r>
            <a:r>
              <a:rPr lang="en-US" sz="2800" dirty="0"/>
              <a:t> functional managers report to the CEO</a:t>
            </a:r>
          </a:p>
          <a:p>
            <a:pPr lvl="1"/>
            <a:r>
              <a:rPr lang="en-US" sz="2800" b="1" dirty="0"/>
              <a:t>Project:</a:t>
            </a:r>
            <a:r>
              <a:rPr lang="en-US" sz="2800" dirty="0"/>
              <a:t> program managers report to the CEO</a:t>
            </a:r>
          </a:p>
          <a:p>
            <a:pPr lvl="1"/>
            <a:r>
              <a:rPr lang="en-US" sz="2800" b="1" dirty="0"/>
              <a:t>Matrix:</a:t>
            </a:r>
            <a:r>
              <a:rPr lang="en-US" sz="2800" dirty="0"/>
              <a:t> middle ground between functional and project structures; personnel often report to two or more bosses; structure can be weak, balanced, or strong matrix</a:t>
            </a:r>
          </a:p>
        </p:txBody>
      </p:sp>
      <p:sp>
        <p:nvSpPr>
          <p:cNvPr id="18436" name="Rectangle 2"/>
          <p:cNvSpPr>
            <a:spLocks noGrp="1" noChangeArrowheads="1"/>
          </p:cNvSpPr>
          <p:nvPr>
            <p:ph type="title"/>
          </p:nvPr>
        </p:nvSpPr>
        <p:spPr/>
        <p:txBody>
          <a:bodyPr/>
          <a:lstStyle/>
          <a:p>
            <a:r>
              <a:rPr lang="en-US" dirty="0"/>
              <a:t>Organizational Structures</a:t>
            </a:r>
          </a:p>
        </p:txBody>
      </p:sp>
      <p:sp>
        <p:nvSpPr>
          <p:cNvPr id="18434"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C4723D0A-DC20-4FDC-880A-596289672AA3}"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199" y="145330"/>
            <a:ext cx="8229600" cy="1143000"/>
          </a:xfrm>
        </p:spPr>
        <p:txBody>
          <a:bodyPr>
            <a:normAutofit fontScale="90000"/>
          </a:bodyPr>
          <a:lstStyle/>
          <a:p>
            <a:r>
              <a:rPr lang="en-US" sz="3600" dirty="0"/>
              <a:t>Figure 2-3. Functional, Project, and Matrix Organizational Structures</a:t>
            </a:r>
          </a:p>
        </p:txBody>
      </p:sp>
      <p:sp>
        <p:nvSpPr>
          <p:cNvPr id="19460" name="Footer Placeholder 3"/>
          <p:cNvSpPr>
            <a:spLocks noGrp="1"/>
          </p:cNvSpPr>
          <p:nvPr>
            <p:ph type="ftr" sz="quarter" idx="10"/>
          </p:nvPr>
        </p:nvSpPr>
        <p:spPr bwMode="auto">
          <a:noFill/>
          <a:ln>
            <a:miter lim="800000"/>
          </a:ln>
        </p:spPr>
        <p:txBody>
          <a:bodyPr/>
          <a:lstStyle/>
          <a:p>
            <a:pPr algn="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BD84499-56DB-4FF3-8D99-174F9EB97545}" type="slidenum">
              <a:rPr lang="en-US" smtClean="0"/>
              <a:t>11</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3341" y="1295400"/>
            <a:ext cx="4957317" cy="50548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a:xfrm>
            <a:off x="381000" y="152400"/>
            <a:ext cx="8305800" cy="1143000"/>
          </a:xfrm>
        </p:spPr>
        <p:txBody>
          <a:bodyPr>
            <a:normAutofit fontScale="90000"/>
          </a:bodyPr>
          <a:lstStyle/>
          <a:p>
            <a:r>
              <a:rPr lang="en-US" sz="3600" dirty="0"/>
              <a:t>Table 2-1.  Organizational Structure Influences on Projects</a:t>
            </a:r>
            <a:endParaRPr lang="en-US" sz="4400" dirty="0"/>
          </a:p>
        </p:txBody>
      </p:sp>
      <p:sp>
        <p:nvSpPr>
          <p:cNvPr id="1027"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941097B-8DCA-4F4B-82F9-5CA08C941AAF}" type="slidenum">
              <a:rPr lang="en-US"/>
              <a:t>12</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19200"/>
            <a:ext cx="7357110" cy="50736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r>
              <a:rPr lang="en-US" b="1" dirty="0"/>
              <a:t>Organizational culture</a:t>
            </a:r>
            <a:r>
              <a:rPr lang="en-US" dirty="0"/>
              <a:t> is a set of shared assumptions, values, and behaviors that characterize the functioning of an organization</a:t>
            </a:r>
          </a:p>
          <a:p>
            <a:r>
              <a:rPr lang="en-US" dirty="0"/>
              <a:t>Many experts believe the underlying causes of many companies’ problems are not the structure or staff, but the culture</a:t>
            </a:r>
          </a:p>
          <a:p>
            <a:endParaRPr lang="en-US" dirty="0"/>
          </a:p>
        </p:txBody>
      </p:sp>
      <p:sp>
        <p:nvSpPr>
          <p:cNvPr id="20484" name="Rectangle 2"/>
          <p:cNvSpPr>
            <a:spLocks noGrp="1" noChangeArrowheads="1"/>
          </p:cNvSpPr>
          <p:nvPr>
            <p:ph type="title"/>
          </p:nvPr>
        </p:nvSpPr>
        <p:spPr/>
        <p:txBody>
          <a:bodyPr/>
          <a:lstStyle/>
          <a:p>
            <a:r>
              <a:rPr lang="en-US" dirty="0"/>
              <a:t>Organizational Culture</a:t>
            </a:r>
          </a:p>
        </p:txBody>
      </p:sp>
      <p:sp>
        <p:nvSpPr>
          <p:cNvPr id="20482"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C8CAC95-EB76-4381-B468-1459D202A00B}"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5"/>
          <p:cNvSpPr>
            <a:spLocks noGrp="1" noChangeArrowheads="1"/>
          </p:cNvSpPr>
          <p:nvPr>
            <p:ph idx="1"/>
          </p:nvPr>
        </p:nvSpPr>
        <p:spPr/>
        <p:txBody>
          <a:bodyPr/>
          <a:lstStyle/>
          <a:p>
            <a:r>
              <a:rPr lang="en-US" dirty="0"/>
              <a:t>Member identity*</a:t>
            </a:r>
          </a:p>
          <a:p>
            <a:r>
              <a:rPr lang="en-US" dirty="0"/>
              <a:t>Group emphasis*</a:t>
            </a:r>
          </a:p>
          <a:p>
            <a:r>
              <a:rPr lang="en-US" dirty="0"/>
              <a:t>People focus</a:t>
            </a:r>
          </a:p>
          <a:p>
            <a:r>
              <a:rPr lang="en-US" dirty="0"/>
              <a:t>Unit integration*</a:t>
            </a:r>
          </a:p>
          <a:p>
            <a:r>
              <a:rPr lang="en-US" dirty="0"/>
              <a:t>Control</a:t>
            </a:r>
          </a:p>
        </p:txBody>
      </p:sp>
      <p:sp>
        <p:nvSpPr>
          <p:cNvPr id="21506" name="Rectangle 4"/>
          <p:cNvSpPr>
            <a:spLocks noGrp="1" noChangeArrowheads="1"/>
          </p:cNvSpPr>
          <p:nvPr>
            <p:ph type="title"/>
          </p:nvPr>
        </p:nvSpPr>
        <p:spPr/>
        <p:txBody>
          <a:bodyPr>
            <a:normAutofit fontScale="90000"/>
          </a:bodyPr>
          <a:lstStyle/>
          <a:p>
            <a:r>
              <a:rPr lang="en-US" dirty="0"/>
              <a:t>Ten Characteristics of Organizational Culture</a:t>
            </a:r>
          </a:p>
        </p:txBody>
      </p:sp>
      <p:sp>
        <p:nvSpPr>
          <p:cNvPr id="21512" name="Footer Placeholder 8"/>
          <p:cNvSpPr>
            <a:spLocks noGrp="1"/>
          </p:cNvSpPr>
          <p:nvPr>
            <p:ph type="ftr" sz="quarter" idx="10"/>
          </p:nvPr>
        </p:nvSpPr>
        <p:spPr bwMode="auto">
          <a:noFill/>
          <a:ln>
            <a:miter lim="800000"/>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23679D00-0FE1-4DFA-BD83-BBDAA061D085}" type="slidenum">
              <a:rPr lang="en-US" smtClean="0"/>
              <a:t>14</a:t>
            </a:fld>
            <a:endParaRPr lang="en-US" dirty="0"/>
          </a:p>
        </p:txBody>
      </p:sp>
      <p:sp>
        <p:nvSpPr>
          <p:cNvPr id="21508" name="Rectangle 6"/>
          <p:cNvSpPr>
            <a:spLocks noGrp="1" noChangeArrowheads="1"/>
          </p:cNvSpPr>
          <p:nvPr>
            <p:ph sz="half" idx="4294967295"/>
          </p:nvPr>
        </p:nvSpPr>
        <p:spPr>
          <a:xfrm>
            <a:off x="5105400" y="1481138"/>
            <a:ext cx="4038600" cy="4525962"/>
          </a:xfrm>
        </p:spPr>
        <p:txBody>
          <a:bodyPr/>
          <a:lstStyle/>
          <a:p>
            <a:r>
              <a:rPr lang="en-US" dirty="0"/>
              <a:t>Risk tolerance*</a:t>
            </a:r>
          </a:p>
          <a:p>
            <a:r>
              <a:rPr lang="en-US" dirty="0"/>
              <a:t>Reward criteria*</a:t>
            </a:r>
          </a:p>
          <a:p>
            <a:r>
              <a:rPr lang="en-US" dirty="0"/>
              <a:t>Conflict tolerance*</a:t>
            </a:r>
          </a:p>
          <a:p>
            <a:r>
              <a:rPr lang="en-US" dirty="0"/>
              <a:t>Means-ends orientation</a:t>
            </a:r>
          </a:p>
          <a:p>
            <a:r>
              <a:rPr lang="en-US" dirty="0"/>
              <a:t>Open-systems focus*</a:t>
            </a:r>
          </a:p>
        </p:txBody>
      </p:sp>
      <p:sp>
        <p:nvSpPr>
          <p:cNvPr id="21509" name="Rectangle 7"/>
          <p:cNvSpPr>
            <a:spLocks noChangeArrowheads="1"/>
          </p:cNvSpPr>
          <p:nvPr/>
        </p:nvSpPr>
        <p:spPr bwMode="auto">
          <a:xfrm>
            <a:off x="304800" y="4419600"/>
            <a:ext cx="8458200" cy="1373188"/>
          </a:xfrm>
          <a:prstGeom prst="rect">
            <a:avLst/>
          </a:prstGeom>
          <a:noFill/>
          <a:ln w="9525">
            <a:noFill/>
            <a:miter lim="800000"/>
          </a:ln>
        </p:spPr>
        <p:txBody>
          <a:bodyPr anchor="ctr">
            <a:spAutoFit/>
          </a:bodyPr>
          <a:lstStyle/>
          <a:p>
            <a:r>
              <a:rPr lang="en-US" sz="2800" dirty="0"/>
              <a:t>*Project work is most successful in an organizational culture where these items are strong/high and other items are balanced.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3"/>
          <p:cNvSpPr>
            <a:spLocks noGrp="1" noChangeArrowheads="1"/>
          </p:cNvSpPr>
          <p:nvPr>
            <p:ph idx="1"/>
          </p:nvPr>
        </p:nvSpPr>
        <p:spPr>
          <a:xfrm>
            <a:off x="609600" y="1295400"/>
            <a:ext cx="8186738" cy="4791075"/>
          </a:xfrm>
        </p:spPr>
        <p:txBody>
          <a:bodyPr/>
          <a:lstStyle/>
          <a:p>
            <a:r>
              <a:rPr lang="en-US" dirty="0"/>
              <a:t>Project managers must take time to identify, understand, and manage relationships with all project stakeholders</a:t>
            </a:r>
          </a:p>
          <a:p>
            <a:r>
              <a:rPr lang="en-US" dirty="0"/>
              <a:t>Using the four frames of organizations can help meet stakeholder needs and expectations</a:t>
            </a:r>
          </a:p>
          <a:p>
            <a:r>
              <a:rPr lang="en-US" dirty="0"/>
              <a:t>Senior executives/top management are very important stakeholders</a:t>
            </a:r>
          </a:p>
          <a:p>
            <a:r>
              <a:rPr lang="en-US" dirty="0"/>
              <a:t>See Chapter 13, Project Stakeholder Management, for more information</a:t>
            </a:r>
          </a:p>
          <a:p>
            <a:pPr>
              <a:buFontTx/>
              <a:buNone/>
            </a:pPr>
            <a:endParaRPr lang="en-US" dirty="0"/>
          </a:p>
        </p:txBody>
      </p:sp>
      <p:sp>
        <p:nvSpPr>
          <p:cNvPr id="22532" name="Rectangle 2"/>
          <p:cNvSpPr>
            <a:spLocks noGrp="1" noChangeArrowheads="1"/>
          </p:cNvSpPr>
          <p:nvPr>
            <p:ph type="title"/>
          </p:nvPr>
        </p:nvSpPr>
        <p:spPr>
          <a:xfrm>
            <a:off x="381000" y="274638"/>
            <a:ext cx="8305800" cy="868362"/>
          </a:xfrm>
        </p:spPr>
        <p:txBody>
          <a:bodyPr/>
          <a:lstStyle/>
          <a:p>
            <a:r>
              <a:rPr lang="en-US" dirty="0"/>
              <a:t>Stakeholder Management</a:t>
            </a:r>
          </a:p>
        </p:txBody>
      </p:sp>
      <p:sp>
        <p:nvSpPr>
          <p:cNvPr id="22530"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BE03C56F-5C73-4B50-B727-45D4BBD1A5BA}"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2"/>
          </a:xfrm>
        </p:spPr>
        <p:txBody>
          <a:bodyPr/>
          <a:lstStyle/>
          <a:p>
            <a:r>
              <a:rPr lang="en-US" dirty="0"/>
              <a:t>The media have often reported on mismanaged IT projects. A classic example and popular case study is the baggage handling system at Denver International Airport (DIA). </a:t>
            </a:r>
          </a:p>
          <a:p>
            <a:r>
              <a:rPr lang="en-US" dirty="0"/>
              <a:t>The system was supposed to reduce flight delays, shorten waiting times at luggage carousels, and save money, but instead it caused huge problems. </a:t>
            </a:r>
          </a:p>
          <a:p>
            <a:r>
              <a:rPr lang="en-US" dirty="0"/>
              <a:t>One important reason for this famous project disaster was the failure to recognize the project’s complexity.</a:t>
            </a:r>
          </a:p>
        </p:txBody>
      </p:sp>
      <p:sp>
        <p:nvSpPr>
          <p:cNvPr id="3" name="Title 2"/>
          <p:cNvSpPr>
            <a:spLocks noGrp="1"/>
          </p:cNvSpPr>
          <p:nvPr>
            <p:ph type="title"/>
          </p:nvPr>
        </p:nvSpPr>
        <p:spPr/>
        <p:txBody>
          <a:bodyPr/>
          <a:lstStyle/>
          <a:p>
            <a:r>
              <a:rPr lang="en-US" dirty="0"/>
              <a:t>Media Snapshot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47800"/>
            <a:ext cx="8686800" cy="4525962"/>
          </a:xfrm>
        </p:spPr>
        <p:txBody>
          <a:bodyPr/>
          <a:lstStyle/>
          <a:p>
            <a:r>
              <a:rPr lang="en-US" dirty="0"/>
              <a:t>People in top management positions are key stakeholders in projects</a:t>
            </a:r>
          </a:p>
          <a:p>
            <a:r>
              <a:rPr lang="en-US" dirty="0"/>
              <a:t> A very important factor in helping project managers successfully lead projects is the level of commitment and support they receive from top management</a:t>
            </a:r>
          </a:p>
          <a:p>
            <a:r>
              <a:rPr lang="en-US" dirty="0"/>
              <a:t>Without top management commitment, many projects will fail.</a:t>
            </a:r>
          </a:p>
          <a:p>
            <a:r>
              <a:rPr lang="en-US" dirty="0"/>
              <a:t>Some projects have a senior manager called a </a:t>
            </a:r>
            <a:r>
              <a:rPr lang="en-US" b="1" dirty="0"/>
              <a:t>champion</a:t>
            </a:r>
            <a:r>
              <a:rPr lang="en-US" dirty="0"/>
              <a:t> who acts as a key proponent for a project.</a:t>
            </a:r>
          </a:p>
          <a:p>
            <a:endParaRPr lang="en-US" dirty="0"/>
          </a:p>
        </p:txBody>
      </p:sp>
      <p:sp>
        <p:nvSpPr>
          <p:cNvPr id="3" name="Title 2"/>
          <p:cNvSpPr>
            <a:spLocks noGrp="1"/>
          </p:cNvSpPr>
          <p:nvPr>
            <p:ph type="title"/>
          </p:nvPr>
        </p:nvSpPr>
        <p:spPr/>
        <p:txBody>
          <a:bodyPr>
            <a:normAutofit fontScale="90000"/>
          </a:bodyPr>
          <a:lstStyle/>
          <a:p>
            <a:r>
              <a:rPr lang="en-US" dirty="0"/>
              <a:t>The Importance of Top Management Commitment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Providing adequate resources</a:t>
            </a:r>
          </a:p>
          <a:p>
            <a:r>
              <a:rPr lang="en-US" dirty="0"/>
              <a:t>Approving unique project needs in a timely manner</a:t>
            </a:r>
          </a:p>
          <a:p>
            <a:r>
              <a:rPr lang="en-US" dirty="0"/>
              <a:t>Getting cooperation from other parts of the organization</a:t>
            </a:r>
          </a:p>
          <a:p>
            <a:r>
              <a:rPr lang="en-US" dirty="0"/>
              <a:t>Mentoring and coaching on leadership issues</a:t>
            </a:r>
          </a:p>
        </p:txBody>
      </p:sp>
      <p:sp>
        <p:nvSpPr>
          <p:cNvPr id="3" name="Title 2"/>
          <p:cNvSpPr>
            <a:spLocks noGrp="1"/>
          </p:cNvSpPr>
          <p:nvPr>
            <p:ph type="title"/>
          </p:nvPr>
        </p:nvSpPr>
        <p:spPr/>
        <p:txBody>
          <a:bodyPr>
            <a:normAutofit fontScale="90000"/>
          </a:bodyPr>
          <a:lstStyle/>
          <a:p>
            <a:r>
              <a:rPr lang="en-US" dirty="0"/>
              <a:t>How Top Management Can Help Project Managers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19</a:t>
            </a:fld>
            <a:endParaRPr lang="en-US" dirty="0"/>
          </a:p>
        </p:txBody>
      </p:sp>
      <p:sp>
        <p:nvSpPr>
          <p:cNvPr id="7" name="内容占位符 6"/>
          <p:cNvSpPr>
            <a:spLocks noGrp="1"/>
          </p:cNvSpPr>
          <p:nvPr>
            <p:ph idx="1"/>
          </p:nvPr>
        </p:nvSpPr>
        <p:spPr/>
        <p:txBody>
          <a:bodyPr/>
          <a:lstStyle/>
          <a:p>
            <a:endParaRPr lang="zh-CN" altLang="en-US"/>
          </a:p>
        </p:txBody>
      </p:sp>
      <p:sp>
        <p:nvSpPr>
          <p:cNvPr id="9" name="标题 8"/>
          <p:cNvSpPr>
            <a:spLocks noGrp="1"/>
          </p:cNvSpPr>
          <p:nvPr>
            <p:ph type="title"/>
          </p:nvPr>
        </p:nvSpPr>
        <p:spPr/>
        <p:txBody>
          <a:bodyPr/>
          <a:lstStyle/>
          <a:p>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6363"/>
            <a:ext cx="9144000" cy="4105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p:txBody>
          <a:bodyPr/>
          <a:lstStyle/>
          <a:p>
            <a:r>
              <a:rPr lang="en-US" b="1" dirty="0"/>
              <a:t>IT governance </a:t>
            </a:r>
            <a:r>
              <a:rPr lang="en-US" dirty="0"/>
              <a:t>addresses the authority and control for key IT activities in organizations,  including IT infrastructure, IT use, and project management</a:t>
            </a:r>
          </a:p>
          <a:p>
            <a:r>
              <a:rPr lang="en-US" dirty="0"/>
              <a:t>A lack of IT governance can be dangerous, as evidenced by three well-publicized IT project failures in Australia (Sydney Water’s customer relationship management system, the Royal Melbourne Institute of Technology’s academic management system, and One.Tel’s billing system)</a:t>
            </a:r>
          </a:p>
          <a:p>
            <a:endParaRPr lang="en-US" dirty="0"/>
          </a:p>
        </p:txBody>
      </p:sp>
      <p:sp>
        <p:nvSpPr>
          <p:cNvPr id="23554" name="Title 1"/>
          <p:cNvSpPr>
            <a:spLocks noGrp="1"/>
          </p:cNvSpPr>
          <p:nvPr>
            <p:ph type="title"/>
          </p:nvPr>
        </p:nvSpPr>
        <p:spPr/>
        <p:txBody>
          <a:bodyPr/>
          <a:lstStyle/>
          <a:p>
            <a:r>
              <a:rPr lang="en-US" dirty="0"/>
              <a:t>Best Practice</a:t>
            </a:r>
          </a:p>
        </p:txBody>
      </p:sp>
      <p:sp>
        <p:nvSpPr>
          <p:cNvPr id="23556"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A2EF594-0173-4A44-8AC4-5B30AA86934E}" type="slidenum">
              <a:rPr lang="en-US" smtClean="0"/>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1"/>
          <p:cNvSpPr>
            <a:spLocks noGrp="1"/>
          </p:cNvSpPr>
          <p:nvPr>
            <p:ph idx="1"/>
          </p:nvPr>
        </p:nvSpPr>
        <p:spPr/>
        <p:txBody>
          <a:bodyPr/>
          <a:lstStyle/>
          <a:p>
            <a:r>
              <a:rPr lang="en-US" altLang="zh-CN" sz="2400"/>
              <a:t>(1)</a:t>
            </a:r>
            <a:r>
              <a:rPr lang="zh-CN" altLang="zh-CN" sz="2400"/>
              <a:t>麻省理工学院</a:t>
            </a:r>
            <a:r>
              <a:rPr lang="en-US" altLang="zh-CN" sz="2400"/>
              <a:t>CISR</a:t>
            </a:r>
            <a:r>
              <a:rPr lang="zh-CN" altLang="zh-CN" sz="2400"/>
              <a:t>中心</a:t>
            </a:r>
            <a:r>
              <a:rPr lang="en-US" altLang="zh-CN" sz="2400"/>
              <a:t>(Center of Information System Research)</a:t>
            </a:r>
            <a:r>
              <a:rPr lang="zh-CN" altLang="zh-CN" sz="2400"/>
              <a:t>的</a:t>
            </a:r>
            <a:r>
              <a:rPr lang="en-US" altLang="zh-CN" sz="2400"/>
              <a:t>Wefll</a:t>
            </a:r>
            <a:r>
              <a:rPr lang="zh-CN" altLang="zh-CN" sz="2400"/>
              <a:t>和</a:t>
            </a:r>
            <a:r>
              <a:rPr lang="en-US" altLang="zh-CN" sz="2400"/>
              <a:t>Ross</a:t>
            </a:r>
            <a:r>
              <a:rPr lang="zh-CN" altLang="zh-CN" sz="2400"/>
              <a:t>教授认为：“</a:t>
            </a:r>
            <a:r>
              <a:rPr lang="en-US" altLang="zh-CN" sz="2400"/>
              <a:t>IT</a:t>
            </a:r>
            <a:r>
              <a:rPr lang="zh-CN" altLang="zh-CN" sz="2400"/>
              <a:t>冶理是在</a:t>
            </a:r>
            <a:r>
              <a:rPr lang="en-US" altLang="zh-CN" sz="2400"/>
              <a:t>IT</a:t>
            </a:r>
            <a:r>
              <a:rPr lang="zh-CN" altLang="zh-CN" sz="2400"/>
              <a:t>应用过程中，为鼓励期望行为而明确决策权归属和责任担当的框架。”</a:t>
            </a:r>
          </a:p>
          <a:p>
            <a:r>
              <a:rPr lang="en-US" altLang="zh-CN" sz="2400"/>
              <a:t>(2)</a:t>
            </a:r>
            <a:r>
              <a:rPr lang="zh-CN" altLang="zh-CN" sz="2400"/>
              <a:t>全球</a:t>
            </a:r>
            <a:r>
              <a:rPr lang="en-US" altLang="zh-CN" sz="2400"/>
              <a:t>IT</a:t>
            </a:r>
            <a:r>
              <a:rPr lang="zh-CN" altLang="zh-CN" sz="2400"/>
              <a:t>治理研究中心</a:t>
            </a:r>
            <a:r>
              <a:rPr lang="en-US" altLang="zh-CN" sz="2400"/>
              <a:t>(ITG)</a:t>
            </a:r>
            <a:r>
              <a:rPr lang="zh-CN" altLang="zh-CN" sz="2400"/>
              <a:t>认为：“</a:t>
            </a:r>
            <a:r>
              <a:rPr lang="en-US" altLang="zh-CN" sz="2400"/>
              <a:t>IT</a:t>
            </a:r>
            <a:r>
              <a:rPr lang="zh-CN" altLang="zh-CN" sz="2400"/>
              <a:t>治理是董事会和执行层的责任，通过领导、组织和过程来保证</a:t>
            </a:r>
            <a:r>
              <a:rPr lang="en-US" altLang="zh-CN" sz="2400"/>
              <a:t>IT</a:t>
            </a:r>
            <a:r>
              <a:rPr lang="zh-CN" altLang="zh-CN" sz="2400"/>
              <a:t>实现和推动企业战略目标。价值、风险与控制是</a:t>
            </a:r>
            <a:r>
              <a:rPr lang="en-US" altLang="zh-CN" sz="2400"/>
              <a:t>IT</a:t>
            </a:r>
            <a:r>
              <a:rPr lang="zh-CN" altLang="zh-CN" sz="2400"/>
              <a:t>治理的核心。”</a:t>
            </a:r>
          </a:p>
          <a:p>
            <a:endParaRPr lang="zh-CN" altLang="en-US"/>
          </a:p>
        </p:txBody>
      </p:sp>
      <p:sp>
        <p:nvSpPr>
          <p:cNvPr id="3" name="标题 2"/>
          <p:cNvSpPr>
            <a:spLocks noGrp="1"/>
          </p:cNvSpPr>
          <p:nvPr>
            <p:ph type="title"/>
          </p:nvPr>
        </p:nvSpPr>
        <p:spPr/>
        <p:txBody>
          <a:bodyPr/>
          <a:lstStyle/>
          <a:p>
            <a:pPr algn="ctr">
              <a:defRPr/>
            </a:pPr>
            <a:r>
              <a:rPr lang="en-US" altLang="zh-CN" dirty="0">
                <a:effectLst/>
              </a:rPr>
              <a:t>I T</a:t>
            </a:r>
            <a:r>
              <a:rPr lang="zh-CN" altLang="zh-CN" dirty="0">
                <a:effectLst/>
              </a:rPr>
              <a:t>治理</a:t>
            </a:r>
            <a:endParaRPr lang="zh-CN" altLang="en-US" dirty="0"/>
          </a:p>
        </p:txBody>
      </p:sp>
      <p:sp>
        <p:nvSpPr>
          <p:cNvPr id="4" name="页脚占位符 3"/>
          <p:cNvSpPr>
            <a:spLocks noGrp="1"/>
          </p:cNvSpPr>
          <p:nvPr>
            <p:ph type="ftr" sz="quarter" idx="10"/>
          </p:nvPr>
        </p:nvSpPr>
        <p:spPr/>
        <p:txBody>
          <a:bodyPr/>
          <a:lstStyle/>
          <a:p>
            <a:pPr>
              <a:defRPr/>
            </a:pPr>
            <a:r>
              <a:rPr lang="en-US"/>
              <a:t>Information Technology Project Management, Sixth Edition</a:t>
            </a:r>
          </a:p>
        </p:txBody>
      </p:sp>
      <p:sp>
        <p:nvSpPr>
          <p:cNvPr id="32773"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6510F633-C327-434B-805E-FF4B30DA5B7A}" type="slidenum">
              <a:rPr lang="en-US" altLang="zh-CN" sz="1200" smtClean="0"/>
              <a:t>21</a:t>
            </a:fld>
            <a:endParaRPr lang="en-US" altLang="zh-CN"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1"/>
          <p:cNvSpPr>
            <a:spLocks noGrp="1"/>
          </p:cNvSpPr>
          <p:nvPr>
            <p:ph idx="1"/>
          </p:nvPr>
        </p:nvSpPr>
        <p:spPr>
          <a:xfrm>
            <a:off x="304800" y="1481138"/>
            <a:ext cx="8382000" cy="4525962"/>
          </a:xfrm>
        </p:spPr>
        <p:txBody>
          <a:bodyPr/>
          <a:lstStyle/>
          <a:p>
            <a:r>
              <a:rPr lang="en-US" altLang="zh-CN" sz="2400" dirty="0"/>
              <a:t>(3)</a:t>
            </a:r>
            <a:r>
              <a:rPr lang="zh-CN" altLang="zh-CN" sz="2400" dirty="0"/>
              <a:t>荷兰</a:t>
            </a:r>
            <a:r>
              <a:rPr lang="en-US" altLang="zh-CN" sz="2400" dirty="0"/>
              <a:t>Jan Van Bon</a:t>
            </a:r>
            <a:r>
              <a:rPr lang="zh-CN" altLang="zh-CN" sz="2400" dirty="0"/>
              <a:t>主编的《</a:t>
            </a:r>
            <a:r>
              <a:rPr lang="en-US" altLang="zh-CN" sz="2400" dirty="0"/>
              <a:t>IT</a:t>
            </a:r>
            <a:r>
              <a:rPr lang="zh-CN" altLang="zh-CN" sz="2400" dirty="0"/>
              <a:t>服务管理：基于</a:t>
            </a:r>
            <a:r>
              <a:rPr lang="en-US" altLang="zh-CN" sz="2400" dirty="0"/>
              <a:t>IT</a:t>
            </a:r>
            <a:r>
              <a:rPr lang="zh-CN" altLang="zh-CN" sz="2400" dirty="0"/>
              <a:t>的全球最佳实践》有这样的提法：</a:t>
            </a:r>
            <a:r>
              <a:rPr lang="en-US" altLang="zh-CN" sz="2400" dirty="0"/>
              <a:t>IT</a:t>
            </a:r>
            <a:r>
              <a:rPr lang="zh-CN" altLang="zh-CN" sz="2400" dirty="0"/>
              <a:t>治理“用于描述企业或政府是否采用有效的机制</a:t>
            </a:r>
            <a:r>
              <a:rPr lang="en-US" altLang="zh-CN" sz="2400" dirty="0"/>
              <a:t>(</a:t>
            </a:r>
            <a:r>
              <a:rPr lang="zh-CN" altLang="zh-CN" sz="2400" dirty="0"/>
              <a:t>就是为鼓励</a:t>
            </a:r>
            <a:r>
              <a:rPr lang="en-US" altLang="zh-CN" sz="2400" dirty="0"/>
              <a:t>IT</a:t>
            </a:r>
            <a:r>
              <a:rPr lang="zh-CN" altLang="zh-CN" sz="2400" dirty="0"/>
              <a:t>应用的期望行为而明确决策权归属和责任承担的框架</a:t>
            </a:r>
            <a:r>
              <a:rPr lang="en-US" altLang="zh-CN" sz="2400" dirty="0"/>
              <a:t>)</a:t>
            </a:r>
            <a:r>
              <a:rPr lang="zh-CN" altLang="zh-CN" sz="2400" dirty="0"/>
              <a:t>，使得</a:t>
            </a:r>
            <a:r>
              <a:rPr lang="en-US" altLang="zh-CN" sz="2400" dirty="0"/>
              <a:t>IT</a:t>
            </a:r>
            <a:r>
              <a:rPr lang="zh-CN" altLang="zh-CN" sz="2400" dirty="0"/>
              <a:t>的应用能够完成组织赋予它的使命，同时平衡信息技术与过</a:t>
            </a:r>
            <a:r>
              <a:rPr lang="en-US" altLang="zh-CN" sz="2400" dirty="0"/>
              <a:t>J</a:t>
            </a:r>
            <a:r>
              <a:rPr lang="zh-CN" altLang="zh-CN" sz="2400" dirty="0"/>
              <a:t>程的风险，确保实现组织的战略目标。</a:t>
            </a:r>
          </a:p>
          <a:p>
            <a:r>
              <a:rPr lang="en-US" altLang="zh-CN" sz="2400" dirty="0"/>
              <a:t>(4)</a:t>
            </a:r>
            <a:r>
              <a:rPr lang="zh-CN" altLang="zh-CN" sz="2400" dirty="0"/>
              <a:t>德勤咨询公司提出：</a:t>
            </a:r>
            <a:r>
              <a:rPr lang="en-US" altLang="zh-CN" sz="2400" dirty="0"/>
              <a:t>IT</a:t>
            </a:r>
            <a:r>
              <a:rPr lang="zh-CN" altLang="zh-CN" sz="2400" dirty="0"/>
              <a:t>治理是一个含义，广泛的概念，其主要任务是：保持</a:t>
            </a:r>
            <a:r>
              <a:rPr lang="en-US" altLang="zh-CN" sz="2400" dirty="0"/>
              <a:t>IT</a:t>
            </a:r>
            <a:r>
              <a:rPr lang="zh-CN" altLang="zh-CN" sz="2400" dirty="0"/>
              <a:t>与业务目标一致，推动业务发展，促使收益最大化，台理利用</a:t>
            </a:r>
            <a:r>
              <a:rPr lang="en-US" altLang="zh-CN" sz="2400" dirty="0"/>
              <a:t>IT</a:t>
            </a:r>
            <a:r>
              <a:rPr lang="zh-CN" altLang="zh-CN" sz="2400" dirty="0"/>
              <a:t>资源，</a:t>
            </a:r>
            <a:r>
              <a:rPr lang="en-US" altLang="zh-CN" sz="2400" dirty="0"/>
              <a:t>IT</a:t>
            </a:r>
            <a:r>
              <a:rPr lang="zh-CN" altLang="zh-CN" sz="2400" dirty="0"/>
              <a:t>相关风险的适当管理。</a:t>
            </a:r>
          </a:p>
          <a:p>
            <a:endParaRPr lang="zh-CN" altLang="en-US" sz="2400" dirty="0"/>
          </a:p>
        </p:txBody>
      </p:sp>
      <p:sp>
        <p:nvSpPr>
          <p:cNvPr id="3" name="标题 2"/>
          <p:cNvSpPr>
            <a:spLocks noGrp="1"/>
          </p:cNvSpPr>
          <p:nvPr>
            <p:ph type="title"/>
          </p:nvPr>
        </p:nvSpPr>
        <p:spPr/>
        <p:txBody>
          <a:bodyPr/>
          <a:lstStyle/>
          <a:p>
            <a:pPr>
              <a:defRPr/>
            </a:pPr>
            <a:endParaRPr lang="zh-CN" altLang="en-US"/>
          </a:p>
        </p:txBody>
      </p:sp>
      <p:sp>
        <p:nvSpPr>
          <p:cNvPr id="4" name="页脚占位符 3"/>
          <p:cNvSpPr>
            <a:spLocks noGrp="1"/>
          </p:cNvSpPr>
          <p:nvPr>
            <p:ph type="ftr" sz="quarter" idx="10"/>
          </p:nvPr>
        </p:nvSpPr>
        <p:spPr/>
        <p:txBody>
          <a:bodyPr/>
          <a:lstStyle/>
          <a:p>
            <a:pPr>
              <a:defRPr/>
            </a:pPr>
            <a:r>
              <a:rPr lang="en-US"/>
              <a:t>Information Technology Project Management, Sixth Edition</a:t>
            </a:r>
          </a:p>
        </p:txBody>
      </p:sp>
      <p:sp>
        <p:nvSpPr>
          <p:cNvPr id="3379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C6F73F2A-771D-404B-BC8A-CA1B630156CC}" type="slidenum">
              <a:rPr lang="en-US" altLang="zh-CN" sz="1200" smtClean="0"/>
              <a:t>22</a:t>
            </a:fld>
            <a:endParaRPr lang="en-US" altLang="zh-CN"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1"/>
          <p:cNvSpPr>
            <a:spLocks noGrp="1"/>
          </p:cNvSpPr>
          <p:nvPr>
            <p:ph idx="1"/>
          </p:nvPr>
        </p:nvSpPr>
        <p:spPr/>
        <p:txBody>
          <a:bodyPr/>
          <a:lstStyle/>
          <a:p>
            <a:r>
              <a:rPr lang="en-US" altLang="zh-CN" sz="2400"/>
              <a:t>(5)</a:t>
            </a:r>
            <a:r>
              <a:rPr lang="zh-CN" altLang="zh-CN" sz="2400"/>
              <a:t>涂伟、张金隆认为，</a:t>
            </a:r>
            <a:r>
              <a:rPr lang="en-US" altLang="zh-CN" sz="2400"/>
              <a:t>I T</a:t>
            </a:r>
            <a:r>
              <a:rPr lang="zh-CN" altLang="zh-CN" sz="2400"/>
              <a:t>治理是公司治理的一部分，是以股东</a:t>
            </a:r>
            <a:r>
              <a:rPr lang="en-US" altLang="zh-CN" sz="2400"/>
              <a:t>(</a:t>
            </a:r>
            <a:r>
              <a:rPr lang="zh-CN" altLang="zh-CN" sz="2400"/>
              <a:t>投资者</a:t>
            </a:r>
            <a:r>
              <a:rPr lang="en-US" altLang="zh-CN" sz="2400"/>
              <a:t>)</a:t>
            </a:r>
            <a:r>
              <a:rPr lang="zh-CN" altLang="zh-CN" sz="2400"/>
              <a:t>为中心的企业利益相关者，为了让</a:t>
            </a:r>
            <a:r>
              <a:rPr lang="en-US" altLang="zh-CN" sz="2400"/>
              <a:t>IT</a:t>
            </a:r>
            <a:r>
              <a:rPr lang="zh-CN" altLang="zh-CN" sz="2400"/>
              <a:t>产生最大收益，并为解决</a:t>
            </a:r>
            <a:r>
              <a:rPr lang="en-US" altLang="zh-CN" sz="2400"/>
              <a:t>IT</a:t>
            </a:r>
            <a:r>
              <a:rPr lang="zh-CN" altLang="zh-CN" sz="2400"/>
              <a:t>决策中的信息不对称问题而设计的与</a:t>
            </a:r>
            <a:r>
              <a:rPr lang="en-US" altLang="zh-CN" sz="2400"/>
              <a:t>IT</a:t>
            </a:r>
            <a:r>
              <a:rPr lang="zh-CN" altLang="zh-CN" sz="2400"/>
              <a:t>有关的决策、激励和约束机制。</a:t>
            </a:r>
          </a:p>
          <a:p>
            <a:endParaRPr lang="zh-CN" altLang="en-US"/>
          </a:p>
        </p:txBody>
      </p:sp>
      <p:sp>
        <p:nvSpPr>
          <p:cNvPr id="3" name="标题 2"/>
          <p:cNvSpPr>
            <a:spLocks noGrp="1"/>
          </p:cNvSpPr>
          <p:nvPr>
            <p:ph type="title"/>
          </p:nvPr>
        </p:nvSpPr>
        <p:spPr/>
        <p:txBody>
          <a:bodyPr/>
          <a:lstStyle/>
          <a:p>
            <a:pPr>
              <a:defRPr/>
            </a:pPr>
            <a:endParaRPr lang="zh-CN" altLang="en-US"/>
          </a:p>
        </p:txBody>
      </p:sp>
      <p:sp>
        <p:nvSpPr>
          <p:cNvPr id="4" name="页脚占位符 3"/>
          <p:cNvSpPr>
            <a:spLocks noGrp="1"/>
          </p:cNvSpPr>
          <p:nvPr>
            <p:ph type="ftr" sz="quarter" idx="10"/>
          </p:nvPr>
        </p:nvSpPr>
        <p:spPr/>
        <p:txBody>
          <a:bodyPr/>
          <a:lstStyle/>
          <a:p>
            <a:pPr>
              <a:defRPr/>
            </a:pPr>
            <a:r>
              <a:rPr lang="en-US"/>
              <a:t>Information Technology Project Management, Sixth Edition</a:t>
            </a:r>
          </a:p>
        </p:txBody>
      </p:sp>
      <p:sp>
        <p:nvSpPr>
          <p:cNvPr id="34821"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9744C578-D8FD-4BE2-B01B-0FDF721718C6}" type="slidenum">
              <a:rPr lang="en-US" altLang="zh-CN" sz="1200" smtClean="0"/>
              <a:t>23</a:t>
            </a:fld>
            <a:endParaRPr lang="en-US" altLang="zh-CN"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p:cNvSpPr>
            <a:spLocks noGrp="1" noChangeArrowheads="1"/>
          </p:cNvSpPr>
          <p:nvPr>
            <p:ph idx="1"/>
          </p:nvPr>
        </p:nvSpPr>
        <p:spPr/>
        <p:txBody>
          <a:bodyPr/>
          <a:lstStyle/>
          <a:p>
            <a:r>
              <a:rPr lang="en-US" dirty="0"/>
              <a:t>If the organization has a negative attitude toward IT, it will be difficult for an IT project to succeed</a:t>
            </a:r>
          </a:p>
          <a:p>
            <a:r>
              <a:rPr lang="en-US" dirty="0"/>
              <a:t>Having a Chief Information Officer (CIO) at a high level in the organization helps IT projects</a:t>
            </a:r>
          </a:p>
          <a:p>
            <a:r>
              <a:rPr lang="en-US" dirty="0"/>
              <a:t>Assigning non-IT people to IT projects also encourage more commitment</a:t>
            </a:r>
          </a:p>
        </p:txBody>
      </p:sp>
      <p:sp>
        <p:nvSpPr>
          <p:cNvPr id="24580" name="Rectangle 2"/>
          <p:cNvSpPr>
            <a:spLocks noGrp="1" noChangeArrowheads="1"/>
          </p:cNvSpPr>
          <p:nvPr>
            <p:ph type="title"/>
          </p:nvPr>
        </p:nvSpPr>
        <p:spPr/>
        <p:txBody>
          <a:bodyPr>
            <a:normAutofit fontScale="90000"/>
          </a:bodyPr>
          <a:lstStyle/>
          <a:p>
            <a:r>
              <a:rPr lang="en-US" sz="3600" dirty="0"/>
              <a:t>Need for Organizational Commitment to Information Technology (IT)</a:t>
            </a:r>
            <a:endParaRPr lang="en-US" dirty="0"/>
          </a:p>
        </p:txBody>
      </p:sp>
      <p:sp>
        <p:nvSpPr>
          <p:cNvPr id="2457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BF3C14C8-748D-45F4-A615-C9B861DBA90E}"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3"/>
          <p:cNvSpPr>
            <a:spLocks noGrp="1" noChangeArrowheads="1"/>
          </p:cNvSpPr>
          <p:nvPr>
            <p:ph idx="1"/>
          </p:nvPr>
        </p:nvSpPr>
        <p:spPr/>
        <p:txBody>
          <a:bodyPr/>
          <a:lstStyle/>
          <a:p>
            <a:r>
              <a:rPr lang="en-US" dirty="0"/>
              <a:t>Standards and guidelines help project managers be more effective</a:t>
            </a:r>
          </a:p>
          <a:p>
            <a:r>
              <a:rPr lang="en-US" dirty="0"/>
              <a:t>Senior management can encourage</a:t>
            </a:r>
          </a:p>
          <a:p>
            <a:pPr lvl="1"/>
            <a:r>
              <a:rPr lang="en-US" dirty="0"/>
              <a:t>the use of standard forms and software for project management</a:t>
            </a:r>
          </a:p>
          <a:p>
            <a:pPr lvl="1"/>
            <a:r>
              <a:rPr lang="en-US" dirty="0"/>
              <a:t>the development and use of guidelines for writing project plans or providing status information</a:t>
            </a:r>
          </a:p>
          <a:p>
            <a:pPr lvl="1"/>
            <a:r>
              <a:rPr lang="en-US" dirty="0"/>
              <a:t>the creation of a project management office or center of excellence</a:t>
            </a:r>
          </a:p>
          <a:p>
            <a:endParaRPr lang="en-US" dirty="0"/>
          </a:p>
        </p:txBody>
      </p:sp>
      <p:sp>
        <p:nvSpPr>
          <p:cNvPr id="25604" name="Rectangle 2"/>
          <p:cNvSpPr>
            <a:spLocks noGrp="1" noChangeArrowheads="1"/>
          </p:cNvSpPr>
          <p:nvPr>
            <p:ph type="title"/>
          </p:nvPr>
        </p:nvSpPr>
        <p:spPr/>
        <p:txBody>
          <a:bodyPr>
            <a:normAutofit fontScale="90000"/>
          </a:bodyPr>
          <a:lstStyle/>
          <a:p>
            <a:r>
              <a:rPr lang="en-US" dirty="0"/>
              <a:t>Need for Organizational Standards</a:t>
            </a:r>
          </a:p>
        </p:txBody>
      </p:sp>
      <p:sp>
        <p:nvSpPr>
          <p:cNvPr id="25602"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AA61F3-A6F2-4BD3-9C5A-7F6087438926}"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3"/>
          <p:cNvSpPr>
            <a:spLocks noGrp="1" noChangeArrowheads="1"/>
          </p:cNvSpPr>
          <p:nvPr>
            <p:ph idx="1"/>
          </p:nvPr>
        </p:nvSpPr>
        <p:spPr/>
        <p:txBody>
          <a:bodyPr/>
          <a:lstStyle/>
          <a:p>
            <a:pPr>
              <a:lnSpc>
                <a:spcPct val="90000"/>
              </a:lnSpc>
            </a:pPr>
            <a:r>
              <a:rPr lang="en-US" dirty="0"/>
              <a:t>A </a:t>
            </a:r>
            <a:r>
              <a:rPr lang="en-US" b="1" dirty="0"/>
              <a:t>project life cycle</a:t>
            </a:r>
            <a:r>
              <a:rPr lang="en-US" dirty="0"/>
              <a:t> is a collection of project phases that defines</a:t>
            </a:r>
          </a:p>
          <a:p>
            <a:pPr lvl="1">
              <a:lnSpc>
                <a:spcPct val="90000"/>
              </a:lnSpc>
            </a:pPr>
            <a:r>
              <a:rPr lang="en-US" dirty="0"/>
              <a:t>what work will be performed in each phase</a:t>
            </a:r>
          </a:p>
          <a:p>
            <a:pPr lvl="1">
              <a:lnSpc>
                <a:spcPct val="90000"/>
              </a:lnSpc>
            </a:pPr>
            <a:r>
              <a:rPr lang="en-US" dirty="0"/>
              <a:t>what deliverables will be produced and when</a:t>
            </a:r>
          </a:p>
          <a:p>
            <a:pPr lvl="1">
              <a:lnSpc>
                <a:spcPct val="90000"/>
              </a:lnSpc>
            </a:pPr>
            <a:r>
              <a:rPr lang="en-US" dirty="0"/>
              <a:t>who is involved in each phase, and </a:t>
            </a:r>
          </a:p>
          <a:p>
            <a:pPr lvl="1">
              <a:lnSpc>
                <a:spcPct val="90000"/>
              </a:lnSpc>
            </a:pPr>
            <a:r>
              <a:rPr lang="en-US" dirty="0"/>
              <a:t>how management will control and approve work produced in each phase</a:t>
            </a:r>
          </a:p>
          <a:p>
            <a:pPr>
              <a:lnSpc>
                <a:spcPct val="90000"/>
              </a:lnSpc>
            </a:pPr>
            <a:r>
              <a:rPr lang="en-US" dirty="0"/>
              <a:t>A </a:t>
            </a:r>
            <a:r>
              <a:rPr lang="en-US" b="1" dirty="0"/>
              <a:t>deliverable</a:t>
            </a:r>
            <a:r>
              <a:rPr lang="en-US" dirty="0"/>
              <a:t> is a product or service produced or provided as part of a project</a:t>
            </a:r>
          </a:p>
          <a:p>
            <a:pPr>
              <a:lnSpc>
                <a:spcPct val="90000"/>
              </a:lnSpc>
            </a:pPr>
            <a:endParaRPr lang="en-US" dirty="0"/>
          </a:p>
        </p:txBody>
      </p:sp>
      <p:sp>
        <p:nvSpPr>
          <p:cNvPr id="26628" name="Rectangle 2"/>
          <p:cNvSpPr>
            <a:spLocks noGrp="1" noChangeArrowheads="1"/>
          </p:cNvSpPr>
          <p:nvPr>
            <p:ph type="title"/>
          </p:nvPr>
        </p:nvSpPr>
        <p:spPr/>
        <p:txBody>
          <a:bodyPr>
            <a:normAutofit fontScale="90000"/>
          </a:bodyPr>
          <a:lstStyle/>
          <a:p>
            <a:r>
              <a:rPr lang="en-US" dirty="0"/>
              <a:t>Project Phases and the Project Life Cycle</a:t>
            </a:r>
          </a:p>
        </p:txBody>
      </p:sp>
      <p:sp>
        <p:nvSpPr>
          <p:cNvPr id="26626"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D96721C-6BC0-4C07-9A39-4E0D16EE6CE8}"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p:txBody>
          <a:bodyPr/>
          <a:lstStyle/>
          <a:p>
            <a:pPr>
              <a:lnSpc>
                <a:spcPct val="90000"/>
              </a:lnSpc>
            </a:pPr>
            <a:r>
              <a:rPr lang="en-US" dirty="0"/>
              <a:t>In early phases of a project life cycle</a:t>
            </a:r>
          </a:p>
          <a:p>
            <a:pPr lvl="1">
              <a:lnSpc>
                <a:spcPct val="90000"/>
              </a:lnSpc>
            </a:pPr>
            <a:r>
              <a:rPr lang="en-US" dirty="0"/>
              <a:t>resource needs are usually lowest</a:t>
            </a:r>
          </a:p>
          <a:p>
            <a:pPr lvl="1">
              <a:lnSpc>
                <a:spcPct val="90000"/>
              </a:lnSpc>
            </a:pPr>
            <a:r>
              <a:rPr lang="en-US" dirty="0"/>
              <a:t>the level of uncertainty (risk) is highest</a:t>
            </a:r>
          </a:p>
          <a:p>
            <a:pPr lvl="1">
              <a:lnSpc>
                <a:spcPct val="90000"/>
              </a:lnSpc>
            </a:pPr>
            <a:r>
              <a:rPr lang="en-US" dirty="0"/>
              <a:t>project stakeholders have the greatest opportunity to influence the project</a:t>
            </a:r>
          </a:p>
          <a:p>
            <a:pPr>
              <a:lnSpc>
                <a:spcPct val="90000"/>
              </a:lnSpc>
            </a:pPr>
            <a:r>
              <a:rPr lang="en-US" dirty="0"/>
              <a:t>In middle phases of a project life cycle</a:t>
            </a:r>
          </a:p>
          <a:p>
            <a:pPr lvl="1">
              <a:lnSpc>
                <a:spcPct val="90000"/>
              </a:lnSpc>
            </a:pPr>
            <a:r>
              <a:rPr lang="en-US" dirty="0"/>
              <a:t>the certainty of completing a project improves</a:t>
            </a:r>
          </a:p>
          <a:p>
            <a:pPr lvl="1">
              <a:lnSpc>
                <a:spcPct val="90000"/>
              </a:lnSpc>
            </a:pPr>
            <a:r>
              <a:rPr lang="en-US" dirty="0"/>
              <a:t>more resources are needed</a:t>
            </a:r>
          </a:p>
          <a:p>
            <a:pPr>
              <a:lnSpc>
                <a:spcPct val="90000"/>
              </a:lnSpc>
            </a:pPr>
            <a:r>
              <a:rPr lang="en-US" dirty="0"/>
              <a:t>The final phase of a project life cycle focuses on</a:t>
            </a:r>
          </a:p>
          <a:p>
            <a:pPr lvl="1">
              <a:lnSpc>
                <a:spcPct val="90000"/>
              </a:lnSpc>
            </a:pPr>
            <a:r>
              <a:rPr lang="en-US" dirty="0"/>
              <a:t>ensuring that project requirements were met</a:t>
            </a:r>
          </a:p>
          <a:p>
            <a:pPr lvl="1">
              <a:lnSpc>
                <a:spcPct val="90000"/>
              </a:lnSpc>
            </a:pPr>
            <a:r>
              <a:rPr lang="en-US" dirty="0"/>
              <a:t>the sponsor approves completion of the project</a:t>
            </a:r>
          </a:p>
          <a:p>
            <a:pPr lvl="1">
              <a:lnSpc>
                <a:spcPct val="90000"/>
              </a:lnSpc>
            </a:pPr>
            <a:endParaRPr lang="en-US" dirty="0"/>
          </a:p>
        </p:txBody>
      </p:sp>
      <p:sp>
        <p:nvSpPr>
          <p:cNvPr id="27652" name="Rectangle 2"/>
          <p:cNvSpPr>
            <a:spLocks noGrp="1" noChangeArrowheads="1"/>
          </p:cNvSpPr>
          <p:nvPr>
            <p:ph type="title"/>
          </p:nvPr>
        </p:nvSpPr>
        <p:spPr/>
        <p:txBody>
          <a:bodyPr/>
          <a:lstStyle/>
          <a:p>
            <a:r>
              <a:rPr lang="en-US" dirty="0"/>
              <a:t>More on Project Phases</a:t>
            </a:r>
          </a:p>
        </p:txBody>
      </p:sp>
      <p:sp>
        <p:nvSpPr>
          <p:cNvPr id="27650"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E850ECD-DC50-44BE-9E96-61A1A4867365}"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fontScale="90000"/>
          </a:bodyPr>
          <a:lstStyle/>
          <a:p>
            <a:r>
              <a:rPr lang="en-US" dirty="0"/>
              <a:t>Figure 2-4. Phases of the Traditional Project Life Cycle</a:t>
            </a:r>
          </a:p>
        </p:txBody>
      </p:sp>
      <p:sp>
        <p:nvSpPr>
          <p:cNvPr id="28678" name="Footer Placeholder 6"/>
          <p:cNvSpPr>
            <a:spLocks noGrp="1"/>
          </p:cNvSpPr>
          <p:nvPr>
            <p:ph type="ftr" sz="quarter" idx="10"/>
          </p:nvPr>
        </p:nvSpPr>
        <p:spPr bwMode="auto">
          <a:noFill/>
          <a:ln>
            <a:miter lim="800000"/>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DC9D79A6-F114-4CB1-8985-7DBC117EBAC0}" type="slidenum">
              <a:rPr lang="en-US" smtClean="0"/>
              <a:t>28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1600200"/>
            <a:ext cx="8719843" cy="474309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3"/>
          <p:cNvSpPr>
            <a:spLocks noGrp="1" noChangeArrowheads="1"/>
          </p:cNvSpPr>
          <p:nvPr>
            <p:ph idx="1"/>
          </p:nvPr>
        </p:nvSpPr>
        <p:spPr>
          <a:xfrm>
            <a:off x="304800" y="762000"/>
            <a:ext cx="8305800" cy="4572000"/>
          </a:xfrm>
        </p:spPr>
        <p:txBody>
          <a:bodyPr/>
          <a:lstStyle/>
          <a:p>
            <a:r>
              <a:rPr lang="en-US" dirty="0"/>
              <a:t>Products also have life cycles</a:t>
            </a:r>
          </a:p>
          <a:p>
            <a:r>
              <a:rPr lang="en-US" dirty="0"/>
              <a:t>The </a:t>
            </a:r>
            <a:r>
              <a:rPr lang="en-US" b="1" dirty="0"/>
              <a:t>Systems Development Life Cycle (SDLC)</a:t>
            </a:r>
            <a:r>
              <a:rPr lang="en-US" dirty="0"/>
              <a:t> is a framework for describing the phases involved in developing and maintaining information systems</a:t>
            </a:r>
          </a:p>
          <a:p>
            <a:r>
              <a:rPr lang="en-US" dirty="0"/>
              <a:t>Systems development projects can follow </a:t>
            </a:r>
          </a:p>
          <a:p>
            <a:pPr lvl="1"/>
            <a:r>
              <a:rPr lang="en-US" b="1" dirty="0"/>
              <a:t>Predictive life cycle</a:t>
            </a:r>
            <a:r>
              <a:rPr lang="en-US" dirty="0"/>
              <a:t>: the scope of the project can be clearly articulated and the schedule and cost can be predicted</a:t>
            </a:r>
          </a:p>
          <a:p>
            <a:pPr lvl="1"/>
            <a:r>
              <a:rPr lang="en-US" b="1" dirty="0"/>
              <a:t>Adaptive Software Development (ASD)</a:t>
            </a:r>
            <a:r>
              <a:rPr lang="en-US" dirty="0"/>
              <a:t> </a:t>
            </a:r>
            <a:r>
              <a:rPr lang="en-US" b="1" dirty="0"/>
              <a:t>life cycle</a:t>
            </a:r>
            <a:r>
              <a:rPr lang="en-US" dirty="0"/>
              <a:t>: requirements cannot be clearly expressed, projects are mission driven and component based, using time-based cycles to meet target dates</a:t>
            </a:r>
          </a:p>
          <a:p>
            <a:pPr lvl="1">
              <a:buFontTx/>
              <a:buNone/>
            </a:pPr>
            <a:endParaRPr lang="en-US" dirty="0"/>
          </a:p>
        </p:txBody>
      </p:sp>
      <p:sp>
        <p:nvSpPr>
          <p:cNvPr id="29700" name="Rectangle 2"/>
          <p:cNvSpPr>
            <a:spLocks noGrp="1" noChangeArrowheads="1"/>
          </p:cNvSpPr>
          <p:nvPr>
            <p:ph type="title"/>
          </p:nvPr>
        </p:nvSpPr>
        <p:spPr>
          <a:xfrm>
            <a:off x="381000" y="274638"/>
            <a:ext cx="8305800" cy="487362"/>
          </a:xfrm>
        </p:spPr>
        <p:txBody>
          <a:bodyPr>
            <a:normAutofit fontScale="90000"/>
          </a:bodyPr>
          <a:lstStyle/>
          <a:p>
            <a:r>
              <a:rPr lang="en-US" dirty="0"/>
              <a:t>Product Life Cycles</a:t>
            </a:r>
          </a:p>
        </p:txBody>
      </p:sp>
      <p:sp>
        <p:nvSpPr>
          <p:cNvPr id="2969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E2965920-7E31-46B5-8B7E-9CD60737DC3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3"/>
          <p:cNvSpPr>
            <a:spLocks noGrp="1" noChangeArrowheads="1"/>
          </p:cNvSpPr>
          <p:nvPr>
            <p:ph idx="1"/>
          </p:nvPr>
        </p:nvSpPr>
        <p:spPr>
          <a:xfrm>
            <a:off x="457200" y="1219200"/>
            <a:ext cx="8229600" cy="4525962"/>
          </a:xfrm>
        </p:spPr>
        <p:txBody>
          <a:bodyPr/>
          <a:lstStyle/>
          <a:p>
            <a:pPr>
              <a:lnSpc>
                <a:spcPct val="90000"/>
              </a:lnSpc>
            </a:pPr>
            <a:r>
              <a:rPr lang="en-US" dirty="0"/>
              <a:t>Waterfall model: has well-defined, linear stages of systems development and support</a:t>
            </a:r>
          </a:p>
          <a:p>
            <a:pPr>
              <a:lnSpc>
                <a:spcPct val="90000"/>
              </a:lnSpc>
            </a:pPr>
            <a:r>
              <a:rPr lang="en-US" dirty="0"/>
              <a:t>Spiral model: shows that software is developed using an iterative or spiral approach rather than a linear approach</a:t>
            </a:r>
          </a:p>
          <a:p>
            <a:pPr>
              <a:lnSpc>
                <a:spcPct val="90000"/>
              </a:lnSpc>
            </a:pPr>
            <a:r>
              <a:rPr lang="en-US" dirty="0"/>
              <a:t>Incremental build model: provides for progressive development of operational software</a:t>
            </a:r>
          </a:p>
          <a:p>
            <a:pPr>
              <a:lnSpc>
                <a:spcPct val="90000"/>
              </a:lnSpc>
            </a:pPr>
            <a:r>
              <a:rPr lang="en-US" dirty="0"/>
              <a:t>Prototyping model: used for developing prototypes to clarify user requirements</a:t>
            </a:r>
          </a:p>
          <a:p>
            <a:pPr>
              <a:lnSpc>
                <a:spcPct val="90000"/>
              </a:lnSpc>
            </a:pPr>
            <a:r>
              <a:rPr lang="en-US" dirty="0"/>
              <a:t>Rapid Application Development (RAD) model:  used to produce systems quickly without sacrificing quality</a:t>
            </a:r>
          </a:p>
        </p:txBody>
      </p:sp>
      <p:sp>
        <p:nvSpPr>
          <p:cNvPr id="30724" name="Rectangle 2"/>
          <p:cNvSpPr>
            <a:spLocks noGrp="1" noChangeArrowheads="1"/>
          </p:cNvSpPr>
          <p:nvPr>
            <p:ph type="title"/>
          </p:nvPr>
        </p:nvSpPr>
        <p:spPr>
          <a:xfrm>
            <a:off x="533400" y="152400"/>
            <a:ext cx="8229600" cy="1143000"/>
          </a:xfrm>
        </p:spPr>
        <p:txBody>
          <a:bodyPr/>
          <a:lstStyle/>
          <a:p>
            <a:r>
              <a:rPr lang="en-US" dirty="0"/>
              <a:t>Predictive Life Cycle Models</a:t>
            </a:r>
          </a:p>
        </p:txBody>
      </p:sp>
      <p:sp>
        <p:nvSpPr>
          <p:cNvPr id="30722"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F5B79B3-05A3-4B8C-B607-F4486E5A67C2}"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7514"/>
            <a:ext cx="8229600" cy="1143000"/>
          </a:xfrm>
        </p:spPr>
        <p:txBody>
          <a:bodyPr>
            <a:normAutofit fontScale="90000"/>
          </a:bodyPr>
          <a:lstStyle/>
          <a:p>
            <a:r>
              <a:rPr lang="en-US" dirty="0"/>
              <a:t>Figure 2-5. Waterfall and Spiral Life Cycle Models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31</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7924799" cy="499093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Agile software development has become popular to describe new approaches that focus on close collaboration between programming teams and business experts</a:t>
            </a:r>
          </a:p>
          <a:p>
            <a:r>
              <a:rPr lang="en-US" dirty="0"/>
              <a:t>See the last section of this chapter and Chapter 3 for more information on agile</a:t>
            </a:r>
          </a:p>
          <a:p>
            <a:endParaRPr lang="en-US" dirty="0"/>
          </a:p>
          <a:p>
            <a:endParaRPr lang="en-US" dirty="0"/>
          </a:p>
        </p:txBody>
      </p:sp>
      <p:sp>
        <p:nvSpPr>
          <p:cNvPr id="3" name="Title 2"/>
          <p:cNvSpPr>
            <a:spLocks noGrp="1"/>
          </p:cNvSpPr>
          <p:nvPr>
            <p:ph type="title"/>
          </p:nvPr>
        </p:nvSpPr>
        <p:spPr/>
        <p:txBody>
          <a:bodyPr/>
          <a:lstStyle/>
          <a:p>
            <a:r>
              <a:rPr lang="en-US" dirty="0"/>
              <a:t>Agile Software Development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3"/>
          <p:cNvSpPr>
            <a:spLocks noGrp="1" noChangeArrowheads="1"/>
          </p:cNvSpPr>
          <p:nvPr>
            <p:ph idx="1"/>
          </p:nvPr>
        </p:nvSpPr>
        <p:spPr/>
        <p:txBody>
          <a:bodyPr/>
          <a:lstStyle/>
          <a:p>
            <a:r>
              <a:rPr lang="en-US" dirty="0"/>
              <a:t>A project should successfully pass through each of the project phases in order to continue on to the next</a:t>
            </a:r>
          </a:p>
          <a:p>
            <a:r>
              <a:rPr lang="en-US" dirty="0"/>
              <a:t>Management reviews, also called </a:t>
            </a:r>
            <a:r>
              <a:rPr lang="en-US" b="1" dirty="0"/>
              <a:t>phase exits</a:t>
            </a:r>
            <a:r>
              <a:rPr lang="en-US" dirty="0"/>
              <a:t> or </a:t>
            </a:r>
            <a:r>
              <a:rPr lang="en-US" b="1" dirty="0"/>
              <a:t>kill points</a:t>
            </a:r>
            <a:r>
              <a:rPr lang="en-US" dirty="0"/>
              <a:t>, should occur after each phase to evaluate the project’s progress, likely success, and continued compatibility with organizational goals</a:t>
            </a:r>
          </a:p>
        </p:txBody>
      </p:sp>
      <p:sp>
        <p:nvSpPr>
          <p:cNvPr id="31748" name="Rectangle 2"/>
          <p:cNvSpPr>
            <a:spLocks noGrp="1" noChangeArrowheads="1"/>
          </p:cNvSpPr>
          <p:nvPr>
            <p:ph type="title"/>
          </p:nvPr>
        </p:nvSpPr>
        <p:spPr/>
        <p:txBody>
          <a:bodyPr>
            <a:normAutofit fontScale="90000"/>
          </a:bodyPr>
          <a:lstStyle/>
          <a:p>
            <a:r>
              <a:rPr lang="en-US" dirty="0"/>
              <a:t>The Importance of Project Phases and Management Reviews</a:t>
            </a:r>
          </a:p>
        </p:txBody>
      </p:sp>
      <p:sp>
        <p:nvSpPr>
          <p:cNvPr id="31746"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283665F-2A2C-41B7-B054-D29178245054}"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274638"/>
            <a:ext cx="8229600" cy="563562"/>
          </a:xfrm>
        </p:spPr>
        <p:txBody>
          <a:bodyPr>
            <a:noAutofit/>
          </a:bodyPr>
          <a:lstStyle/>
          <a:p>
            <a:r>
              <a:rPr lang="en-US" sz="4000" dirty="0"/>
              <a:t>What Went Right?</a:t>
            </a:r>
          </a:p>
        </p:txBody>
      </p:sp>
      <p:sp>
        <p:nvSpPr>
          <p:cNvPr id="32774" name="Footer Placeholder 6"/>
          <p:cNvSpPr>
            <a:spLocks noGrp="1"/>
          </p:cNvSpPr>
          <p:nvPr>
            <p:ph type="ftr" sz="quarter" idx="10"/>
          </p:nvPr>
        </p:nvSpPr>
        <p:spPr bwMode="auto">
          <a:noFill/>
          <a:ln>
            <a:miter lim="800000"/>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1AF0F430-F011-4912-B9D3-C4249B695EFA}" type="slidenum">
              <a:rPr lang="en-US" smtClean="0"/>
              <a:t>34</a:t>
            </a:fld>
            <a:endParaRPr lang="en-US" dirty="0"/>
          </a:p>
        </p:txBody>
      </p:sp>
      <p:sp>
        <p:nvSpPr>
          <p:cNvPr id="32771" name="Rectangle 3"/>
          <p:cNvSpPr>
            <a:spLocks noChangeArrowheads="1"/>
          </p:cNvSpPr>
          <p:nvPr/>
        </p:nvSpPr>
        <p:spPr bwMode="auto">
          <a:xfrm>
            <a:off x="228600" y="914400"/>
            <a:ext cx="8763000" cy="5047536"/>
          </a:xfrm>
          <a:prstGeom prst="rect">
            <a:avLst/>
          </a:prstGeom>
          <a:noFill/>
          <a:ln w="12700" cap="sq">
            <a:noFill/>
            <a:miter lim="800000"/>
            <a:headEnd type="none" w="sm" len="sm"/>
            <a:tailEnd type="none" w="sm" len="sm"/>
          </a:ln>
        </p:spPr>
        <p:txBody>
          <a:bodyPr wrap="square">
            <a:spAutoFit/>
          </a:bodyPr>
          <a:lstStyle/>
          <a:p>
            <a:pPr eaLnBrk="0" hangingPunct="0"/>
            <a:r>
              <a:rPr lang="en-US" dirty="0"/>
              <a:t>"The real improvement that I saw was in our ability to</a:t>
            </a:r>
            <a:r>
              <a:rPr lang="en-US" dirty="0">
                <a:sym typeface="Symbol" panose="05050102010706020507" pitchFamily="18" charset="2"/>
              </a:rPr>
              <a:t></a:t>
            </a:r>
            <a:r>
              <a:rPr lang="en-US" dirty="0"/>
              <a:t>in the words of Thomas Edison</a:t>
            </a:r>
            <a:r>
              <a:rPr lang="en-US" dirty="0">
                <a:sym typeface="Symbol" panose="05050102010706020507" pitchFamily="18" charset="2"/>
              </a:rPr>
              <a:t></a:t>
            </a:r>
            <a:r>
              <a:rPr lang="en-US" dirty="0"/>
              <a:t>know when to stop beating a dead horse.…Edison's key to success was that he failed fairly often; but as he said, he could recognize a dead horse before it started to smell...In information technology we ride dead horses</a:t>
            </a:r>
            <a:r>
              <a:rPr lang="en-US" dirty="0">
                <a:sym typeface="Symbol" panose="05050102010706020507" pitchFamily="18" charset="2"/>
              </a:rPr>
              <a:t></a:t>
            </a:r>
            <a:r>
              <a:rPr lang="en-US" dirty="0"/>
              <a:t>failing projects</a:t>
            </a:r>
            <a:r>
              <a:rPr lang="en-US" dirty="0">
                <a:sym typeface="Symbol" panose="05050102010706020507" pitchFamily="18" charset="2"/>
              </a:rPr>
              <a:t></a:t>
            </a:r>
            <a:r>
              <a:rPr lang="en-US" dirty="0"/>
              <a:t>a long time before we give up.  But what we are seeing now is that we are able to get off them; able to reduce cost overrun and time overrun.  That's where the major impact came on the success rate.”*</a:t>
            </a:r>
          </a:p>
          <a:p>
            <a:pPr eaLnBrk="0" hangingPunct="0"/>
            <a:endParaRPr lang="en-US" dirty="0"/>
          </a:p>
          <a:p>
            <a:pPr eaLnBrk="0" hangingPunct="0"/>
            <a:r>
              <a:rPr lang="en-US" dirty="0"/>
              <a:t>Many organizations, like Huntington Bancshares, Inc., use an </a:t>
            </a:r>
            <a:r>
              <a:rPr lang="en-US" b="1" dirty="0"/>
              <a:t>executive steering committee</a:t>
            </a:r>
            <a:r>
              <a:rPr lang="en-US" dirty="0"/>
              <a:t> to help keep projects on track.</a:t>
            </a:r>
          </a:p>
          <a:p>
            <a:pPr eaLnBrk="0" hangingPunct="0"/>
            <a:endParaRPr lang="en-US" dirty="0"/>
          </a:p>
          <a:p>
            <a:pPr eaLnBrk="0" hangingPunct="0"/>
            <a:r>
              <a:rPr lang="en-US" sz="1800" dirty="0"/>
              <a:t>*Cabanis, Jeannette, "'A Major Impact': The Standish Group's Jim Johnson On Project Management and IT Project Success," PM Network, PMI, Sep.1998, p. 7</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3"/>
          <p:cNvSpPr>
            <a:spLocks noGrp="1" noChangeArrowheads="1"/>
          </p:cNvSpPr>
          <p:nvPr>
            <p:ph idx="1"/>
          </p:nvPr>
        </p:nvSpPr>
        <p:spPr/>
        <p:txBody>
          <a:bodyPr/>
          <a:lstStyle/>
          <a:p>
            <a:r>
              <a:rPr lang="en-US" dirty="0"/>
              <a:t>IT projects can be very diverse in terms of size,  complexity, products produced, application area, and resource requirements</a:t>
            </a:r>
          </a:p>
          <a:p>
            <a:r>
              <a:rPr lang="en-US" dirty="0"/>
              <a:t>IT project team members often have diverse backgrounds and skill sets</a:t>
            </a:r>
          </a:p>
          <a:p>
            <a:r>
              <a:rPr lang="en-US" dirty="0"/>
              <a:t>IT projects use diverse technologies that change rapidly.  Even within one technology area, people must be highly specialized</a:t>
            </a:r>
          </a:p>
        </p:txBody>
      </p:sp>
      <p:sp>
        <p:nvSpPr>
          <p:cNvPr id="33796" name="Rectangle 2"/>
          <p:cNvSpPr>
            <a:spLocks noGrp="1" noChangeArrowheads="1"/>
          </p:cNvSpPr>
          <p:nvPr>
            <p:ph type="title"/>
          </p:nvPr>
        </p:nvSpPr>
        <p:spPr/>
        <p:txBody>
          <a:bodyPr/>
          <a:lstStyle/>
          <a:p>
            <a:r>
              <a:rPr lang="en-US" dirty="0"/>
              <a:t>The Context of IT Projects</a:t>
            </a:r>
          </a:p>
        </p:txBody>
      </p:sp>
      <p:sp>
        <p:nvSpPr>
          <p:cNvPr id="33794"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A7AAFB9-DD0E-414F-9474-EA0B471D20ED}"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81138"/>
            <a:ext cx="8382000" cy="4525962"/>
          </a:xfrm>
        </p:spPr>
        <p:txBody>
          <a:bodyPr/>
          <a:lstStyle/>
          <a:p>
            <a:r>
              <a:rPr lang="en-US" sz="2800" dirty="0"/>
              <a:t>Globalization</a:t>
            </a:r>
          </a:p>
          <a:p>
            <a:r>
              <a:rPr lang="en-US" sz="2800" dirty="0"/>
              <a:t>Outsourcing: </a:t>
            </a:r>
            <a:r>
              <a:rPr lang="en-US" sz="2800" b="1" dirty="0"/>
              <a:t>Outsourcing</a:t>
            </a:r>
            <a:r>
              <a:rPr lang="en-US" sz="2800" dirty="0"/>
              <a:t> is when an organization acquires goods and/or sources from an outside source. </a:t>
            </a:r>
            <a:r>
              <a:rPr lang="en-US" sz="2800" b="1" dirty="0"/>
              <a:t>Offshoring</a:t>
            </a:r>
            <a:r>
              <a:rPr lang="en-US" sz="2800" dirty="0"/>
              <a:t> is sometimes used to describe outsourcing from another country</a:t>
            </a:r>
          </a:p>
          <a:p>
            <a:r>
              <a:rPr lang="en-US" sz="2800" dirty="0"/>
              <a:t>Virtual teams: A </a:t>
            </a:r>
            <a:r>
              <a:rPr lang="en-US" sz="2800" b="1" dirty="0"/>
              <a:t>virtual te</a:t>
            </a:r>
            <a:r>
              <a:rPr lang="en-US" sz="2800" dirty="0"/>
              <a:t>am is a group of individuals who work across time and space using communication technologies</a:t>
            </a:r>
          </a:p>
          <a:p>
            <a:r>
              <a:rPr lang="en-US" sz="2800" dirty="0"/>
              <a:t>Agile project management</a:t>
            </a:r>
          </a:p>
          <a:p>
            <a:endParaRPr lang="en-US" dirty="0"/>
          </a:p>
          <a:p>
            <a:endParaRPr lang="en-US" dirty="0"/>
          </a:p>
          <a:p>
            <a:endParaRPr lang="en-US" dirty="0"/>
          </a:p>
        </p:txBody>
      </p:sp>
      <p:sp>
        <p:nvSpPr>
          <p:cNvPr id="3" name="Title 2"/>
          <p:cNvSpPr>
            <a:spLocks noGrp="1"/>
          </p:cNvSpPr>
          <p:nvPr>
            <p:ph type="title"/>
          </p:nvPr>
        </p:nvSpPr>
        <p:spPr/>
        <p:txBody>
          <a:bodyPr>
            <a:normAutofit fontScale="90000"/>
          </a:bodyPr>
          <a:lstStyle/>
          <a:p>
            <a:r>
              <a:rPr lang="en-US" dirty="0"/>
              <a:t>Recent Trends Affecting IT Project Management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Issues</a:t>
            </a:r>
          </a:p>
          <a:p>
            <a:pPr lvl="1"/>
            <a:r>
              <a:rPr lang="en-US" dirty="0"/>
              <a:t>Communications</a:t>
            </a:r>
          </a:p>
          <a:p>
            <a:pPr lvl="1"/>
            <a:r>
              <a:rPr lang="en-US" dirty="0"/>
              <a:t>Trust</a:t>
            </a:r>
          </a:p>
          <a:p>
            <a:pPr lvl="1"/>
            <a:r>
              <a:rPr lang="en-US" dirty="0"/>
              <a:t>Common work practices</a:t>
            </a:r>
          </a:p>
          <a:p>
            <a:pPr lvl="1"/>
            <a:r>
              <a:rPr lang="en-US" dirty="0"/>
              <a:t>Tools</a:t>
            </a:r>
          </a:p>
          <a:p>
            <a:r>
              <a:rPr lang="en-US" dirty="0"/>
              <a:t>Suggestions</a:t>
            </a:r>
          </a:p>
          <a:p>
            <a:pPr lvl="1"/>
            <a:r>
              <a:rPr lang="en-US" dirty="0"/>
              <a:t>Employ greater project discipline</a:t>
            </a:r>
          </a:p>
          <a:p>
            <a:pPr lvl="1"/>
            <a:r>
              <a:rPr lang="en-US" dirty="0"/>
              <a:t>Think global but act local</a:t>
            </a:r>
          </a:p>
          <a:p>
            <a:pPr lvl="1"/>
            <a:r>
              <a:rPr lang="en-US" dirty="0"/>
              <a:t>Keep project momentum going</a:t>
            </a:r>
          </a:p>
          <a:p>
            <a:pPr lvl="1"/>
            <a:r>
              <a:rPr lang="en-US" dirty="0"/>
              <a:t>Use newer tools and technology</a:t>
            </a:r>
          </a:p>
          <a:p>
            <a:pPr lvl="1"/>
            <a:endParaRPr lang="en-US" dirty="0"/>
          </a:p>
          <a:p>
            <a:endParaRPr lang="en-US" dirty="0"/>
          </a:p>
          <a:p>
            <a:endParaRPr lang="en-US" dirty="0"/>
          </a:p>
        </p:txBody>
      </p:sp>
      <p:sp>
        <p:nvSpPr>
          <p:cNvPr id="3" name="Title 2"/>
          <p:cNvSpPr>
            <a:spLocks noGrp="1"/>
          </p:cNvSpPr>
          <p:nvPr>
            <p:ph type="title"/>
          </p:nvPr>
        </p:nvSpPr>
        <p:spPr/>
        <p:txBody>
          <a:bodyPr>
            <a:normAutofit fontScale="90000"/>
          </a:bodyPr>
          <a:lstStyle/>
          <a:p>
            <a:r>
              <a:rPr lang="en-US" dirty="0"/>
              <a:t>Important Issues and Suggestions Related to Globalization</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295400"/>
            <a:ext cx="8458200" cy="4525962"/>
          </a:xfrm>
        </p:spPr>
        <p:txBody>
          <a:bodyPr/>
          <a:lstStyle/>
          <a:p>
            <a:r>
              <a:rPr lang="en-US" dirty="0"/>
              <a:t>Organizations remain competitive by using outsourcing to their advantage, such as finding ways to reduce costs</a:t>
            </a:r>
          </a:p>
          <a:p>
            <a:r>
              <a:rPr lang="en-US" dirty="0"/>
              <a:t>Their next challenge is to make strategic IT investments with outsourcing by improving their enterprise architecture to ensure that IT infrastructure and business processes are integrated and standardized (See Suggested Readings)</a:t>
            </a:r>
          </a:p>
          <a:p>
            <a:r>
              <a:rPr lang="en-US" dirty="0"/>
              <a:t>Project managers should become more familiar with negotiating contracts and other outsourcing issues</a:t>
            </a:r>
          </a:p>
          <a:p>
            <a:endParaRPr lang="en-US" dirty="0"/>
          </a:p>
          <a:p>
            <a:endParaRPr lang="en-US" dirty="0"/>
          </a:p>
        </p:txBody>
      </p:sp>
      <p:sp>
        <p:nvSpPr>
          <p:cNvPr id="3" name="Title 2"/>
          <p:cNvSpPr>
            <a:spLocks noGrp="1"/>
          </p:cNvSpPr>
          <p:nvPr>
            <p:ph type="title"/>
          </p:nvPr>
        </p:nvSpPr>
        <p:spPr/>
        <p:txBody>
          <a:bodyPr/>
          <a:lstStyle/>
          <a:p>
            <a:r>
              <a:rPr lang="en-US" dirty="0"/>
              <a:t>Outsourcing</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Outsourcing also has disadvantages. For example, Apple benefits from manufacturing products in China, but it had big problems there after its iPhone 4S launch in January 2012 caused fighting between migrant workers who were hired by scalpers to stand in line to buy the phones. </a:t>
            </a:r>
          </a:p>
          <a:p>
            <a:r>
              <a:rPr lang="en-US" sz="2400" dirty="0"/>
              <a:t>When Apple said it would not open its store in Beijing, riots resulted and people attacked security guards. The Beijing Apple Store has had problems before. In May 2011, four people were injured when a crowd waiting to buy the </a:t>
            </a:r>
            <a:r>
              <a:rPr lang="en-US" sz="2400" dirty="0" err="1"/>
              <a:t>iPad</a:t>
            </a:r>
            <a:r>
              <a:rPr lang="en-US" sz="2400" dirty="0"/>
              <a:t> 2 turned ugly. </a:t>
            </a:r>
          </a:p>
        </p:txBody>
      </p:sp>
      <p:sp>
        <p:nvSpPr>
          <p:cNvPr id="3" name="Title 2"/>
          <p:cNvSpPr>
            <a:spLocks noGrp="1"/>
          </p:cNvSpPr>
          <p:nvPr>
            <p:ph type="title"/>
          </p:nvPr>
        </p:nvSpPr>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2"/>
          </a:xfrm>
        </p:spPr>
        <p:txBody>
          <a:bodyPr/>
          <a:lstStyle/>
          <a:p>
            <a:r>
              <a:rPr lang="en-US" sz="2800" dirty="0"/>
              <a:t>Increasing competiveness and responsiveness by having a team of workers available 24/7</a:t>
            </a:r>
          </a:p>
          <a:p>
            <a:r>
              <a:rPr lang="en-US" sz="2800" dirty="0"/>
              <a:t>Lowering costs because many virtual workers do not require office space or support beyond their home offices.</a:t>
            </a:r>
          </a:p>
          <a:p>
            <a:r>
              <a:rPr lang="en-US" sz="2800" dirty="0"/>
              <a:t>Providing more expertise and flexibility by having team members from across the globe working any time of day or night</a:t>
            </a:r>
          </a:p>
          <a:p>
            <a:r>
              <a:rPr lang="en-US" sz="2800" dirty="0"/>
              <a:t>Increasing the work/life balance for team members by eliminating fixed office hours and the need to travel to work.</a:t>
            </a:r>
            <a:endParaRPr lang="en-US" sz="3200" dirty="0"/>
          </a:p>
          <a:p>
            <a:pPr lvl="1"/>
            <a:endParaRPr lang="en-US" dirty="0"/>
          </a:p>
        </p:txBody>
      </p:sp>
      <p:sp>
        <p:nvSpPr>
          <p:cNvPr id="3" name="Title 2"/>
          <p:cNvSpPr>
            <a:spLocks noGrp="1"/>
          </p:cNvSpPr>
          <p:nvPr>
            <p:ph type="title"/>
          </p:nvPr>
        </p:nvSpPr>
        <p:spPr/>
        <p:txBody>
          <a:bodyPr/>
          <a:lstStyle/>
          <a:p>
            <a:r>
              <a:rPr lang="en-US" dirty="0"/>
              <a:t>Virtual Teams Advantages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382000" cy="4525962"/>
          </a:xfrm>
        </p:spPr>
        <p:txBody>
          <a:bodyPr/>
          <a:lstStyle/>
          <a:p>
            <a:r>
              <a:rPr lang="en-US" dirty="0"/>
              <a:t>Isolating team members</a:t>
            </a:r>
          </a:p>
          <a:p>
            <a:r>
              <a:rPr lang="en-US" dirty="0"/>
              <a:t>Increasing the potential for communications problems</a:t>
            </a:r>
          </a:p>
          <a:p>
            <a:r>
              <a:rPr lang="en-US" dirty="0"/>
              <a:t>Reducing the ability for team members to network and transfer information informally</a:t>
            </a:r>
          </a:p>
          <a:p>
            <a:r>
              <a:rPr lang="en-US" dirty="0"/>
              <a:t>Increasing the dependence on technology to accomplish work</a:t>
            </a:r>
          </a:p>
          <a:p>
            <a:r>
              <a:rPr lang="en-US" dirty="0"/>
              <a:t>See text for a list of factors that help virtual teams succeed, including team processes, trust/relationships, leadership style, and team member selection</a:t>
            </a:r>
          </a:p>
          <a:p>
            <a:endParaRPr lang="en-US" dirty="0"/>
          </a:p>
        </p:txBody>
      </p:sp>
      <p:sp>
        <p:nvSpPr>
          <p:cNvPr id="3" name="Title 2"/>
          <p:cNvSpPr>
            <a:spLocks noGrp="1"/>
          </p:cNvSpPr>
          <p:nvPr>
            <p:ph type="title"/>
          </p:nvPr>
        </p:nvSpPr>
        <p:spPr/>
        <p:txBody>
          <a:bodyPr/>
          <a:lstStyle/>
          <a:p>
            <a:r>
              <a:rPr lang="en-US" dirty="0"/>
              <a:t>Virtual Team Disadvantages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Agile means being able to move quickly and easily, but some people feel that project management, as they have seen it used, does not allow people to work quickly or easily.</a:t>
            </a:r>
          </a:p>
          <a:p>
            <a:r>
              <a:rPr lang="en-US" sz="2400" dirty="0"/>
              <a:t>Early software development projects often used a waterfall approach, as defined earlier in this chapter. As technology and businesses became more complex, the approach was often difficult to use because requirements were unknown or continuously changing. </a:t>
            </a:r>
          </a:p>
          <a:p>
            <a:r>
              <a:rPr lang="en-US" sz="2400" dirty="0"/>
              <a:t>Agile today means using a method based on iterative and incremental development, in which requirements and solutions evolve through collaboration.</a:t>
            </a:r>
          </a:p>
        </p:txBody>
      </p:sp>
      <p:sp>
        <p:nvSpPr>
          <p:cNvPr id="3" name="Title 2"/>
          <p:cNvSpPr>
            <a:spLocks noGrp="1"/>
          </p:cNvSpPr>
          <p:nvPr>
            <p:ph type="title"/>
          </p:nvPr>
        </p:nvSpPr>
        <p:spPr/>
        <p:txBody>
          <a:bodyPr/>
          <a:lstStyle/>
          <a:p>
            <a:r>
              <a:rPr lang="en-US" dirty="0"/>
              <a:t>Agile Project Management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481138"/>
            <a:ext cx="8915400" cy="4691062"/>
          </a:xfrm>
        </p:spPr>
        <p:txBody>
          <a:bodyPr/>
          <a:lstStyle/>
          <a:p>
            <a:r>
              <a:rPr lang="en-US" dirty="0"/>
              <a:t>Many seasoned experts in project management warn people not to fall for the hype associated with Agile. </a:t>
            </a:r>
          </a:p>
          <a:p>
            <a:r>
              <a:rPr lang="en-US" dirty="0"/>
              <a:t>For example, J. Leroy Ward, Executive Vice President at ESI International, said that “Agile will be seen for what it is … and isn’t….Project management organizations embracing Agile software and product development approaches will continue to grow while being faced with the challenge of demonstrating ROI through Agile adoption.”*</a:t>
            </a:r>
          </a:p>
        </p:txBody>
      </p:sp>
      <p:sp>
        <p:nvSpPr>
          <p:cNvPr id="3" name="Title 2"/>
          <p:cNvSpPr>
            <a:spLocks noGrp="1"/>
          </p:cNvSpPr>
          <p:nvPr>
            <p:ph type="title"/>
          </p:nvPr>
        </p:nvSpPr>
        <p:spPr/>
        <p:txBody>
          <a:bodyPr>
            <a:normAutofit fontScale="90000"/>
          </a:bodyPr>
          <a:lstStyle/>
          <a:p>
            <a:r>
              <a:rPr lang="en-US" dirty="0"/>
              <a:t>Agile Makes Sense for Some Projects, But Not All</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43</a:t>
            </a:fld>
            <a:endParaRPr lang="en-US" dirty="0"/>
          </a:p>
        </p:txBody>
      </p:sp>
      <p:sp>
        <p:nvSpPr>
          <p:cNvPr id="6" name="TextBox 5"/>
          <p:cNvSpPr txBox="1"/>
          <p:nvPr/>
        </p:nvSpPr>
        <p:spPr>
          <a:xfrm>
            <a:off x="685800" y="5486400"/>
            <a:ext cx="8008283" cy="584775"/>
          </a:xfrm>
          <a:prstGeom prst="rect">
            <a:avLst/>
          </a:prstGeom>
          <a:noFill/>
        </p:spPr>
        <p:txBody>
          <a:bodyPr wrap="none" rtlCol="0">
            <a:spAutoFit/>
          </a:bodyPr>
          <a:lstStyle/>
          <a:p>
            <a:r>
              <a:rPr lang="en-US" sz="1600" dirty="0"/>
              <a:t>*J. Leroy Ward, “The Top Ten Project Management Trends for 2011,” projecttimes.com</a:t>
            </a:r>
          </a:p>
          <a:p>
            <a:r>
              <a:rPr lang="en-US" sz="1600" dirty="0"/>
              <a:t>(January 24, 2011).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81138"/>
            <a:ext cx="8763000" cy="4525962"/>
          </a:xfrm>
        </p:spPr>
        <p:txBody>
          <a:bodyPr/>
          <a:lstStyle/>
          <a:p>
            <a:r>
              <a:rPr lang="en-US" dirty="0"/>
              <a:t>In February 2001, a group of 17 people that called itself the Agile Alliance developed and agreed on the Manifesto for Agile Software Development, as follows:</a:t>
            </a:r>
          </a:p>
          <a:p>
            <a:r>
              <a:rPr lang="en-US" dirty="0"/>
              <a:t>“We are uncovering better ways of developing software by doing it and helping others do it. Through this work we have come to value:</a:t>
            </a:r>
          </a:p>
          <a:p>
            <a:r>
              <a:rPr lang="en-US" dirty="0"/>
              <a:t>Individuals and interactions over processes and tools</a:t>
            </a:r>
          </a:p>
          <a:p>
            <a:r>
              <a:rPr lang="en-US" dirty="0"/>
              <a:t>Working software over comprehensive documentation</a:t>
            </a:r>
          </a:p>
          <a:p>
            <a:r>
              <a:rPr lang="en-US" dirty="0"/>
              <a:t>Customer collaboration over contract negotiation</a:t>
            </a:r>
          </a:p>
          <a:p>
            <a:r>
              <a:rPr lang="en-US" dirty="0"/>
              <a:t>Responding to change over following a plan”*</a:t>
            </a:r>
          </a:p>
        </p:txBody>
      </p:sp>
      <p:sp>
        <p:nvSpPr>
          <p:cNvPr id="3" name="Title 2"/>
          <p:cNvSpPr>
            <a:spLocks noGrp="1"/>
          </p:cNvSpPr>
          <p:nvPr>
            <p:ph type="title"/>
          </p:nvPr>
        </p:nvSpPr>
        <p:spPr/>
        <p:txBody>
          <a:bodyPr>
            <a:normAutofit fontScale="90000"/>
          </a:bodyPr>
          <a:lstStyle/>
          <a:p>
            <a:r>
              <a:rPr lang="en-US" dirty="0"/>
              <a:t>Manifesto for Agile Software Development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44</a:t>
            </a:fld>
            <a:endParaRPr lang="en-US" dirty="0"/>
          </a:p>
        </p:txBody>
      </p:sp>
      <p:sp>
        <p:nvSpPr>
          <p:cNvPr id="6" name="TextBox 5"/>
          <p:cNvSpPr txBox="1"/>
          <p:nvPr/>
        </p:nvSpPr>
        <p:spPr>
          <a:xfrm>
            <a:off x="2590800" y="6095999"/>
            <a:ext cx="5441361" cy="430887"/>
          </a:xfrm>
          <a:prstGeom prst="rect">
            <a:avLst/>
          </a:prstGeom>
          <a:noFill/>
        </p:spPr>
        <p:txBody>
          <a:bodyPr wrap="none" rtlCol="0">
            <a:spAutoFit/>
          </a:bodyPr>
          <a:lstStyle/>
          <a:p>
            <a:r>
              <a:rPr lang="en-US" dirty="0"/>
              <a:t>*Agile Manifesto, www.agilemanifesto.org.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According to the Scrum Alliance, Scrum is the leading agile development method for completing projects with a complex, innovative scope of work.</a:t>
            </a:r>
          </a:p>
          <a:p>
            <a:r>
              <a:rPr lang="en-US" dirty="0"/>
              <a:t>The term was coined in 1986 in a Harvard Business Review study that compared high-performing, cross-functional teams to the scrum formation used by rugby teams.</a:t>
            </a:r>
          </a:p>
        </p:txBody>
      </p:sp>
      <p:sp>
        <p:nvSpPr>
          <p:cNvPr id="3" name="Title 2"/>
          <p:cNvSpPr>
            <a:spLocks noGrp="1"/>
          </p:cNvSpPr>
          <p:nvPr>
            <p:ph type="title"/>
          </p:nvPr>
        </p:nvSpPr>
        <p:spPr/>
        <p:txBody>
          <a:bodyPr/>
          <a:lstStyle/>
          <a:p>
            <a:r>
              <a:rPr lang="en-US" dirty="0"/>
              <a:t>Scrum</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Figure 2-6. Scrum Framework</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46</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97" y="1219832"/>
            <a:ext cx="8609303" cy="479996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The PMBOK® Guide describes best practices for </a:t>
            </a:r>
            <a:r>
              <a:rPr lang="en-US" sz="2400" i="1" dirty="0"/>
              <a:t>what</a:t>
            </a:r>
            <a:r>
              <a:rPr lang="en-US" sz="2400" dirty="0"/>
              <a:t> should be done to manage projects.</a:t>
            </a:r>
          </a:p>
          <a:p>
            <a:r>
              <a:rPr lang="en-US" sz="2400" dirty="0"/>
              <a:t>Agile is a methodology that describes </a:t>
            </a:r>
            <a:r>
              <a:rPr lang="en-US" sz="2400" i="1" dirty="0"/>
              <a:t>how</a:t>
            </a:r>
            <a:r>
              <a:rPr lang="en-US" sz="2400" dirty="0"/>
              <a:t> to manage projects.</a:t>
            </a:r>
          </a:p>
          <a:p>
            <a:r>
              <a:rPr lang="en-US" sz="2400" dirty="0"/>
              <a:t>The Project Management Institute (PMI) recognized the increased interest in Agile, and introduced a new certification in 2011 called Agile Certified Practitioner (ACP).</a:t>
            </a:r>
          </a:p>
          <a:p>
            <a:r>
              <a:rPr lang="en-US" sz="2400" dirty="0"/>
              <a:t>Seasoned project managers understand that they have always had the option of customizing how they run projects, but that project management is not easy, even when using Agile.</a:t>
            </a:r>
          </a:p>
        </p:txBody>
      </p:sp>
      <p:sp>
        <p:nvSpPr>
          <p:cNvPr id="3" name="Title 2"/>
          <p:cNvSpPr>
            <a:spLocks noGrp="1"/>
          </p:cNvSpPr>
          <p:nvPr>
            <p:ph type="title"/>
          </p:nvPr>
        </p:nvSpPr>
        <p:spPr/>
        <p:txBody>
          <a:bodyPr>
            <a:normAutofit fontScale="90000"/>
          </a:bodyPr>
          <a:lstStyle/>
          <a:p>
            <a:r>
              <a:rPr lang="en-US" b="0" dirty="0"/>
              <a:t>Agile, the PMBOK® Guide, and a New Certification</a:t>
            </a:r>
            <a:endParaRPr lang="en-US" dirty="0"/>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3"/>
          <p:cNvSpPr>
            <a:spLocks noGrp="1" noChangeArrowheads="1"/>
          </p:cNvSpPr>
          <p:nvPr>
            <p:ph idx="1"/>
          </p:nvPr>
        </p:nvSpPr>
        <p:spPr>
          <a:xfrm>
            <a:off x="0" y="838200"/>
            <a:ext cx="8915400" cy="4876800"/>
          </a:xfrm>
        </p:spPr>
        <p:txBody>
          <a:bodyPr/>
          <a:lstStyle/>
          <a:p>
            <a:pPr>
              <a:lnSpc>
                <a:spcPct val="90000"/>
              </a:lnSpc>
            </a:pPr>
            <a:r>
              <a:rPr lang="en-US" dirty="0"/>
              <a:t>Project managers need to take a systems approach when working on projects</a:t>
            </a:r>
          </a:p>
          <a:p>
            <a:pPr>
              <a:lnSpc>
                <a:spcPct val="90000"/>
              </a:lnSpc>
            </a:pPr>
            <a:r>
              <a:rPr lang="en-US" dirty="0"/>
              <a:t>Organizations have four different frames: structural, human resources, political, and symbolic</a:t>
            </a:r>
          </a:p>
          <a:p>
            <a:pPr>
              <a:lnSpc>
                <a:spcPct val="90000"/>
              </a:lnSpc>
            </a:pPr>
            <a:r>
              <a:rPr lang="en-US" dirty="0"/>
              <a:t>The structure and culture of an organization have strong implications for project managers</a:t>
            </a:r>
          </a:p>
          <a:p>
            <a:pPr>
              <a:lnSpc>
                <a:spcPct val="90000"/>
              </a:lnSpc>
            </a:pPr>
            <a:r>
              <a:rPr lang="en-US" dirty="0"/>
              <a:t>Projects should successfully pass through each phase of the project life cycle</a:t>
            </a:r>
          </a:p>
          <a:p>
            <a:pPr>
              <a:lnSpc>
                <a:spcPct val="90000"/>
              </a:lnSpc>
            </a:pPr>
            <a:r>
              <a:rPr lang="en-US" dirty="0"/>
              <a:t>Project managers need to consider several factors due to the unique context of information technology projects</a:t>
            </a:r>
          </a:p>
          <a:p>
            <a:pPr>
              <a:lnSpc>
                <a:spcPct val="90000"/>
              </a:lnSpc>
            </a:pPr>
            <a:r>
              <a:rPr lang="en-US" dirty="0"/>
              <a:t>Recent trends affecting IT project management include globalization, outsourcing, virtual teams, and Agile</a:t>
            </a:r>
          </a:p>
        </p:txBody>
      </p:sp>
      <p:sp>
        <p:nvSpPr>
          <p:cNvPr id="34820" name="Rectangle 2"/>
          <p:cNvSpPr>
            <a:spLocks noGrp="1" noChangeArrowheads="1"/>
          </p:cNvSpPr>
          <p:nvPr>
            <p:ph type="title"/>
          </p:nvPr>
        </p:nvSpPr>
        <p:spPr>
          <a:xfrm>
            <a:off x="381000" y="37514"/>
            <a:ext cx="8305800" cy="715962"/>
          </a:xfrm>
        </p:spPr>
        <p:txBody>
          <a:bodyPr>
            <a:normAutofit fontScale="90000"/>
          </a:bodyPr>
          <a:lstStyle/>
          <a:p>
            <a:r>
              <a:rPr lang="en-US" dirty="0"/>
              <a:t>Chapter Summary</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49</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dirty="0"/>
              <a:t>下面_不是系统管理的三球模型的组成部分。</a:t>
            </a:r>
          </a:p>
          <a:p>
            <a:r>
              <a:rPr lang="zh-CN" altLang="en-US" dirty="0"/>
              <a:t>a.业务</a:t>
            </a:r>
          </a:p>
          <a:p>
            <a:r>
              <a:rPr lang="zh-CN" altLang="en-US" dirty="0"/>
              <a:t>b.信息</a:t>
            </a:r>
          </a:p>
          <a:p>
            <a:r>
              <a:rPr lang="zh-CN" altLang="en-US" dirty="0"/>
              <a:t>c.技术</a:t>
            </a:r>
          </a:p>
          <a:p>
            <a:r>
              <a:rPr lang="zh-CN" altLang="en-US" dirty="0"/>
              <a:t>d.组织</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50</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在组织4个框架中，</a:t>
            </a:r>
            <a:r>
              <a:rPr lang="en-US" altLang="zh-CN"/>
              <a:t>__</a:t>
            </a:r>
            <a:r>
              <a:rPr lang="zh-CN" altLang="en-US"/>
              <a:t>涉及如何举行会议、员工衣着样式和预期工作时间。</a:t>
            </a:r>
          </a:p>
          <a:p>
            <a:r>
              <a:rPr lang="zh-CN" altLang="en-US"/>
              <a:t>a.结构</a:t>
            </a:r>
          </a:p>
          <a:p>
            <a:r>
              <a:rPr lang="zh-CN" altLang="en-US"/>
              <a:t>b.人力资源</a:t>
            </a:r>
          </a:p>
          <a:p>
            <a:r>
              <a:rPr lang="zh-CN" altLang="en-US"/>
              <a:t>c.政治</a:t>
            </a:r>
          </a:p>
          <a:p>
            <a:r>
              <a:rPr lang="zh-CN" altLang="en-US"/>
              <a:t>d标志</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51</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人员</a:t>
            </a:r>
            <a:r>
              <a:rPr lang="en-US" altLang="zh-CN"/>
              <a:t>__</a:t>
            </a:r>
            <a:r>
              <a:rPr lang="zh-CN" altLang="en-US"/>
              <a:t>在组织结构中通常向两个或更多的上级报告。</a:t>
            </a:r>
          </a:p>
          <a:p>
            <a:r>
              <a:rPr lang="zh-CN" altLang="en-US"/>
              <a:t>a.职能型</a:t>
            </a:r>
          </a:p>
          <a:p>
            <a:r>
              <a:rPr lang="zh-CN" altLang="en-US"/>
              <a:t>b.项目型</a:t>
            </a:r>
          </a:p>
          <a:p>
            <a:r>
              <a:rPr lang="zh-CN" altLang="en-US"/>
              <a:t>c.矩阵型</a:t>
            </a:r>
          </a:p>
          <a:p>
            <a:r>
              <a:rPr lang="zh-CN" altLang="en-US"/>
              <a:t>d.混合型</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52</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项目工作通常在这样的组织文化中最容易成功，该文化具有很高的特性，除了</a:t>
            </a:r>
            <a:r>
              <a:rPr lang="en-US" altLang="zh-CN"/>
              <a:t>__</a:t>
            </a:r>
            <a:endParaRPr lang="zh-CN" altLang="en-US"/>
          </a:p>
          <a:p>
            <a:r>
              <a:rPr lang="zh-CN" altLang="en-US"/>
              <a:t>a.人员认同</a:t>
            </a:r>
          </a:p>
          <a:p>
            <a:r>
              <a:rPr lang="zh-CN" altLang="en-US"/>
              <a:t>b.强调群体</a:t>
            </a:r>
          </a:p>
          <a:p>
            <a:r>
              <a:rPr lang="zh-CN" altLang="en-US"/>
              <a:t>c.风险容忍</a:t>
            </a:r>
          </a:p>
          <a:p>
            <a:r>
              <a:rPr lang="zh-CN" altLang="en-US"/>
              <a:t>d.控制</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53</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__是作为项目的一部分所提供的一件产品或一项服务，例如，一份技术报告、一个培训项目或者硬件。</a:t>
            </a:r>
          </a:p>
          <a:p>
            <a:r>
              <a:rPr lang="zh-CN" altLang="en-US"/>
              <a:t>a.可交付成果</a:t>
            </a:r>
          </a:p>
          <a:p>
            <a:r>
              <a:rPr lang="zh-CN" altLang="en-US"/>
              <a:t>b.产品</a:t>
            </a:r>
          </a:p>
          <a:p>
            <a:r>
              <a:rPr lang="zh-CN" altLang="en-US"/>
              <a:t>C.作包</a:t>
            </a:r>
          </a:p>
          <a:p>
            <a:r>
              <a:rPr lang="zh-CN" altLang="en-US"/>
              <a:t>d.切实目标</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54</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下面</a:t>
            </a:r>
            <a:r>
              <a:rPr lang="en-US" altLang="zh-CN"/>
              <a:t>__</a:t>
            </a:r>
            <a:r>
              <a:rPr lang="zh-CN" altLang="en-US"/>
              <a:t>是错误的。</a:t>
            </a:r>
          </a:p>
          <a:p>
            <a:r>
              <a:rPr lang="zh-CN" altLang="en-US"/>
              <a:t>a.分析项目生命周期是项目阶段的集合</a:t>
            </a:r>
          </a:p>
          <a:p>
            <a:r>
              <a:rPr lang="zh-CN" altLang="en-US"/>
              <a:t>b.产品生命周期和项目生命周期是一样的</a:t>
            </a:r>
          </a:p>
          <a:p>
            <a:r>
              <a:rPr lang="zh-CN" altLang="en-US"/>
              <a:t>c.瀑布方法是预测生命周期模型的一个例子</a:t>
            </a:r>
          </a:p>
          <a:p>
            <a:r>
              <a:rPr lang="zh-CN" altLang="en-US"/>
              <a:t>d敏捷开发是自适应生命周期模型的一个例子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55</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在开发信息系统时，以下</a:t>
            </a:r>
            <a:r>
              <a:rPr lang="en-US" altLang="zh-CN"/>
              <a:t>__</a:t>
            </a:r>
            <a:r>
              <a:rPr lang="zh-CN" altLang="en-US"/>
              <a:t>用来描述一个阶段性的框架</a:t>
            </a:r>
          </a:p>
          <a:p>
            <a:r>
              <a:rPr lang="zh-CN" altLang="en-US"/>
              <a:t>a.系统开发生命周期 </a:t>
            </a:r>
          </a:p>
          <a:p>
            <a:r>
              <a:rPr lang="zh-CN" altLang="en-US"/>
              <a:t>b.快速应用软件开发</a:t>
            </a:r>
          </a:p>
          <a:p>
            <a:r>
              <a:rPr lang="zh-CN" altLang="en-US"/>
              <a:t>c预测生命周期</a:t>
            </a:r>
          </a:p>
          <a:p>
            <a:r>
              <a:rPr lang="zh-CN" altLang="en-US"/>
              <a:t>d.极限编程</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56</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IT 项目的性质不同于许多其他行业的项目，因为它们是很</a:t>
            </a:r>
            <a:r>
              <a:rPr lang="en-US" altLang="zh-CN"/>
              <a:t>__</a:t>
            </a:r>
            <a:r>
              <a:rPr lang="zh-CN" altLang="en-US"/>
              <a:t>。</a:t>
            </a:r>
          </a:p>
          <a:p>
            <a:r>
              <a:rPr lang="zh-CN" altLang="en-US"/>
              <a:t>a.昂贵的</a:t>
            </a:r>
          </a:p>
          <a:p>
            <a:r>
              <a:rPr lang="en-US" altLang="zh-CN"/>
              <a:t>b.</a:t>
            </a:r>
            <a:r>
              <a:rPr lang="zh-CN" altLang="en-US"/>
              <a:t>技术性的</a:t>
            </a:r>
          </a:p>
          <a:p>
            <a:r>
              <a:rPr lang="zh-CN" altLang="en-US"/>
              <a:t>c.多样的</a:t>
            </a:r>
          </a:p>
          <a:p>
            <a:r>
              <a:rPr lang="zh-CN" altLang="en-US"/>
              <a:t>d.具有挑战性的</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57</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dirty="0"/>
              <a:t>下列术语中，</a:t>
            </a:r>
            <a:r>
              <a:rPr lang="en-US" altLang="zh-CN" dirty="0"/>
              <a:t>__</a:t>
            </a:r>
            <a:r>
              <a:rPr lang="zh-CN" altLang="en-US" dirty="0"/>
              <a:t>可以用来描述组织从国外寻找外部资源以获取需要的产品或服务。</a:t>
            </a:r>
          </a:p>
          <a:p>
            <a:r>
              <a:rPr lang="zh-CN" altLang="en-US" dirty="0"/>
              <a:t>a.全球化</a:t>
            </a:r>
          </a:p>
          <a:p>
            <a:r>
              <a:rPr lang="zh-CN" altLang="en-US" dirty="0"/>
              <a:t>b.境外生产</a:t>
            </a:r>
          </a:p>
          <a:p>
            <a:r>
              <a:rPr lang="zh-CN" altLang="en-US" dirty="0"/>
              <a:t>c.出口</a:t>
            </a:r>
          </a:p>
          <a:p>
            <a:r>
              <a:rPr lang="zh-CN" altLang="en-US" dirty="0"/>
              <a:t>d.全球采购</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58</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__</a:t>
            </a:r>
            <a:r>
              <a:rPr lang="zh-CN" altLang="en-US"/>
              <a:t>是最主要的敏捷开发方法</a:t>
            </a:r>
          </a:p>
          <a:p>
            <a:r>
              <a:rPr lang="zh-CN" altLang="en-US"/>
              <a:t>a.极限编程</a:t>
            </a:r>
          </a:p>
          <a:p>
            <a:r>
              <a:rPr lang="zh-CN" altLang="en-US"/>
              <a:t>b.冲刺</a:t>
            </a:r>
          </a:p>
          <a:p>
            <a:r>
              <a:rPr lang="zh-CN" altLang="en-US"/>
              <a:t>c.六西格玛</a:t>
            </a:r>
          </a:p>
          <a:p>
            <a:r>
              <a:rPr lang="zh-CN" altLang="en-US"/>
              <a:t>d.Scrum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59</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1</a:t>
            </a:r>
            <a:r>
              <a:rPr lang="zh-CN" altLang="en-US"/>
              <a:t>、传统项目生命周期的四个阶段？</a:t>
            </a:r>
          </a:p>
          <a:p>
            <a:r>
              <a:rPr lang="en-US" altLang="zh-CN"/>
              <a:t>2</a:t>
            </a:r>
            <a:r>
              <a:rPr lang="zh-CN" altLang="en-US"/>
              <a:t>、组织结构分为哪三类？</a:t>
            </a:r>
          </a:p>
          <a:p>
            <a:r>
              <a:rPr lang="en-US" altLang="zh-CN"/>
              <a:t>3</a:t>
            </a:r>
            <a:r>
              <a:rPr lang="zh-CN" altLang="en-US"/>
              <a:t>、影响</a:t>
            </a:r>
            <a:r>
              <a:rPr lang="en-US" altLang="zh-CN"/>
              <a:t>IT</a:t>
            </a:r>
            <a:r>
              <a:rPr lang="zh-CN" altLang="en-US"/>
              <a:t>项目管理的最新趋势？</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60</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1</a:t>
            </a:r>
            <a:r>
              <a:rPr lang="zh-CN" altLang="en-US"/>
              <a:t>、传统项目生命周期的四个阶段？</a:t>
            </a:r>
          </a:p>
          <a:p>
            <a:r>
              <a:rPr lang="zh-CN" altLang="en-US"/>
              <a:t>概念阶段</a:t>
            </a:r>
          </a:p>
          <a:p>
            <a:r>
              <a:rPr lang="zh-CN" altLang="en-US"/>
              <a:t>开发阶段</a:t>
            </a:r>
          </a:p>
          <a:p>
            <a:r>
              <a:rPr lang="zh-CN" altLang="en-US"/>
              <a:t>实施阶段</a:t>
            </a:r>
          </a:p>
          <a:p>
            <a:r>
              <a:rPr lang="zh-CN" altLang="en-US"/>
              <a:t>收尾阶段</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61</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2</a:t>
            </a:r>
            <a:r>
              <a:rPr lang="zh-CN" altLang="en-US"/>
              <a:t>、组织结构分为哪三类？</a:t>
            </a:r>
          </a:p>
          <a:p>
            <a:r>
              <a:rPr lang="zh-CN" altLang="en-US"/>
              <a:t>职能型组织结构</a:t>
            </a:r>
          </a:p>
          <a:p>
            <a:r>
              <a:rPr lang="zh-CN" altLang="en-US"/>
              <a:t>项目型组织结构</a:t>
            </a:r>
          </a:p>
          <a:p>
            <a:r>
              <a:rPr lang="zh-CN" altLang="en-US"/>
              <a:t>矩阵型组织结构</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62</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sym typeface="+mn-ea"/>
              </a:rPr>
              <a:t>3</a:t>
            </a:r>
            <a:r>
              <a:rPr lang="zh-CN" altLang="en-US">
                <a:sym typeface="+mn-ea"/>
              </a:rPr>
              <a:t>、影响</a:t>
            </a:r>
            <a:r>
              <a:rPr lang="en-US" altLang="zh-CN">
                <a:sym typeface="+mn-ea"/>
              </a:rPr>
              <a:t>IT</a:t>
            </a:r>
            <a:r>
              <a:rPr lang="zh-CN" altLang="en-US">
                <a:sym typeface="+mn-ea"/>
              </a:rPr>
              <a:t>项目管理的最新趋势？</a:t>
            </a:r>
            <a:endParaRPr lang="zh-CN" altLang="en-US"/>
          </a:p>
          <a:p>
            <a:r>
              <a:rPr lang="zh-CN" altLang="en-US"/>
              <a:t>全球化</a:t>
            </a:r>
          </a:p>
          <a:p>
            <a:r>
              <a:rPr lang="zh-CN" altLang="en-US"/>
              <a:t>外包</a:t>
            </a:r>
          </a:p>
          <a:p>
            <a:r>
              <a:rPr lang="zh-CN" altLang="en-US"/>
              <a:t>虚拟团队</a:t>
            </a:r>
          </a:p>
          <a:p>
            <a:r>
              <a:rPr lang="zh-CN" altLang="en-US"/>
              <a:t>敏捷项目管理</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lhOTJmNTgwOTk5Y2YzOWQyNGEyNTY2NzZlZTc0ZDkifQ=="/>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otalTime>1</TotalTime>
  <Words>3764</Words>
  <Application>Microsoft Office PowerPoint</Application>
  <PresentationFormat>全屏显示(4:3)</PresentationFormat>
  <Paragraphs>411</Paragraphs>
  <Slides>62</Slides>
  <Notes>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62</vt:i4>
      </vt:variant>
    </vt:vector>
  </HeadingPairs>
  <TitlesOfParts>
    <vt:vector size="73" baseType="lpstr">
      <vt:lpstr>Arial</vt:lpstr>
      <vt:lpstr>Arial Rounded MT Bold</vt:lpstr>
      <vt:lpstr>Calibri</vt:lpstr>
      <vt:lpstr>Lucida Sans Unicode</vt:lpstr>
      <vt:lpstr>Symbol</vt:lpstr>
      <vt:lpstr>Times New Roman</vt:lpstr>
      <vt:lpstr>Verdana</vt:lpstr>
      <vt:lpstr>Wingdings 2</vt:lpstr>
      <vt:lpstr>Wingdings 3</vt:lpstr>
      <vt:lpstr>Custom Design</vt:lpstr>
      <vt:lpstr>Theme1</vt:lpstr>
      <vt:lpstr>Chapter 2: The Project Management and Information Technology Context</vt:lpstr>
      <vt:lpstr>Learning Objectives</vt:lpstr>
      <vt:lpstr>Learning Objectives</vt:lpstr>
      <vt:lpstr>Projects Cannot Be Run In Isolation</vt:lpstr>
      <vt:lpstr>A Systems View of Project Management</vt:lpstr>
      <vt:lpstr>Figure 2-1. Three Sphere Model for Systems Management</vt:lpstr>
      <vt:lpstr>Figure 2-1. Three Sphere Model for Systems Management</vt:lpstr>
      <vt:lpstr>Figure 2-2. Perspectives on Organizations</vt:lpstr>
      <vt:lpstr>What Went Wrong?</vt:lpstr>
      <vt:lpstr>Organizational Structures</vt:lpstr>
      <vt:lpstr>Figure 2-3. Functional, Project, and Matrix Organizational Structures</vt:lpstr>
      <vt:lpstr>Table 2-1.  Organizational Structure Influences on Projects</vt:lpstr>
      <vt:lpstr>Organizational Culture</vt:lpstr>
      <vt:lpstr>Ten Characteristics of Organizational Culture</vt:lpstr>
      <vt:lpstr>Stakeholder Management</vt:lpstr>
      <vt:lpstr>Media Snapshot</vt:lpstr>
      <vt:lpstr>The Importance of Top Management Commitment</vt:lpstr>
      <vt:lpstr>How Top Management Can Help Project Managers</vt:lpstr>
      <vt:lpstr>PowerPoint 演示文稿</vt:lpstr>
      <vt:lpstr>Best Practice</vt:lpstr>
      <vt:lpstr>I T治理</vt:lpstr>
      <vt:lpstr>PowerPoint 演示文稿</vt:lpstr>
      <vt:lpstr>PowerPoint 演示文稿</vt:lpstr>
      <vt:lpstr>Need for Organizational Commitment to Information Technology (IT)</vt:lpstr>
      <vt:lpstr>Need for Organizational Standards</vt:lpstr>
      <vt:lpstr>Project Phases and the Project Life Cycle</vt:lpstr>
      <vt:lpstr>More on Project Phases</vt:lpstr>
      <vt:lpstr>Figure 2-4. Phases of the Traditional Project Life Cycle</vt:lpstr>
      <vt:lpstr>Product Life Cycles</vt:lpstr>
      <vt:lpstr>Predictive Life Cycle Models</vt:lpstr>
      <vt:lpstr>Figure 2-5. Waterfall and Spiral Life Cycle Models</vt:lpstr>
      <vt:lpstr>Agile Software Development</vt:lpstr>
      <vt:lpstr>The Importance of Project Phases and Management Reviews</vt:lpstr>
      <vt:lpstr>What Went Right?</vt:lpstr>
      <vt:lpstr>The Context of IT Projects</vt:lpstr>
      <vt:lpstr>Recent Trends Affecting IT Project Management</vt:lpstr>
      <vt:lpstr>Important Issues and Suggestions Related to Globalization</vt:lpstr>
      <vt:lpstr>Outsourcing</vt:lpstr>
      <vt:lpstr>Global Issues</vt:lpstr>
      <vt:lpstr>Virtual Teams Advantages</vt:lpstr>
      <vt:lpstr>Virtual Team Disadvantages</vt:lpstr>
      <vt:lpstr>Agile Project Management</vt:lpstr>
      <vt:lpstr>Agile Makes Sense for Some Projects, But Not All</vt:lpstr>
      <vt:lpstr>Manifesto for Agile Software Development</vt:lpstr>
      <vt:lpstr>Scrum</vt:lpstr>
      <vt:lpstr>Figure 2-6. Scrum Framework</vt:lpstr>
      <vt:lpstr>Agile, the PMBOK® Guide, and a New Certification</vt:lpstr>
      <vt:lpstr>Chapter Summary</vt:lpstr>
      <vt:lpstr>快速测验</vt:lpstr>
      <vt:lpstr>快速测验</vt:lpstr>
      <vt:lpstr>快速测验</vt:lpstr>
      <vt:lpstr>快速测验</vt:lpstr>
      <vt:lpstr>快速测验</vt:lpstr>
      <vt:lpstr>快速测验</vt:lpstr>
      <vt:lpstr>快速测验</vt:lpstr>
      <vt:lpstr>快速测验</vt:lpstr>
      <vt:lpstr>快速测验</vt:lpstr>
      <vt:lpstr>快速测验</vt:lpstr>
      <vt:lpstr>讨论题</vt:lpstr>
      <vt:lpstr>讨论题</vt:lpstr>
      <vt:lpstr>讨论题</vt:lpstr>
      <vt:lpstr>讨论题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167</cp:revision>
  <dcterms:created xsi:type="dcterms:W3CDTF">2001-07-05T23:10:00Z</dcterms:created>
  <dcterms:modified xsi:type="dcterms:W3CDTF">2025-09-09T01:42:02Z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87FA170FB4E04F189C3CEFA18190101C_12</vt:lpwstr>
  </property>
  <property fmtid="{D5CDD505-2E9C-101B-9397-08002B2CF9AE}" pid="3" name="KSOProductBuildVer">
    <vt:lpwstr>2052-12.1.0.15374</vt:lpwstr>
  </property>
</Properties>
</file>