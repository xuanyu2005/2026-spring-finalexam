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60"/>
  </p:notesMasterIdLst>
  <p:handoutMasterIdLst>
    <p:handoutMasterId r:id="rId61"/>
  </p:handoutMasterIdLst>
  <p:sldIdLst>
    <p:sldId id="352" r:id="rId3"/>
    <p:sldId id="353" r:id="rId4"/>
    <p:sldId id="354" r:id="rId5"/>
    <p:sldId id="355" r:id="rId6"/>
    <p:sldId id="377" r:id="rId7"/>
    <p:sldId id="357" r:id="rId8"/>
    <p:sldId id="358" r:id="rId9"/>
    <p:sldId id="359" r:id="rId10"/>
    <p:sldId id="360" r:id="rId11"/>
    <p:sldId id="378" r:id="rId12"/>
    <p:sldId id="362" r:id="rId13"/>
    <p:sldId id="384" r:id="rId14"/>
    <p:sldId id="363" r:id="rId15"/>
    <p:sldId id="364" r:id="rId16"/>
    <p:sldId id="380" r:id="rId17"/>
    <p:sldId id="365" r:id="rId18"/>
    <p:sldId id="366" r:id="rId19"/>
    <p:sldId id="381" r:id="rId20"/>
    <p:sldId id="382" r:id="rId21"/>
    <p:sldId id="383" r:id="rId22"/>
    <p:sldId id="367" r:id="rId23"/>
    <p:sldId id="368" r:id="rId24"/>
    <p:sldId id="369" r:id="rId25"/>
    <p:sldId id="370" r:id="rId26"/>
    <p:sldId id="371" r:id="rId27"/>
    <p:sldId id="375" r:id="rId28"/>
    <p:sldId id="372" r:id="rId29"/>
    <p:sldId id="373" r:id="rId30"/>
    <p:sldId id="385" r:id="rId31"/>
    <p:sldId id="386" r:id="rId32"/>
    <p:sldId id="387" r:id="rId33"/>
    <p:sldId id="388" r:id="rId34"/>
    <p:sldId id="389" r:id="rId35"/>
    <p:sldId id="390" r:id="rId36"/>
    <p:sldId id="391" r:id="rId37"/>
    <p:sldId id="392" r:id="rId38"/>
    <p:sldId id="394" r:id="rId39"/>
    <p:sldId id="398" r:id="rId40"/>
    <p:sldId id="393" r:id="rId41"/>
    <p:sldId id="395" r:id="rId42"/>
    <p:sldId id="396" r:id="rId43"/>
    <p:sldId id="397" r:id="rId44"/>
    <p:sldId id="376" r:id="rId45"/>
    <p:sldId id="374" r:id="rId46"/>
    <p:sldId id="441" r:id="rId47"/>
    <p:sldId id="442" r:id="rId48"/>
    <p:sldId id="443" r:id="rId49"/>
    <p:sldId id="444" r:id="rId50"/>
    <p:sldId id="445" r:id="rId51"/>
    <p:sldId id="446" r:id="rId52"/>
    <p:sldId id="447" r:id="rId53"/>
    <p:sldId id="448" r:id="rId54"/>
    <p:sldId id="449" r:id="rId55"/>
    <p:sldId id="450" r:id="rId56"/>
    <p:sldId id="451" r:id="rId57"/>
    <p:sldId id="452" r:id="rId58"/>
    <p:sldId id="453" r:id="rId59"/>
  </p:sldIdLst>
  <p:sldSz cx="9144000" cy="6858000" type="screen4x3"/>
  <p:notesSz cx="6858000" cy="9144000"/>
  <p:custDataLst>
    <p:tags r:id="rId62"/>
  </p:custDataLst>
  <p:defaultTextStyle>
    <a:defPPr>
      <a:defRPr lang="en-US"/>
    </a:defPPr>
    <a:lvl1pPr algn="l" rtl="0" fontAlgn="base">
      <a:spcBef>
        <a:spcPct val="0"/>
      </a:spcBef>
      <a:spcAft>
        <a:spcPct val="0"/>
      </a:spcAft>
      <a:defRPr sz="22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2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2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2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200" kern="1200">
        <a:solidFill>
          <a:schemeClr val="tx1"/>
        </a:solidFill>
        <a:latin typeface="Arial" panose="020B0604020202020204" pitchFamily="34" charset="0"/>
        <a:ea typeface="+mn-ea"/>
        <a:cs typeface="+mn-cs"/>
      </a:defRPr>
    </a:lvl5pPr>
    <a:lvl6pPr marL="2286000" algn="l" defTabSz="914400" rtl="0" eaLnBrk="1" latinLnBrk="0" hangingPunct="1">
      <a:defRPr sz="2200" kern="1200">
        <a:solidFill>
          <a:schemeClr val="tx1"/>
        </a:solidFill>
        <a:latin typeface="Arial" panose="020B0604020202020204" pitchFamily="34" charset="0"/>
        <a:ea typeface="+mn-ea"/>
        <a:cs typeface="+mn-cs"/>
      </a:defRPr>
    </a:lvl6pPr>
    <a:lvl7pPr marL="2743200" algn="l" defTabSz="914400" rtl="0" eaLnBrk="1" latinLnBrk="0" hangingPunct="1">
      <a:defRPr sz="2200" kern="1200">
        <a:solidFill>
          <a:schemeClr val="tx1"/>
        </a:solidFill>
        <a:latin typeface="Arial" panose="020B0604020202020204" pitchFamily="34" charset="0"/>
        <a:ea typeface="+mn-ea"/>
        <a:cs typeface="+mn-cs"/>
      </a:defRPr>
    </a:lvl7pPr>
    <a:lvl8pPr marL="3200400" algn="l" defTabSz="914400" rtl="0" eaLnBrk="1" latinLnBrk="0" hangingPunct="1">
      <a:defRPr sz="2200" kern="1200">
        <a:solidFill>
          <a:schemeClr val="tx1"/>
        </a:solidFill>
        <a:latin typeface="Arial" panose="020B0604020202020204" pitchFamily="34" charset="0"/>
        <a:ea typeface="+mn-ea"/>
        <a:cs typeface="+mn-cs"/>
      </a:defRPr>
    </a:lvl8pPr>
    <a:lvl9pPr marL="3657600" algn="l" defTabSz="914400" rtl="0" eaLnBrk="1" latinLnBrk="0" hangingPunct="1">
      <a:defRPr sz="2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551" autoAdjust="0"/>
  </p:normalViewPr>
  <p:slideViewPr>
    <p:cSldViewPr showGuides="1">
      <p:cViewPr varScale="1">
        <p:scale>
          <a:sx n="117" d="100"/>
          <a:sy n="117" d="100"/>
        </p:scale>
        <p:origin x="9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542"/>
    </p:cViewPr>
  </p:sorterViewPr>
  <p:notesViewPr>
    <p:cSldViewPr>
      <p:cViewPr varScale="1">
        <p:scale>
          <a:sx n="63" d="100"/>
          <a:sy n="63" d="100"/>
        </p:scale>
        <p:origin x="-600" y="-6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FontTx/>
              <a:buNone/>
              <a:defRPr sz="1200">
                <a:latin typeface="Times New Roman" panose="02020603050405020304" pitchFamily="18" charset="0"/>
              </a:defRPr>
            </a:lvl1pPr>
          </a:lstStyle>
          <a:p>
            <a:pPr>
              <a:defRPr/>
            </a:pPr>
            <a:fld id="{2F6D35DD-CB0D-4F94-8381-AA6C7D808E36}" type="slidenum">
              <a:rPr lang="en-US"/>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337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FontTx/>
              <a:buNone/>
              <a:defRPr sz="1200">
                <a:latin typeface="Times New Roman" panose="02020603050405020304"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FontTx/>
              <a:buNone/>
              <a:defRPr sz="1200">
                <a:latin typeface="Times New Roman" panose="02020603050405020304" pitchFamily="18" charset="0"/>
              </a:defRPr>
            </a:lvl1pPr>
          </a:lstStyle>
          <a:p>
            <a:pPr>
              <a:defRPr/>
            </a:pPr>
            <a:fld id="{98AB6CC8-3AA5-49ED-9890-54F60A81E2ED}" type="slidenum">
              <a:rPr lang="en-US"/>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1858776-FFC7-4B73-A0BE-0A2425E77054}" type="slidenum">
              <a:rPr lang="en-US"/>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E87DE74-A85F-476A-9325-D1A08EC24556}" type="slidenum">
              <a:rPr lang="en-US"/>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AC146C4-09F4-4063-8F93-37415FBBF079}" type="slidenum">
              <a:rPr lang="en-US"/>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CAB32D2-24F7-472F-8177-F524451F4F17}"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8CF9F0A-339C-44DA-9176-9317E5A118A2}"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C11DDD4A-15D1-4B69-A417-FFE463504751}"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13F3BDB-9CC5-4FB3-99A2-C336C99C4717}" type="slidenum">
              <a:rPr lang="en-US"/>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A669F0F-D523-45AB-8D66-DBDD8D3D261B}" type="slidenum">
              <a:rPr lang="en-US"/>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88335ED-9CF9-4241-8DCB-BE22B81DAF6E}" type="slidenum">
              <a:rPr lang="en-US"/>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4189FF-18B1-4344-85A1-B95F04828F41}"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626836F-6D21-40AC-B6D5-970BA9FEF6C6}" type="slidenum">
              <a:rPr lang="en-US"/>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p:nvPr/>
        </p:nvGrpSpPr>
        <p:grpSpPr bwMode="auto">
          <a:xfrm>
            <a:off x="-3175" y="4953000"/>
            <a:ext cx="9147175" cy="1911350"/>
            <a:chOff x="-3765" y="4832896"/>
            <a:chExt cx="9147765" cy="2032192"/>
          </a:xfrm>
        </p:grpSpPr>
        <p:sp>
          <p:nvSpPr>
            <p:cNvPr id="6" name="Freeform 5"/>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lstStyle>
          <a:p>
            <a:pPr>
              <a:defRPr/>
            </a:pPr>
            <a:r>
              <a:rPr lang="en-US"/>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lstStyle>
          <a:p>
            <a:pPr>
              <a:defRPr/>
            </a:pPr>
            <a:fld id="{C6993DF6-04DE-49F5-85F2-C7A451E1D89C}"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AEAD0689-3C8F-4F33-9924-B2EDADDE0827}" type="slidenum">
              <a:rPr lang="en-US" smtClean="0"/>
              <a:t>‹#›</a:t>
            </a:fld>
            <a:endParaRPr lang="en-US" dirty="0"/>
          </a:p>
        </p:txBody>
      </p:sp>
      <p:sp>
        <p:nvSpPr>
          <p:cNvPr id="8" name="Footer Placeholder 4"/>
          <p:cNvSpPr>
            <a:spLocks noGrp="1"/>
          </p:cNvSpPr>
          <p:nvPr userDrawn="1">
            <p:ph type="ftr" sz="quarter" idx="10"/>
          </p:nvPr>
        </p:nvSpPr>
        <p:spPr bwMode="auto">
          <a:xfrm>
            <a:off x="0" y="6492875"/>
            <a:ext cx="2362200" cy="365125"/>
          </a:xfrm>
          <a:noFill/>
          <a:ln>
            <a:miter lim="800000"/>
          </a:ln>
        </p:spPr>
        <p:txBody>
          <a:bodyPr vert="horz" wrap="square" lIns="91440" tIns="45720" rIns="91440" bIns="45720" numCol="1" compatLnSpc="1"/>
          <a:lstStyle>
            <a:lvl1pPr algn="l">
              <a:defRPr sz="1200"/>
            </a:lvl1pPr>
          </a:lstStyle>
          <a:p>
            <a:r>
              <a:rPr lang="en-US" dirty="0"/>
              <a:t>Information Technology Project Management, Seventh Edition</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endParaRPr lang="en-US" dirty="0"/>
          </a:p>
        </p:txBody>
      </p:sp>
      <p:sp>
        <p:nvSpPr>
          <p:cNvPr id="7"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lstStyle>
          <a:p>
            <a:pPr>
              <a:defRPr/>
            </a:pPr>
            <a:fld id="{02B16E2C-66FB-4563-938E-00D3D3F5AFA2}"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Footer Placeholder 5"/>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lstStyle>
          <a:p>
            <a:pPr>
              <a:defRPr/>
            </a:pPr>
            <a:fld id="{2A8D7843-9969-4F8E-A88A-8AA20738ECBE}"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lstStyle>
          <a:p>
            <a:pPr>
              <a:defRPr/>
            </a:pPr>
            <a:fld id="{894D1F16-3164-48C9-BE93-46E6222A9458}"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dirty="0"/>
          </a:p>
        </p:txBody>
      </p:sp>
      <p:sp>
        <p:nvSpPr>
          <p:cNvPr id="4" name="Footer Placeholder 3"/>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lstStyle>
          <a:p>
            <a:pPr>
              <a:defRPr/>
            </a:pPr>
            <a:fld id="{C796DE11-80E7-4489-BDD7-4B19D01BE34D}"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A9D3FB81-A197-44BB-AB72-5222D2F2842D}" type="slidenum">
              <a:rPr lang="en-US" smtClean="0"/>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Footer Placeholder 5"/>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lstStyle>
          <a:p>
            <a:pPr>
              <a:defRPr/>
            </a:pPr>
            <a:fld id="{1480CF74-8279-4576-ACBA-9BB46C039DCF}"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415" indent="0" algn="r">
              <a:buNone/>
              <a:defRPr sz="14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lstStyle>
          <a:p>
            <a:pPr>
              <a:defRPr/>
            </a:pPr>
            <a:r>
              <a:rPr lang="en-US"/>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lstStyle>
          <a:p>
            <a:pPr>
              <a:defRPr/>
            </a:pPr>
            <a:fld id="{F549ACF2-A699-4C96-8233-0925DEF2DF3D}"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E76C7DDF-5D95-44A0-B986-76DC6EDE5C1D}" type="slidenum">
              <a:rPr lang="en-US" smtClean="0"/>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206CE3A3-F11B-49E3-BEE8-4D3225E99C0E}"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lnSpc>
                <a:spcPct val="90000"/>
              </a:lnSpc>
              <a:spcBef>
                <a:spcPct val="20000"/>
              </a:spcBef>
              <a:buFontTx/>
              <a:buChar char="•"/>
              <a:defRPr sz="1200">
                <a:solidFill>
                  <a:srgbClr val="898989"/>
                </a:solidFill>
                <a:latin typeface="Times New Roman" panose="02020603050405020304"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a:lnSpc>
                <a:spcPct val="90000"/>
              </a:lnSpc>
              <a:spcBef>
                <a:spcPct val="20000"/>
              </a:spcBef>
              <a:buFontTx/>
              <a:buChar char="•"/>
              <a:defRPr sz="1200">
                <a:solidFill>
                  <a:srgbClr val="898989"/>
                </a:solidFill>
                <a:latin typeface="Times New Roman" panose="02020603050405020304"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anose="02020603050405020304" pitchFamily="18" charset="0"/>
              </a:defRPr>
            </a:lvl1pPr>
          </a:lstStyle>
          <a:p>
            <a:pPr>
              <a:defRPr/>
            </a:pPr>
            <a:fld id="{ECCCE6BE-E0BD-4CB7-8472-8F9AEAEF8CA6}"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lstStyle>
          <a:p>
            <a:pPr>
              <a:defRPr/>
            </a:pPr>
            <a:fld id="{ECCCE6BE-E0BD-4CB7-8472-8F9AEAEF8CA6}"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panose="020B0604020202020204" pitchFamily="34" charset="0"/>
        </a:defRPr>
      </a:lvl2pPr>
      <a:lvl3pPr algn="l" rtl="0" eaLnBrk="1" fontAlgn="base" hangingPunct="1">
        <a:spcBef>
          <a:spcPct val="0"/>
        </a:spcBef>
        <a:spcAft>
          <a:spcPct val="0"/>
        </a:spcAft>
        <a:defRPr sz="4100" b="1">
          <a:solidFill>
            <a:schemeClr val="tx2"/>
          </a:solidFill>
          <a:latin typeface="Arial" panose="020B0604020202020204" pitchFamily="34" charset="0"/>
        </a:defRPr>
      </a:lvl3pPr>
      <a:lvl4pPr algn="l" rtl="0" eaLnBrk="1" fontAlgn="base" hangingPunct="1">
        <a:spcBef>
          <a:spcPct val="0"/>
        </a:spcBef>
        <a:spcAft>
          <a:spcPct val="0"/>
        </a:spcAft>
        <a:defRPr sz="4100" b="1">
          <a:solidFill>
            <a:schemeClr val="tx2"/>
          </a:solidFill>
          <a:latin typeface="Arial" panose="020B0604020202020204" pitchFamily="34" charset="0"/>
        </a:defRPr>
      </a:lvl4pPr>
      <a:lvl5pPr algn="l" rtl="0" eaLnBrk="1" fontAlgn="base" hangingPunct="1">
        <a:spcBef>
          <a:spcPct val="0"/>
        </a:spcBef>
        <a:spcAft>
          <a:spcPct val="0"/>
        </a:spcAft>
        <a:defRPr sz="4100" b="1">
          <a:solidFill>
            <a:schemeClr val="tx2"/>
          </a:solidFill>
          <a:latin typeface="Arial" panose="020B0604020202020204" pitchFamily="34" charset="0"/>
        </a:defRPr>
      </a:lvl5pPr>
      <a:lvl6pPr marL="457200" algn="l" rtl="0" eaLnBrk="1" fontAlgn="base" hangingPunct="1">
        <a:spcBef>
          <a:spcPct val="0"/>
        </a:spcBef>
        <a:spcAft>
          <a:spcPct val="0"/>
        </a:spcAft>
        <a:defRPr sz="4100" b="1">
          <a:solidFill>
            <a:schemeClr val="tx2"/>
          </a:solidFill>
          <a:latin typeface="Lucida Sans Unicode" panose="020B0602030504020204" pitchFamily="34" charset="0"/>
        </a:defRPr>
      </a:lvl6pPr>
      <a:lvl7pPr marL="914400" algn="l" rtl="0" eaLnBrk="1" fontAlgn="base" hangingPunct="1">
        <a:spcBef>
          <a:spcPct val="0"/>
        </a:spcBef>
        <a:spcAft>
          <a:spcPct val="0"/>
        </a:spcAft>
        <a:defRPr sz="4100" b="1">
          <a:solidFill>
            <a:schemeClr val="tx2"/>
          </a:solidFill>
          <a:latin typeface="Lucida Sans Unicode" panose="020B0602030504020204" pitchFamily="34" charset="0"/>
        </a:defRPr>
      </a:lvl7pPr>
      <a:lvl8pPr marL="1371600" algn="l" rtl="0" eaLnBrk="1" fontAlgn="base" hangingPunct="1">
        <a:spcBef>
          <a:spcPct val="0"/>
        </a:spcBef>
        <a:spcAft>
          <a:spcPct val="0"/>
        </a:spcAft>
        <a:defRPr sz="4100" b="1">
          <a:solidFill>
            <a:schemeClr val="tx2"/>
          </a:solidFill>
          <a:latin typeface="Lucida Sans Unicode" panose="020B0602030504020204" pitchFamily="34" charset="0"/>
        </a:defRPr>
      </a:lvl8pPr>
      <a:lvl9pPr marL="1828800" algn="l" rtl="0" eaLnBrk="1" fontAlgn="base" hangingPunct="1">
        <a:spcBef>
          <a:spcPct val="0"/>
        </a:spcBef>
        <a:spcAft>
          <a:spcPct val="0"/>
        </a:spcAft>
        <a:defRPr sz="4100" b="1">
          <a:solidFill>
            <a:schemeClr val="tx2"/>
          </a:solidFill>
          <a:latin typeface="Lucida Sans Unicode" panose="020B0602030504020204" pitchFamily="34" charset="0"/>
        </a:defRPr>
      </a:lvl9pPr>
    </p:titleStyle>
    <p:bodyStyle>
      <a:lvl1pPr marL="365125" indent="-255905"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1030"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9155"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anose="05020102010507070707"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0" y="914400"/>
            <a:ext cx="8839200" cy="1829761"/>
          </a:xfrm>
        </p:spPr>
        <p:txBody>
          <a:bodyPr>
            <a:noAutofit/>
          </a:bodyPr>
          <a:lstStyle/>
          <a:p>
            <a:pPr fontAlgn="auto">
              <a:spcAft>
                <a:spcPts val="0"/>
              </a:spcAft>
              <a:defRPr/>
            </a:pPr>
            <a:r>
              <a:rPr>
                <a:effectLst>
                  <a:outerShdw blurRad="38100" dist="38100" dir="2700000" algn="tl">
                    <a:srgbClr val="FFFFFF"/>
                  </a:outerShdw>
                </a:effectLst>
                <a:latin typeface="Arial Rounded MT Bold" panose="020F0704030504030204" pitchFamily="34" charset="0"/>
              </a:rPr>
              <a:t>Chapter 3:</a:t>
            </a:r>
            <a:br>
              <a:rPr>
                <a:effectLst>
                  <a:outerShdw blurRad="38100" dist="38100" dir="2700000" algn="tl">
                    <a:srgbClr val="FFFFFF"/>
                  </a:outerShdw>
                </a:effectLst>
                <a:latin typeface="Arial Rounded MT Bold" panose="020F0704030504030204" pitchFamily="34" charset="0"/>
              </a:rPr>
            </a:br>
            <a:r>
              <a:rPr sz="4400">
                <a:effectLst>
                  <a:outerShdw blurRad="38100" dist="38100" dir="2700000" algn="tl">
                    <a:srgbClr val="FFFFFF"/>
                  </a:outerShdw>
                </a:effectLst>
                <a:latin typeface="Arial Rounded MT Bold" panose="020F0704030504030204" pitchFamily="34" charset="0"/>
              </a:rPr>
              <a:t>The Project Management Process Groups: A Case Study</a:t>
            </a:r>
          </a:p>
        </p:txBody>
      </p:sp>
      <p:sp>
        <p:nvSpPr>
          <p:cNvPr id="5" name="Rectangle 3"/>
          <p:cNvSpPr>
            <a:spLocks noChangeArrowheads="1"/>
          </p:cNvSpPr>
          <p:nvPr/>
        </p:nvSpPr>
        <p:spPr bwMode="auto">
          <a:xfrm>
            <a:off x="152400" y="3657600"/>
            <a:ext cx="5791200" cy="1349375"/>
          </a:xfrm>
          <a:prstGeom prst="rect">
            <a:avLst/>
          </a:prstGeom>
          <a:noFill/>
          <a:ln w="9525">
            <a:noFill/>
            <a:miter lim="800000"/>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anose="020F0704030504030204" pitchFamily="34" charset="0"/>
                <a:ea typeface="+mj-ea"/>
                <a:cs typeface="+mj-cs"/>
              </a:rPr>
              <a:t>Information Technology Project Management, Seventh 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8" name="Picture 5" descr="Information Technology Project Mana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3"/>
          <p:cNvSpPr>
            <a:spLocks noGrp="1" noChangeArrowheads="1"/>
          </p:cNvSpPr>
          <p:nvPr>
            <p:ph idx="1"/>
          </p:nvPr>
        </p:nvSpPr>
        <p:spPr/>
        <p:txBody>
          <a:bodyPr/>
          <a:lstStyle/>
          <a:p>
            <a:r>
              <a:rPr lang="en-US" dirty="0"/>
              <a:t>Describe the five project management process groups, the typical level of activity for each, and the interactions among them</a:t>
            </a:r>
          </a:p>
          <a:p>
            <a:r>
              <a:rPr lang="en-US" dirty="0"/>
              <a:t>Understand how the project management process groups relate to the project management knowledge areas</a:t>
            </a:r>
          </a:p>
          <a:p>
            <a:r>
              <a:rPr lang="en-US" dirty="0"/>
              <a:t>Discuss how organizations develop information technology (IT) project management methodologies to meet their needs</a:t>
            </a:r>
          </a:p>
        </p:txBody>
      </p:sp>
      <p:sp>
        <p:nvSpPr>
          <p:cNvPr id="9220" name="Rectangle 2"/>
          <p:cNvSpPr>
            <a:spLocks noGrp="1" noChangeArrowheads="1"/>
          </p:cNvSpPr>
          <p:nvPr>
            <p:ph type="title"/>
          </p:nvPr>
        </p:nvSpPr>
        <p:spPr/>
        <p:txBody>
          <a:bodyPr/>
          <a:lstStyle/>
          <a:p>
            <a:r>
              <a:rPr lang="en-US" dirty="0"/>
              <a:t>Learning Objectives</a:t>
            </a:r>
          </a:p>
        </p:txBody>
      </p:sp>
      <p:sp>
        <p:nvSpPr>
          <p:cNvPr id="5" name="Slide Number Placeholder 4"/>
          <p:cNvSpPr>
            <a:spLocks noGrp="1"/>
          </p:cNvSpPr>
          <p:nvPr>
            <p:ph type="sldNum" sz="quarter" idx="11"/>
          </p:nvPr>
        </p:nvSpPr>
        <p:spPr/>
        <p:txBody>
          <a:bodyPr/>
          <a:lstStyle/>
          <a:p>
            <a:pPr>
              <a:defRPr/>
            </a:pPr>
            <a:fld id="{A1CB9F3C-4C76-46FA-AA52-CDC355C9ADCF}" type="slidenum">
              <a:rPr lang="en-US"/>
              <a:t>2</a:t>
            </a:fld>
            <a:endParaRPr lang="en-US" dirty="0"/>
          </a:p>
        </p:txBody>
      </p:sp>
      <p:sp>
        <p:nvSpPr>
          <p:cNvPr id="6" name="Footer Placeholder 3"/>
          <p:cNvSpPr txBox="1"/>
          <p:nvPr/>
        </p:nvSpPr>
        <p:spPr bwMode="auto">
          <a:xfrm>
            <a:off x="0" y="6492875"/>
            <a:ext cx="2362200" cy="365125"/>
          </a:xfrm>
          <a:prstGeom prst="rect">
            <a:avLst/>
          </a:prstGeom>
          <a:noFill/>
          <a:ln>
            <a:miter lim="800000"/>
          </a:ln>
        </p:spPr>
        <p:txBody>
          <a:bodyPr vert="horz" anchor="b"/>
          <a:lstStyle/>
          <a:p>
            <a:pPr marL="0" marR="0" lvl="0" indent="0"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Information Technology Project Management, Sixth Edition</a:t>
            </a:r>
          </a:p>
        </p:txBody>
      </p:sp>
      <p:sp>
        <p:nvSpPr>
          <p:cNvPr id="2" name="Footer Placeholder 1"/>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3"/>
          <p:cNvSpPr>
            <a:spLocks noGrp="1" noChangeArrowheads="1"/>
          </p:cNvSpPr>
          <p:nvPr>
            <p:ph idx="1"/>
          </p:nvPr>
        </p:nvSpPr>
        <p:spPr>
          <a:xfrm>
            <a:off x="457200" y="1481138"/>
            <a:ext cx="8305800" cy="4525962"/>
          </a:xfrm>
        </p:spPr>
        <p:txBody>
          <a:bodyPr/>
          <a:lstStyle/>
          <a:p>
            <a:r>
              <a:rPr lang="en-US" sz="2400" dirty="0"/>
              <a:t>Review a case study of an organization applying the project management process groups to manage an IT project, describe outputs of each process group, and understand the contribution that effective initiating, planning, executing, monitoring and controlling, and closing make to project success</a:t>
            </a:r>
          </a:p>
          <a:p>
            <a:r>
              <a:rPr lang="en-US" sz="2400" dirty="0"/>
              <a:t>Review the same case study of a project managed with an agile focus to illustrate the key differences in approaches</a:t>
            </a:r>
          </a:p>
          <a:p>
            <a:r>
              <a:rPr lang="en-US" sz="2400" dirty="0"/>
              <a:t>Describe several templates for creating documents for each process group</a:t>
            </a:r>
          </a:p>
        </p:txBody>
      </p:sp>
      <p:sp>
        <p:nvSpPr>
          <p:cNvPr id="10244" name="Rectangle 2"/>
          <p:cNvSpPr>
            <a:spLocks noGrp="1" noChangeArrowheads="1"/>
          </p:cNvSpPr>
          <p:nvPr>
            <p:ph type="title"/>
          </p:nvPr>
        </p:nvSpPr>
        <p:spPr/>
        <p:txBody>
          <a:bodyPr/>
          <a:lstStyle/>
          <a:p>
            <a:r>
              <a:rPr lang="en-US" dirty="0"/>
              <a:t>Learning Objectives</a:t>
            </a:r>
          </a:p>
        </p:txBody>
      </p:sp>
      <p:sp>
        <p:nvSpPr>
          <p:cNvPr id="5" name="Slide Number Placeholder 4"/>
          <p:cNvSpPr>
            <a:spLocks noGrp="1"/>
          </p:cNvSpPr>
          <p:nvPr>
            <p:ph type="sldNum" sz="quarter" idx="11"/>
          </p:nvPr>
        </p:nvSpPr>
        <p:spPr/>
        <p:txBody>
          <a:bodyPr/>
          <a:lstStyle/>
          <a:p>
            <a:pPr>
              <a:defRPr/>
            </a:pPr>
            <a:fld id="{27E8D461-408F-473A-9A18-2FDB84ADBF56}" type="slidenum">
              <a:rPr lang="en-US"/>
              <a:t>3</a:t>
            </a:fld>
            <a:endParaRPr lang="en-US" dirty="0"/>
          </a:p>
        </p:txBody>
      </p:sp>
      <p:sp>
        <p:nvSpPr>
          <p:cNvPr id="6" name="Footer Placeholder 4"/>
          <p:cNvSpPr>
            <a:spLocks noGrp="1"/>
          </p:cNvSpPr>
          <p:nvPr>
            <p:ph type="ftr" sz="quarter" idx="10"/>
          </p:nvPr>
        </p:nvSpPr>
        <p:spPr bwMode="auto">
          <a:xfrm>
            <a:off x="0" y="6492875"/>
            <a:ext cx="2590800" cy="365125"/>
          </a:xfrm>
          <a:noFill/>
          <a:ln>
            <a:miter lim="800000"/>
          </a:ln>
        </p:spPr>
        <p:txBody>
          <a:bodyPr vert="horz" wrap="square" lIns="91440" tIns="45720" rIns="91440" bIns="45720" numCol="1" compatLnSpc="1"/>
          <a:lstStyle/>
          <a:p>
            <a:r>
              <a:rPr lang="en-US"/>
              <a:t>Information Technology Project Management, Seventh Edition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idx="1"/>
          </p:nvPr>
        </p:nvSpPr>
        <p:spPr/>
        <p:txBody>
          <a:bodyPr/>
          <a:lstStyle/>
          <a:p>
            <a:pPr>
              <a:lnSpc>
                <a:spcPct val="90000"/>
              </a:lnSpc>
            </a:pPr>
            <a:r>
              <a:rPr lang="en-US" dirty="0"/>
              <a:t>A </a:t>
            </a:r>
            <a:r>
              <a:rPr lang="en-US" b="1" dirty="0"/>
              <a:t>process</a:t>
            </a:r>
            <a:r>
              <a:rPr lang="en-US" dirty="0"/>
              <a:t> is a series of actions directed toward a particular result</a:t>
            </a:r>
          </a:p>
          <a:p>
            <a:pPr>
              <a:lnSpc>
                <a:spcPct val="90000"/>
              </a:lnSpc>
            </a:pPr>
            <a:r>
              <a:rPr lang="en-US" dirty="0"/>
              <a:t>Project management can be viewed as a number of interlinked processes</a:t>
            </a:r>
          </a:p>
          <a:p>
            <a:pPr>
              <a:lnSpc>
                <a:spcPct val="90000"/>
              </a:lnSpc>
            </a:pPr>
            <a:r>
              <a:rPr lang="en-US" dirty="0"/>
              <a:t>The project management process groups include</a:t>
            </a:r>
          </a:p>
          <a:p>
            <a:pPr lvl="1">
              <a:lnSpc>
                <a:spcPct val="90000"/>
              </a:lnSpc>
            </a:pPr>
            <a:r>
              <a:rPr lang="en-US" dirty="0"/>
              <a:t>initiating processes</a:t>
            </a:r>
          </a:p>
          <a:p>
            <a:pPr lvl="1">
              <a:lnSpc>
                <a:spcPct val="90000"/>
              </a:lnSpc>
            </a:pPr>
            <a:r>
              <a:rPr lang="en-US" dirty="0"/>
              <a:t>planning processes</a:t>
            </a:r>
          </a:p>
          <a:p>
            <a:pPr lvl="1">
              <a:lnSpc>
                <a:spcPct val="90000"/>
              </a:lnSpc>
            </a:pPr>
            <a:r>
              <a:rPr lang="en-US" dirty="0"/>
              <a:t>executing processes</a:t>
            </a:r>
          </a:p>
          <a:p>
            <a:pPr lvl="1">
              <a:lnSpc>
                <a:spcPct val="90000"/>
              </a:lnSpc>
            </a:pPr>
            <a:r>
              <a:rPr lang="en-US" dirty="0"/>
              <a:t>monitoring and controlling processes</a:t>
            </a:r>
          </a:p>
          <a:p>
            <a:pPr lvl="1">
              <a:lnSpc>
                <a:spcPct val="90000"/>
              </a:lnSpc>
            </a:pPr>
            <a:r>
              <a:rPr lang="en-US" dirty="0"/>
              <a:t>closing processes</a:t>
            </a:r>
          </a:p>
        </p:txBody>
      </p:sp>
      <p:sp>
        <p:nvSpPr>
          <p:cNvPr id="11268" name="Rectangle 2"/>
          <p:cNvSpPr>
            <a:spLocks noGrp="1" noChangeArrowheads="1"/>
          </p:cNvSpPr>
          <p:nvPr>
            <p:ph type="title"/>
          </p:nvPr>
        </p:nvSpPr>
        <p:spPr/>
        <p:txBody>
          <a:bodyPr>
            <a:normAutofit fontScale="90000"/>
          </a:bodyPr>
          <a:lstStyle/>
          <a:p>
            <a:r>
              <a:rPr lang="en-US" dirty="0"/>
              <a:t>Project Management Process Groups</a:t>
            </a:r>
          </a:p>
        </p:txBody>
      </p:sp>
      <p:sp>
        <p:nvSpPr>
          <p:cNvPr id="5" name="Slide Number Placeholder 4"/>
          <p:cNvSpPr>
            <a:spLocks noGrp="1"/>
          </p:cNvSpPr>
          <p:nvPr>
            <p:ph type="sldNum" sz="quarter" idx="11"/>
          </p:nvPr>
        </p:nvSpPr>
        <p:spPr/>
        <p:txBody>
          <a:bodyPr/>
          <a:lstStyle/>
          <a:p>
            <a:pPr>
              <a:defRPr/>
            </a:pPr>
            <a:fld id="{F8AED908-43D9-4212-A793-D8372221D34A}" type="slidenum">
              <a:rPr lang="en-US"/>
              <a:t>4</a:t>
            </a:fld>
            <a:endParaRPr lang="en-US" dirty="0"/>
          </a:p>
        </p:txBody>
      </p:sp>
      <p:sp>
        <p:nvSpPr>
          <p:cNvPr id="6" name="Footer Placeholder 4"/>
          <p:cNvSpPr>
            <a:spLocks noGrp="1"/>
          </p:cNvSpPr>
          <p:nvPr>
            <p:ph type="ftr" sz="quarter" idx="10"/>
          </p:nvPr>
        </p:nvSpPr>
        <p:spPr bwMode="auto">
          <a:xfrm>
            <a:off x="0" y="6492875"/>
            <a:ext cx="2590800" cy="365125"/>
          </a:xfrm>
          <a:noFill/>
          <a:ln>
            <a:miter lim="800000"/>
          </a:ln>
        </p:spPr>
        <p:txBody>
          <a:bodyPr vert="horz" wrap="square" lIns="91440" tIns="45720" rIns="91440" bIns="45720" numCol="1" compatLnSpc="1"/>
          <a:lstStyle/>
          <a:p>
            <a:r>
              <a:rPr lang="en-US"/>
              <a:t>Information Technology Project Management, Seventh Edition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Figure 3-1. Percentage of Time Spent on Each Process Group</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5</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5278" b="14198"/>
          <a:stretch>
            <a:fillRect/>
          </a:stretch>
        </p:blipFill>
        <p:spPr>
          <a:xfrm>
            <a:off x="686606" y="1900317"/>
            <a:ext cx="7770786" cy="3733800"/>
          </a:xfrm>
          <a:prstGeom prst="rect">
            <a:avLst/>
          </a:prstGeom>
        </p:spPr>
      </p:pic>
      <p:pic>
        <p:nvPicPr>
          <p:cNvPr id="7" name="图片 6"/>
          <p:cNvPicPr>
            <a:picLocks noChangeAspect="1"/>
          </p:cNvPicPr>
          <p:nvPr/>
        </p:nvPicPr>
        <p:blipFill rotWithShape="1">
          <a:blip r:embed="rId3"/>
          <a:srcRect r="430" b="-10137"/>
          <a:stretch>
            <a:fillRect/>
          </a:stretch>
        </p:blipFill>
        <p:spPr>
          <a:xfrm>
            <a:off x="1816893" y="1543637"/>
            <a:ext cx="5510213" cy="356680"/>
          </a:xfrm>
          <a:prstGeom prst="rect">
            <a:avLst/>
          </a:prstGeom>
        </p:spPr>
      </p:pic>
      <p:sp>
        <p:nvSpPr>
          <p:cNvPr id="8" name="文本框 7"/>
          <p:cNvSpPr txBox="1"/>
          <p:nvPr/>
        </p:nvSpPr>
        <p:spPr>
          <a:xfrm>
            <a:off x="1350794" y="5694164"/>
            <a:ext cx="6878806" cy="369332"/>
          </a:xfrm>
          <a:prstGeom prst="rect">
            <a:avLst/>
          </a:prstGeom>
          <a:noFill/>
        </p:spPr>
        <p:txBody>
          <a:bodyPr wrap="none" rtlCol="0">
            <a:spAutoFit/>
          </a:bodyPr>
          <a:lstStyle/>
          <a:p>
            <a:pPr algn="ctr"/>
            <a:r>
              <a:rPr lang="zh-CN" altLang="en-US" sz="1800" dirty="0"/>
              <a:t>研究表明，公司的最佳实践是启动和计划过程至少花费</a:t>
            </a:r>
            <a:r>
              <a:rPr lang="en-US" altLang="zh-CN" sz="1800" dirty="0"/>
              <a:t>20%</a:t>
            </a:r>
            <a:r>
              <a:rPr lang="zh-CN" altLang="en-US" sz="1800" dirty="0"/>
              <a:t>的时间</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15"/>
          <p:cNvSpPr>
            <a:spLocks noGrp="1"/>
          </p:cNvSpPr>
          <p:nvPr>
            <p:ph idx="1"/>
          </p:nvPr>
        </p:nvSpPr>
        <p:spPr>
          <a:xfrm>
            <a:off x="228600" y="838200"/>
            <a:ext cx="8686800" cy="4525962"/>
          </a:xfrm>
        </p:spPr>
        <p:txBody>
          <a:bodyPr/>
          <a:lstStyle/>
          <a:p>
            <a:r>
              <a:rPr lang="en-US" sz="2400" dirty="0"/>
              <a:t>Philip A. Pell, PMP, commented on how the U.S. IRS needed to improve its project management process. “Pure and simple, good, methodology-centric, predictable, and repeatable project management is the SINGLE greatest factor in the success (or in this case failure) of any project… The project manager is ultimately responsible for the success or failure of the project.”*</a:t>
            </a:r>
          </a:p>
          <a:p>
            <a:r>
              <a:rPr lang="en-US" sz="2400" dirty="0"/>
              <a:t>A 2008 U.S. Government Accountability Office (GAO) report stated that IRS had fixed just 29 of 98 information security weaknesses identified the previous year</a:t>
            </a:r>
          </a:p>
          <a:p>
            <a:endParaRPr lang="en-US" sz="2400" dirty="0"/>
          </a:p>
          <a:p>
            <a:endParaRPr lang="en-US" dirty="0"/>
          </a:p>
        </p:txBody>
      </p:sp>
      <p:sp>
        <p:nvSpPr>
          <p:cNvPr id="13314" name="Rectangle 4"/>
          <p:cNvSpPr>
            <a:spLocks noGrp="1" noChangeArrowheads="1"/>
          </p:cNvSpPr>
          <p:nvPr>
            <p:ph type="title"/>
          </p:nvPr>
        </p:nvSpPr>
        <p:spPr>
          <a:xfrm>
            <a:off x="381000" y="0"/>
            <a:ext cx="8229600" cy="1143000"/>
          </a:xfrm>
        </p:spPr>
        <p:txBody>
          <a:bodyPr/>
          <a:lstStyle/>
          <a:p>
            <a:r>
              <a:rPr lang="en-US" dirty="0"/>
              <a:t>What Went Wrong?</a:t>
            </a:r>
          </a:p>
        </p:txBody>
      </p:sp>
      <p:sp>
        <p:nvSpPr>
          <p:cNvPr id="13" name="Slide Number Placeholder 12"/>
          <p:cNvSpPr>
            <a:spLocks noGrp="1"/>
          </p:cNvSpPr>
          <p:nvPr>
            <p:ph type="sldNum" sz="quarter" idx="11"/>
          </p:nvPr>
        </p:nvSpPr>
        <p:spPr/>
        <p:txBody>
          <a:bodyPr/>
          <a:lstStyle/>
          <a:p>
            <a:pPr>
              <a:defRPr/>
            </a:pPr>
            <a:fld id="{4A766D53-CC03-419B-A0EC-05B67B781B3F}" type="slidenum">
              <a:rPr lang="en-US" smtClean="0"/>
              <a:t>6</a:t>
            </a:fld>
            <a:endParaRPr lang="en-US" dirty="0"/>
          </a:p>
        </p:txBody>
      </p:sp>
      <p:sp>
        <p:nvSpPr>
          <p:cNvPr id="13318" name="Text Box 6"/>
          <p:cNvSpPr txBox="1">
            <a:spLocks noChangeArrowheads="1"/>
          </p:cNvSpPr>
          <p:nvPr/>
        </p:nvSpPr>
        <p:spPr bwMode="auto">
          <a:xfrm>
            <a:off x="609600" y="5410200"/>
            <a:ext cx="8382000" cy="646113"/>
          </a:xfrm>
          <a:prstGeom prst="rect">
            <a:avLst/>
          </a:prstGeom>
          <a:noFill/>
          <a:ln w="9525">
            <a:noFill/>
            <a:miter lim="800000"/>
          </a:ln>
        </p:spPr>
        <p:txBody>
          <a:bodyPr>
            <a:spAutoFit/>
          </a:bodyPr>
          <a:lstStyle/>
          <a:p>
            <a:r>
              <a:rPr lang="en-US" sz="1800" dirty="0"/>
              <a:t>*Comments posted on CIO Magazine Web site on article “For the  IRS, There’s No EZ Fix,” (April 1, 2004).</a:t>
            </a:r>
          </a:p>
        </p:txBody>
      </p:sp>
      <p:sp>
        <p:nvSpPr>
          <p:cNvPr id="8" name="Footer Placeholder 4"/>
          <p:cNvSpPr>
            <a:spLocks noGrp="1"/>
          </p:cNvSpPr>
          <p:nvPr>
            <p:ph type="ftr" sz="quarter" idx="10"/>
          </p:nvPr>
        </p:nvSpPr>
        <p:spPr bwMode="auto">
          <a:xfrm>
            <a:off x="0" y="6492875"/>
            <a:ext cx="2590800" cy="365125"/>
          </a:xfrm>
          <a:noFill/>
          <a:ln>
            <a:miter lim="800000"/>
          </a:ln>
        </p:spPr>
        <p:txBody>
          <a:bodyPr vert="horz" wrap="square" lIns="91440" tIns="45720" rIns="91440" bIns="45720" numCol="1" compatLnSpc="1"/>
          <a:lstStyle/>
          <a:p>
            <a:r>
              <a:rPr lang="en-US"/>
              <a:t>Information Technology Project Management, Seventh Edition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3"/>
          <p:cNvSpPr>
            <a:spLocks noGrp="1" noChangeArrowheads="1"/>
          </p:cNvSpPr>
          <p:nvPr>
            <p:ph idx="1"/>
          </p:nvPr>
        </p:nvSpPr>
        <p:spPr>
          <a:xfrm>
            <a:off x="0" y="1295400"/>
            <a:ext cx="8839200" cy="4572000"/>
          </a:xfrm>
        </p:spPr>
        <p:txBody>
          <a:bodyPr/>
          <a:lstStyle/>
          <a:p>
            <a:pPr>
              <a:lnSpc>
                <a:spcPct val="80000"/>
              </a:lnSpc>
              <a:buFontTx/>
              <a:buNone/>
            </a:pPr>
            <a:r>
              <a:rPr lang="en-US" dirty="0"/>
              <a:t>   </a:t>
            </a:r>
            <a:r>
              <a:rPr lang="en-US" sz="2400" dirty="0"/>
              <a:t>Just as information technology projects need to follow the project management process groups, so do other projects, such as the production of a movie. Processes involved in making movies might include screenwriting (initiating), producing (planning), acting and directing (executing), editing (monitoring and controlling), and releasing the movie to theaters (closing). Many people enjoy watching the extra features on a DVD that describe how these processes lead to the creation of a movie… This acted “…not as promotional filler but as a serious and meticulously detailed examination of the entire filmmaking process.”*  Project managers in any field know how important it is to follow a good process. </a:t>
            </a:r>
          </a:p>
          <a:p>
            <a:pPr>
              <a:lnSpc>
                <a:spcPct val="80000"/>
              </a:lnSpc>
              <a:buFontTx/>
              <a:buNone/>
            </a:pPr>
            <a:endParaRPr lang="en-US" sz="2400" dirty="0"/>
          </a:p>
          <a:p>
            <a:pPr>
              <a:lnSpc>
                <a:spcPct val="80000"/>
              </a:lnSpc>
              <a:buFontTx/>
              <a:buNone/>
            </a:pPr>
            <a:r>
              <a:rPr lang="en-US" sz="1800" dirty="0"/>
              <a:t>     *Jacks, Brian, “Lord of the Rings: The Two Towers Extended Edition (New Line)”, Underground Online (accessed from </a:t>
            </a:r>
            <a:r>
              <a:rPr lang="en-US" sz="1800" i="1" dirty="0"/>
              <a:t>www.ugo.com</a:t>
            </a:r>
            <a:r>
              <a:rPr lang="en-US" sz="1800" dirty="0"/>
              <a:t> August 4, </a:t>
            </a:r>
            <a:r>
              <a:rPr lang="en-US" sz="2000" dirty="0"/>
              <a:t>2004).</a:t>
            </a:r>
          </a:p>
        </p:txBody>
      </p:sp>
      <p:sp>
        <p:nvSpPr>
          <p:cNvPr id="14340" name="Rectangle 2"/>
          <p:cNvSpPr>
            <a:spLocks noGrp="1" noChangeArrowheads="1"/>
          </p:cNvSpPr>
          <p:nvPr>
            <p:ph type="title"/>
          </p:nvPr>
        </p:nvSpPr>
        <p:spPr/>
        <p:txBody>
          <a:bodyPr/>
          <a:lstStyle/>
          <a:p>
            <a:r>
              <a:rPr lang="en-US" dirty="0"/>
              <a:t>Media Snapshot</a:t>
            </a:r>
          </a:p>
        </p:txBody>
      </p:sp>
      <p:sp>
        <p:nvSpPr>
          <p:cNvPr id="5" name="Slide Number Placeholder 4"/>
          <p:cNvSpPr>
            <a:spLocks noGrp="1"/>
          </p:cNvSpPr>
          <p:nvPr>
            <p:ph type="sldNum" sz="quarter" idx="11"/>
          </p:nvPr>
        </p:nvSpPr>
        <p:spPr/>
        <p:txBody>
          <a:bodyPr/>
          <a:lstStyle/>
          <a:p>
            <a:pPr>
              <a:defRPr/>
            </a:pPr>
            <a:fld id="{2C5F0321-B54D-45FC-949C-582AFB56185A}" type="slidenum">
              <a:rPr lang="en-US"/>
              <a:t>7</a:t>
            </a:fld>
            <a:endParaRPr lang="en-US" dirty="0"/>
          </a:p>
        </p:txBody>
      </p:sp>
      <p:sp>
        <p:nvSpPr>
          <p:cNvPr id="6" name="Footer Placeholder 4"/>
          <p:cNvSpPr>
            <a:spLocks noGrp="1"/>
          </p:cNvSpPr>
          <p:nvPr>
            <p:ph type="ftr" sz="quarter" idx="10"/>
          </p:nvPr>
        </p:nvSpPr>
        <p:spPr bwMode="auto">
          <a:xfrm>
            <a:off x="0" y="6492875"/>
            <a:ext cx="2590800" cy="365125"/>
          </a:xfrm>
          <a:noFill/>
          <a:ln>
            <a:miter lim="800000"/>
          </a:ln>
        </p:spPr>
        <p:txBody>
          <a:bodyPr vert="horz" wrap="square" lIns="91440" tIns="45720" rIns="91440" bIns="45720" numCol="1" compatLnSpc="1"/>
          <a:lstStyle/>
          <a:p>
            <a:r>
              <a:rPr lang="en-US"/>
              <a:t>Information Technology Project Management, Seventh Edition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3"/>
          <p:cNvSpPr>
            <a:spLocks noGrp="1" noChangeArrowheads="1"/>
          </p:cNvSpPr>
          <p:nvPr>
            <p:ph idx="1"/>
          </p:nvPr>
        </p:nvSpPr>
        <p:spPr/>
        <p:txBody>
          <a:bodyPr/>
          <a:lstStyle/>
          <a:p>
            <a:r>
              <a:rPr lang="en-US" dirty="0"/>
              <a:t>You can map the main activities of each PM process group into the ten knowledge areas using the PMBOK</a:t>
            </a:r>
            <a:r>
              <a:rPr lang="en-US" dirty="0">
                <a:cs typeface="Times New Roman" panose="02020603050405020304" pitchFamily="18" charset="0"/>
              </a:rPr>
              <a:t>® Guide, Fifth Edition, 2012</a:t>
            </a:r>
          </a:p>
          <a:p>
            <a:r>
              <a:rPr lang="en-US" dirty="0"/>
              <a:t>Note that there are activities from </a:t>
            </a:r>
            <a:r>
              <a:rPr lang="en-US" u="sng" dirty="0"/>
              <a:t>each</a:t>
            </a:r>
            <a:r>
              <a:rPr lang="en-US" dirty="0"/>
              <a:t> knowledge area under the planning process groups</a:t>
            </a:r>
          </a:p>
        </p:txBody>
      </p:sp>
      <p:sp>
        <p:nvSpPr>
          <p:cNvPr id="15364" name="Rectangle 2"/>
          <p:cNvSpPr>
            <a:spLocks noGrp="1" noChangeArrowheads="1"/>
          </p:cNvSpPr>
          <p:nvPr>
            <p:ph type="title"/>
          </p:nvPr>
        </p:nvSpPr>
        <p:spPr/>
        <p:txBody>
          <a:bodyPr>
            <a:normAutofit fontScale="90000"/>
          </a:bodyPr>
          <a:lstStyle/>
          <a:p>
            <a:r>
              <a:rPr lang="en-US" dirty="0"/>
              <a:t>Mapping the Process Groups to the Knowledge Areas</a:t>
            </a:r>
          </a:p>
        </p:txBody>
      </p:sp>
      <p:sp>
        <p:nvSpPr>
          <p:cNvPr id="5" name="Slide Number Placeholder 4"/>
          <p:cNvSpPr>
            <a:spLocks noGrp="1"/>
          </p:cNvSpPr>
          <p:nvPr>
            <p:ph type="sldNum" sz="quarter" idx="11"/>
          </p:nvPr>
        </p:nvSpPr>
        <p:spPr/>
        <p:txBody>
          <a:bodyPr/>
          <a:lstStyle/>
          <a:p>
            <a:pPr>
              <a:defRPr/>
            </a:pPr>
            <a:fld id="{72CF1CC0-22B0-4822-B97E-4BD2FC87C9B0}" type="slidenum">
              <a:rPr lang="en-US"/>
              <a:t>8</a:t>
            </a:fld>
            <a:endParaRPr lang="en-US" dirty="0"/>
          </a:p>
        </p:txBody>
      </p:sp>
      <p:sp>
        <p:nvSpPr>
          <p:cNvPr id="6" name="Footer Placeholder 4"/>
          <p:cNvSpPr>
            <a:spLocks noGrp="1"/>
          </p:cNvSpPr>
          <p:nvPr>
            <p:ph type="ftr" sz="quarter" idx="10"/>
          </p:nvPr>
        </p:nvSpPr>
        <p:spPr bwMode="auto">
          <a:xfrm>
            <a:off x="0" y="6492875"/>
            <a:ext cx="2590800" cy="365125"/>
          </a:xfrm>
          <a:noFill/>
          <a:ln>
            <a:miter lim="800000"/>
          </a:ln>
        </p:spPr>
        <p:txBody>
          <a:bodyPr vert="horz" wrap="square" lIns="91440" tIns="45720" rIns="91440" bIns="45720" numCol="1" compatLnSpc="1"/>
          <a:lstStyle/>
          <a:p>
            <a:r>
              <a:rPr lang="en-US"/>
              <a:t>Information Technology Project Management, Seventh Edition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228600" y="0"/>
            <a:ext cx="8610600" cy="1143000"/>
          </a:xfrm>
        </p:spPr>
        <p:txBody>
          <a:bodyPr>
            <a:normAutofit/>
          </a:bodyPr>
          <a:lstStyle/>
          <a:p>
            <a:r>
              <a:rPr lang="en-US" sz="3200" dirty="0"/>
              <a:t>Table 3-1. Project Management Process Groups and Knowledge Area Mapping*</a:t>
            </a:r>
          </a:p>
        </p:txBody>
      </p:sp>
      <p:sp>
        <p:nvSpPr>
          <p:cNvPr id="7" name="Slide Number Placeholder 6"/>
          <p:cNvSpPr>
            <a:spLocks noGrp="1"/>
          </p:cNvSpPr>
          <p:nvPr>
            <p:ph type="sldNum" sz="quarter" idx="11"/>
          </p:nvPr>
        </p:nvSpPr>
        <p:spPr/>
        <p:txBody>
          <a:bodyPr/>
          <a:lstStyle/>
          <a:p>
            <a:pPr>
              <a:defRPr/>
            </a:pPr>
            <a:fld id="{C796DE11-80E7-4489-BDD7-4B19D01BE34D}" type="slidenum">
              <a:rPr lang="en-US" smtClean="0"/>
              <a:t>9</a:t>
            </a:fld>
            <a:endParaRPr lang="en-US" dirty="0"/>
          </a:p>
        </p:txBody>
      </p:sp>
      <p:sp>
        <p:nvSpPr>
          <p:cNvPr id="16388" name="Rectangle 8"/>
          <p:cNvSpPr>
            <a:spLocks noChangeArrowheads="1"/>
          </p:cNvSpPr>
          <p:nvPr/>
        </p:nvSpPr>
        <p:spPr bwMode="auto">
          <a:xfrm>
            <a:off x="6629400" y="3733800"/>
            <a:ext cx="533400" cy="152400"/>
          </a:xfrm>
          <a:prstGeom prst="rect">
            <a:avLst/>
          </a:prstGeom>
          <a:solidFill>
            <a:schemeClr val="bg1"/>
          </a:solidFill>
          <a:ln w="9525">
            <a:solidFill>
              <a:schemeClr val="bg1"/>
            </a:solidFill>
            <a:miter lim="800000"/>
          </a:ln>
        </p:spPr>
        <p:txBody>
          <a:bodyPr wrap="none" anchor="ctr"/>
          <a:lstStyle/>
          <a:p>
            <a:endParaRPr lang="en-US" dirty="0"/>
          </a:p>
        </p:txBody>
      </p:sp>
      <p:sp>
        <p:nvSpPr>
          <p:cNvPr id="9" name="Footer Placeholder 4"/>
          <p:cNvSpPr>
            <a:spLocks noGrp="1"/>
          </p:cNvSpPr>
          <p:nvPr>
            <p:ph type="ftr" sz="quarter" idx="10"/>
          </p:nvPr>
        </p:nvSpPr>
        <p:spPr bwMode="auto">
          <a:noFill/>
          <a:ln>
            <a:miter lim="800000"/>
          </a:ln>
        </p:spPr>
        <p:txBody>
          <a:bodyPr vert="horz" wrap="square" lIns="91440" tIns="45720" rIns="91440" bIns="45720" numCol="1" compatLnSpc="1"/>
          <a:lstStyle/>
          <a:p>
            <a:r>
              <a:rPr lang="en-US"/>
              <a:t>Information Technology Project Management, Seventh Edition</a:t>
            </a:r>
            <a:endParaRPr lang="en-US" dirty="0"/>
          </a:p>
        </p:txBody>
      </p:sp>
      <p:sp>
        <p:nvSpPr>
          <p:cNvPr id="11" name="TextBox 10"/>
          <p:cNvSpPr txBox="1"/>
          <p:nvPr/>
        </p:nvSpPr>
        <p:spPr>
          <a:xfrm>
            <a:off x="2895600" y="6088559"/>
            <a:ext cx="5915402" cy="769441"/>
          </a:xfrm>
          <a:prstGeom prst="rect">
            <a:avLst/>
          </a:prstGeom>
          <a:noFill/>
        </p:spPr>
        <p:txBody>
          <a:bodyPr wrap="none" rtlCol="0">
            <a:spAutoFit/>
          </a:bodyPr>
          <a:lstStyle/>
          <a:p>
            <a:r>
              <a:rPr lang="en-US" dirty="0"/>
              <a:t>*Source: PMBOK® Guide, Fifth Edition, 2012.</a:t>
            </a:r>
          </a:p>
          <a:p>
            <a:endParaRPr lang="en-US" dirty="0"/>
          </a:p>
        </p:txBody>
      </p:sp>
      <p:pic>
        <p:nvPicPr>
          <p:cNvPr id="4" name="图片 3"/>
          <p:cNvPicPr>
            <a:picLocks noChangeAspect="1"/>
          </p:cNvPicPr>
          <p:nvPr/>
        </p:nvPicPr>
        <p:blipFill>
          <a:blip r:embed="rId2"/>
          <a:stretch>
            <a:fillRect/>
          </a:stretch>
        </p:blipFill>
        <p:spPr>
          <a:xfrm>
            <a:off x="1238553" y="1155192"/>
            <a:ext cx="6666894" cy="47577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563562"/>
          </a:xfrm>
        </p:spPr>
        <p:txBody>
          <a:bodyPr>
            <a:noAutofit/>
          </a:bodyPr>
          <a:lstStyle/>
          <a:p>
            <a:r>
              <a:rPr lang="en-US" sz="4000" dirty="0"/>
              <a:t>Table 3-1. continued</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10</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pic>
        <p:nvPicPr>
          <p:cNvPr id="7" name="图片 6"/>
          <p:cNvPicPr>
            <a:picLocks noChangeAspect="1"/>
          </p:cNvPicPr>
          <p:nvPr/>
        </p:nvPicPr>
        <p:blipFill>
          <a:blip r:embed="rId2"/>
          <a:stretch>
            <a:fillRect/>
          </a:stretch>
        </p:blipFill>
        <p:spPr>
          <a:xfrm>
            <a:off x="1822846" y="534279"/>
            <a:ext cx="5498307" cy="57894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3"/>
          <p:cNvSpPr>
            <a:spLocks noGrp="1" noChangeArrowheads="1"/>
          </p:cNvSpPr>
          <p:nvPr>
            <p:ph idx="1"/>
          </p:nvPr>
        </p:nvSpPr>
        <p:spPr/>
        <p:txBody>
          <a:bodyPr/>
          <a:lstStyle/>
          <a:p>
            <a:pPr>
              <a:lnSpc>
                <a:spcPct val="90000"/>
              </a:lnSpc>
            </a:pPr>
            <a:r>
              <a:rPr lang="en-US" dirty="0"/>
              <a:t>Just as projects are unique, so are approaches to project management</a:t>
            </a:r>
          </a:p>
          <a:p>
            <a:pPr>
              <a:lnSpc>
                <a:spcPct val="90000"/>
              </a:lnSpc>
            </a:pPr>
            <a:r>
              <a:rPr lang="en-US" dirty="0"/>
              <a:t>Many organizations develop their own project management methodologies, especially for IT projects</a:t>
            </a:r>
          </a:p>
          <a:p>
            <a:pPr>
              <a:lnSpc>
                <a:spcPct val="90000"/>
              </a:lnSpc>
            </a:pPr>
            <a:r>
              <a:rPr lang="en-US" dirty="0"/>
              <a:t>A </a:t>
            </a:r>
            <a:r>
              <a:rPr lang="en-US" b="1" dirty="0"/>
              <a:t>methodology</a:t>
            </a:r>
            <a:r>
              <a:rPr lang="en-US" dirty="0"/>
              <a:t> describes </a:t>
            </a:r>
            <a:r>
              <a:rPr lang="en-US" i="1" dirty="0"/>
              <a:t>how</a:t>
            </a:r>
            <a:r>
              <a:rPr lang="en-US" dirty="0"/>
              <a:t> things should be done; a </a:t>
            </a:r>
            <a:r>
              <a:rPr lang="en-US" b="1" dirty="0"/>
              <a:t>standard</a:t>
            </a:r>
            <a:r>
              <a:rPr lang="en-US" dirty="0"/>
              <a:t> describes </a:t>
            </a:r>
            <a:r>
              <a:rPr lang="en-US" i="1" dirty="0"/>
              <a:t>what</a:t>
            </a:r>
            <a:r>
              <a:rPr lang="en-US" dirty="0"/>
              <a:t> should be done</a:t>
            </a:r>
          </a:p>
          <a:p>
            <a:pPr>
              <a:lnSpc>
                <a:spcPct val="90000"/>
              </a:lnSpc>
            </a:pPr>
            <a:r>
              <a:rPr lang="en-US" dirty="0"/>
              <a:t>PRINCE2, Agile, RUP, and Six Sigma provide different project management methodologies</a:t>
            </a:r>
          </a:p>
        </p:txBody>
      </p:sp>
      <p:sp>
        <p:nvSpPr>
          <p:cNvPr id="18436" name="Rectangle 2"/>
          <p:cNvSpPr>
            <a:spLocks noGrp="1" noChangeArrowheads="1"/>
          </p:cNvSpPr>
          <p:nvPr>
            <p:ph type="title"/>
          </p:nvPr>
        </p:nvSpPr>
        <p:spPr/>
        <p:txBody>
          <a:bodyPr>
            <a:normAutofit fontScale="90000"/>
          </a:bodyPr>
          <a:lstStyle/>
          <a:p>
            <a:r>
              <a:rPr lang="en-US" dirty="0"/>
              <a:t>Developing an IT Project Management Methodology</a:t>
            </a:r>
          </a:p>
        </p:txBody>
      </p:sp>
      <p:sp>
        <p:nvSpPr>
          <p:cNvPr id="18434"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4BA1540-2B10-4CE1-8F3A-B02A9467FB53}"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2011 study of organizations across India included the following findings:</a:t>
            </a:r>
          </a:p>
          <a:p>
            <a:pPr lvl="1"/>
            <a:r>
              <a:rPr lang="en-US" sz="2000" dirty="0"/>
              <a:t>Two-thirds of organizations in some stage of Agile adoption are realizing key software and business benefits in terms of faster delivery of products to the customer, an improved ability to manage changing requirements, and higher quality and productivity in IT.</a:t>
            </a:r>
          </a:p>
          <a:p>
            <a:pPr lvl="1"/>
            <a:r>
              <a:rPr lang="en-US" sz="2000" dirty="0"/>
              <a:t>Organizations struggle with the magnitude of the cultural shift required for Agile, opposition to change, a lack of coaching and help in the Agile adoption process, and a lack of qualified people.</a:t>
            </a:r>
          </a:p>
          <a:p>
            <a:pPr lvl="1"/>
            <a:r>
              <a:rPr lang="en-US" sz="2000" dirty="0"/>
              <a:t>The daily stand-up, iteration planning, and release planning are the most commonly used practices, while paired programming and open workspaces are not popular</a:t>
            </a:r>
          </a:p>
        </p:txBody>
      </p:sp>
      <p:sp>
        <p:nvSpPr>
          <p:cNvPr id="3" name="Title 2"/>
          <p:cNvSpPr>
            <a:spLocks noGrp="1"/>
          </p:cNvSpPr>
          <p:nvPr>
            <p:ph type="title"/>
          </p:nvPr>
        </p:nvSpPr>
        <p:spPr/>
        <p:txBody>
          <a:bodyPr/>
          <a:lstStyle/>
          <a:p>
            <a:r>
              <a:rPr lang="en-US" dirty="0"/>
              <a:t>Global Issues</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12</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457200" y="152400"/>
            <a:ext cx="8229600" cy="1143000"/>
          </a:xfrm>
        </p:spPr>
        <p:txBody>
          <a:bodyPr/>
          <a:lstStyle/>
          <a:p>
            <a:r>
              <a:rPr lang="en-US" dirty="0"/>
              <a:t>What Went Right?</a:t>
            </a:r>
          </a:p>
        </p:txBody>
      </p:sp>
      <p:sp>
        <p:nvSpPr>
          <p:cNvPr id="7" name="Slide Number Placeholder 6"/>
          <p:cNvSpPr>
            <a:spLocks noGrp="1"/>
          </p:cNvSpPr>
          <p:nvPr>
            <p:ph type="sldNum" sz="quarter" idx="11"/>
          </p:nvPr>
        </p:nvSpPr>
        <p:spPr/>
        <p:txBody>
          <a:bodyPr/>
          <a:lstStyle/>
          <a:p>
            <a:pPr>
              <a:defRPr/>
            </a:pPr>
            <a:fld id="{C796DE11-80E7-4489-BDD7-4B19D01BE34D}" type="slidenum">
              <a:rPr lang="en-US" smtClean="0"/>
              <a:t>13</a:t>
            </a:fld>
            <a:endParaRPr lang="en-US" dirty="0"/>
          </a:p>
        </p:txBody>
      </p:sp>
      <p:sp>
        <p:nvSpPr>
          <p:cNvPr id="8" name="Footer Placeholder 7"/>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19459" name="Rectangle 5"/>
          <p:cNvSpPr>
            <a:spLocks noChangeArrowheads="1"/>
          </p:cNvSpPr>
          <p:nvPr/>
        </p:nvSpPr>
        <p:spPr bwMode="auto">
          <a:xfrm>
            <a:off x="381000" y="1219200"/>
            <a:ext cx="8077200" cy="3617401"/>
          </a:xfrm>
          <a:prstGeom prst="rect">
            <a:avLst/>
          </a:prstGeom>
          <a:noFill/>
          <a:ln w="9525">
            <a:noFill/>
            <a:miter lim="800000"/>
          </a:ln>
        </p:spPr>
        <p:txBody>
          <a:bodyPr>
            <a:spAutoFit/>
          </a:bodyPr>
          <a:lstStyle/>
          <a:p>
            <a:pPr marL="365125" indent="-255905">
              <a:lnSpc>
                <a:spcPct val="90000"/>
              </a:lnSpc>
              <a:spcBef>
                <a:spcPts val="400"/>
              </a:spcBef>
              <a:buClr>
                <a:schemeClr val="accent1"/>
              </a:buClr>
              <a:buSzPct val="68000"/>
              <a:buFont typeface="Wingdings 3" panose="05040102010807070707" pitchFamily="18" charset="2"/>
              <a:buChar char=""/>
            </a:pPr>
            <a:r>
              <a:rPr lang="en-US" sz="2700" dirty="0">
                <a:latin typeface="+mn-lt"/>
              </a:rPr>
              <a:t>AgênciaClick, an interactive advertising and online communications company based in São Paulo, Brazil, made PMI’s list of outstanding organizations in project management in 2007</a:t>
            </a:r>
          </a:p>
          <a:p>
            <a:pPr marL="365125" indent="-255905">
              <a:lnSpc>
                <a:spcPct val="90000"/>
              </a:lnSpc>
              <a:spcBef>
                <a:spcPts val="400"/>
              </a:spcBef>
              <a:buClr>
                <a:schemeClr val="accent1"/>
              </a:buClr>
              <a:buSzPct val="68000"/>
              <a:buFont typeface="Wingdings 3" panose="05040102010807070707" pitchFamily="18" charset="2"/>
              <a:buChar char=""/>
            </a:pPr>
            <a:r>
              <a:rPr lang="en-US" sz="2700" dirty="0">
                <a:latin typeface="+mn-lt"/>
              </a:rPr>
              <a:t>Since 2002, the company saw revenues jump 132 percent, primarily due to their five-year emphasis on practicing good project management across the entire company</a:t>
            </a:r>
          </a:p>
          <a:p>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3"/>
          <p:cNvSpPr>
            <a:spLocks noGrp="1" noChangeArrowheads="1"/>
          </p:cNvSpPr>
          <p:nvPr>
            <p:ph idx="1"/>
          </p:nvPr>
        </p:nvSpPr>
        <p:spPr>
          <a:xfrm>
            <a:off x="304800" y="1828800"/>
            <a:ext cx="8458200" cy="4572000"/>
          </a:xfrm>
        </p:spPr>
        <p:txBody>
          <a:bodyPr/>
          <a:lstStyle/>
          <a:p>
            <a:pPr>
              <a:lnSpc>
                <a:spcPct val="90000"/>
              </a:lnSpc>
            </a:pPr>
            <a:r>
              <a:rPr lang="en-US" dirty="0"/>
              <a:t>This case study provides an example of what’s involved in initiating, planning, executing, controlling, and closing an IT project</a:t>
            </a:r>
          </a:p>
          <a:p>
            <a:pPr>
              <a:lnSpc>
                <a:spcPct val="90000"/>
              </a:lnSpc>
            </a:pPr>
            <a:r>
              <a:rPr lang="en-US" dirty="0"/>
              <a:t>You can download templates for creating your own project management documents from the companion Web site for this text or the author’s site</a:t>
            </a:r>
          </a:p>
          <a:p>
            <a:pPr>
              <a:lnSpc>
                <a:spcPct val="90000"/>
              </a:lnSpc>
            </a:pPr>
            <a:r>
              <a:rPr lang="en-US" dirty="0"/>
              <a:t>Note:  This case study provides a big picture view of managing a project.  Later chapters provide detailed information on each knowledge area</a:t>
            </a:r>
          </a:p>
          <a:p>
            <a:pPr>
              <a:lnSpc>
                <a:spcPct val="90000"/>
              </a:lnSpc>
            </a:pPr>
            <a:endParaRPr lang="en-US" dirty="0"/>
          </a:p>
          <a:p>
            <a:pPr marL="109220" indent="0">
              <a:lnSpc>
                <a:spcPct val="90000"/>
              </a:lnSpc>
              <a:buNone/>
            </a:pPr>
            <a:r>
              <a:rPr lang="en-US" dirty="0">
                <a:solidFill>
                  <a:srgbClr val="FF0000"/>
                </a:solidFill>
              </a:rPr>
              <a:t>   JWD=Job Well Done</a:t>
            </a:r>
          </a:p>
        </p:txBody>
      </p:sp>
      <p:sp>
        <p:nvSpPr>
          <p:cNvPr id="20484" name="Rectangle 2"/>
          <p:cNvSpPr>
            <a:spLocks noGrp="1" noChangeArrowheads="1"/>
          </p:cNvSpPr>
          <p:nvPr>
            <p:ph type="title"/>
          </p:nvPr>
        </p:nvSpPr>
        <p:spPr/>
        <p:txBody>
          <a:bodyPr>
            <a:normAutofit fontScale="90000"/>
          </a:bodyPr>
          <a:lstStyle/>
          <a:p>
            <a:r>
              <a:rPr lang="en-US" dirty="0"/>
              <a:t>Case Study:  JWD Consulting’s Project Management Intranet Site (Predictive Approach)</a:t>
            </a:r>
          </a:p>
        </p:txBody>
      </p:sp>
      <p:sp>
        <p:nvSpPr>
          <p:cNvPr id="20482"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8B0014B-2FB3-4791-89BF-1F17097F3597}"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481138"/>
            <a:ext cx="8915400" cy="4525962"/>
          </a:xfrm>
        </p:spPr>
        <p:txBody>
          <a:bodyPr/>
          <a:lstStyle/>
          <a:p>
            <a:r>
              <a:rPr lang="en-US" dirty="0"/>
              <a:t>It is good practice to lay the groundwork for a project before it officially starts</a:t>
            </a:r>
          </a:p>
          <a:p>
            <a:r>
              <a:rPr lang="en-US" dirty="0"/>
              <a:t>Senior managers often perform several pre-initiation tasks, including the following:</a:t>
            </a:r>
          </a:p>
          <a:p>
            <a:pPr lvl="1"/>
            <a:r>
              <a:rPr lang="en-US" sz="2000" dirty="0"/>
              <a:t>Determine the scope, time, and cost constraints for the project</a:t>
            </a:r>
          </a:p>
          <a:p>
            <a:pPr lvl="1"/>
            <a:r>
              <a:rPr lang="en-US" sz="2000" dirty="0"/>
              <a:t>Identify the project sponsor</a:t>
            </a:r>
          </a:p>
          <a:p>
            <a:pPr lvl="1"/>
            <a:r>
              <a:rPr lang="en-US" sz="2000" dirty="0"/>
              <a:t>Select the project manager</a:t>
            </a:r>
          </a:p>
          <a:p>
            <a:pPr lvl="1"/>
            <a:r>
              <a:rPr lang="en-US" sz="2000" dirty="0"/>
              <a:t>Develop a business case for a project (see Table 3-2 for an example)</a:t>
            </a:r>
          </a:p>
          <a:p>
            <a:pPr lvl="1"/>
            <a:r>
              <a:rPr lang="en-US" sz="2000" dirty="0"/>
              <a:t>Meet with the project manager to review the process and expectations for managing the project</a:t>
            </a:r>
          </a:p>
          <a:p>
            <a:pPr lvl="1"/>
            <a:r>
              <a:rPr lang="en-US" sz="2000" dirty="0"/>
              <a:t>Determine if the project should be divided into two or more smaller projects</a:t>
            </a:r>
          </a:p>
          <a:p>
            <a:pPr lvl="1"/>
            <a:endParaRPr lang="en-US" dirty="0"/>
          </a:p>
          <a:p>
            <a:endParaRPr lang="en-US" dirty="0"/>
          </a:p>
        </p:txBody>
      </p:sp>
      <p:sp>
        <p:nvSpPr>
          <p:cNvPr id="3" name="Title 2"/>
          <p:cNvSpPr>
            <a:spLocks noGrp="1"/>
          </p:cNvSpPr>
          <p:nvPr>
            <p:ph type="title"/>
          </p:nvPr>
        </p:nvSpPr>
        <p:spPr/>
        <p:txBody>
          <a:bodyPr/>
          <a:lstStyle/>
          <a:p>
            <a:r>
              <a:rPr lang="en-US" dirty="0"/>
              <a:t>Project Pre-initiation</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15</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3"/>
          <p:cNvSpPr>
            <a:spLocks noGrp="1" noChangeArrowheads="1"/>
          </p:cNvSpPr>
          <p:nvPr>
            <p:ph idx="1"/>
          </p:nvPr>
        </p:nvSpPr>
        <p:spPr>
          <a:xfrm>
            <a:off x="381000" y="1295400"/>
            <a:ext cx="8458200" cy="2209800"/>
          </a:xfrm>
        </p:spPr>
        <p:txBody>
          <a:bodyPr/>
          <a:lstStyle/>
          <a:p>
            <a:pPr>
              <a:lnSpc>
                <a:spcPct val="90000"/>
              </a:lnSpc>
            </a:pPr>
            <a:r>
              <a:rPr lang="en-US" dirty="0"/>
              <a:t>Initiating a project includes recognizing and starting a new project or project phase</a:t>
            </a:r>
          </a:p>
          <a:p>
            <a:pPr>
              <a:lnSpc>
                <a:spcPct val="90000"/>
              </a:lnSpc>
            </a:pPr>
            <a:r>
              <a:rPr lang="en-US" dirty="0"/>
              <a:t>The main goal is to formally select and start off projects</a:t>
            </a:r>
          </a:p>
          <a:p>
            <a:pPr>
              <a:lnSpc>
                <a:spcPct val="90000"/>
              </a:lnSpc>
            </a:pPr>
            <a:r>
              <a:rPr lang="en-US" dirty="0"/>
              <a:t>Table 3-3 shows the project initiation knowledge areas, processes, and outputs</a:t>
            </a:r>
          </a:p>
        </p:txBody>
      </p:sp>
      <p:sp>
        <p:nvSpPr>
          <p:cNvPr id="21508" name="Rectangle 2"/>
          <p:cNvSpPr>
            <a:spLocks noGrp="1" noChangeArrowheads="1"/>
          </p:cNvSpPr>
          <p:nvPr>
            <p:ph type="title"/>
          </p:nvPr>
        </p:nvSpPr>
        <p:spPr>
          <a:xfrm>
            <a:off x="381000" y="274638"/>
            <a:ext cx="8305800" cy="944562"/>
          </a:xfrm>
        </p:spPr>
        <p:txBody>
          <a:bodyPr/>
          <a:lstStyle/>
          <a:p>
            <a:r>
              <a:rPr lang="en-US" dirty="0"/>
              <a:t>Project Initiation</a:t>
            </a:r>
          </a:p>
        </p:txBody>
      </p:sp>
      <p:sp>
        <p:nvSpPr>
          <p:cNvPr id="21506"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5B892CF4-7F67-4153-9355-FA3ADC22F959}" type="slidenum">
              <a:rPr lang="en-US"/>
              <a:t>16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3810000"/>
            <a:ext cx="8839200" cy="11687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en-US" dirty="0"/>
              <a:t>Table 3-4. Stakeholder Register</a:t>
            </a:r>
          </a:p>
        </p:txBody>
      </p:sp>
      <p:sp>
        <p:nvSpPr>
          <p:cNvPr id="22530"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AD017572-B563-452C-B50E-B941CEE2234C}" type="slidenum">
              <a:rPr lang="en-US"/>
              <a:t>17</a:t>
            </a:fld>
            <a:endParaRPr lang="en-US" dirty="0"/>
          </a:p>
        </p:txBody>
      </p:sp>
      <p:pic>
        <p:nvPicPr>
          <p:cNvPr id="22534" name="Picture 6"/>
          <p:cNvPicPr>
            <a:picLocks noChangeAspect="1" noChangeArrowheads="1"/>
          </p:cNvPicPr>
          <p:nvPr/>
        </p:nvPicPr>
        <p:blipFill>
          <a:blip r:embed="rId2"/>
          <a:srcRect l="17500" t="32000" r="22500" b="22000"/>
          <a:stretch>
            <a:fillRect/>
          </a:stretch>
        </p:blipFill>
        <p:spPr bwMode="auto">
          <a:xfrm>
            <a:off x="609600" y="1600200"/>
            <a:ext cx="8110330" cy="38862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Table 3-4. Stakeholder Management Strategy</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18</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pic>
        <p:nvPicPr>
          <p:cNvPr id="60419" name="Picture 3"/>
          <p:cNvPicPr>
            <a:picLocks noChangeAspect="1" noChangeArrowheads="1"/>
          </p:cNvPicPr>
          <p:nvPr/>
        </p:nvPicPr>
        <p:blipFill>
          <a:blip r:embed="rId2"/>
          <a:srcRect l="17500" t="26000" r="22500" b="36000"/>
          <a:stretch>
            <a:fillRect/>
          </a:stretch>
        </p:blipFill>
        <p:spPr bwMode="auto">
          <a:xfrm>
            <a:off x="609600" y="1600200"/>
            <a:ext cx="7924800" cy="3136900"/>
          </a:xfrm>
          <a:prstGeom prst="rect">
            <a:avLst/>
          </a:prstGeom>
          <a:noFill/>
          <a:ln w="9525">
            <a:noFill/>
            <a:miter lim="800000"/>
            <a:headEnd/>
            <a:tailEnd/>
          </a:ln>
          <a:effectLst/>
        </p:spPr>
      </p:pic>
      <p:sp>
        <p:nvSpPr>
          <p:cNvPr id="8" name="TextBox 7"/>
          <p:cNvSpPr txBox="1"/>
          <p:nvPr/>
        </p:nvSpPr>
        <p:spPr>
          <a:xfrm>
            <a:off x="762000" y="5105400"/>
            <a:ext cx="7893508" cy="430887"/>
          </a:xfrm>
          <a:prstGeom prst="rect">
            <a:avLst/>
          </a:prstGeom>
          <a:noFill/>
        </p:spPr>
        <p:txBody>
          <a:bodyPr wrap="none" rtlCol="0">
            <a:spAutoFit/>
          </a:bodyPr>
          <a:lstStyle/>
          <a:p>
            <a:r>
              <a:rPr lang="en-US" dirty="0"/>
              <a:t>Contents are often sensitive, so do not publish this document.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See Table 3-6 for an example of a charter</a:t>
            </a:r>
          </a:p>
          <a:p>
            <a:r>
              <a:rPr lang="en-US" dirty="0"/>
              <a:t>Charters are normally short and include key project information and stakeholder signatures</a:t>
            </a:r>
          </a:p>
          <a:p>
            <a:r>
              <a:rPr lang="en-US" dirty="0"/>
              <a:t>It’s good practice to hold a </a:t>
            </a:r>
            <a:r>
              <a:rPr lang="en-US" b="1" dirty="0"/>
              <a:t>kick-off meeting </a:t>
            </a:r>
            <a:r>
              <a:rPr lang="en-US" dirty="0"/>
              <a:t>at the beginning of a project so that stakeholders can meet each other, review the goals of the project, and discuss future plans</a:t>
            </a:r>
          </a:p>
          <a:p>
            <a:endParaRPr lang="en-US" dirty="0"/>
          </a:p>
        </p:txBody>
      </p:sp>
      <p:sp>
        <p:nvSpPr>
          <p:cNvPr id="3" name="Title 2"/>
          <p:cNvSpPr>
            <a:spLocks noGrp="1"/>
          </p:cNvSpPr>
          <p:nvPr>
            <p:ph type="title"/>
          </p:nvPr>
        </p:nvSpPr>
        <p:spPr/>
        <p:txBody>
          <a:bodyPr>
            <a:noAutofit/>
          </a:bodyPr>
          <a:lstStyle/>
          <a:p>
            <a:r>
              <a:rPr lang="en-US" sz="4000" dirty="0"/>
              <a:t>Project Charters and Kick-off Meetings</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19</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715962"/>
          </a:xfrm>
        </p:spPr>
        <p:txBody>
          <a:bodyPr>
            <a:normAutofit fontScale="90000"/>
          </a:bodyPr>
          <a:lstStyle/>
          <a:p>
            <a:r>
              <a:rPr lang="en-US" dirty="0"/>
              <a:t>Figure 3-2. Kick-off Meeting Agenda</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20</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771680"/>
            <a:ext cx="6477000" cy="550907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3"/>
          <p:cNvSpPr>
            <a:spLocks noGrp="1" noChangeArrowheads="1"/>
          </p:cNvSpPr>
          <p:nvPr>
            <p:ph idx="1"/>
          </p:nvPr>
        </p:nvSpPr>
        <p:spPr>
          <a:xfrm>
            <a:off x="381000" y="1066800"/>
            <a:ext cx="8458200" cy="4572000"/>
          </a:xfrm>
        </p:spPr>
        <p:txBody>
          <a:bodyPr/>
          <a:lstStyle/>
          <a:p>
            <a:pPr>
              <a:lnSpc>
                <a:spcPct val="90000"/>
              </a:lnSpc>
            </a:pPr>
            <a:r>
              <a:rPr lang="en-US" dirty="0"/>
              <a:t>The main purpose of project planning is to </a:t>
            </a:r>
            <a:r>
              <a:rPr lang="en-US" i="1" dirty="0"/>
              <a:t>guide execution</a:t>
            </a:r>
          </a:p>
          <a:p>
            <a:pPr>
              <a:lnSpc>
                <a:spcPct val="90000"/>
              </a:lnSpc>
            </a:pPr>
            <a:r>
              <a:rPr lang="en-US" dirty="0"/>
              <a:t>Every knowledge area includes planning information (see Table 3-7 on pages 101-102)</a:t>
            </a:r>
          </a:p>
          <a:p>
            <a:pPr>
              <a:lnSpc>
                <a:spcPct val="90000"/>
              </a:lnSpc>
            </a:pPr>
            <a:r>
              <a:rPr lang="en-US" dirty="0"/>
              <a:t>Key outputs included in the JWD project include:</a:t>
            </a:r>
          </a:p>
          <a:p>
            <a:pPr lvl="1">
              <a:lnSpc>
                <a:spcPct val="90000"/>
              </a:lnSpc>
            </a:pPr>
            <a:r>
              <a:rPr lang="en-US" dirty="0"/>
              <a:t>A team contract</a:t>
            </a:r>
          </a:p>
          <a:p>
            <a:pPr lvl="1">
              <a:lnSpc>
                <a:spcPct val="90000"/>
              </a:lnSpc>
            </a:pPr>
            <a:r>
              <a:rPr lang="en-US" dirty="0"/>
              <a:t>A project scope statement</a:t>
            </a:r>
          </a:p>
          <a:p>
            <a:pPr lvl="1">
              <a:lnSpc>
                <a:spcPct val="90000"/>
              </a:lnSpc>
            </a:pPr>
            <a:r>
              <a:rPr lang="en-US" dirty="0"/>
              <a:t>A work breakdown structure (WBS)</a:t>
            </a:r>
          </a:p>
          <a:p>
            <a:pPr lvl="1">
              <a:lnSpc>
                <a:spcPct val="90000"/>
              </a:lnSpc>
            </a:pPr>
            <a:r>
              <a:rPr lang="en-US" dirty="0"/>
              <a:t>A project schedule, in the form of a Gantt chart with all dependencies and resources entered</a:t>
            </a:r>
          </a:p>
          <a:p>
            <a:pPr lvl="1">
              <a:lnSpc>
                <a:spcPct val="90000"/>
              </a:lnSpc>
            </a:pPr>
            <a:r>
              <a:rPr lang="en-US" dirty="0"/>
              <a:t>A list of prioritized risks (part of a risk register)</a:t>
            </a:r>
          </a:p>
          <a:p>
            <a:pPr>
              <a:lnSpc>
                <a:spcPct val="90000"/>
              </a:lnSpc>
            </a:pPr>
            <a:r>
              <a:rPr lang="en-US" dirty="0"/>
              <a:t>See sample documents starting on p. 104</a:t>
            </a:r>
          </a:p>
        </p:txBody>
      </p:sp>
      <p:sp>
        <p:nvSpPr>
          <p:cNvPr id="23556" name="Rectangle 2"/>
          <p:cNvSpPr>
            <a:spLocks noGrp="1" noChangeArrowheads="1"/>
          </p:cNvSpPr>
          <p:nvPr>
            <p:ph type="title"/>
          </p:nvPr>
        </p:nvSpPr>
        <p:spPr>
          <a:xfrm>
            <a:off x="304800" y="228600"/>
            <a:ext cx="8534400" cy="914400"/>
          </a:xfrm>
        </p:spPr>
        <p:txBody>
          <a:bodyPr/>
          <a:lstStyle/>
          <a:p>
            <a:r>
              <a:rPr lang="en-US" dirty="0"/>
              <a:t>Project Planning</a:t>
            </a:r>
          </a:p>
        </p:txBody>
      </p:sp>
      <p:sp>
        <p:nvSpPr>
          <p:cNvPr id="23554"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76446FF-E348-496B-AE9F-4CFBB14A8659}"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r>
              <a:rPr lang="en-US" sz="3600" dirty="0"/>
              <a:t>Figure 3-4. JWD Consulting Intranet Site Project Baseline Gantt Chart</a:t>
            </a:r>
          </a:p>
        </p:txBody>
      </p:sp>
      <p:sp>
        <p:nvSpPr>
          <p:cNvPr id="6" name="Slide Number Placeholder 5"/>
          <p:cNvSpPr>
            <a:spLocks noGrp="1"/>
          </p:cNvSpPr>
          <p:nvPr>
            <p:ph type="sldNum" sz="quarter" idx="11"/>
          </p:nvPr>
        </p:nvSpPr>
        <p:spPr/>
        <p:txBody>
          <a:bodyPr/>
          <a:lstStyle/>
          <a:p>
            <a:pPr>
              <a:defRPr/>
            </a:pPr>
            <a:fld id="{C796DE11-80E7-4489-BDD7-4B19D01BE34D}" type="slidenum">
              <a:rPr lang="en-US" smtClean="0"/>
              <a:t>22</a:t>
            </a:fld>
            <a:endParaRPr lang="en-US" dirty="0"/>
          </a:p>
        </p:txBody>
      </p:sp>
      <p:sp>
        <p:nvSpPr>
          <p:cNvPr id="7" name="Footer Placeholder 6"/>
          <p:cNvSpPr>
            <a:spLocks noGrp="1"/>
          </p:cNvSpPr>
          <p:nvPr>
            <p:ph type="ftr" sz="quarter" idx="10"/>
          </p:nvPr>
        </p:nvSpPr>
        <p:spPr/>
        <p:txBody>
          <a:bodyPr/>
          <a:lstStyle/>
          <a:p>
            <a:pPr>
              <a:defRPr/>
            </a:pPr>
            <a:r>
              <a:rPr lang="en-US"/>
              <a:t>Information Technology Project Management, Seventh Edition</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448841"/>
            <a:ext cx="8915399" cy="406453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a:xfrm>
            <a:off x="381000" y="274638"/>
            <a:ext cx="8305800" cy="792162"/>
          </a:xfrm>
        </p:spPr>
        <p:txBody>
          <a:bodyPr>
            <a:normAutofit fontScale="90000"/>
          </a:bodyPr>
          <a:lstStyle/>
          <a:p>
            <a:r>
              <a:rPr lang="en-US" dirty="0"/>
              <a:t>Table. 3-10. List of Prioritized Risks</a:t>
            </a:r>
          </a:p>
        </p:txBody>
      </p:sp>
      <p:sp>
        <p:nvSpPr>
          <p:cNvPr id="25602"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7A0A30AB-D70B-42B2-ADEA-06E774E5A2E9}" type="slidenum">
              <a:rPr lang="en-US"/>
              <a:t>23</a:t>
            </a:fld>
            <a:endParaRPr lang="en-US" dirty="0"/>
          </a:p>
        </p:txBody>
      </p:sp>
      <p:pic>
        <p:nvPicPr>
          <p:cNvPr id="25605" name="Picture 7" descr="Tbl03-08"/>
          <p:cNvPicPr>
            <a:picLocks noChangeAspect="1" noChangeArrowheads="1"/>
          </p:cNvPicPr>
          <p:nvPr/>
        </p:nvPicPr>
        <p:blipFill>
          <a:blip r:embed="rId2"/>
          <a:srcRect t="5035"/>
          <a:stretch>
            <a:fillRect/>
          </a:stretch>
        </p:blipFill>
        <p:spPr bwMode="auto">
          <a:xfrm>
            <a:off x="228600" y="1143000"/>
            <a:ext cx="8763000" cy="4376738"/>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3"/>
          <p:cNvSpPr>
            <a:spLocks noGrp="1" noChangeArrowheads="1"/>
          </p:cNvSpPr>
          <p:nvPr>
            <p:ph idx="1"/>
          </p:nvPr>
        </p:nvSpPr>
        <p:spPr/>
        <p:txBody>
          <a:bodyPr/>
          <a:lstStyle/>
          <a:p>
            <a:pPr>
              <a:lnSpc>
                <a:spcPct val="80000"/>
              </a:lnSpc>
            </a:pPr>
            <a:r>
              <a:rPr lang="en-US" dirty="0"/>
              <a:t>Usually takes the most time and resources to perform project execution </a:t>
            </a:r>
          </a:p>
          <a:p>
            <a:pPr>
              <a:lnSpc>
                <a:spcPct val="80000"/>
              </a:lnSpc>
            </a:pPr>
            <a:r>
              <a:rPr lang="en-US" dirty="0"/>
              <a:t>Project managers must use their leadership skills to handle the many challenges that occur during project execution</a:t>
            </a:r>
          </a:p>
          <a:p>
            <a:pPr>
              <a:lnSpc>
                <a:spcPct val="80000"/>
              </a:lnSpc>
            </a:pPr>
            <a:r>
              <a:rPr lang="en-US" dirty="0"/>
              <a:t>Table 3-11 on p. 111 lists the executing processes and outputs. Many project sponsors and customers focus on deliverables related to providing the products, services, or results desired from the project</a:t>
            </a:r>
          </a:p>
          <a:p>
            <a:pPr>
              <a:lnSpc>
                <a:spcPct val="80000"/>
              </a:lnSpc>
            </a:pPr>
            <a:r>
              <a:rPr lang="en-US" dirty="0"/>
              <a:t>A milestone report (example on pp. 112-113) can help focus on completing major milestones</a:t>
            </a:r>
          </a:p>
        </p:txBody>
      </p:sp>
      <p:sp>
        <p:nvSpPr>
          <p:cNvPr id="26628" name="Rectangle 2"/>
          <p:cNvSpPr>
            <a:spLocks noGrp="1" noChangeArrowheads="1"/>
          </p:cNvSpPr>
          <p:nvPr>
            <p:ph type="title"/>
          </p:nvPr>
        </p:nvSpPr>
        <p:spPr/>
        <p:txBody>
          <a:bodyPr/>
          <a:lstStyle/>
          <a:p>
            <a:r>
              <a:rPr lang="en-US" dirty="0"/>
              <a:t>Project Executing</a:t>
            </a:r>
          </a:p>
        </p:txBody>
      </p:sp>
      <p:sp>
        <p:nvSpPr>
          <p:cNvPr id="26626"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E98E000D-C36D-44D8-9618-8D9141201FD0}"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381000" y="228600"/>
            <a:ext cx="8686800" cy="411163"/>
          </a:xfrm>
        </p:spPr>
        <p:txBody>
          <a:bodyPr>
            <a:normAutofit fontScale="90000"/>
          </a:bodyPr>
          <a:lstStyle/>
          <a:p>
            <a:r>
              <a:rPr lang="en-US" sz="3600" dirty="0"/>
              <a:t>Part of Milestone Report (Table 3-11, partial)</a:t>
            </a:r>
          </a:p>
        </p:txBody>
      </p:sp>
      <p:sp>
        <p:nvSpPr>
          <p:cNvPr id="27650"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EA4B2BE0-17FD-4B0D-B334-A8081BCC28FF}" type="slidenum">
              <a:rPr lang="en-US"/>
              <a:t>25</a:t>
            </a:fld>
            <a:endParaRPr lang="en-US" dirty="0"/>
          </a:p>
        </p:txBody>
      </p:sp>
      <p:pic>
        <p:nvPicPr>
          <p:cNvPr id="27654" name="Picture 6"/>
          <p:cNvPicPr>
            <a:picLocks noChangeAspect="1" noChangeArrowheads="1"/>
          </p:cNvPicPr>
          <p:nvPr/>
        </p:nvPicPr>
        <p:blipFill rotWithShape="1">
          <a:blip r:embed="rId2"/>
          <a:srcRect l="23125" t="16000" r="26875" b="19597"/>
          <a:stretch>
            <a:fillRect/>
          </a:stretch>
        </p:blipFill>
        <p:spPr bwMode="auto">
          <a:xfrm>
            <a:off x="1219200" y="838200"/>
            <a:ext cx="6781800" cy="545961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a:xfrm>
            <a:off x="381000" y="1066800"/>
            <a:ext cx="8305800" cy="4572000"/>
          </a:xfrm>
        </p:spPr>
        <p:txBody>
          <a:bodyPr/>
          <a:lstStyle/>
          <a:p>
            <a:r>
              <a:rPr lang="en-US" dirty="0"/>
              <a:t>One way to learn about best practices in project management is by studying recipients of PMI’s Project of the Year award</a:t>
            </a:r>
          </a:p>
          <a:p>
            <a:r>
              <a:rPr lang="en-US" dirty="0"/>
              <a:t>The Quartier international de Montreal (QIM), Montreal’s international district, was a 66-acre urban revitalization project in the heart of downtown Montreal</a:t>
            </a:r>
          </a:p>
          <a:p>
            <a:r>
              <a:rPr lang="en-US" dirty="0"/>
              <a:t>This $90 million, five-year project turned a once unpopular area into a thriving section of the city with a booming real estate market and has generated $770 million in related construction</a:t>
            </a:r>
          </a:p>
        </p:txBody>
      </p:sp>
      <p:sp>
        <p:nvSpPr>
          <p:cNvPr id="28674" name="Title 1"/>
          <p:cNvSpPr>
            <a:spLocks noGrp="1"/>
          </p:cNvSpPr>
          <p:nvPr>
            <p:ph type="title"/>
          </p:nvPr>
        </p:nvSpPr>
        <p:spPr>
          <a:xfrm>
            <a:off x="381000" y="274638"/>
            <a:ext cx="8305800" cy="639762"/>
          </a:xfrm>
        </p:spPr>
        <p:txBody>
          <a:bodyPr>
            <a:normAutofit fontScale="90000"/>
          </a:bodyPr>
          <a:lstStyle/>
          <a:p>
            <a:r>
              <a:rPr lang="en-US" dirty="0"/>
              <a:t>Best Practice</a:t>
            </a:r>
          </a:p>
        </p:txBody>
      </p:sp>
      <p:sp>
        <p:nvSpPr>
          <p:cNvPr id="28676"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9172956-5799-47CF-8894-605903D236EB}"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3"/>
          <p:cNvSpPr>
            <a:spLocks noGrp="1" noChangeArrowheads="1"/>
          </p:cNvSpPr>
          <p:nvPr>
            <p:ph idx="1"/>
          </p:nvPr>
        </p:nvSpPr>
        <p:spPr>
          <a:xfrm>
            <a:off x="381000" y="1524000"/>
            <a:ext cx="8458200" cy="4876800"/>
          </a:xfrm>
        </p:spPr>
        <p:txBody>
          <a:bodyPr/>
          <a:lstStyle/>
          <a:p>
            <a:r>
              <a:rPr lang="en-US" dirty="0"/>
              <a:t>Involves measuring progress toward project objectives, monitoring deviation from the plan, and taking correction actions</a:t>
            </a:r>
          </a:p>
          <a:p>
            <a:r>
              <a:rPr lang="en-US" dirty="0"/>
              <a:t>Affects all other process groups and occurs during all phases of the project life cycle</a:t>
            </a:r>
          </a:p>
          <a:p>
            <a:r>
              <a:rPr lang="en-US" dirty="0"/>
              <a:t>Outputs include performance reports, change requests, and updates to various plans</a:t>
            </a:r>
          </a:p>
          <a:p>
            <a:r>
              <a:rPr lang="en-US" dirty="0"/>
              <a:t>See Table 3-13</a:t>
            </a:r>
          </a:p>
        </p:txBody>
      </p:sp>
      <p:sp>
        <p:nvSpPr>
          <p:cNvPr id="29700" name="Rectangle 2"/>
          <p:cNvSpPr>
            <a:spLocks noGrp="1" noChangeArrowheads="1"/>
          </p:cNvSpPr>
          <p:nvPr>
            <p:ph type="title"/>
          </p:nvPr>
        </p:nvSpPr>
        <p:spPr/>
        <p:txBody>
          <a:bodyPr>
            <a:normAutofit fontScale="90000"/>
          </a:bodyPr>
          <a:lstStyle/>
          <a:p>
            <a:r>
              <a:rPr lang="en-US" dirty="0"/>
              <a:t>Project Monitoring and Controlling</a:t>
            </a:r>
          </a:p>
        </p:txBody>
      </p:sp>
      <p:sp>
        <p:nvSpPr>
          <p:cNvPr id="29698"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C5C447AD-2CF7-4B9B-94B9-5E6680F2F27E}"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3"/>
          <p:cNvSpPr>
            <a:spLocks noGrp="1" noChangeArrowheads="1"/>
          </p:cNvSpPr>
          <p:nvPr>
            <p:ph idx="1"/>
          </p:nvPr>
        </p:nvSpPr>
        <p:spPr>
          <a:xfrm>
            <a:off x="304800" y="1371600"/>
            <a:ext cx="8458200" cy="5257800"/>
          </a:xfrm>
        </p:spPr>
        <p:txBody>
          <a:bodyPr/>
          <a:lstStyle/>
          <a:p>
            <a:r>
              <a:rPr lang="en-US" dirty="0"/>
              <a:t>Involves gaining stakeholder and customer acceptance of the final products and services </a:t>
            </a:r>
          </a:p>
          <a:p>
            <a:r>
              <a:rPr lang="en-US" dirty="0"/>
              <a:t>Even if projects are not completed, they should be closed out to learn from the past</a:t>
            </a:r>
          </a:p>
          <a:p>
            <a:r>
              <a:rPr lang="en-US" dirty="0"/>
              <a:t>Outputs include project files and lessons-learned reports, part of organizational process assets</a:t>
            </a:r>
          </a:p>
          <a:p>
            <a:r>
              <a:rPr lang="en-US" dirty="0"/>
              <a:t>Most projects also include a final report and presentation to the sponsor/senior management</a:t>
            </a:r>
          </a:p>
        </p:txBody>
      </p:sp>
      <p:sp>
        <p:nvSpPr>
          <p:cNvPr id="30724" name="Rectangle 2"/>
          <p:cNvSpPr>
            <a:spLocks noGrp="1" noChangeArrowheads="1"/>
          </p:cNvSpPr>
          <p:nvPr>
            <p:ph type="title"/>
          </p:nvPr>
        </p:nvSpPr>
        <p:spPr/>
        <p:txBody>
          <a:bodyPr/>
          <a:lstStyle/>
          <a:p>
            <a:r>
              <a:rPr lang="en-US" dirty="0"/>
              <a:t>Project Closing</a:t>
            </a:r>
          </a:p>
        </p:txBody>
      </p:sp>
      <p:sp>
        <p:nvSpPr>
          <p:cNvPr id="30722"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FD83BAD-2D16-456B-A291-B3EF43DFB6A9}"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676400"/>
            <a:ext cx="8229600" cy="4525962"/>
          </a:xfrm>
        </p:spPr>
        <p:txBody>
          <a:bodyPr/>
          <a:lstStyle/>
          <a:p>
            <a:r>
              <a:rPr lang="en-US" dirty="0"/>
              <a:t>This section demonstrates a more agile approach to managing the same project</a:t>
            </a:r>
          </a:p>
          <a:p>
            <a:r>
              <a:rPr lang="en-US" dirty="0"/>
              <a:t>Differences in using an agile approach are highlighted</a:t>
            </a:r>
          </a:p>
          <a:p>
            <a:r>
              <a:rPr lang="en-US" dirty="0"/>
              <a:t>An agile project team typically uses several iterations or deliveries of software instead of waiting until the end of the project to provide one product.</a:t>
            </a:r>
          </a:p>
        </p:txBody>
      </p:sp>
      <p:sp>
        <p:nvSpPr>
          <p:cNvPr id="3" name="Title 2"/>
          <p:cNvSpPr>
            <a:spLocks noGrp="1"/>
          </p:cNvSpPr>
          <p:nvPr>
            <p:ph type="title"/>
          </p:nvPr>
        </p:nvSpPr>
        <p:spPr/>
        <p:txBody>
          <a:bodyPr>
            <a:normAutofit fontScale="90000"/>
          </a:bodyPr>
          <a:lstStyle/>
          <a:p>
            <a:r>
              <a:rPr lang="en-US" dirty="0"/>
              <a:t>Case Study 2: JWD Consulting’s Project Management Intranet Site (Agile Approach)</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29</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It is not a snap decision whether to use an agile approach or not, just like flying or driving somewhere on a trip</a:t>
            </a:r>
          </a:p>
          <a:p>
            <a:r>
              <a:rPr lang="en-US" dirty="0"/>
              <a:t>Projects with less rigid constraints, experienced and preferably co-located teams, smaller risks, unclear requirements, and more flexible scheduling would be more compatible with an agile approach</a:t>
            </a:r>
          </a:p>
          <a:p>
            <a:r>
              <a:rPr lang="en-US" dirty="0"/>
              <a:t>The following example uses Scrum roles, artifacts, and ceremonies</a:t>
            </a:r>
          </a:p>
        </p:txBody>
      </p:sp>
      <p:sp>
        <p:nvSpPr>
          <p:cNvPr id="3" name="Title 2"/>
          <p:cNvSpPr>
            <a:spLocks noGrp="1"/>
          </p:cNvSpPr>
          <p:nvPr>
            <p:ph type="title"/>
          </p:nvPr>
        </p:nvSpPr>
        <p:spPr/>
        <p:txBody>
          <a:bodyPr/>
          <a:lstStyle/>
          <a:p>
            <a:r>
              <a:rPr lang="en-US" dirty="0"/>
              <a:t>An Informed Decision</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30</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b="1" dirty="0"/>
              <a:t>Product owner</a:t>
            </a:r>
            <a:r>
              <a:rPr lang="en-US" sz="2400" dirty="0"/>
              <a:t>: The person responsible for the business value of the project and for deciding what work to do and in what order, as documented in the product backlog.</a:t>
            </a:r>
          </a:p>
          <a:p>
            <a:r>
              <a:rPr lang="en-US" sz="2400" b="1" dirty="0" err="1"/>
              <a:t>ScrumMaste</a:t>
            </a:r>
            <a:r>
              <a:rPr lang="en-US" sz="2400" dirty="0" err="1"/>
              <a:t>r</a:t>
            </a:r>
            <a:r>
              <a:rPr lang="en-US" sz="2400" dirty="0"/>
              <a:t>: The person who ensures that the team is productive, facilitates the daily Scrum, enables close cooperation across all roles and functions, and removes barriers that prevent the team from being effective. </a:t>
            </a:r>
          </a:p>
          <a:p>
            <a:r>
              <a:rPr lang="en-US" sz="2400" b="1" dirty="0"/>
              <a:t>Scrum team or development team</a:t>
            </a:r>
            <a:r>
              <a:rPr lang="en-US" sz="2400" dirty="0"/>
              <a:t>: A cross-functional team of five to nine people who organize themselves and the work to produce the desired results for each </a:t>
            </a:r>
            <a:r>
              <a:rPr lang="en-US" sz="2400" b="1" dirty="0"/>
              <a:t>sprint</a:t>
            </a:r>
            <a:r>
              <a:rPr lang="en-US" sz="2400" dirty="0"/>
              <a:t>, which normally lasts 2-4 weeks.</a:t>
            </a:r>
          </a:p>
        </p:txBody>
      </p:sp>
      <p:sp>
        <p:nvSpPr>
          <p:cNvPr id="3" name="Title 2"/>
          <p:cNvSpPr>
            <a:spLocks noGrp="1"/>
          </p:cNvSpPr>
          <p:nvPr>
            <p:ph type="title"/>
          </p:nvPr>
        </p:nvSpPr>
        <p:spPr/>
        <p:txBody>
          <a:bodyPr>
            <a:normAutofit/>
          </a:bodyPr>
          <a:lstStyle/>
          <a:p>
            <a:r>
              <a:rPr lang="en-US" dirty="0"/>
              <a:t>Scrum Roles</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31</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t>An artifact is a useful object created by people</a:t>
            </a:r>
          </a:p>
          <a:p>
            <a:r>
              <a:rPr lang="en-US" sz="2800" dirty="0"/>
              <a:t>Scrum artifacts include:</a:t>
            </a:r>
          </a:p>
          <a:p>
            <a:pPr lvl="1"/>
            <a:r>
              <a:rPr lang="en-US" sz="2400" b="1" dirty="0"/>
              <a:t>Product backlog</a:t>
            </a:r>
            <a:r>
              <a:rPr lang="en-US" sz="2400" dirty="0"/>
              <a:t>: A list of features prioritized by business value</a:t>
            </a:r>
          </a:p>
          <a:p>
            <a:pPr lvl="1"/>
            <a:r>
              <a:rPr lang="en-US" sz="2400" b="1" dirty="0"/>
              <a:t>Sprint backlog</a:t>
            </a:r>
            <a:r>
              <a:rPr lang="en-US" sz="2400" dirty="0"/>
              <a:t>: The highest-priority items from the product backlog to be completed within a sprint</a:t>
            </a:r>
          </a:p>
          <a:p>
            <a:pPr lvl="1"/>
            <a:r>
              <a:rPr lang="en-US" sz="2400" b="1" dirty="0" err="1"/>
              <a:t>Burndown</a:t>
            </a:r>
            <a:r>
              <a:rPr lang="en-US" sz="2400" b="1" dirty="0"/>
              <a:t> chart</a:t>
            </a:r>
            <a:r>
              <a:rPr lang="en-US" sz="2400" dirty="0"/>
              <a:t>: Shows the cumulative work remaining in a sprint on a day-by-day basis</a:t>
            </a:r>
          </a:p>
        </p:txBody>
      </p:sp>
      <p:sp>
        <p:nvSpPr>
          <p:cNvPr id="3" name="Title 2"/>
          <p:cNvSpPr>
            <a:spLocks noGrp="1"/>
          </p:cNvSpPr>
          <p:nvPr>
            <p:ph type="title"/>
          </p:nvPr>
        </p:nvSpPr>
        <p:spPr/>
        <p:txBody>
          <a:bodyPr/>
          <a:lstStyle/>
          <a:p>
            <a:r>
              <a:rPr lang="en-US" dirty="0"/>
              <a:t>Scrum Artifacts</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32</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143000"/>
            <a:ext cx="8229600" cy="4525962"/>
          </a:xfrm>
        </p:spPr>
        <p:txBody>
          <a:bodyPr/>
          <a:lstStyle/>
          <a:p>
            <a:r>
              <a:rPr lang="en-US" sz="2400" dirty="0"/>
              <a:t>Sprint planning session: A meeting with the team to select a set of work from the product backlog to deliver during a sprint. </a:t>
            </a:r>
          </a:p>
          <a:p>
            <a:r>
              <a:rPr lang="en-US" sz="2400" b="1" dirty="0"/>
              <a:t>Daily Scrum</a:t>
            </a:r>
            <a:r>
              <a:rPr lang="en-US" sz="2400" dirty="0"/>
              <a:t>: A short meeting for the development team to share progress and challenges and plan work for the day.</a:t>
            </a:r>
          </a:p>
          <a:p>
            <a:r>
              <a:rPr lang="en-US" sz="2400" dirty="0"/>
              <a:t>Sprint reviews: A meeting in which the team demonstrates to the product owner what it has completed during the sprint.</a:t>
            </a:r>
          </a:p>
          <a:p>
            <a:r>
              <a:rPr lang="en-US" sz="2400" dirty="0"/>
              <a:t> Sprint retrospectives: A meeting in which the team looks for ways to improve the product and the process based on a review of the actual performance of the development team.</a:t>
            </a:r>
          </a:p>
        </p:txBody>
      </p:sp>
      <p:sp>
        <p:nvSpPr>
          <p:cNvPr id="3" name="Title 2"/>
          <p:cNvSpPr>
            <a:spLocks noGrp="1"/>
          </p:cNvSpPr>
          <p:nvPr>
            <p:ph type="title"/>
          </p:nvPr>
        </p:nvSpPr>
        <p:spPr/>
        <p:txBody>
          <a:bodyPr/>
          <a:lstStyle/>
          <a:p>
            <a:r>
              <a:rPr lang="en-US" dirty="0"/>
              <a:t>Scrum Ceremonies</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33</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Figure 3-5. Scrum Framework and the Process Groups</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34</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23999"/>
            <a:ext cx="8686800" cy="48686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Table 3-18. unique Scrum Activities by Process Group</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600200"/>
            <a:ext cx="7162800" cy="4469644"/>
          </a:xfrm>
          <a:prstGeom prst="rect">
            <a:avLst/>
          </a:prstGeom>
        </p:spPr>
      </p:pic>
      <p:sp>
        <p:nvSpPr>
          <p:cNvPr id="8" name="Footer Placeholder 7"/>
          <p:cNvSpPr>
            <a:spLocks noGrp="1"/>
          </p:cNvSpPr>
          <p:nvPr>
            <p:ph type="ftr" sz="quarter" idx="10"/>
          </p:nvPr>
        </p:nvSpPr>
        <p:spPr/>
        <p:txBody>
          <a:bodyPr/>
          <a:lstStyle/>
          <a:p>
            <a:r>
              <a:rPr lang="en-US"/>
              <a:t>Information Technology Project Management, Seventh Edition</a:t>
            </a:r>
            <a:endParaRPr lang="en-US" dirty="0"/>
          </a:p>
        </p:txBody>
      </p:sp>
      <p:sp>
        <p:nvSpPr>
          <p:cNvPr id="9" name="Slide Number Placeholder 8"/>
          <p:cNvSpPr>
            <a:spLocks noGrp="1"/>
          </p:cNvSpPr>
          <p:nvPr>
            <p:ph type="sldNum" sz="quarter" idx="11"/>
          </p:nvPr>
        </p:nvSpPr>
        <p:spPr/>
        <p:txBody>
          <a:bodyPr/>
          <a:lstStyle/>
          <a:p>
            <a:pPr>
              <a:defRPr/>
            </a:pPr>
            <a:fld id="{AEAD0689-3C8F-4F33-9924-B2EDADDE0827}" type="slidenum">
              <a:rPr lang="en-US" smtClean="0"/>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a:t>
            </a:r>
          </a:p>
        </p:txBody>
      </p:sp>
      <p:sp>
        <p:nvSpPr>
          <p:cNvPr id="3" name="Content Placeholder 2"/>
          <p:cNvSpPr>
            <a:spLocks noGrp="1"/>
          </p:cNvSpPr>
          <p:nvPr>
            <p:ph idx="1"/>
          </p:nvPr>
        </p:nvSpPr>
        <p:spPr/>
        <p:txBody>
          <a:bodyPr/>
          <a:lstStyle/>
          <a:p>
            <a:r>
              <a:rPr lang="en-US" dirty="0"/>
              <a:t>Not different from PMBOK® Guide</a:t>
            </a:r>
          </a:p>
          <a:p>
            <a:pPr lvl="1"/>
            <a:r>
              <a:rPr lang="en-US" dirty="0"/>
              <a:t>Still create a scope statement and can use a Gantt chart for the entire project schedule; other planning similar (risk, etc.)</a:t>
            </a:r>
          </a:p>
          <a:p>
            <a:r>
              <a:rPr lang="en-US" dirty="0"/>
              <a:t>Different:</a:t>
            </a:r>
          </a:p>
          <a:p>
            <a:pPr lvl="1"/>
            <a:r>
              <a:rPr lang="en-US" dirty="0"/>
              <a:t>Descriptions of work are identified in the product and sprint backlogs, more detailed work documented in technical stories, estimate a velocity or capacity for each sprint; release roadmap often used for schedule</a:t>
            </a:r>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EAD0689-3C8F-4F33-9924-B2EDADDE0827}"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Figure 3-6. Intranet Site Project Baseline Gantt Chart Using Scrum </a:t>
            </a:r>
            <a:r>
              <a:rPr lang="en-US" dirty="0" err="1"/>
              <a:t>ApproachApproach</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29" y="1219200"/>
            <a:ext cx="9109771" cy="4895193"/>
          </a:xfrm>
          <a:prstGeom prst="rect">
            <a:avLst/>
          </a:prstGeom>
        </p:spPr>
      </p:pic>
      <p:sp>
        <p:nvSpPr>
          <p:cNvPr id="6" name="TextBox 5"/>
          <p:cNvSpPr txBox="1"/>
          <p:nvPr/>
        </p:nvSpPr>
        <p:spPr>
          <a:xfrm>
            <a:off x="6248400" y="2514600"/>
            <a:ext cx="2514600" cy="954107"/>
          </a:xfrm>
          <a:prstGeom prst="rect">
            <a:avLst/>
          </a:prstGeom>
          <a:noFill/>
        </p:spPr>
        <p:txBody>
          <a:bodyPr wrap="square" rtlCol="0">
            <a:spAutoFit/>
          </a:bodyPr>
          <a:lstStyle/>
          <a:p>
            <a:r>
              <a:rPr lang="en-US" sz="2800" b="1" dirty="0">
                <a:solidFill>
                  <a:srgbClr val="FF0000"/>
                </a:solidFill>
              </a:rPr>
              <a:t>3 software releases vs. 1</a:t>
            </a:r>
          </a:p>
        </p:txBody>
      </p:sp>
      <p:sp>
        <p:nvSpPr>
          <p:cNvPr id="3" name="Footer Placeholder 2"/>
          <p:cNvSpPr>
            <a:spLocks noGrp="1"/>
          </p:cNvSpPr>
          <p:nvPr>
            <p:ph type="ftr" sz="quarter" idx="10"/>
          </p:nvPr>
        </p:nvSpPr>
        <p:spPr/>
        <p:txBody>
          <a:bodyPr/>
          <a:lstStyle/>
          <a:p>
            <a:r>
              <a:rPr lang="en-US"/>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defRPr/>
            </a:pPr>
            <a:fld id="{AEAD0689-3C8F-4F33-9924-B2EDADDE0827}" type="slidenum">
              <a:rPr lang="en-US" smtClean="0"/>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74638"/>
            <a:ext cx="9296400" cy="1143000"/>
          </a:xfrm>
        </p:spPr>
        <p:txBody>
          <a:bodyPr>
            <a:normAutofit fontScale="90000"/>
          </a:bodyPr>
          <a:lstStyle/>
          <a:p>
            <a:r>
              <a:rPr lang="en-US" dirty="0"/>
              <a:t>Table 3-19. Product and Sprint Backlogs</a:t>
            </a:r>
          </a:p>
        </p:txBody>
      </p:sp>
      <p:sp>
        <p:nvSpPr>
          <p:cNvPr id="4" name="Slide Number Placeholder 3"/>
          <p:cNvSpPr>
            <a:spLocks noGrp="1"/>
          </p:cNvSpPr>
          <p:nvPr>
            <p:ph type="sldNum" sz="quarter" idx="11"/>
          </p:nvPr>
        </p:nvSpPr>
        <p:spPr/>
        <p:txBody>
          <a:bodyPr/>
          <a:lstStyle/>
          <a:p>
            <a:pPr>
              <a:defRPr/>
            </a:pPr>
            <a:fld id="{AEAD0689-3C8F-4F33-9924-B2EDADDE0827}" type="slidenum">
              <a:rPr lang="en-US" smtClean="0"/>
              <a:t>38</a:t>
            </a:fld>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230" y="1196340"/>
            <a:ext cx="7749540" cy="44653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Executing</a:t>
            </a:r>
          </a:p>
        </p:txBody>
      </p:sp>
      <p:sp>
        <p:nvSpPr>
          <p:cNvPr id="3" name="Content Placeholder 2"/>
          <p:cNvSpPr>
            <a:spLocks noGrp="1"/>
          </p:cNvSpPr>
          <p:nvPr>
            <p:ph idx="1"/>
          </p:nvPr>
        </p:nvSpPr>
        <p:spPr/>
        <p:txBody>
          <a:bodyPr/>
          <a:lstStyle/>
          <a:p>
            <a:r>
              <a:rPr lang="en-US" dirty="0"/>
              <a:t>Not different from PMBOK® Guide</a:t>
            </a:r>
          </a:p>
          <a:p>
            <a:pPr lvl="1"/>
            <a:r>
              <a:rPr lang="en-US" dirty="0"/>
              <a:t>Still produce products, lead people, etc.</a:t>
            </a:r>
          </a:p>
          <a:p>
            <a:r>
              <a:rPr lang="en-US" dirty="0"/>
              <a:t>Different:</a:t>
            </a:r>
          </a:p>
          <a:p>
            <a:pPr lvl="1"/>
            <a:r>
              <a:rPr lang="en-US" dirty="0"/>
              <a:t>Produce several releases of software - users of the new software might be confused by getting several iterations of the product instead of just one</a:t>
            </a:r>
          </a:p>
          <a:p>
            <a:pPr lvl="1"/>
            <a:r>
              <a:rPr lang="en-US" dirty="0"/>
              <a:t>Communications different because the project team meets every morning, physically or virtually</a:t>
            </a:r>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EAD0689-3C8F-4F33-9924-B2EDADDE0827}" type="slidenum">
              <a:rPr lang="en-US" smtClean="0"/>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Monitoring and Controlling</a:t>
            </a:r>
          </a:p>
        </p:txBody>
      </p:sp>
      <p:sp>
        <p:nvSpPr>
          <p:cNvPr id="3" name="Content Placeholder 2"/>
          <p:cNvSpPr>
            <a:spLocks noGrp="1"/>
          </p:cNvSpPr>
          <p:nvPr>
            <p:ph idx="1"/>
          </p:nvPr>
        </p:nvSpPr>
        <p:spPr/>
        <p:txBody>
          <a:bodyPr/>
          <a:lstStyle/>
          <a:p>
            <a:r>
              <a:rPr lang="en-US" dirty="0"/>
              <a:t>Not different from PMBOK® Guide </a:t>
            </a:r>
          </a:p>
          <a:p>
            <a:pPr lvl="1"/>
            <a:r>
              <a:rPr lang="en-US" dirty="0"/>
              <a:t>Still check actual work vs. planned work</a:t>
            </a:r>
          </a:p>
          <a:p>
            <a:r>
              <a:rPr lang="en-US" dirty="0"/>
              <a:t>Different</a:t>
            </a:r>
          </a:p>
          <a:p>
            <a:pPr lvl="1"/>
            <a:r>
              <a:rPr lang="en-US" dirty="0"/>
              <a:t>Names of key reviews are the daily Scrum and the sprint review</a:t>
            </a:r>
          </a:p>
          <a:p>
            <a:pPr lvl="1"/>
            <a:r>
              <a:rPr lang="en-US" dirty="0"/>
              <a:t>A sprint board is used instead of a tracking Gantt chart or other tools</a:t>
            </a:r>
          </a:p>
          <a:p>
            <a:pPr lvl="1"/>
            <a:r>
              <a:rPr lang="en-US" dirty="0"/>
              <a:t>Use a burndown chart vs. earned value chart</a:t>
            </a:r>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EAD0689-3C8F-4F33-9924-B2EDADDE0827}" type="slidenum">
              <a:rPr lang="en-US" smtClean="0"/>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3-7. </a:t>
            </a:r>
            <a:r>
              <a:rPr lang="en-US" dirty="0" err="1"/>
              <a:t>Burndown</a:t>
            </a:r>
            <a:r>
              <a:rPr lang="en-US" dirty="0"/>
              <a:t> Chart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143001"/>
            <a:ext cx="7696200" cy="4845756"/>
          </a:xfrm>
          <a:prstGeom prst="rect">
            <a:avLst/>
          </a:prstGeom>
        </p:spPr>
      </p:pic>
      <p:sp>
        <p:nvSpPr>
          <p:cNvPr id="3" name="Footer Placeholder 2"/>
          <p:cNvSpPr>
            <a:spLocks noGrp="1"/>
          </p:cNvSpPr>
          <p:nvPr>
            <p:ph type="ftr" sz="quarter" idx="10"/>
          </p:nvPr>
        </p:nvSpPr>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EAD0689-3C8F-4F33-9924-B2EDADDE0827}" type="slidenum">
              <a:rPr lang="en-US" smtClean="0"/>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Closing</a:t>
            </a:r>
          </a:p>
        </p:txBody>
      </p:sp>
      <p:sp>
        <p:nvSpPr>
          <p:cNvPr id="3" name="Content Placeholder 2"/>
          <p:cNvSpPr>
            <a:spLocks noGrp="1"/>
          </p:cNvSpPr>
          <p:nvPr>
            <p:ph idx="1"/>
          </p:nvPr>
        </p:nvSpPr>
        <p:spPr/>
        <p:txBody>
          <a:bodyPr/>
          <a:lstStyle/>
          <a:p>
            <a:r>
              <a:rPr lang="en-US" dirty="0"/>
              <a:t>Not different from PMBOK® Guide</a:t>
            </a:r>
          </a:p>
          <a:p>
            <a:pPr lvl="1"/>
            <a:r>
              <a:rPr lang="en-US" dirty="0"/>
              <a:t>Focus is still on acceptance of deliverables and reflection</a:t>
            </a:r>
          </a:p>
          <a:p>
            <a:r>
              <a:rPr lang="en-US" sz="2800" dirty="0"/>
              <a:t>Different:</a:t>
            </a:r>
          </a:p>
          <a:p>
            <a:pPr lvl="1"/>
            <a:r>
              <a:rPr lang="en-US" sz="2400" dirty="0"/>
              <a:t>The retrospective is similar to a lessons-learned report, but it focuses on a shorter period of time. It is intended to answer two fundamental questions: </a:t>
            </a:r>
          </a:p>
          <a:p>
            <a:pPr lvl="2"/>
            <a:r>
              <a:rPr lang="en-US" sz="2000" dirty="0"/>
              <a:t>What went well during the last sprint that we should continue doing?</a:t>
            </a:r>
          </a:p>
          <a:p>
            <a:pPr lvl="2"/>
            <a:r>
              <a:rPr lang="en-US" sz="2000" dirty="0"/>
              <a:t>What could we do differently to improve the product or process?</a:t>
            </a:r>
          </a:p>
          <a:p>
            <a:endParaRPr lang="en-US" dirty="0"/>
          </a:p>
        </p:txBody>
      </p:sp>
      <p:sp>
        <p:nvSpPr>
          <p:cNvPr id="5" name="Footer Placeholder 4"/>
          <p:cNvSpPr>
            <a:spLocks noGrp="1"/>
          </p:cNvSpPr>
          <p:nvPr>
            <p:ph type="ftr" sz="quarter" idx="10"/>
          </p:nvPr>
        </p:nvSpPr>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EAD0689-3C8F-4F33-9924-B2EDADDE0827}" type="slidenum">
              <a:rPr lang="en-US" smtClean="0"/>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p:cNvSpPr>
            <a:spLocks noGrp="1"/>
          </p:cNvSpPr>
          <p:nvPr>
            <p:ph idx="1"/>
          </p:nvPr>
        </p:nvSpPr>
        <p:spPr/>
        <p:txBody>
          <a:bodyPr/>
          <a:lstStyle/>
          <a:p>
            <a:r>
              <a:rPr lang="en-US" dirty="0"/>
              <a:t>Table 3-20 on pp. 130-131 lists the templates available on the companion Web site and the author’s site (www.kathyschwalbe.com)</a:t>
            </a:r>
          </a:p>
        </p:txBody>
      </p:sp>
      <p:sp>
        <p:nvSpPr>
          <p:cNvPr id="31746" name="Title 1"/>
          <p:cNvSpPr>
            <a:spLocks noGrp="1"/>
          </p:cNvSpPr>
          <p:nvPr>
            <p:ph type="title"/>
          </p:nvPr>
        </p:nvSpPr>
        <p:spPr/>
        <p:txBody>
          <a:bodyPr/>
          <a:lstStyle/>
          <a:p>
            <a:r>
              <a:rPr lang="en-US" dirty="0"/>
              <a:t>Templates</a:t>
            </a:r>
          </a:p>
        </p:txBody>
      </p:sp>
      <p:sp>
        <p:nvSpPr>
          <p:cNvPr id="31748"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B33C8F4-4D5A-4375-9A45-E37276847D25}" type="slidenum">
              <a:rPr lang="en-US" smtClean="0"/>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3"/>
          <p:cNvSpPr>
            <a:spLocks noGrp="1" noChangeArrowheads="1"/>
          </p:cNvSpPr>
          <p:nvPr>
            <p:ph idx="1"/>
          </p:nvPr>
        </p:nvSpPr>
        <p:spPr>
          <a:xfrm>
            <a:off x="228600" y="1295400"/>
            <a:ext cx="8763000" cy="4525962"/>
          </a:xfrm>
        </p:spPr>
        <p:txBody>
          <a:bodyPr/>
          <a:lstStyle/>
          <a:p>
            <a:r>
              <a:rPr lang="en-US" sz="2400" dirty="0"/>
              <a:t>The five project management process groups are initiating, planning, executing, monitoring and controlling, and closing</a:t>
            </a:r>
          </a:p>
          <a:p>
            <a:r>
              <a:rPr lang="en-US" sz="2400" dirty="0"/>
              <a:t>You can map the main activities of each process group to the nine knowledge areas</a:t>
            </a:r>
          </a:p>
          <a:p>
            <a:r>
              <a:rPr lang="en-US" sz="2400" dirty="0"/>
              <a:t>Some organizations develop their own information technology project management methodologies</a:t>
            </a:r>
          </a:p>
          <a:p>
            <a:r>
              <a:rPr lang="en-US" sz="2400" dirty="0"/>
              <a:t>The JWD Consulting case study provides an example of using the process groups and shows several important project documents</a:t>
            </a:r>
          </a:p>
          <a:p>
            <a:r>
              <a:rPr lang="en-US" sz="2400" dirty="0"/>
              <a:t>The second version of the same case study illustrates differences using agile (Scrum). The biggest difference is providing three releases of useable software versus just one</a:t>
            </a:r>
          </a:p>
        </p:txBody>
      </p:sp>
      <p:sp>
        <p:nvSpPr>
          <p:cNvPr id="32772" name="Rectangle 2"/>
          <p:cNvSpPr>
            <a:spLocks noGrp="1" noChangeArrowheads="1"/>
          </p:cNvSpPr>
          <p:nvPr>
            <p:ph type="title"/>
          </p:nvPr>
        </p:nvSpPr>
        <p:spPr/>
        <p:txBody>
          <a:bodyPr/>
          <a:lstStyle/>
          <a:p>
            <a:r>
              <a:rPr lang="en-US" dirty="0"/>
              <a:t>Chapter Summary</a:t>
            </a:r>
          </a:p>
        </p:txBody>
      </p:sp>
      <p:sp>
        <p:nvSpPr>
          <p:cNvPr id="32770" name="Footer Placeholder 3"/>
          <p:cNvSpPr>
            <a:spLocks noGrp="1"/>
          </p:cNvSpPr>
          <p:nvPr>
            <p:ph type="ftr" sz="quarter" idx="10"/>
          </p:nvPr>
        </p:nvSpPr>
        <p:spPr bwMode="auto">
          <a:xfrm>
            <a:off x="0" y="6492875"/>
            <a:ext cx="2590800" cy="365125"/>
          </a:xfrm>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4B151D96-BD4B-49C9-8E2C-53D6B85F0E4F}" type="slidenum">
              <a:rPr lang="en-US"/>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45</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dirty="0"/>
              <a:t>__</a:t>
            </a:r>
            <a:r>
              <a:rPr lang="zh-CN" altLang="en-US" dirty="0"/>
              <a:t>是针对某一特定结果的一系列行动。</a:t>
            </a:r>
          </a:p>
          <a:p>
            <a:r>
              <a:rPr lang="zh-CN" altLang="en-US" dirty="0"/>
              <a:t>a.目标</a:t>
            </a:r>
          </a:p>
          <a:p>
            <a:r>
              <a:rPr lang="zh-CN" altLang="en-US" dirty="0"/>
              <a:t>b.过程</a:t>
            </a:r>
          </a:p>
          <a:p>
            <a:r>
              <a:rPr lang="zh-CN" altLang="en-US" dirty="0"/>
              <a:t>c.计划</a:t>
            </a:r>
          </a:p>
          <a:p>
            <a:r>
              <a:rPr lang="zh-CN" altLang="en-US" dirty="0"/>
              <a:t>d.项目</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46</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__</a:t>
            </a:r>
            <a:r>
              <a:rPr lang="zh-CN" altLang="en-US"/>
              <a:t>过程包括协调人员及其他资源，以全面贯彻落实项目计划，输出项目或项目阶段产品、服务或成果。</a:t>
            </a:r>
          </a:p>
          <a:p>
            <a:r>
              <a:rPr lang="zh-CN" altLang="en-US"/>
              <a:t>a.启动</a:t>
            </a:r>
          </a:p>
          <a:p>
            <a:r>
              <a:rPr lang="zh-CN" altLang="en-US"/>
              <a:t>b.计划</a:t>
            </a:r>
          </a:p>
          <a:p>
            <a:r>
              <a:rPr lang="zh-CN" altLang="en-US"/>
              <a:t>c.执行</a:t>
            </a:r>
          </a:p>
          <a:p>
            <a:r>
              <a:rPr lang="zh-CN" altLang="en-US"/>
              <a:t>d.监控</a:t>
            </a:r>
          </a:p>
          <a:p>
            <a:r>
              <a:rPr lang="en-US" altLang="zh-CN"/>
              <a:t>e.</a:t>
            </a:r>
            <a:r>
              <a:rPr lang="zh-CN" altLang="en-US"/>
              <a:t>收尾</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47</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_过程组通常最需要资源和时间。</a:t>
            </a:r>
          </a:p>
          <a:p>
            <a:r>
              <a:rPr lang="zh-CN" altLang="en-US"/>
              <a:t>a.启动</a:t>
            </a:r>
          </a:p>
          <a:p>
            <a:r>
              <a:rPr lang="zh-CN" altLang="en-US"/>
              <a:t>b.计划</a:t>
            </a:r>
          </a:p>
          <a:p>
            <a:r>
              <a:rPr lang="zh-CN" altLang="en-US"/>
              <a:t>c.执行</a:t>
            </a:r>
          </a:p>
          <a:p>
            <a:r>
              <a:rPr lang="zh-CN" altLang="en-US"/>
              <a:t>d.监控</a:t>
            </a:r>
          </a:p>
          <a:p>
            <a:r>
              <a:rPr lang="zh-CN" altLang="en-US"/>
              <a:t>e.收尾</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48</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__</a:t>
            </a:r>
            <a:r>
              <a:rPr lang="zh-CN" altLang="en-US"/>
              <a:t>方法论产生于英国，定义了 45 个单独的子过程，并把它们组成8个过程组。</a:t>
            </a:r>
          </a:p>
          <a:p>
            <a:r>
              <a:rPr lang="zh-CN" altLang="en-US"/>
              <a:t>a.六西格玛</a:t>
            </a:r>
          </a:p>
          <a:p>
            <a:r>
              <a:rPr lang="zh-CN" altLang="en-US"/>
              <a:t>b.软件统一过程</a:t>
            </a:r>
          </a:p>
          <a:p>
            <a:r>
              <a:rPr lang="zh-CN" altLang="en-US"/>
              <a:t>C.PMBOK”指南</a:t>
            </a:r>
          </a:p>
          <a:p>
            <a:r>
              <a:rPr lang="zh-CN" altLang="en-US"/>
              <a:t>dPRINCE2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49</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下面</a:t>
            </a:r>
            <a:r>
              <a:rPr lang="en-US" altLang="zh-CN"/>
              <a:t>__</a:t>
            </a:r>
            <a:r>
              <a:rPr lang="zh-CN" altLang="en-US"/>
              <a:t>输出在项目启动之前完成</a:t>
            </a:r>
          </a:p>
          <a:p>
            <a:r>
              <a:rPr lang="zh-CN" altLang="en-US"/>
              <a:t>a.项目干系人登记</a:t>
            </a:r>
          </a:p>
          <a:p>
            <a:r>
              <a:rPr lang="zh-CN" altLang="en-US"/>
              <a:t>b.商业论证</a:t>
            </a:r>
          </a:p>
          <a:p>
            <a:r>
              <a:rPr lang="zh-CN" altLang="en-US"/>
              <a:t>c.项目章程</a:t>
            </a:r>
          </a:p>
          <a:p>
            <a:r>
              <a:rPr lang="zh-CN" altLang="en-US"/>
              <a:t>d.启动会议</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50</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工作分解结构、项目进度表、成本估算是</a:t>
            </a:r>
            <a:r>
              <a:rPr lang="en-US" altLang="zh-CN"/>
              <a:t>__</a:t>
            </a:r>
            <a:r>
              <a:rPr lang="zh-CN" altLang="en-US"/>
              <a:t>过程的输出。</a:t>
            </a:r>
          </a:p>
          <a:p>
            <a:r>
              <a:rPr lang="zh-CN" altLang="en-US"/>
              <a:t>a.启动</a:t>
            </a:r>
          </a:p>
          <a:p>
            <a:r>
              <a:rPr lang="zh-CN" altLang="en-US"/>
              <a:t>b.计划</a:t>
            </a:r>
          </a:p>
          <a:p>
            <a:r>
              <a:rPr lang="zh-CN" altLang="en-US"/>
              <a:t>c.执行</a:t>
            </a:r>
          </a:p>
          <a:p>
            <a:r>
              <a:rPr lang="zh-CN" altLang="en-US"/>
              <a:t>d.监控</a:t>
            </a:r>
          </a:p>
          <a:p>
            <a:r>
              <a:rPr lang="zh-CN" altLang="en-US"/>
              <a:t>e.收尾</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51</a:t>
            </a:fld>
            <a:endParaRPr lang="en-US" dirty="0"/>
          </a:p>
        </p:txBody>
      </p:sp>
      <p:sp>
        <p:nvSpPr>
          <p:cNvPr id="2" name="内容占位符 1"/>
          <p:cNvSpPr>
            <a:spLocks noGrp="1"/>
          </p:cNvSpPr>
          <p:nvPr>
            <p:ph idx="1"/>
          </p:nvPr>
        </p:nvSpPr>
        <p:spPr>
          <a:xfrm>
            <a:off x="457200" y="837883"/>
            <a:ext cx="8229600" cy="4525962"/>
          </a:xfrm>
        </p:spPr>
        <p:txBody>
          <a:bodyPr/>
          <a:lstStyle/>
          <a:p>
            <a:r>
              <a:rPr lang="zh-CN" altLang="en-US"/>
              <a:t>启动过程包括制定项目章程，是项目</a:t>
            </a:r>
            <a:r>
              <a:rPr lang="en-US" altLang="zh-CN"/>
              <a:t>__</a:t>
            </a:r>
            <a:r>
              <a:rPr lang="zh-CN" altLang="en-US"/>
              <a:t>管理知识领域的一部分。</a:t>
            </a:r>
          </a:p>
          <a:p>
            <a:r>
              <a:rPr lang="en-US" altLang="zh-CN"/>
              <a:t>a.综合</a:t>
            </a:r>
          </a:p>
          <a:p>
            <a:r>
              <a:rPr lang="en-US" altLang="zh-CN"/>
              <a:t>b.范</a:t>
            </a:r>
          </a:p>
          <a:p>
            <a:r>
              <a:rPr lang="en-US" altLang="zh-CN"/>
              <a:t>c.沟通</a:t>
            </a:r>
          </a:p>
          <a:p>
            <a:r>
              <a:rPr lang="en-US" altLang="zh-CN"/>
              <a:t>d.风险</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52</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__包括根据项目目标来衡量项目进度，并采取纠正措施。</a:t>
            </a:r>
          </a:p>
          <a:p>
            <a:r>
              <a:rPr lang="en-US" altLang="zh-CN"/>
              <a:t>a.启动</a:t>
            </a:r>
          </a:p>
          <a:p>
            <a:r>
              <a:rPr lang="en-US" altLang="zh-CN"/>
              <a:t>b.计划</a:t>
            </a:r>
          </a:p>
          <a:p>
            <a:r>
              <a:rPr lang="en-US" altLang="zh-CN"/>
              <a:t>c.执行</a:t>
            </a:r>
          </a:p>
          <a:p>
            <a:r>
              <a:rPr lang="en-US" altLang="zh-CN"/>
              <a:t>d.监控</a:t>
            </a:r>
          </a:p>
          <a:p>
            <a:r>
              <a:rPr lang="en-US" altLang="zh-CN"/>
              <a:t>e.收尾</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53</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下面__不是项目组用预测方法而不用敏捷方法去管理项目的典型原因。</a:t>
            </a:r>
          </a:p>
          <a:p>
            <a:r>
              <a:rPr lang="en-US" altLang="zh-CN"/>
              <a:t>a.项目没有清晰的前期需求</a:t>
            </a:r>
          </a:p>
          <a:p>
            <a:r>
              <a:rPr lang="en-US" altLang="zh-CN"/>
              <a:t>b.项目组没有经验且分散</a:t>
            </a:r>
          </a:p>
          <a:p>
            <a:r>
              <a:rPr lang="en-US" altLang="zh-CN"/>
              <a:t>c.涉及巨大风险</a:t>
            </a:r>
          </a:p>
          <a:p>
            <a:r>
              <a:rPr lang="en-US" altLang="zh-CN"/>
              <a:t>d.工日期相当死板</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快速测验</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54</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很多人在编制各种项目管理文档时都是用__作为标准格式。</a:t>
            </a:r>
          </a:p>
          <a:p>
            <a:r>
              <a:rPr lang="en-US" altLang="zh-CN"/>
              <a:t>a.方法论</a:t>
            </a:r>
          </a:p>
          <a:p>
            <a:r>
              <a:rPr lang="en-US" altLang="zh-CN"/>
              <a:t>b.模板</a:t>
            </a:r>
          </a:p>
          <a:p>
            <a:r>
              <a:rPr lang="en-US" altLang="zh-CN"/>
              <a:t>c.项目管理软件</a:t>
            </a:r>
          </a:p>
          <a:p>
            <a:r>
              <a:rPr lang="en-US" altLang="zh-CN"/>
              <a:t>d.标准</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讨论题</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55</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1</a:t>
            </a:r>
            <a:r>
              <a:rPr lang="zh-CN" altLang="en-US"/>
              <a:t>、五大过程组？</a:t>
            </a:r>
          </a:p>
          <a:p>
            <a:r>
              <a:rPr lang="en-US" altLang="zh-CN"/>
              <a:t>2</a:t>
            </a:r>
            <a:r>
              <a:rPr lang="zh-CN" altLang="en-US"/>
              <a:t>、</a:t>
            </a:r>
            <a:r>
              <a:rPr lang="en-US" altLang="zh-CN"/>
              <a:t>Scrum</a:t>
            </a:r>
            <a:r>
              <a:rPr lang="zh-CN" altLang="en-US"/>
              <a:t>三个工件？</a:t>
            </a:r>
          </a:p>
          <a:p>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讨论题</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56</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t>1</a:t>
            </a:r>
            <a:r>
              <a:rPr lang="zh-CN" altLang="en-US"/>
              <a:t>、五大过程组？</a:t>
            </a:r>
          </a:p>
          <a:p>
            <a:r>
              <a:rPr lang="zh-CN" altLang="en-US"/>
              <a:t>启动</a:t>
            </a:r>
          </a:p>
          <a:p>
            <a:r>
              <a:rPr lang="zh-CN" altLang="en-US"/>
              <a:t>计划</a:t>
            </a:r>
          </a:p>
          <a:p>
            <a:r>
              <a:rPr lang="zh-CN" altLang="en-US"/>
              <a:t>执行</a:t>
            </a:r>
          </a:p>
          <a:p>
            <a:r>
              <a:rPr lang="zh-CN" altLang="en-US"/>
              <a:t>监控</a:t>
            </a:r>
          </a:p>
          <a:p>
            <a:r>
              <a:rPr lang="zh-CN" altLang="en-US"/>
              <a:t>收尾</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a:xfrm>
            <a:off x="381000" y="37514"/>
            <a:ext cx="8305800" cy="715962"/>
          </a:xfrm>
        </p:spPr>
        <p:txBody>
          <a:bodyPr>
            <a:normAutofit/>
          </a:bodyPr>
          <a:lstStyle/>
          <a:p>
            <a:r>
              <a:rPr lang="zh-CN" altLang="en-US" dirty="0"/>
              <a:t>讨论题</a:t>
            </a:r>
          </a:p>
        </p:txBody>
      </p:sp>
      <p:sp>
        <p:nvSpPr>
          <p:cNvPr id="34818" name="Footer Placeholder 3"/>
          <p:cNvSpPr>
            <a:spLocks noGrp="1"/>
          </p:cNvSpPr>
          <p:nvPr>
            <p:ph type="ftr" sz="quarter" idx="10"/>
          </p:nvPr>
        </p:nvSpPr>
        <p:spPr bwMode="auto">
          <a:noFill/>
          <a:ln>
            <a:miter lim="800000"/>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6E4E808-D5A2-4270-948F-25CED7EF1363}" type="slidenum">
              <a:rPr lang="en-US"/>
              <a:t>57</a:t>
            </a:fld>
            <a:endParaRPr lang="en-US" dirty="0"/>
          </a:p>
        </p:txBody>
      </p:sp>
      <p:sp>
        <p:nvSpPr>
          <p:cNvPr id="2" name="内容占位符 1"/>
          <p:cNvSpPr>
            <a:spLocks noGrp="1"/>
          </p:cNvSpPr>
          <p:nvPr>
            <p:ph idx="1"/>
          </p:nvPr>
        </p:nvSpPr>
        <p:spPr>
          <a:xfrm>
            <a:off x="457200" y="837883"/>
            <a:ext cx="8229600" cy="4525962"/>
          </a:xfrm>
        </p:spPr>
        <p:txBody>
          <a:bodyPr/>
          <a:lstStyle/>
          <a:p>
            <a:r>
              <a:rPr lang="en-US" altLang="zh-CN">
                <a:sym typeface="+mn-ea"/>
              </a:rPr>
              <a:t>2</a:t>
            </a:r>
            <a:r>
              <a:rPr lang="zh-CN" altLang="en-US">
                <a:sym typeface="+mn-ea"/>
              </a:rPr>
              <a:t>、</a:t>
            </a:r>
            <a:r>
              <a:rPr lang="en-US" altLang="zh-CN">
                <a:sym typeface="+mn-ea"/>
              </a:rPr>
              <a:t>Scrum</a:t>
            </a:r>
            <a:r>
              <a:rPr lang="zh-CN" altLang="en-US">
                <a:sym typeface="+mn-ea"/>
              </a:rPr>
              <a:t>三个工件？</a:t>
            </a:r>
            <a:endParaRPr lang="zh-CN" altLang="en-US"/>
          </a:p>
          <a:p>
            <a:r>
              <a:rPr lang="zh-CN" altLang="en-US"/>
              <a:t>产品待办事项</a:t>
            </a:r>
          </a:p>
          <a:p>
            <a:r>
              <a:rPr lang="zh-CN" altLang="en-US"/>
              <a:t>冲刺待办事项</a:t>
            </a:r>
          </a:p>
          <a:p>
            <a:r>
              <a:rPr lang="zh-CN" altLang="en-US"/>
              <a:t>燃尽图</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lhOTJmNTgwOTk5Y2YzOWQyNGEyNTY2NzZlZTc0ZDkifQ=="/>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otalTime>0</TotalTime>
  <Words>3138</Words>
  <Application>Microsoft Office PowerPoint</Application>
  <PresentationFormat>全屏显示(4:3)</PresentationFormat>
  <Paragraphs>362</Paragraphs>
  <Slides>57</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57</vt:i4>
      </vt:variant>
    </vt:vector>
  </HeadingPairs>
  <TitlesOfParts>
    <vt:vector size="67" baseType="lpstr">
      <vt:lpstr>Arial</vt:lpstr>
      <vt:lpstr>Arial Rounded MT Bold</vt:lpstr>
      <vt:lpstr>Calibri</vt:lpstr>
      <vt:lpstr>Lucida Sans Unicode</vt:lpstr>
      <vt:lpstr>Times New Roman</vt:lpstr>
      <vt:lpstr>Verdana</vt:lpstr>
      <vt:lpstr>Wingdings 2</vt:lpstr>
      <vt:lpstr>Wingdings 3</vt:lpstr>
      <vt:lpstr>Custom Design</vt:lpstr>
      <vt:lpstr>Theme1</vt:lpstr>
      <vt:lpstr>Chapter 3: The Project Management Process Groups: A Case Study</vt:lpstr>
      <vt:lpstr>Learning Objectives</vt:lpstr>
      <vt:lpstr>Learning Objectives</vt:lpstr>
      <vt:lpstr>Project Management Process Groups</vt:lpstr>
      <vt:lpstr>Figure 3-1. Percentage of Time Spent on Each Process Group</vt:lpstr>
      <vt:lpstr>What Went Wrong?</vt:lpstr>
      <vt:lpstr>Media Snapshot</vt:lpstr>
      <vt:lpstr>Mapping the Process Groups to the Knowledge Areas</vt:lpstr>
      <vt:lpstr>Table 3-1. Project Management Process Groups and Knowledge Area Mapping*</vt:lpstr>
      <vt:lpstr>Table 3-1. continued</vt:lpstr>
      <vt:lpstr>Developing an IT Project Management Methodology</vt:lpstr>
      <vt:lpstr>Global Issues</vt:lpstr>
      <vt:lpstr>What Went Right?</vt:lpstr>
      <vt:lpstr>Case Study:  JWD Consulting’s Project Management Intranet Site (Predictive Approach)</vt:lpstr>
      <vt:lpstr>Project Pre-initiation</vt:lpstr>
      <vt:lpstr>Project Initiation</vt:lpstr>
      <vt:lpstr>Table 3-4. Stakeholder Register</vt:lpstr>
      <vt:lpstr>Table 3-4. Stakeholder Management Strategy</vt:lpstr>
      <vt:lpstr>Project Charters and Kick-off Meetings</vt:lpstr>
      <vt:lpstr>Figure 3-2. Kick-off Meeting Agenda</vt:lpstr>
      <vt:lpstr>Project Planning</vt:lpstr>
      <vt:lpstr>Figure 3-4. JWD Consulting Intranet Site Project Baseline Gantt Chart</vt:lpstr>
      <vt:lpstr>Table. 3-10. List of Prioritized Risks</vt:lpstr>
      <vt:lpstr>Project Executing</vt:lpstr>
      <vt:lpstr>Part of Milestone Report (Table 3-11, partial)</vt:lpstr>
      <vt:lpstr>Best Practice</vt:lpstr>
      <vt:lpstr>Project Monitoring and Controlling</vt:lpstr>
      <vt:lpstr>Project Closing</vt:lpstr>
      <vt:lpstr>Case Study 2: JWD Consulting’s Project Management Intranet Site (Agile Approach)</vt:lpstr>
      <vt:lpstr>An Informed Decision</vt:lpstr>
      <vt:lpstr>Scrum Roles</vt:lpstr>
      <vt:lpstr>Scrum Artifacts</vt:lpstr>
      <vt:lpstr>Scrum Ceremonies</vt:lpstr>
      <vt:lpstr>Figure 3-5. Scrum Framework and the Process Groups</vt:lpstr>
      <vt:lpstr>Table 3-18. unique Scrum Activities by Process Group</vt:lpstr>
      <vt:lpstr>Planning</vt:lpstr>
      <vt:lpstr>Figure 3-6. Intranet Site Project Baseline Gantt Chart Using Scrum ApproachApproach</vt:lpstr>
      <vt:lpstr>Table 3-19. Product and Sprint Backlogs</vt:lpstr>
      <vt:lpstr>Executing</vt:lpstr>
      <vt:lpstr>Monitoring and Controlling</vt:lpstr>
      <vt:lpstr>Figure 3-7. Burndown Chart</vt:lpstr>
      <vt:lpstr>Closing</vt:lpstr>
      <vt:lpstr>Templates</vt:lpstr>
      <vt:lpstr>Chapter Summary</vt:lpstr>
      <vt:lpstr>快速测验</vt:lpstr>
      <vt:lpstr>快速测验</vt:lpstr>
      <vt:lpstr>快速测验</vt:lpstr>
      <vt:lpstr>快速测验</vt:lpstr>
      <vt:lpstr>快速测验</vt:lpstr>
      <vt:lpstr>快速测验</vt:lpstr>
      <vt:lpstr>快速测验</vt:lpstr>
      <vt:lpstr>快速测验</vt:lpstr>
      <vt:lpstr>快速测验</vt:lpstr>
      <vt:lpstr>快速测验</vt:lpstr>
      <vt:lpstr>讨论题</vt:lpstr>
      <vt:lpstr>讨论题</vt:lpstr>
      <vt:lpstr>讨论题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文 谭</cp:lastModifiedBy>
  <cp:revision>187</cp:revision>
  <dcterms:created xsi:type="dcterms:W3CDTF">2001-07-05T23:10:00Z</dcterms:created>
  <dcterms:modified xsi:type="dcterms:W3CDTF">2025-09-09T14:42:33Z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00C26997B554469CB09091D1FE762B8E_12</vt:lpwstr>
  </property>
  <property fmtid="{D5CDD505-2E9C-101B-9397-08002B2CF9AE}" pid="3" name="KSOProductBuildVer">
    <vt:lpwstr>2052-12.1.0.15374</vt:lpwstr>
  </property>
</Properties>
</file>