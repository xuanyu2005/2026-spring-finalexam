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 id="2147483843" r:id="rId3"/>
    <p:sldMasterId id="2147483855" r:id="rId4"/>
  </p:sldMasterIdLst>
  <p:notesMasterIdLst>
    <p:notesMasterId r:id="rId61"/>
  </p:notesMasterIdLst>
  <p:handoutMasterIdLst>
    <p:handoutMasterId r:id="rId62"/>
  </p:handoutMasterIdLst>
  <p:sldIdLst>
    <p:sldId id="257" r:id="rId5"/>
    <p:sldId id="382" r:id="rId6"/>
    <p:sldId id="334" r:id="rId7"/>
    <p:sldId id="335" r:id="rId8"/>
    <p:sldId id="336" r:id="rId9"/>
    <p:sldId id="337" r:id="rId10"/>
    <p:sldId id="364" r:id="rId11"/>
    <p:sldId id="375" r:id="rId12"/>
    <p:sldId id="376" r:id="rId13"/>
    <p:sldId id="377" r:id="rId14"/>
    <p:sldId id="368" r:id="rId15"/>
    <p:sldId id="372" r:id="rId16"/>
    <p:sldId id="369" r:id="rId17"/>
    <p:sldId id="378" r:id="rId18"/>
    <p:sldId id="370" r:id="rId19"/>
    <p:sldId id="371" r:id="rId20"/>
    <p:sldId id="341" r:id="rId21"/>
    <p:sldId id="379" r:id="rId22"/>
    <p:sldId id="342" r:id="rId23"/>
    <p:sldId id="343" r:id="rId24"/>
    <p:sldId id="344" r:id="rId25"/>
    <p:sldId id="345" r:id="rId26"/>
    <p:sldId id="346" r:id="rId27"/>
    <p:sldId id="348" r:id="rId28"/>
    <p:sldId id="349" r:id="rId29"/>
    <p:sldId id="350" r:id="rId30"/>
    <p:sldId id="351" r:id="rId31"/>
    <p:sldId id="352" r:id="rId32"/>
    <p:sldId id="374" r:id="rId33"/>
    <p:sldId id="354" r:id="rId34"/>
    <p:sldId id="380" r:id="rId35"/>
    <p:sldId id="355" r:id="rId36"/>
    <p:sldId id="356" r:id="rId37"/>
    <p:sldId id="357" r:id="rId38"/>
    <p:sldId id="366" r:id="rId39"/>
    <p:sldId id="381" r:id="rId40"/>
    <p:sldId id="358" r:id="rId41"/>
    <p:sldId id="367" r:id="rId42"/>
    <p:sldId id="359" r:id="rId43"/>
    <p:sldId id="360" r:id="rId44"/>
    <p:sldId id="361" r:id="rId45"/>
    <p:sldId id="362" r:id="rId46"/>
    <p:sldId id="363" r:id="rId47"/>
    <p:sldId id="383" r:id="rId48"/>
    <p:sldId id="385" r:id="rId49"/>
    <p:sldId id="387" r:id="rId50"/>
    <p:sldId id="389" r:id="rId51"/>
    <p:sldId id="391" r:id="rId52"/>
    <p:sldId id="394" r:id="rId53"/>
    <p:sldId id="400" r:id="rId54"/>
    <p:sldId id="401" r:id="rId55"/>
    <p:sldId id="402" r:id="rId56"/>
    <p:sldId id="403" r:id="rId57"/>
    <p:sldId id="404" r:id="rId58"/>
    <p:sldId id="405" r:id="rId59"/>
    <p:sldId id="406" r:id="rId60"/>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1887" autoAdjust="0"/>
  </p:normalViewPr>
  <p:slideViewPr>
    <p:cSldViewPr>
      <p:cViewPr varScale="1">
        <p:scale>
          <a:sx n="114" d="100"/>
          <a:sy n="114" d="100"/>
        </p:scale>
        <p:origin x="98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2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C65B926E-4E70-4E7C-A492-D0CDF3C7E1CF}" type="slidenum">
              <a:rPr lang="en-US"/>
              <a:pPr>
                <a:defRPr/>
              </a:pPr>
              <a:t>‹#›</a:t>
            </a:fld>
            <a:endParaRPr lang="en-US" dirty="0"/>
          </a:p>
        </p:txBody>
      </p:sp>
    </p:spTree>
    <p:extLst>
      <p:ext uri="{BB962C8B-B14F-4D97-AF65-F5344CB8AC3E}">
        <p14:creationId xmlns:p14="http://schemas.microsoft.com/office/powerpoint/2010/main" val="33218046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FB628D5B-A7C7-42E0-BFEE-8A6E6DE4D620}" type="slidenum">
              <a:rPr lang="en-US"/>
              <a:pPr>
                <a:defRPr/>
              </a:pPr>
              <a:t>‹#›</a:t>
            </a:fld>
            <a:endParaRPr lang="en-US" dirty="0"/>
          </a:p>
        </p:txBody>
      </p:sp>
    </p:spTree>
    <p:extLst>
      <p:ext uri="{BB962C8B-B14F-4D97-AF65-F5344CB8AC3E}">
        <p14:creationId xmlns:p14="http://schemas.microsoft.com/office/powerpoint/2010/main" val="2182300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pPr eaLnBrk="1" hangingPunct="1"/>
            <a:endParaRPr lang="en-US" dirty="0"/>
          </a:p>
        </p:txBody>
      </p:sp>
      <p:sp>
        <p:nvSpPr>
          <p:cNvPr id="45060" name="Slide Number Placeholder 3"/>
          <p:cNvSpPr>
            <a:spLocks noGrp="1"/>
          </p:cNvSpPr>
          <p:nvPr>
            <p:ph type="sldNum" sz="quarter" idx="5"/>
          </p:nvPr>
        </p:nvSpPr>
        <p:spPr>
          <a:noFill/>
        </p:spPr>
        <p:txBody>
          <a:bodyPr/>
          <a:lstStyle/>
          <a:p>
            <a:fld id="{135203A4-082A-4448-BDB0-5CDB74643CD1}"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BEED858-41DD-4669-ACD0-0FE909D2C42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D0B4DA7-581C-40A3-BCB4-1307A955BB7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8358C7-1EB0-4EEF-A9D9-DA49F859DED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E9A965-858B-487F-8735-1765BCABB592}"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5704951A-0E7C-4F14-91E3-D33D5B465BB5}"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0F80014F-D774-4519-B844-A2F39E4FCBD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D394E5C8-07BC-403D-807B-67B7EC92173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CCE72DE-727C-44FD-8C4B-6A992740AE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56261B2-E792-4CCC-9B27-651612F41BC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D8AF82-58A6-4B0A-99BE-3E241868A7E5}"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03D3F4-A0D0-405E-A767-F9A123F7238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5381041-9C54-49A7-A924-29D217AD23D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6C0B31-47C3-49FD-8211-A1EA24F16913}"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056DBD78-0C1C-4E39-B25C-2D86EF84190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F4B7A325-B10B-44F9-8D64-D11C845FEE90}"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428A81CF-9A71-4B4A-A02C-DA98461234B2}"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07E326B0-0E99-4EB4-8F79-0134171EA74C}"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15E64789-22BD-4B66-9BFC-904BA6707DB0}"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420D16DA-79A3-43C0-A698-4D27A49B6CE6}"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C14E0A1E-657D-490E-9262-79448EA4878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C5FA4337-D482-4795-909A-B265FCB8FB7E}"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DC3E4BF0-CDDD-45AA-8761-673D8D9691C1}"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2DA2BF">
                    <a:tint val="20000"/>
                  </a:srgbClr>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srgbClr val="2DA2BF">
                  <a:tint val="20000"/>
                </a:srgbClr>
              </a:solidFill>
              <a:effectLst/>
              <a:uLnTx/>
              <a:uFillTx/>
              <a:latin typeface="Arial" charset="0"/>
              <a:ea typeface="+mn-ea"/>
              <a:cs typeface="+mn-cs"/>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07854DB3-7A57-4181-880A-5215D777BBA6}" type="slidenum">
              <a:rPr kumimoji="0" lang="en-US"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1393785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Copyright 2014</a:t>
            </a:r>
          </a:p>
        </p:txBody>
      </p:sp>
    </p:spTree>
    <p:extLst>
      <p:ext uri="{BB962C8B-B14F-4D97-AF65-F5344CB8AC3E}">
        <p14:creationId xmlns:p14="http://schemas.microsoft.com/office/powerpoint/2010/main" val="2400123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7673681-C82D-4D99-8948-365C75EB26F8}"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882523311"/>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50FAF7-8C0D-4DDF-A379-F4FDC17B23A3}"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78099171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6E41F8-23B9-454D-90CC-E31BF8A7FBCB}"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99028724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AB078C3-AD74-4C69-8529-ABFACC42093C}"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415981073"/>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D544F7-41D2-4889-B2EC-B0B2B2B8DC54}"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574634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EE8385-873D-4308-8CE2-51B606282F1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2065795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2917F4C6-6F30-47C3-875F-46DAC858CAAF}"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314862565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418779-1B42-43E3-AD0F-719051D42099}"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681768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78B0EE-74BD-464F-A113-BF9301018BF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9336714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2DA2BF">
                    <a:tint val="20000"/>
                  </a:srgbClr>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srgbClr val="2DA2BF">
                  <a:tint val="20000"/>
                </a:srgbClr>
              </a:solidFill>
              <a:effectLst/>
              <a:uLnTx/>
              <a:uFillTx/>
              <a:latin typeface="Arial" charset="0"/>
              <a:ea typeface="+mn-ea"/>
              <a:cs typeface="+mn-cs"/>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07854DB3-7A57-4181-880A-5215D777BBA6}" type="slidenum">
              <a:rPr kumimoji="0" lang="en-US"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34639818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Copyright 2014</a:t>
            </a:r>
          </a:p>
        </p:txBody>
      </p:sp>
    </p:spTree>
    <p:extLst>
      <p:ext uri="{BB962C8B-B14F-4D97-AF65-F5344CB8AC3E}">
        <p14:creationId xmlns:p14="http://schemas.microsoft.com/office/powerpoint/2010/main" val="6616796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7673681-C82D-4D99-8948-365C75EB26F8}"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5065053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50FAF7-8C0D-4DDF-A379-F4FDC17B23A3}"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38332297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6E41F8-23B9-454D-90CC-E31BF8A7FBCB}"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44580006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AB078C3-AD74-4C69-8529-ABFACC42093C}"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150117885"/>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D544F7-41D2-4889-B2EC-B0B2B2B8DC54}"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858492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EE8385-873D-4308-8CE2-51B606282F1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853832260"/>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2917F4C6-6F30-47C3-875F-46DAC858CAAF}"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2381987771"/>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418779-1B42-43E3-AD0F-719051D42099}"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226002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78B0EE-74BD-464F-A113-BF9301018BF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303783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D3329071-3EF5-4489-AD01-960B23CCFC6D}"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3329071-3EF5-4489-AD01-960B23CCFC6D}"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BD45D22-0321-4823-8238-266049D2529C}"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022322961"/>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BD45D22-0321-4823-8238-266049D2529C}"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779606162"/>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hyperlink" Target="http://www.myki.com.au/" TargetMode="Externa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295400"/>
            <a:ext cx="83058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5:</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Scope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、项目范围管理涉及的</a:t>
            </a:r>
            <a:r>
              <a:rPr lang="en-US" altLang="zh-CN" b="1" dirty="0"/>
              <a:t>6</a:t>
            </a:r>
            <a:r>
              <a:rPr lang="zh-CN" altLang="en-US" b="1" dirty="0"/>
              <a:t>个主要过程</a:t>
            </a:r>
            <a:endParaRPr lang="en-US" altLang="zh-CN" b="1" dirty="0"/>
          </a:p>
          <a:p>
            <a:r>
              <a:rPr lang="en-US" altLang="zh-CN" b="1" dirty="0"/>
              <a:t>2</a:t>
            </a:r>
            <a:r>
              <a:rPr lang="zh-CN" altLang="en-US" b="1" dirty="0"/>
              <a:t>、范围管理计划包括哪些信息？</a:t>
            </a:r>
            <a:endParaRPr lang="en-US" altLang="zh-CN" b="1" dirty="0"/>
          </a:p>
          <a:p>
            <a:r>
              <a:rPr lang="en-US" altLang="zh-CN" b="1" dirty="0"/>
              <a:t>3</a:t>
            </a:r>
            <a:r>
              <a:rPr lang="zh-CN" altLang="en-US" b="1" dirty="0"/>
              <a:t>、收集需求的常用方法</a:t>
            </a:r>
            <a:endParaRPr lang="en-US" altLang="zh-CN" b="1" dirty="0"/>
          </a:p>
          <a:p>
            <a:r>
              <a:rPr lang="en-US" altLang="zh-CN" b="1" dirty="0"/>
              <a:t>4</a:t>
            </a:r>
            <a:r>
              <a:rPr lang="zh-CN" altLang="en-US" b="1" dirty="0"/>
              <a:t>、制定工作分解结构（</a:t>
            </a:r>
            <a:r>
              <a:rPr lang="en-US" altLang="zh-CN" b="1" dirty="0"/>
              <a:t>WBS</a:t>
            </a:r>
            <a:r>
              <a:rPr lang="zh-CN" altLang="en-US" b="1" dirty="0"/>
              <a:t>）的方法</a:t>
            </a:r>
            <a:endParaRPr lang="en-US" altLang="zh-CN" b="1" dirty="0"/>
          </a:p>
          <a:p>
            <a:r>
              <a:rPr lang="en-US" altLang="zh-CN" b="1" dirty="0"/>
              <a:t>5</a:t>
            </a:r>
            <a:r>
              <a:rPr lang="zh-CN" altLang="en-US" b="1" dirty="0"/>
              <a:t>、范围控制的目标</a:t>
            </a:r>
            <a:endParaRPr lang="en-US" altLang="zh-CN" b="1" dirty="0"/>
          </a:p>
          <a:p>
            <a:r>
              <a:rPr lang="en-US" altLang="zh-CN" b="1" dirty="0"/>
              <a:t>6</a:t>
            </a:r>
            <a:r>
              <a:rPr lang="zh-CN" altLang="en-US" b="1" dirty="0"/>
              <a:t>、公司应遵循哪些最佳实践来避免出现主要的范围问题？</a:t>
            </a:r>
            <a:endParaRPr lang="en-US" altLang="zh-CN" b="1" dirty="0"/>
          </a:p>
          <a:p>
            <a:r>
              <a:rPr lang="en-US" altLang="zh-CN" dirty="0"/>
              <a:t>7</a:t>
            </a:r>
            <a:r>
              <a:rPr lang="zh-CN" altLang="en-US" dirty="0"/>
              <a:t>、范围蔓延产生的原因？是否可以避免？如何预防范围蔓延的产生？</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525171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152400" y="1066800"/>
            <a:ext cx="8763000" cy="4572000"/>
          </a:xfrm>
        </p:spPr>
        <p:txBody>
          <a:bodyPr/>
          <a:lstStyle/>
          <a:p>
            <a:r>
              <a:rPr lang="en-US" dirty="0"/>
              <a:t>Understand the importance of good project scope management </a:t>
            </a:r>
          </a:p>
          <a:p>
            <a:r>
              <a:rPr lang="en-US" dirty="0"/>
              <a:t>Describe the process of planning scope management</a:t>
            </a:r>
          </a:p>
          <a:p>
            <a:r>
              <a:rPr lang="en-US" dirty="0"/>
              <a:t>Discuss methods for collecting and documenting requirements to meet stakeholder needs and expectations </a:t>
            </a:r>
          </a:p>
          <a:p>
            <a:r>
              <a:rPr lang="en-US" dirty="0"/>
              <a:t>Explain the scope definition process and describe the contents of a project scope statement</a:t>
            </a:r>
          </a:p>
          <a:p>
            <a:r>
              <a:rPr lang="en-US" dirty="0"/>
              <a:t>Discuss the process for creating a work breakdown structure using the analogy, top-down, bottom-up, and mind-mapping approaches</a:t>
            </a:r>
          </a:p>
        </p:txBody>
      </p:sp>
      <p:sp>
        <p:nvSpPr>
          <p:cNvPr id="9218" name="Rectangle 2"/>
          <p:cNvSpPr>
            <a:spLocks noGrp="1" noChangeArrowheads="1"/>
          </p:cNvSpPr>
          <p:nvPr>
            <p:ph type="title"/>
          </p:nvPr>
        </p:nvSpPr>
        <p:spPr>
          <a:xfrm>
            <a:off x="381000" y="274638"/>
            <a:ext cx="8305800" cy="715962"/>
          </a:xfrm>
        </p:spPr>
        <p:txBody>
          <a:bodyPr>
            <a:noAutofit/>
          </a:bodyPr>
          <a:lstStyle/>
          <a:p>
            <a:r>
              <a:rPr lang="en-US" sz="4000" dirty="0"/>
              <a:t>Learning Objectives</a:t>
            </a:r>
          </a:p>
        </p:txBody>
      </p:sp>
      <p:sp>
        <p:nvSpPr>
          <p:cNvPr id="9220"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630E6A95-094A-4E8D-8575-B7EA854693B8}"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051"/>
          <p:cNvSpPr>
            <a:spLocks noGrp="1" noChangeArrowheads="1"/>
          </p:cNvSpPr>
          <p:nvPr>
            <p:ph idx="1"/>
          </p:nvPr>
        </p:nvSpPr>
        <p:spPr/>
        <p:txBody>
          <a:bodyPr/>
          <a:lstStyle/>
          <a:p>
            <a:r>
              <a:rPr lang="en-US" dirty="0"/>
              <a:t>Explain the importance of validating scope and how it relates to defining and controlling scope</a:t>
            </a:r>
          </a:p>
          <a:p>
            <a:r>
              <a:rPr lang="en-US" dirty="0"/>
              <a:t>Understand the importance of controlling scope and approaches for preventing scope-related problems on information technology (IT) projects</a:t>
            </a:r>
          </a:p>
          <a:p>
            <a:r>
              <a:rPr lang="en-US" dirty="0"/>
              <a:t>Describe how software can assist in project scope management</a:t>
            </a:r>
          </a:p>
        </p:txBody>
      </p:sp>
      <p:sp>
        <p:nvSpPr>
          <p:cNvPr id="10242" name="Rectangle 2050"/>
          <p:cNvSpPr>
            <a:spLocks noGrp="1" noChangeArrowheads="1"/>
          </p:cNvSpPr>
          <p:nvPr>
            <p:ph type="title"/>
          </p:nvPr>
        </p:nvSpPr>
        <p:spPr/>
        <p:txBody>
          <a:bodyPr>
            <a:normAutofit/>
          </a:bodyPr>
          <a:lstStyle/>
          <a:p>
            <a:r>
              <a:rPr lang="en-US" sz="4000" dirty="0"/>
              <a:t>Learning Objectives</a:t>
            </a:r>
          </a:p>
        </p:txBody>
      </p:sp>
      <p:sp>
        <p:nvSpPr>
          <p:cNvPr id="10244"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7D2974E1-487E-4F53-A395-5E67E1DEB0EE}"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228600" y="1066800"/>
            <a:ext cx="8415338" cy="5334000"/>
          </a:xfrm>
        </p:spPr>
        <p:txBody>
          <a:bodyPr/>
          <a:lstStyle/>
          <a:p>
            <a:r>
              <a:rPr lang="en-US" b="1" dirty="0"/>
              <a:t>Scope</a:t>
            </a:r>
            <a:r>
              <a:rPr lang="en-US" dirty="0"/>
              <a:t> refers to </a:t>
            </a:r>
            <a:r>
              <a:rPr lang="en-US" i="1" dirty="0"/>
              <a:t>all</a:t>
            </a:r>
            <a:r>
              <a:rPr lang="en-US" dirty="0"/>
              <a:t> the work involved in creating the products of the project and the processes used to create them</a:t>
            </a:r>
          </a:p>
          <a:p>
            <a:r>
              <a:rPr lang="en-US" dirty="0"/>
              <a:t> A </a:t>
            </a:r>
            <a:r>
              <a:rPr lang="en-US" b="1" dirty="0"/>
              <a:t>deliverable</a:t>
            </a:r>
            <a:r>
              <a:rPr lang="en-US" dirty="0"/>
              <a:t> is a product produced as part of a project, such as hardware or software, planning documents, or meeting minutes</a:t>
            </a:r>
          </a:p>
          <a:p>
            <a:r>
              <a:rPr lang="en-US" dirty="0"/>
              <a:t>Project scope management includes the processes involved in defining and controlling what is or is not included in a project</a:t>
            </a:r>
          </a:p>
        </p:txBody>
      </p:sp>
      <p:sp>
        <p:nvSpPr>
          <p:cNvPr id="11266" name="Rectangle 2"/>
          <p:cNvSpPr>
            <a:spLocks noGrp="1" noChangeArrowheads="1"/>
          </p:cNvSpPr>
          <p:nvPr>
            <p:ph type="title"/>
          </p:nvPr>
        </p:nvSpPr>
        <p:spPr>
          <a:xfrm>
            <a:off x="457200" y="0"/>
            <a:ext cx="8686800" cy="914400"/>
          </a:xfrm>
        </p:spPr>
        <p:txBody>
          <a:bodyPr>
            <a:normAutofit fontScale="90000"/>
          </a:bodyPr>
          <a:lstStyle/>
          <a:p>
            <a:r>
              <a:rPr lang="en-US" dirty="0"/>
              <a:t>What is Project Scope Management?</a:t>
            </a:r>
          </a:p>
        </p:txBody>
      </p:sp>
      <p:sp>
        <p:nvSpPr>
          <p:cNvPr id="11268"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B025C1AB-8807-4B29-B4CC-E824C132B47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14287" y="609600"/>
            <a:ext cx="9144000" cy="4953000"/>
          </a:xfrm>
        </p:spPr>
        <p:txBody>
          <a:bodyPr/>
          <a:lstStyle/>
          <a:p>
            <a:r>
              <a:rPr lang="en-US" sz="2400" b="1" dirty="0"/>
              <a:t>Planning scope: </a:t>
            </a:r>
            <a:r>
              <a:rPr lang="en-US" sz="2400" dirty="0"/>
              <a:t>determining how the project’s scope</a:t>
            </a:r>
          </a:p>
          <a:p>
            <a:r>
              <a:rPr lang="en-US" sz="2400" dirty="0"/>
              <a:t>and requirements will be managed</a:t>
            </a:r>
            <a:endParaRPr lang="en-US" sz="2400" b="1" dirty="0"/>
          </a:p>
          <a:p>
            <a:r>
              <a:rPr lang="en-US" sz="2400" b="1" dirty="0"/>
              <a:t>Collecting requirements: </a:t>
            </a:r>
            <a:r>
              <a:rPr lang="en-US" sz="2400" dirty="0"/>
              <a:t>defining and documenting the features and functions of the products produced during the project as well as the processes used for creating them</a:t>
            </a:r>
          </a:p>
          <a:p>
            <a:r>
              <a:rPr lang="en-US" sz="2400" b="1" dirty="0"/>
              <a:t>Defining scope:</a:t>
            </a:r>
            <a:r>
              <a:rPr lang="en-US" sz="2400" dirty="0"/>
              <a:t> reviewing the project charter, requirements documents, and organizational process assets to create a scope statement</a:t>
            </a:r>
          </a:p>
          <a:p>
            <a:r>
              <a:rPr lang="en-US" sz="2400" b="1" dirty="0"/>
              <a:t>Creating the WBS:</a:t>
            </a:r>
            <a:r>
              <a:rPr lang="en-US" sz="2400" dirty="0"/>
              <a:t> subdividing the major project deliverables into smaller, more manageable components</a:t>
            </a:r>
          </a:p>
          <a:p>
            <a:r>
              <a:rPr lang="en-US" sz="2400" b="1" dirty="0"/>
              <a:t>Validating scope</a:t>
            </a:r>
            <a:r>
              <a:rPr lang="en-US" sz="2400" dirty="0"/>
              <a:t>: formalizing acceptance of the project deliverables</a:t>
            </a:r>
          </a:p>
          <a:p>
            <a:r>
              <a:rPr lang="en-US" sz="2400" b="1" dirty="0"/>
              <a:t>Controlling scope: </a:t>
            </a:r>
            <a:r>
              <a:rPr lang="en-US" sz="2400" dirty="0"/>
              <a:t>controlling changes to project scope throughout the life of the project</a:t>
            </a:r>
          </a:p>
        </p:txBody>
      </p:sp>
      <p:sp>
        <p:nvSpPr>
          <p:cNvPr id="12290" name="Rectangle 2"/>
          <p:cNvSpPr>
            <a:spLocks noGrp="1" noChangeArrowheads="1"/>
          </p:cNvSpPr>
          <p:nvPr>
            <p:ph type="title"/>
          </p:nvPr>
        </p:nvSpPr>
        <p:spPr>
          <a:xfrm>
            <a:off x="228600" y="28575"/>
            <a:ext cx="8915400" cy="519113"/>
          </a:xfrm>
        </p:spPr>
        <p:txBody>
          <a:bodyPr>
            <a:normAutofit fontScale="90000"/>
          </a:bodyPr>
          <a:lstStyle/>
          <a:p>
            <a:r>
              <a:rPr lang="en-US" dirty="0"/>
              <a:t>Project Scope Management Processes</a:t>
            </a:r>
            <a:endParaRPr lang="en-US" sz="5400" dirty="0"/>
          </a:p>
        </p:txBody>
      </p:sp>
      <p:sp>
        <p:nvSpPr>
          <p:cNvPr id="12292"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1180FD82-E557-4AEA-BC1F-775718A59924}"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81000" y="14287"/>
            <a:ext cx="8229600" cy="1143000"/>
          </a:xfrm>
        </p:spPr>
        <p:txBody>
          <a:bodyPr>
            <a:normAutofit fontScale="90000"/>
          </a:bodyPr>
          <a:lstStyle/>
          <a:p>
            <a:r>
              <a:rPr lang="en-US" dirty="0"/>
              <a:t>Figure 5-1. Project Scope Management Summary</a:t>
            </a:r>
          </a:p>
        </p:txBody>
      </p:sp>
      <p:sp>
        <p:nvSpPr>
          <p:cNvPr id="13315"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40AD864-FDC7-4ED6-B06B-A92A86C98EC5}" type="slidenum">
              <a:rPr lang="en-US" smtClean="0"/>
              <a:pPr>
                <a:defRPr/>
              </a:pPr>
              <a:t>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193675"/>
            <a:ext cx="7744442" cy="52833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project team uses expert judgment and meetings to develop two important outputs: the scope management plan and the requirements management plan</a:t>
            </a:r>
          </a:p>
          <a:p>
            <a:r>
              <a:rPr lang="en-US" dirty="0"/>
              <a:t>The scope management plan is a subsidiary part of the project management plan</a:t>
            </a:r>
          </a:p>
        </p:txBody>
      </p:sp>
      <p:sp>
        <p:nvSpPr>
          <p:cNvPr id="3" name="Title 2"/>
          <p:cNvSpPr>
            <a:spLocks noGrp="1"/>
          </p:cNvSpPr>
          <p:nvPr>
            <p:ph type="title"/>
          </p:nvPr>
        </p:nvSpPr>
        <p:spPr/>
        <p:txBody>
          <a:bodyPr/>
          <a:lstStyle/>
          <a:p>
            <a:r>
              <a:rPr lang="en-US" dirty="0"/>
              <a:t>Planning Scope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8</a:t>
            </a:fld>
            <a:endParaRPr lang="en-US" dirty="0"/>
          </a:p>
        </p:txBody>
      </p:sp>
    </p:spTree>
    <p:extLst>
      <p:ext uri="{BB962C8B-B14F-4D97-AF65-F5344CB8AC3E}">
        <p14:creationId xmlns:p14="http://schemas.microsoft.com/office/powerpoint/2010/main" val="1923445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How to prepare a detailed project scope statement</a:t>
            </a:r>
          </a:p>
          <a:p>
            <a:r>
              <a:rPr lang="en-US" dirty="0"/>
              <a:t>How to create a WBS</a:t>
            </a:r>
          </a:p>
          <a:p>
            <a:r>
              <a:rPr lang="en-US" dirty="0"/>
              <a:t>How to maintain and approve the WBS</a:t>
            </a:r>
          </a:p>
          <a:p>
            <a:r>
              <a:rPr lang="en-US" dirty="0"/>
              <a:t>How to obtain formal acceptance of the completed project deliverables</a:t>
            </a:r>
          </a:p>
          <a:p>
            <a:r>
              <a:rPr lang="en-US" dirty="0"/>
              <a:t>How to control requests for changes to the project scope</a:t>
            </a:r>
          </a:p>
        </p:txBody>
      </p:sp>
      <p:sp>
        <p:nvSpPr>
          <p:cNvPr id="3" name="Title 2"/>
          <p:cNvSpPr>
            <a:spLocks noGrp="1"/>
          </p:cNvSpPr>
          <p:nvPr>
            <p:ph type="title"/>
          </p:nvPr>
        </p:nvSpPr>
        <p:spPr/>
        <p:txBody>
          <a:bodyPr>
            <a:normAutofit fontScale="90000"/>
          </a:bodyPr>
          <a:lstStyle/>
          <a:p>
            <a:r>
              <a:rPr lang="en-US" dirty="0"/>
              <a:t>Scope Management Plan Contents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9</a:t>
            </a:fld>
            <a:endParaRPr lang="en-US" dirty="0"/>
          </a:p>
        </p:txBody>
      </p:sp>
    </p:spTree>
    <p:extLst>
      <p:ext uri="{BB962C8B-B14F-4D97-AF65-F5344CB8AC3E}">
        <p14:creationId xmlns:p14="http://schemas.microsoft.com/office/powerpoint/2010/main" val="2946303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PMBOK® Guide, Fifth Edition, describes requirements as “conditions or capabilities that must be met by the project or present in the product, service, or result to satisfy an agreement or other formally imposed specification”</a:t>
            </a:r>
          </a:p>
          <a:p>
            <a:r>
              <a:rPr lang="en-US" dirty="0"/>
              <a:t>The </a:t>
            </a:r>
            <a:r>
              <a:rPr lang="en-US" b="1" dirty="0"/>
              <a:t>requirements management plan </a:t>
            </a:r>
            <a:r>
              <a:rPr lang="en-US" dirty="0"/>
              <a:t>documents how project requirements will be analyzed, documented, and managed</a:t>
            </a:r>
          </a:p>
        </p:txBody>
      </p:sp>
      <p:sp>
        <p:nvSpPr>
          <p:cNvPr id="3" name="Title 2"/>
          <p:cNvSpPr>
            <a:spLocks noGrp="1"/>
          </p:cNvSpPr>
          <p:nvPr>
            <p:ph type="title"/>
          </p:nvPr>
        </p:nvSpPr>
        <p:spPr/>
        <p:txBody>
          <a:bodyPr/>
          <a:lstStyle/>
          <a:p>
            <a:r>
              <a:rPr lang="en-US" dirty="0"/>
              <a:t>Requirements Management Plan</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10</a:t>
            </a:fld>
            <a:endParaRPr lang="en-US" dirty="0"/>
          </a:p>
        </p:txBody>
      </p:sp>
    </p:spTree>
    <p:extLst>
      <p:ext uri="{BB962C8B-B14F-4D97-AF65-F5344CB8AC3E}">
        <p14:creationId xmlns:p14="http://schemas.microsoft.com/office/powerpoint/2010/main" val="3815877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525962"/>
          </a:xfrm>
        </p:spPr>
        <p:txBody>
          <a:bodyPr/>
          <a:lstStyle/>
          <a:p>
            <a:r>
              <a:rPr lang="en-US" dirty="0"/>
              <a:t>For some IT projects, it is helpful to divide requirements development into categories called elicitation, analysis, specification, and validation </a:t>
            </a:r>
          </a:p>
          <a:p>
            <a:r>
              <a:rPr lang="en-US" dirty="0"/>
              <a:t>It is important to use an iterative approach to defining requirements since they are often unclear early in a project</a:t>
            </a:r>
          </a:p>
          <a:p>
            <a:endParaRPr lang="en-US" dirty="0"/>
          </a:p>
        </p:txBody>
      </p:sp>
      <p:sp>
        <p:nvSpPr>
          <p:cNvPr id="3" name="Title 2"/>
          <p:cNvSpPr>
            <a:spLocks noGrp="1"/>
          </p:cNvSpPr>
          <p:nvPr>
            <p:ph type="title"/>
          </p:nvPr>
        </p:nvSpPr>
        <p:spPr/>
        <p:txBody>
          <a:bodyPr/>
          <a:lstStyle/>
          <a:p>
            <a:r>
              <a:rPr lang="en-US" dirty="0"/>
              <a:t>Collecting Requirements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Figure 5-2. Relative Cost to Correct a Software Requirement Defect</a:t>
            </a:r>
            <a:br>
              <a:rPr lang="en-US" dirty="0"/>
            </a:br>
            <a:endParaRPr lang="en-US" dirty="0"/>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061128"/>
            <a:ext cx="8458200" cy="52365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839200" cy="4525962"/>
          </a:xfrm>
        </p:spPr>
        <p:txBody>
          <a:bodyPr/>
          <a:lstStyle/>
          <a:p>
            <a:r>
              <a:rPr lang="en-US" dirty="0"/>
              <a:t>Interviewing </a:t>
            </a:r>
          </a:p>
          <a:p>
            <a:r>
              <a:rPr lang="en-US" dirty="0"/>
              <a:t>Focus groups and facilitated workshops</a:t>
            </a:r>
          </a:p>
          <a:p>
            <a:r>
              <a:rPr lang="en-US" dirty="0"/>
              <a:t>Using group creativity and decision-making techniques</a:t>
            </a:r>
          </a:p>
          <a:p>
            <a:r>
              <a:rPr lang="en-US" dirty="0"/>
              <a:t>Questionnaires and surveys </a:t>
            </a:r>
          </a:p>
          <a:p>
            <a:r>
              <a:rPr lang="en-US" dirty="0"/>
              <a:t>Observation </a:t>
            </a:r>
          </a:p>
          <a:p>
            <a:r>
              <a:rPr lang="en-US" dirty="0"/>
              <a:t>Prototyping </a:t>
            </a:r>
          </a:p>
          <a:p>
            <a:r>
              <a:rPr lang="en-US" b="1" dirty="0"/>
              <a:t>Benchmarking</a:t>
            </a:r>
            <a:r>
              <a:rPr lang="en-US" dirty="0"/>
              <a:t>, or generating ideas by comparing specific project practices or product characteristics to those of other projects or products inside or outside the performing organization, can also be used to collect requirements</a:t>
            </a:r>
          </a:p>
          <a:p>
            <a:endParaRPr lang="en-US" dirty="0"/>
          </a:p>
        </p:txBody>
      </p:sp>
      <p:sp>
        <p:nvSpPr>
          <p:cNvPr id="3" name="Title 2"/>
          <p:cNvSpPr>
            <a:spLocks noGrp="1"/>
          </p:cNvSpPr>
          <p:nvPr>
            <p:ph type="title"/>
          </p:nvPr>
        </p:nvSpPr>
        <p:spPr>
          <a:xfrm>
            <a:off x="304800" y="0"/>
            <a:ext cx="8686800" cy="1143000"/>
          </a:xfrm>
        </p:spPr>
        <p:txBody>
          <a:bodyPr>
            <a:normAutofit fontScale="90000"/>
          </a:bodyPr>
          <a:lstStyle/>
          <a:p>
            <a:r>
              <a:rPr lang="en-US" dirty="0"/>
              <a:t>Methods for Collecting Requirements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284"/>
            <a:ext cx="8686800" cy="4525962"/>
          </a:xfrm>
        </p:spPr>
        <p:txBody>
          <a:bodyPr/>
          <a:lstStyle/>
          <a:p>
            <a:r>
              <a:rPr lang="en-US" dirty="0"/>
              <a:t>Eighty-eight percent of the software projects involved enhancing existing products instead of creating new ones</a:t>
            </a:r>
          </a:p>
          <a:p>
            <a:r>
              <a:rPr lang="en-US" dirty="0"/>
              <a:t>Eighty-six percent of respondents said that customer satisfaction was the most important metric for measuring the success of development projects</a:t>
            </a:r>
          </a:p>
          <a:p>
            <a:r>
              <a:rPr lang="en-US" dirty="0"/>
              <a:t>Eighty-three percent of software development teams still use Microsoft Office applications such as Word and Excel as their main tools to communicate requirements</a:t>
            </a:r>
          </a:p>
        </p:txBody>
      </p:sp>
      <p:sp>
        <p:nvSpPr>
          <p:cNvPr id="3" name="Title 2"/>
          <p:cNvSpPr>
            <a:spLocks noGrp="1"/>
          </p:cNvSpPr>
          <p:nvPr>
            <p:ph type="title"/>
          </p:nvPr>
        </p:nvSpPr>
        <p:spPr/>
        <p:txBody>
          <a:bodyPr>
            <a:normAutofit fontScale="90000"/>
          </a:bodyPr>
          <a:lstStyle/>
          <a:p>
            <a:r>
              <a:rPr lang="en-US" dirty="0"/>
              <a:t>Statistics on Requirements for </a:t>
            </a:r>
            <a:br>
              <a:rPr lang="en-US" dirty="0"/>
            </a:br>
            <a:r>
              <a:rPr lang="en-US" dirty="0"/>
              <a:t>Software Projects (2011 Survey)*</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14</a:t>
            </a:fld>
            <a:endParaRPr lang="en-US" dirty="0"/>
          </a:p>
        </p:txBody>
      </p:sp>
      <p:sp>
        <p:nvSpPr>
          <p:cNvPr id="6" name="TextBox 5"/>
          <p:cNvSpPr txBox="1"/>
          <p:nvPr/>
        </p:nvSpPr>
        <p:spPr>
          <a:xfrm>
            <a:off x="685800" y="5775364"/>
            <a:ext cx="7584192" cy="369332"/>
          </a:xfrm>
          <a:prstGeom prst="rect">
            <a:avLst/>
          </a:prstGeom>
          <a:noFill/>
        </p:spPr>
        <p:txBody>
          <a:bodyPr wrap="none" rtlCol="0">
            <a:spAutoFit/>
          </a:bodyPr>
          <a:lstStyle/>
          <a:p>
            <a:r>
              <a:rPr lang="en-US" sz="1800" dirty="0"/>
              <a:t>*John Simpson, “2011: The State of Requirements Management” (2011).</a:t>
            </a:r>
          </a:p>
        </p:txBody>
      </p:sp>
    </p:spTree>
    <p:extLst>
      <p:ext uri="{BB962C8B-B14F-4D97-AF65-F5344CB8AC3E}">
        <p14:creationId xmlns:p14="http://schemas.microsoft.com/office/powerpoint/2010/main" val="3327590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525962"/>
          </a:xfrm>
        </p:spPr>
        <p:txBody>
          <a:bodyPr/>
          <a:lstStyle/>
          <a:p>
            <a:r>
              <a:rPr lang="en-US" dirty="0"/>
              <a:t>Genesys Telecommunications Laboratories uses Accept software, a product planning and innovation management application and winner of the Excellence in Product Management Award from 2006–2008</a:t>
            </a:r>
          </a:p>
          <a:p>
            <a:r>
              <a:rPr lang="en-US" dirty="0"/>
              <a:t>Accept helps them instill a consistent, repeatable, and predictable process for new product definition and development</a:t>
            </a:r>
          </a:p>
          <a:p>
            <a:r>
              <a:rPr lang="en-US" dirty="0"/>
              <a:t>They can define what information comprises a requirement and enforce discipline around that process</a:t>
            </a:r>
          </a:p>
          <a:p>
            <a:endParaRPr lang="en-US" dirty="0"/>
          </a:p>
        </p:txBody>
      </p:sp>
      <p:sp>
        <p:nvSpPr>
          <p:cNvPr id="3" name="Title 2"/>
          <p:cNvSpPr>
            <a:spLocks noGrp="1"/>
          </p:cNvSpPr>
          <p:nvPr>
            <p:ph type="title"/>
          </p:nvPr>
        </p:nvSpPr>
        <p:spPr/>
        <p:txBody>
          <a:bodyPr/>
          <a:lstStyle/>
          <a:p>
            <a:r>
              <a:rPr lang="en-US" dirty="0"/>
              <a:t>What Went Right?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525962"/>
          </a:xfrm>
        </p:spPr>
        <p:txBody>
          <a:bodyPr/>
          <a:lstStyle/>
          <a:p>
            <a:r>
              <a:rPr lang="en-US" sz="2400" dirty="0"/>
              <a:t>A </a:t>
            </a:r>
            <a:r>
              <a:rPr lang="en-US" sz="2400" b="1" dirty="0"/>
              <a:t>requirements traceability matrix (RTM) </a:t>
            </a:r>
            <a:r>
              <a:rPr lang="en-US" sz="2400" dirty="0"/>
              <a:t>is a table that lists requirements, various attributes of each requirement, and the status of the requirements to ensure that all requirements are addressed</a:t>
            </a:r>
          </a:p>
          <a:p>
            <a:r>
              <a:rPr lang="en-US" sz="2400" dirty="0"/>
              <a:t>Table 5-1. Sample entry in an RTM</a:t>
            </a:r>
          </a:p>
          <a:p>
            <a:pPr lvl="1"/>
            <a:endParaRPr lang="en-US" dirty="0"/>
          </a:p>
          <a:p>
            <a:endParaRPr lang="en-US" dirty="0"/>
          </a:p>
        </p:txBody>
      </p:sp>
      <p:sp>
        <p:nvSpPr>
          <p:cNvPr id="3" name="Title 2"/>
          <p:cNvSpPr>
            <a:spLocks noGrp="1"/>
          </p:cNvSpPr>
          <p:nvPr>
            <p:ph type="title"/>
          </p:nvPr>
        </p:nvSpPr>
        <p:spPr>
          <a:xfrm>
            <a:off x="457200" y="0"/>
            <a:ext cx="8229600" cy="1143000"/>
          </a:xfrm>
        </p:spPr>
        <p:txBody>
          <a:bodyPr>
            <a:normAutofit fontScale="90000"/>
          </a:bodyPr>
          <a:lstStyle/>
          <a:p>
            <a:r>
              <a:rPr lang="en-US" dirty="0"/>
              <a:t>Requirements Traceability Matrix</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16</a:t>
            </a:fld>
            <a:endParaRPr lang="en-US" dirty="0"/>
          </a:p>
        </p:txBody>
      </p:sp>
      <p:pic>
        <p:nvPicPr>
          <p:cNvPr id="6" name="Picture 2"/>
          <p:cNvPicPr>
            <a:picLocks noChangeAspect="1" noChangeArrowheads="1"/>
          </p:cNvPicPr>
          <p:nvPr/>
        </p:nvPicPr>
        <p:blipFill>
          <a:blip r:embed="rId2"/>
          <a:srcRect l="17500" t="39000" r="23125" b="40000"/>
          <a:stretch>
            <a:fillRect/>
          </a:stretch>
        </p:blipFill>
        <p:spPr bwMode="auto">
          <a:xfrm>
            <a:off x="285747" y="3200400"/>
            <a:ext cx="8617857" cy="1905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152400" y="1447800"/>
            <a:ext cx="8686800" cy="4343400"/>
          </a:xfrm>
        </p:spPr>
        <p:txBody>
          <a:bodyPr/>
          <a:lstStyle/>
          <a:p>
            <a:r>
              <a:rPr lang="en-US" b="1" dirty="0"/>
              <a:t>Project scope statements </a:t>
            </a:r>
            <a:r>
              <a:rPr lang="en-US" dirty="0"/>
              <a:t>should include at least a product scope description, product user acceptance criteria, and detailed information on all project deliverables. It is also helpful to document other scope-related information, such as the project boundaries, constraints, and assumptions. The project scope statement should also reference supporting documents, such as product specifications </a:t>
            </a:r>
          </a:p>
          <a:p>
            <a:r>
              <a:rPr lang="en-US" dirty="0"/>
              <a:t>As time progresses, the scope of a project should become more clear and specific</a:t>
            </a:r>
          </a:p>
        </p:txBody>
      </p:sp>
      <p:sp>
        <p:nvSpPr>
          <p:cNvPr id="18434" name="Rectangle 2"/>
          <p:cNvSpPr>
            <a:spLocks noGrp="1" noChangeArrowheads="1"/>
          </p:cNvSpPr>
          <p:nvPr>
            <p:ph type="title"/>
          </p:nvPr>
        </p:nvSpPr>
        <p:spPr>
          <a:xfrm>
            <a:off x="533400" y="152400"/>
            <a:ext cx="8610600" cy="1311275"/>
          </a:xfrm>
        </p:spPr>
        <p:txBody>
          <a:bodyPr>
            <a:normAutofit/>
          </a:bodyPr>
          <a:lstStyle/>
          <a:p>
            <a:r>
              <a:rPr lang="en-US" dirty="0"/>
              <a:t>Defining Scope</a:t>
            </a:r>
          </a:p>
        </p:txBody>
      </p:sp>
      <p:sp>
        <p:nvSpPr>
          <p:cNvPr id="1843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F1335457-D0D4-42C9-897C-5B0BA910BCFA}"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9144000" cy="1143000"/>
          </a:xfrm>
        </p:spPr>
        <p:txBody>
          <a:bodyPr>
            <a:normAutofit fontScale="90000"/>
          </a:bodyPr>
          <a:lstStyle/>
          <a:p>
            <a:r>
              <a:rPr lang="en-US" dirty="0"/>
              <a:t>Table 5-2. Sample Project Charter (partial)</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924" y="1219200"/>
            <a:ext cx="7692671" cy="5257800"/>
          </a:xfrm>
          <a:prstGeom prst="rect">
            <a:avLst/>
          </a:prstGeom>
        </p:spPr>
      </p:pic>
    </p:spTree>
    <p:extLst>
      <p:ext uri="{BB962C8B-B14F-4D97-AF65-F5344CB8AC3E}">
        <p14:creationId xmlns:p14="http://schemas.microsoft.com/office/powerpoint/2010/main" val="1797044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0" y="0"/>
            <a:ext cx="9144000" cy="1143000"/>
          </a:xfrm>
        </p:spPr>
        <p:txBody>
          <a:bodyPr>
            <a:normAutofit/>
          </a:bodyPr>
          <a:lstStyle/>
          <a:p>
            <a:r>
              <a:rPr lang="en-US" sz="3600" dirty="0"/>
              <a:t>Table 5-3: Further Defining Project Scope</a:t>
            </a:r>
          </a:p>
        </p:txBody>
      </p:sp>
      <p:sp>
        <p:nvSpPr>
          <p:cNvPr id="19459"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5408CF9A-C8EF-404E-A6D1-AAA46EE490CD}" type="slidenum">
              <a:rPr lang="en-US" smtClean="0"/>
              <a:pPr>
                <a:buFontTx/>
                <a:buNone/>
                <a:defRPr/>
              </a:pPr>
              <a:t>19</a:t>
            </a:fld>
            <a:endParaRPr lang="en-US" dirty="0"/>
          </a:p>
        </p:txBody>
      </p:sp>
      <p:pic>
        <p:nvPicPr>
          <p:cNvPr id="2050" name="Picture 2"/>
          <p:cNvPicPr>
            <a:picLocks noChangeAspect="1" noChangeArrowheads="1"/>
          </p:cNvPicPr>
          <p:nvPr/>
        </p:nvPicPr>
        <p:blipFill>
          <a:blip r:embed="rId2"/>
          <a:srcRect l="17500" t="37000" r="22500" b="17000"/>
          <a:stretch>
            <a:fillRect/>
          </a:stretch>
        </p:blipFill>
        <p:spPr bwMode="auto">
          <a:xfrm>
            <a:off x="304800" y="1371600"/>
            <a:ext cx="8428383" cy="4038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04800" y="1219200"/>
            <a:ext cx="8229600" cy="4525962"/>
          </a:xfrm>
        </p:spPr>
        <p:txBody>
          <a:bodyPr/>
          <a:lstStyle/>
          <a:p>
            <a:pPr indent="457200"/>
            <a:r>
              <a:rPr lang="en-US" sz="2400" dirty="0"/>
              <a:t>Many people enjoy watching television shows like </a:t>
            </a:r>
            <a:r>
              <a:rPr lang="en-US" sz="2400" i="1" dirty="0"/>
              <a:t>Trading Spaces</a:t>
            </a:r>
            <a:r>
              <a:rPr lang="en-US" sz="2400" dirty="0"/>
              <a:t>, where participants have two days and $1,000 to update a room in their neighbor’s house. Since the time and cost are set, it’s the scope that has the most flexibility</a:t>
            </a:r>
          </a:p>
          <a:p>
            <a:pPr indent="457200"/>
            <a:r>
              <a:rPr lang="en-US" sz="2400" dirty="0"/>
              <a:t>Although most homeowners are very happy with work done on the show, some are obviously disappointed. Part of agreeing to be on the show includes signing a release statement acknowledging that you will accept whatever work has been done</a:t>
            </a:r>
          </a:p>
          <a:p>
            <a:pPr indent="457200"/>
            <a:r>
              <a:rPr lang="en-US" sz="2400" dirty="0"/>
              <a:t>Too bad you can’t get sponsors for most projects to sign a similar release form. It would make project scope management much easier!</a:t>
            </a:r>
          </a:p>
          <a:p>
            <a:pPr>
              <a:buFont typeface="Wingdings" pitchFamily="2" charset="2"/>
              <a:buChar char="Ø"/>
            </a:pPr>
            <a:endParaRPr lang="en-US" sz="2400" dirty="0"/>
          </a:p>
        </p:txBody>
      </p:sp>
      <p:sp>
        <p:nvSpPr>
          <p:cNvPr id="20482" name="Rectangle 4"/>
          <p:cNvSpPr>
            <a:spLocks noGrp="1" noChangeArrowheads="1"/>
          </p:cNvSpPr>
          <p:nvPr>
            <p:ph type="title"/>
          </p:nvPr>
        </p:nvSpPr>
        <p:spPr/>
        <p:txBody>
          <a:bodyPr/>
          <a:lstStyle/>
          <a:p>
            <a:r>
              <a:rPr lang="en-US" dirty="0"/>
              <a:t>Media Snapshot</a:t>
            </a:r>
          </a:p>
        </p:txBody>
      </p:sp>
      <p:sp>
        <p:nvSpPr>
          <p:cNvPr id="20484"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7DB7E528-7D95-4978-8FAC-322DA1431BC4}" type="slidenum">
              <a:rPr lang="en-US" smtClean="0"/>
              <a:pPr>
                <a:buFontTx/>
                <a:buNone/>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 y="1219200"/>
            <a:ext cx="9144000" cy="4525962"/>
          </a:xfrm>
        </p:spPr>
        <p:txBody>
          <a:bodyPr/>
          <a:lstStyle/>
          <a:p>
            <a:r>
              <a:rPr lang="en-US" dirty="0"/>
              <a:t>A </a:t>
            </a:r>
            <a:r>
              <a:rPr lang="en-US" b="1" dirty="0"/>
              <a:t>WBS</a:t>
            </a:r>
            <a:r>
              <a:rPr lang="en-US" dirty="0"/>
              <a:t> is a deliverable-oriented grouping of the work involved in a project that defines the total scope of the project</a:t>
            </a:r>
          </a:p>
          <a:p>
            <a:r>
              <a:rPr lang="en-US" dirty="0"/>
              <a:t>WBS is a foundation document that provides the basis for planning and managing project schedules, costs, resources, and changes</a:t>
            </a:r>
          </a:p>
          <a:p>
            <a:r>
              <a:rPr lang="en-US" b="1" dirty="0"/>
              <a:t>Decomposition</a:t>
            </a:r>
            <a:r>
              <a:rPr lang="en-US" dirty="0"/>
              <a:t> is subdividing project deliverables into smaller pieces</a:t>
            </a:r>
          </a:p>
          <a:p>
            <a:r>
              <a:rPr lang="en-US" dirty="0"/>
              <a:t>A </a:t>
            </a:r>
            <a:r>
              <a:rPr lang="en-US" b="1" dirty="0"/>
              <a:t>work package </a:t>
            </a:r>
            <a:r>
              <a:rPr lang="en-US" dirty="0"/>
              <a:t>is a task at the lowest level of the WBS</a:t>
            </a:r>
          </a:p>
          <a:p>
            <a:r>
              <a:rPr lang="en-US" dirty="0"/>
              <a:t>The </a:t>
            </a:r>
            <a:r>
              <a:rPr lang="en-US" b="1" dirty="0"/>
              <a:t>scope baseline </a:t>
            </a:r>
            <a:r>
              <a:rPr lang="en-US" dirty="0"/>
              <a:t>includes the approved project scope statement and its associated WBS and WBS dictionary</a:t>
            </a:r>
          </a:p>
        </p:txBody>
      </p:sp>
      <p:sp>
        <p:nvSpPr>
          <p:cNvPr id="21506" name="Rectangle 2"/>
          <p:cNvSpPr>
            <a:spLocks noGrp="1" noChangeArrowheads="1"/>
          </p:cNvSpPr>
          <p:nvPr>
            <p:ph type="title"/>
          </p:nvPr>
        </p:nvSpPr>
        <p:spPr>
          <a:xfrm>
            <a:off x="457200" y="0"/>
            <a:ext cx="8229600" cy="1143000"/>
          </a:xfrm>
        </p:spPr>
        <p:txBody>
          <a:bodyPr>
            <a:normAutofit fontScale="90000"/>
          </a:bodyPr>
          <a:lstStyle/>
          <a:p>
            <a:r>
              <a:rPr lang="en-US" dirty="0"/>
              <a:t>Creating the Work Breakdown Structure (WBS)</a:t>
            </a:r>
          </a:p>
        </p:txBody>
      </p:sp>
      <p:sp>
        <p:nvSpPr>
          <p:cNvPr id="21508"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4842C04C-78A8-47E1-9358-C2595DF744E9}"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dirty="0"/>
              <a:t>Figure 5-3. Sample Intranet WBS</a:t>
            </a:r>
            <a:br>
              <a:rPr lang="en-US" dirty="0"/>
            </a:br>
            <a:r>
              <a:rPr lang="en-US" dirty="0"/>
              <a:t>Organized by Product </a:t>
            </a:r>
          </a:p>
        </p:txBody>
      </p:sp>
      <p:sp>
        <p:nvSpPr>
          <p:cNvPr id="22532"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72ACE893-EA2F-459E-9FB0-1B7C6C3FEF79}" type="slidenum">
              <a:rPr lang="en-US" smtClean="0"/>
              <a:pPr>
                <a:buFontTx/>
                <a:buNone/>
                <a:defRPr/>
              </a:pPr>
              <a:t>22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752600"/>
            <a:ext cx="8793283" cy="33703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52400" y="0"/>
            <a:ext cx="8534400" cy="1143000"/>
          </a:xfrm>
        </p:spPr>
        <p:txBody>
          <a:bodyPr>
            <a:normAutofit fontScale="90000"/>
          </a:bodyPr>
          <a:lstStyle/>
          <a:p>
            <a:r>
              <a:rPr lang="en-US" dirty="0"/>
              <a:t>Figure 5-4. Sample Intranet WBS</a:t>
            </a:r>
            <a:br>
              <a:rPr lang="en-US" dirty="0"/>
            </a:br>
            <a:r>
              <a:rPr lang="en-US" dirty="0"/>
              <a:t>Organized by Phase</a:t>
            </a:r>
          </a:p>
        </p:txBody>
      </p:sp>
      <p:sp>
        <p:nvSpPr>
          <p:cNvPr id="2355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4DCEA2F6-9510-4648-BF26-FB2B9CF1D7D0}" type="slidenum">
              <a:rPr lang="en-US" smtClean="0"/>
              <a:pPr>
                <a:buFontTx/>
                <a:buNone/>
                <a:defRPr/>
              </a:pPr>
              <a:t>23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248834"/>
            <a:ext cx="5343415" cy="53805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0"/>
            <a:ext cx="8229600" cy="1143000"/>
          </a:xfrm>
        </p:spPr>
        <p:txBody>
          <a:bodyPr>
            <a:normAutofit fontScale="90000"/>
          </a:bodyPr>
          <a:lstStyle/>
          <a:p>
            <a:r>
              <a:rPr lang="en-US" sz="3600" dirty="0"/>
              <a:t>Figure 5-5. Intranet WBS and Gantt Chart in Microsoft Project</a:t>
            </a:r>
            <a:endParaRPr lang="en-US" dirty="0"/>
          </a:p>
        </p:txBody>
      </p:sp>
      <p:sp>
        <p:nvSpPr>
          <p:cNvPr id="25604" name="Footer Placeholder 7"/>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9" name="Slide Number Placeholder 8"/>
          <p:cNvSpPr>
            <a:spLocks noGrp="1"/>
          </p:cNvSpPr>
          <p:nvPr>
            <p:ph type="sldNum" sz="quarter" idx="11"/>
          </p:nvPr>
        </p:nvSpPr>
        <p:spPr/>
        <p:txBody>
          <a:bodyPr/>
          <a:lstStyle/>
          <a:p>
            <a:pPr>
              <a:buFontTx/>
              <a:buNone/>
              <a:defRPr/>
            </a:pPr>
            <a:fld id="{809ADCBE-97A5-4BA6-AFB0-CF093DB72B93}" type="slidenum">
              <a:rPr lang="en-US" smtClean="0"/>
              <a:pPr>
                <a:buFontTx/>
                <a:buNone/>
                <a:defRPr/>
              </a:pPr>
              <a:t>24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54254"/>
            <a:ext cx="8686799" cy="43494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 y="0"/>
            <a:ext cx="8686800" cy="1143000"/>
          </a:xfrm>
        </p:spPr>
        <p:txBody>
          <a:bodyPr>
            <a:normAutofit fontScale="90000"/>
          </a:bodyPr>
          <a:lstStyle/>
          <a:p>
            <a:r>
              <a:rPr lang="en-US" sz="3600" dirty="0"/>
              <a:t>Figure 5-6.  Intranet Gantt Chart Organized by Project Management Process Groups</a:t>
            </a:r>
          </a:p>
        </p:txBody>
      </p:sp>
      <p:sp>
        <p:nvSpPr>
          <p:cNvPr id="26628"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2820F5C6-A4C1-4D7E-A231-19207F5EA576}" type="slidenum">
              <a:rPr lang="en-US" smtClean="0"/>
              <a:pPr>
                <a:buFontTx/>
                <a:buNone/>
                <a:defRPr/>
              </a:pPr>
              <a:t>25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178695"/>
            <a:ext cx="8686799" cy="458097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1143000"/>
          </a:xfrm>
        </p:spPr>
        <p:txBody>
          <a:bodyPr>
            <a:normAutofit fontScale="90000"/>
          </a:bodyPr>
          <a:lstStyle/>
          <a:p>
            <a:r>
              <a:rPr lang="en-US" dirty="0"/>
              <a:t>Table 5-4: Executing Tasks for JWD Consulting’s WBS</a:t>
            </a:r>
          </a:p>
        </p:txBody>
      </p:sp>
      <p:sp>
        <p:nvSpPr>
          <p:cNvPr id="27652"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8C1A61A9-5EC9-4C2A-85A9-B91C2F396B45}" type="slidenum">
              <a:rPr lang="en-US" smtClean="0"/>
              <a:pPr>
                <a:buFontTx/>
                <a:buNone/>
                <a:defRPr/>
              </a:pPr>
              <a:t>26</a:t>
            </a:fld>
            <a:endParaRPr lang="en-US" dirty="0"/>
          </a:p>
        </p:txBody>
      </p:sp>
      <p:pic>
        <p:nvPicPr>
          <p:cNvPr id="27651" name="Picture 3"/>
          <p:cNvPicPr>
            <a:picLocks noChangeAspect="1" noChangeArrowheads="1"/>
          </p:cNvPicPr>
          <p:nvPr/>
        </p:nvPicPr>
        <p:blipFill>
          <a:blip r:embed="rId2"/>
          <a:srcRect t="5244"/>
          <a:stretch>
            <a:fillRect/>
          </a:stretch>
        </p:blipFill>
        <p:spPr bwMode="auto">
          <a:xfrm>
            <a:off x="762000" y="1143000"/>
            <a:ext cx="7162800" cy="5091112"/>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304800" y="838200"/>
            <a:ext cx="8458200" cy="4410075"/>
          </a:xfrm>
        </p:spPr>
        <p:txBody>
          <a:bodyPr/>
          <a:lstStyle/>
          <a:p>
            <a:pPr>
              <a:lnSpc>
                <a:spcPct val="90000"/>
              </a:lnSpc>
            </a:pPr>
            <a:r>
              <a:rPr lang="en-US" dirty="0"/>
              <a:t>Using guidelines: Some organizations, like the DOD, provide guidelines for preparing WBSs</a:t>
            </a:r>
          </a:p>
          <a:p>
            <a:pPr>
              <a:lnSpc>
                <a:spcPct val="90000"/>
              </a:lnSpc>
            </a:pPr>
            <a:r>
              <a:rPr lang="en-US" dirty="0"/>
              <a:t>The </a:t>
            </a:r>
            <a:r>
              <a:rPr lang="en-US" b="1" dirty="0"/>
              <a:t>analogy approach</a:t>
            </a:r>
            <a:r>
              <a:rPr lang="en-US" dirty="0"/>
              <a:t>: Review WBSs of similar projects and tailor to your project</a:t>
            </a:r>
          </a:p>
          <a:p>
            <a:pPr>
              <a:lnSpc>
                <a:spcPct val="90000"/>
              </a:lnSpc>
            </a:pPr>
            <a:r>
              <a:rPr lang="en-US" dirty="0"/>
              <a:t>The </a:t>
            </a:r>
            <a:r>
              <a:rPr lang="en-US" b="1" dirty="0"/>
              <a:t>top-down approach</a:t>
            </a:r>
            <a:r>
              <a:rPr lang="en-US" dirty="0"/>
              <a:t>: Start with the largest items of the project and break them down</a:t>
            </a:r>
          </a:p>
          <a:p>
            <a:pPr>
              <a:lnSpc>
                <a:spcPct val="90000"/>
              </a:lnSpc>
            </a:pPr>
            <a:r>
              <a:rPr lang="en-US" dirty="0"/>
              <a:t>The </a:t>
            </a:r>
            <a:r>
              <a:rPr lang="en-US" b="1" dirty="0"/>
              <a:t>bottom-up approach</a:t>
            </a:r>
            <a:r>
              <a:rPr lang="en-US" dirty="0"/>
              <a:t>: Start with the specific tasks and roll them up</a:t>
            </a:r>
          </a:p>
          <a:p>
            <a:pPr>
              <a:lnSpc>
                <a:spcPct val="90000"/>
              </a:lnSpc>
            </a:pPr>
            <a:r>
              <a:rPr lang="en-US" dirty="0"/>
              <a:t>Mind-mapping approach:  </a:t>
            </a:r>
            <a:r>
              <a:rPr lang="en-US" b="1" dirty="0"/>
              <a:t>Mind mapping </a:t>
            </a:r>
            <a:r>
              <a:rPr lang="en-US" dirty="0"/>
              <a:t>is a technique that uses branches radiating out from a core idea to structure thoughts and ideas</a:t>
            </a:r>
          </a:p>
        </p:txBody>
      </p:sp>
      <p:sp>
        <p:nvSpPr>
          <p:cNvPr id="28674" name="Rectangle 2"/>
          <p:cNvSpPr>
            <a:spLocks noGrp="1" noChangeArrowheads="1"/>
          </p:cNvSpPr>
          <p:nvPr>
            <p:ph type="title"/>
          </p:nvPr>
        </p:nvSpPr>
        <p:spPr>
          <a:xfrm>
            <a:off x="87313" y="152400"/>
            <a:ext cx="9056687" cy="533400"/>
          </a:xfrm>
        </p:spPr>
        <p:txBody>
          <a:bodyPr>
            <a:normAutofit fontScale="90000"/>
          </a:bodyPr>
          <a:lstStyle/>
          <a:p>
            <a:r>
              <a:rPr lang="en-US" dirty="0"/>
              <a:t>Approaches to Developing WBSs</a:t>
            </a:r>
          </a:p>
        </p:txBody>
      </p:sp>
      <p:sp>
        <p:nvSpPr>
          <p:cNvPr id="2867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09856F29-EB62-4BC1-BFDE-CF95752C2E71}"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r>
              <a:rPr lang="en-US" dirty="0"/>
              <a:t>Figure 5-7. Sample Mind-Mapping Approach for Creating a WBS</a:t>
            </a:r>
          </a:p>
        </p:txBody>
      </p:sp>
      <p:sp>
        <p:nvSpPr>
          <p:cNvPr id="29700"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46E36C33-50F9-4823-96DE-C86D336AEB83}" type="slidenum">
              <a:rPr lang="en-US" smtClean="0"/>
              <a:pPr>
                <a:buFontTx/>
                <a:buNone/>
                <a:defRPr/>
              </a:pPr>
              <a:t>28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2273175"/>
            <a:ext cx="8991600" cy="230122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Figure 5-8. Gantt Charts With WBS Generated From a Mind Map</a:t>
            </a:r>
            <a:br>
              <a:rPr lang="en-US" dirty="0"/>
            </a:br>
            <a:endParaRPr lang="en-US" dirty="0"/>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371599"/>
            <a:ext cx="3735393" cy="4908133"/>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395412"/>
            <a:ext cx="4283046" cy="443006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r>
              <a:rPr lang="en-US" dirty="0"/>
              <a:t>Many WBS tasks are vague and must be explained more so people know what to do and can estimate how long it will take and what it will cost to do the work</a:t>
            </a:r>
          </a:p>
          <a:p>
            <a:r>
              <a:rPr lang="en-US" dirty="0"/>
              <a:t>A </a:t>
            </a:r>
            <a:r>
              <a:rPr lang="en-US" b="1" dirty="0"/>
              <a:t>WBS dictionary</a:t>
            </a:r>
            <a:r>
              <a:rPr lang="en-US" dirty="0"/>
              <a:t> is a document that describes detailed information about each WBS item</a:t>
            </a:r>
          </a:p>
        </p:txBody>
      </p:sp>
      <p:sp>
        <p:nvSpPr>
          <p:cNvPr id="31746" name="Rectangle 2"/>
          <p:cNvSpPr>
            <a:spLocks noGrp="1" noChangeArrowheads="1"/>
          </p:cNvSpPr>
          <p:nvPr>
            <p:ph type="title"/>
          </p:nvPr>
        </p:nvSpPr>
        <p:spPr/>
        <p:txBody>
          <a:bodyPr>
            <a:normAutofit fontScale="90000"/>
          </a:bodyPr>
          <a:lstStyle/>
          <a:p>
            <a:r>
              <a:rPr lang="en-US" dirty="0"/>
              <a:t>The WBS Dictionary and Scope Baseline</a:t>
            </a:r>
          </a:p>
        </p:txBody>
      </p:sp>
      <p:sp>
        <p:nvSpPr>
          <p:cNvPr id="31748"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EE501A8D-5261-4758-A526-F64B18DE3C4A}"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Table 5-5. Sample WBS Dictionary Entry</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31</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24000"/>
            <a:ext cx="8353540" cy="4800600"/>
          </a:xfrm>
          <a:prstGeom prst="rect">
            <a:avLst/>
          </a:prstGeom>
        </p:spPr>
      </p:pic>
    </p:spTree>
    <p:extLst>
      <p:ext uri="{BB962C8B-B14F-4D97-AF65-F5344CB8AC3E}">
        <p14:creationId xmlns:p14="http://schemas.microsoft.com/office/powerpoint/2010/main" val="846718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57200" y="1447800"/>
            <a:ext cx="8458200" cy="4486275"/>
          </a:xfrm>
        </p:spPr>
        <p:txBody>
          <a:bodyPr/>
          <a:lstStyle/>
          <a:p>
            <a:pPr>
              <a:lnSpc>
                <a:spcPct val="80000"/>
              </a:lnSpc>
            </a:pPr>
            <a:r>
              <a:rPr lang="en-US" dirty="0"/>
              <a:t>A unit of work should appear at only one place in the WBS.</a:t>
            </a:r>
          </a:p>
          <a:p>
            <a:pPr>
              <a:lnSpc>
                <a:spcPct val="80000"/>
              </a:lnSpc>
            </a:pPr>
            <a:r>
              <a:rPr lang="en-US" dirty="0"/>
              <a:t>The work content of a WBS item is the sum of the WBS items below it</a:t>
            </a:r>
          </a:p>
          <a:p>
            <a:pPr>
              <a:lnSpc>
                <a:spcPct val="80000"/>
              </a:lnSpc>
            </a:pPr>
            <a:r>
              <a:rPr lang="en-US" dirty="0"/>
              <a:t>A WBS item is the responsibility of only one individual, even though many people may be working on it</a:t>
            </a:r>
          </a:p>
          <a:p>
            <a:pPr>
              <a:lnSpc>
                <a:spcPct val="80000"/>
              </a:lnSpc>
            </a:pPr>
            <a:r>
              <a:rPr lang="en-US" dirty="0"/>
              <a:t>The WBS must be consistent with the way in which work is actually going to be performed; it should serve the project team first, and other purposes only if practical</a:t>
            </a:r>
          </a:p>
        </p:txBody>
      </p:sp>
      <p:sp>
        <p:nvSpPr>
          <p:cNvPr id="32770" name="Rectangle 2"/>
          <p:cNvSpPr>
            <a:spLocks noGrp="1" noChangeArrowheads="1"/>
          </p:cNvSpPr>
          <p:nvPr>
            <p:ph type="title"/>
          </p:nvPr>
        </p:nvSpPr>
        <p:spPr>
          <a:xfrm>
            <a:off x="304800" y="457200"/>
            <a:ext cx="8839200" cy="579438"/>
          </a:xfrm>
        </p:spPr>
        <p:txBody>
          <a:bodyPr>
            <a:normAutofit fontScale="90000"/>
          </a:bodyPr>
          <a:lstStyle/>
          <a:p>
            <a:r>
              <a:rPr lang="en-US" dirty="0"/>
              <a:t>Advice for Creating a WBS and WBS Dictionary</a:t>
            </a:r>
          </a:p>
        </p:txBody>
      </p:sp>
      <p:sp>
        <p:nvSpPr>
          <p:cNvPr id="32773" name="Footer Placeholder 7"/>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9" name="Slide Number Placeholder 8"/>
          <p:cNvSpPr>
            <a:spLocks noGrp="1"/>
          </p:cNvSpPr>
          <p:nvPr>
            <p:ph type="sldNum" sz="quarter" idx="11"/>
          </p:nvPr>
        </p:nvSpPr>
        <p:spPr/>
        <p:txBody>
          <a:bodyPr/>
          <a:lstStyle/>
          <a:p>
            <a:pPr>
              <a:defRPr/>
            </a:pPr>
            <a:fld id="{B6F72AF9-5374-4551-89AC-FBC63BB2CA11}"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lstStyle/>
          <a:p>
            <a:pPr>
              <a:lnSpc>
                <a:spcPct val="90000"/>
              </a:lnSpc>
            </a:pPr>
            <a:r>
              <a:rPr lang="en-US" dirty="0"/>
              <a:t>Project team members should be involved in developing the WBS to ensure consistency and buy-in</a:t>
            </a:r>
          </a:p>
          <a:p>
            <a:pPr>
              <a:lnSpc>
                <a:spcPct val="90000"/>
              </a:lnSpc>
            </a:pPr>
            <a:r>
              <a:rPr lang="en-US" dirty="0"/>
              <a:t>Each WBS item must be documented in a WBS dictionary to ensure accurate understanding of the scope of work included and not included in that item</a:t>
            </a:r>
          </a:p>
          <a:p>
            <a:pPr>
              <a:lnSpc>
                <a:spcPct val="90000"/>
              </a:lnSpc>
            </a:pPr>
            <a:r>
              <a:rPr lang="en-US" dirty="0"/>
              <a:t>The WBS must be a flexible tool to accommodate inevitable changes while properly maintaining control of the work content in the project according to the scope statement</a:t>
            </a:r>
            <a:endParaRPr lang="en-US" sz="2400" dirty="0"/>
          </a:p>
        </p:txBody>
      </p:sp>
      <p:sp>
        <p:nvSpPr>
          <p:cNvPr id="33794" name="Rectangle 2"/>
          <p:cNvSpPr>
            <a:spLocks noGrp="1" noChangeArrowheads="1"/>
          </p:cNvSpPr>
          <p:nvPr>
            <p:ph type="title"/>
          </p:nvPr>
        </p:nvSpPr>
        <p:spPr/>
        <p:txBody>
          <a:bodyPr>
            <a:normAutofit fontScale="90000"/>
          </a:bodyPr>
          <a:lstStyle/>
          <a:p>
            <a:r>
              <a:rPr lang="en-US" dirty="0"/>
              <a:t>Advice for Creating a WBS and WBS Dictionary (cont’d)</a:t>
            </a:r>
          </a:p>
        </p:txBody>
      </p:sp>
      <p:sp>
        <p:nvSpPr>
          <p:cNvPr id="3379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F03AC4FF-16DA-4EC5-897F-1B0559347D89}"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04800" y="1295400"/>
            <a:ext cx="8686800" cy="4791075"/>
          </a:xfrm>
        </p:spPr>
        <p:txBody>
          <a:bodyPr/>
          <a:lstStyle/>
          <a:p>
            <a:pPr>
              <a:lnSpc>
                <a:spcPct val="90000"/>
              </a:lnSpc>
            </a:pPr>
            <a:r>
              <a:rPr lang="en-US" dirty="0"/>
              <a:t>It is very difficult to create a good scope statement and WBS for a project</a:t>
            </a:r>
          </a:p>
          <a:p>
            <a:pPr>
              <a:lnSpc>
                <a:spcPct val="90000"/>
              </a:lnSpc>
            </a:pPr>
            <a:r>
              <a:rPr lang="en-US" dirty="0"/>
              <a:t>It is even more difficult to verify project scope and minimize scope changes</a:t>
            </a:r>
          </a:p>
          <a:p>
            <a:pPr>
              <a:lnSpc>
                <a:spcPct val="90000"/>
              </a:lnSpc>
            </a:pPr>
            <a:r>
              <a:rPr lang="en-US" b="1" dirty="0"/>
              <a:t>Scope validation </a:t>
            </a:r>
            <a:r>
              <a:rPr lang="en-US" dirty="0"/>
              <a:t>involves formal acceptance of the completed project deliverables</a:t>
            </a:r>
          </a:p>
          <a:p>
            <a:pPr>
              <a:lnSpc>
                <a:spcPct val="90000"/>
              </a:lnSpc>
            </a:pPr>
            <a:r>
              <a:rPr lang="en-US" dirty="0"/>
              <a:t>Acceptance is often achieved by a customer inspection and then sign-off on key deliverables</a:t>
            </a:r>
            <a:endParaRPr lang="en-US" sz="2400" dirty="0"/>
          </a:p>
        </p:txBody>
      </p:sp>
      <p:sp>
        <p:nvSpPr>
          <p:cNvPr id="35842" name="Rectangle 2"/>
          <p:cNvSpPr>
            <a:spLocks noGrp="1" noChangeArrowheads="1"/>
          </p:cNvSpPr>
          <p:nvPr>
            <p:ph type="title"/>
          </p:nvPr>
        </p:nvSpPr>
        <p:spPr/>
        <p:txBody>
          <a:bodyPr/>
          <a:lstStyle/>
          <a:p>
            <a:r>
              <a:rPr lang="en-US" dirty="0"/>
              <a:t>Validating Scope</a:t>
            </a:r>
          </a:p>
        </p:txBody>
      </p:sp>
      <p:sp>
        <p:nvSpPr>
          <p:cNvPr id="35844"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41615BF9-3FF1-4053-BEA1-4C2B00685CB3}"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p:txBody>
          <a:bodyPr/>
          <a:lstStyle/>
          <a:p>
            <a:r>
              <a:rPr lang="en-US" dirty="0"/>
              <a:t>A project scope that is too broad and grandiose can cause severe problems</a:t>
            </a:r>
          </a:p>
          <a:p>
            <a:pPr lvl="1"/>
            <a:r>
              <a:rPr lang="en-US" dirty="0"/>
              <a:t>Scope creep and an overemphasis on technology for technology’s sake resulted in the bankruptcy of a large pharmaceutical firm, Texas-based FoxMeyer Drug</a:t>
            </a:r>
          </a:p>
          <a:p>
            <a:pPr lvl="1"/>
            <a:r>
              <a:rPr lang="en-US" dirty="0"/>
              <a:t>In 2001, McDonald’s fast-food chain initiated a project to create an intranet that would connect its headquarters with all of its restaurants to provide detailed operational information in real time. After spending $170 million on consultants and initial implementation planning, McDonald’s realized that the project was too much to handle and terminated it</a:t>
            </a:r>
          </a:p>
          <a:p>
            <a:endParaRPr lang="en-US" dirty="0"/>
          </a:p>
        </p:txBody>
      </p:sp>
      <p:sp>
        <p:nvSpPr>
          <p:cNvPr id="34818" name="Title 1"/>
          <p:cNvSpPr>
            <a:spLocks noGrp="1"/>
          </p:cNvSpPr>
          <p:nvPr>
            <p:ph type="title"/>
          </p:nvPr>
        </p:nvSpPr>
        <p:spPr/>
        <p:txBody>
          <a:bodyPr/>
          <a:lstStyle/>
          <a:p>
            <a:r>
              <a:rPr lang="en-US" dirty="0"/>
              <a:t>What Went Wrong?</a:t>
            </a:r>
          </a:p>
        </p:txBody>
      </p:sp>
      <p:sp>
        <p:nvSpPr>
          <p:cNvPr id="3482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E13A010-08C9-439B-9056-DD5B8E3BD166}" type="slidenum">
              <a:rPr lang="en-US" smtClean="0"/>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Many countries have had difficulties controlling the scope of large projects, especially those that involve advanced technologies and many different users</a:t>
            </a:r>
          </a:p>
          <a:p>
            <a:r>
              <a:rPr lang="en-US" dirty="0"/>
              <a:t>For example, the state government of Victoria, Australia, has a Web site for its public transportation smart card at </a:t>
            </a:r>
            <a:r>
              <a:rPr lang="en-US" dirty="0">
                <a:hlinkClick r:id="rId2"/>
              </a:rPr>
              <a:t>www.myki.com.au</a:t>
            </a:r>
            <a:r>
              <a:rPr lang="en-US" dirty="0"/>
              <a:t>.</a:t>
            </a:r>
          </a:p>
          <a:p>
            <a:r>
              <a:rPr lang="en-US" dirty="0"/>
              <a:t>There were many problems in developing and implementing the smart card</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36</a:t>
            </a:fld>
            <a:endParaRPr lang="en-US" dirty="0"/>
          </a:p>
        </p:txBody>
      </p:sp>
    </p:spTree>
    <p:extLst>
      <p:ext uri="{BB962C8B-B14F-4D97-AF65-F5344CB8AC3E}">
        <p14:creationId xmlns:p14="http://schemas.microsoft.com/office/powerpoint/2010/main" val="673664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p:txBody>
          <a:bodyPr/>
          <a:lstStyle/>
          <a:p>
            <a:r>
              <a:rPr lang="en-US" dirty="0"/>
              <a:t>Scope control involves controlling changes to the project scope</a:t>
            </a:r>
          </a:p>
          <a:p>
            <a:r>
              <a:rPr lang="en-US" dirty="0"/>
              <a:t>Goals of scope control are to</a:t>
            </a:r>
          </a:p>
          <a:p>
            <a:pPr lvl="1"/>
            <a:r>
              <a:rPr lang="en-US" dirty="0"/>
              <a:t>influence the factors that cause scope changes</a:t>
            </a:r>
          </a:p>
          <a:p>
            <a:pPr lvl="1"/>
            <a:r>
              <a:rPr lang="en-US" dirty="0"/>
              <a:t>assure changes are processed according to procedures developed as part of integrated change control, and</a:t>
            </a:r>
          </a:p>
          <a:p>
            <a:pPr lvl="1"/>
            <a:r>
              <a:rPr lang="en-US" dirty="0"/>
              <a:t>manage changes when they occur</a:t>
            </a:r>
          </a:p>
          <a:p>
            <a:r>
              <a:rPr lang="en-US" b="1" dirty="0"/>
              <a:t>Variance</a:t>
            </a:r>
            <a:r>
              <a:rPr lang="en-US" dirty="0"/>
              <a:t> is the difference between planned and actual performance</a:t>
            </a:r>
          </a:p>
        </p:txBody>
      </p:sp>
      <p:sp>
        <p:nvSpPr>
          <p:cNvPr id="36866" name="Rectangle 2"/>
          <p:cNvSpPr>
            <a:spLocks noGrp="1" noChangeArrowheads="1"/>
          </p:cNvSpPr>
          <p:nvPr>
            <p:ph type="title"/>
          </p:nvPr>
        </p:nvSpPr>
        <p:spPr/>
        <p:txBody>
          <a:bodyPr/>
          <a:lstStyle/>
          <a:p>
            <a:r>
              <a:rPr lang="en-US" dirty="0"/>
              <a:t>Controlling Scope</a:t>
            </a:r>
          </a:p>
        </p:txBody>
      </p:sp>
      <p:sp>
        <p:nvSpPr>
          <p:cNvPr id="36868"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FA2787EA-4FDC-4AD1-A8FA-09B43D31602B}"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Content Placeholder 2"/>
          <p:cNvSpPr>
            <a:spLocks noGrp="1"/>
          </p:cNvSpPr>
          <p:nvPr>
            <p:ph idx="1"/>
          </p:nvPr>
        </p:nvSpPr>
        <p:spPr>
          <a:xfrm>
            <a:off x="381000" y="1066800"/>
            <a:ext cx="8610600" cy="4572000"/>
          </a:xfrm>
        </p:spPr>
        <p:txBody>
          <a:bodyPr/>
          <a:lstStyle/>
          <a:p>
            <a:pPr>
              <a:buFont typeface="Wingdings 2" pitchFamily="18" charset="2"/>
              <a:buNone/>
            </a:pPr>
            <a:r>
              <a:rPr lang="en-US" sz="2400" dirty="0"/>
              <a:t>1. Keep the scope realistic. Don’t make projects so large that they can’t be completed. Break large projects down into a series of smaller ones</a:t>
            </a:r>
          </a:p>
          <a:p>
            <a:pPr>
              <a:buFont typeface="Wingdings 2" pitchFamily="18" charset="2"/>
              <a:buNone/>
            </a:pPr>
            <a:r>
              <a:rPr lang="en-US" sz="2400" dirty="0"/>
              <a:t>2. Involve users in project scope management. Assign key users to the project team and give them ownership of requirements definition and scope verification</a:t>
            </a:r>
          </a:p>
          <a:p>
            <a:pPr>
              <a:buFont typeface="Wingdings 2" pitchFamily="18" charset="2"/>
              <a:buNone/>
            </a:pPr>
            <a:r>
              <a:rPr lang="en-US" sz="2400" dirty="0"/>
              <a:t>3. Use off-the-shelf hardware and software whenever possible. Many IT people enjoy using the latest and greatest technology, but business needs, not technology trends, must take priority</a:t>
            </a:r>
          </a:p>
          <a:p>
            <a:pPr>
              <a:buFont typeface="Wingdings 2" pitchFamily="18" charset="2"/>
              <a:buNone/>
            </a:pPr>
            <a:r>
              <a:rPr lang="en-US" sz="2400" dirty="0"/>
              <a:t>4. Follow good project management processes. As described in this chapter and others, there are well-defined processes for managing project scope and others aspects of projects</a:t>
            </a:r>
          </a:p>
          <a:p>
            <a:endParaRPr lang="en-US" sz="2400" dirty="0"/>
          </a:p>
        </p:txBody>
      </p:sp>
      <p:sp>
        <p:nvSpPr>
          <p:cNvPr id="37890" name="Title 1"/>
          <p:cNvSpPr>
            <a:spLocks noGrp="1"/>
          </p:cNvSpPr>
          <p:nvPr>
            <p:ph type="title"/>
          </p:nvPr>
        </p:nvSpPr>
        <p:spPr>
          <a:xfrm>
            <a:off x="457200" y="0"/>
            <a:ext cx="8229600" cy="1143000"/>
          </a:xfrm>
        </p:spPr>
        <p:txBody>
          <a:bodyPr>
            <a:normAutofit fontScale="90000"/>
          </a:bodyPr>
          <a:lstStyle/>
          <a:p>
            <a:r>
              <a:rPr lang="en-US" dirty="0"/>
              <a:t>Best Practices for Avoiding Scope Problems</a:t>
            </a:r>
          </a:p>
        </p:txBody>
      </p:sp>
      <p:sp>
        <p:nvSpPr>
          <p:cNvPr id="37892"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6A172ED-F4A1-4391-9A5F-424BBA83E880}"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04800" y="838200"/>
            <a:ext cx="8305800" cy="4572000"/>
          </a:xfrm>
        </p:spPr>
        <p:txBody>
          <a:bodyPr/>
          <a:lstStyle/>
          <a:p>
            <a:r>
              <a:rPr lang="en-US" dirty="0"/>
              <a:t>Develop a good project selection process and insist that sponsors are from the user organization</a:t>
            </a:r>
          </a:p>
          <a:p>
            <a:r>
              <a:rPr lang="en-US" dirty="0"/>
              <a:t>Have users on the project team in important roles</a:t>
            </a:r>
          </a:p>
          <a:p>
            <a:r>
              <a:rPr lang="en-US" dirty="0"/>
              <a:t>Have regular meetings with defined agendas, and have users sign off on key deliverables presented at meetings</a:t>
            </a:r>
          </a:p>
          <a:p>
            <a:r>
              <a:rPr lang="en-US" dirty="0"/>
              <a:t>Deliver something to users and sponsors on a regular basis</a:t>
            </a:r>
          </a:p>
          <a:p>
            <a:r>
              <a:rPr lang="en-US" dirty="0"/>
              <a:t>Don’t promise to deliver when you know you can’t</a:t>
            </a:r>
          </a:p>
          <a:p>
            <a:r>
              <a:rPr lang="en-US" dirty="0"/>
              <a:t>Co-locate users with developers</a:t>
            </a:r>
          </a:p>
          <a:p>
            <a:endParaRPr lang="en-US" dirty="0"/>
          </a:p>
        </p:txBody>
      </p:sp>
      <p:sp>
        <p:nvSpPr>
          <p:cNvPr id="38914" name="Rectangle 2"/>
          <p:cNvSpPr>
            <a:spLocks noGrp="1" noChangeArrowheads="1"/>
          </p:cNvSpPr>
          <p:nvPr>
            <p:ph type="title"/>
          </p:nvPr>
        </p:nvSpPr>
        <p:spPr>
          <a:xfrm>
            <a:off x="381000" y="274638"/>
            <a:ext cx="8763000" cy="487362"/>
          </a:xfrm>
        </p:spPr>
        <p:txBody>
          <a:bodyPr>
            <a:normAutofit fontScale="90000"/>
          </a:bodyPr>
          <a:lstStyle/>
          <a:p>
            <a:r>
              <a:rPr lang="en-US" dirty="0"/>
              <a:t>Suggestions for Improving User Input</a:t>
            </a:r>
          </a:p>
        </p:txBody>
      </p:sp>
      <p:sp>
        <p:nvSpPr>
          <p:cNvPr id="3891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72C4DB84-AA51-438C-AA95-367BB6DAAC23}"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304800" y="1524000"/>
            <a:ext cx="8458200" cy="4572000"/>
          </a:xfrm>
        </p:spPr>
        <p:txBody>
          <a:bodyPr/>
          <a:lstStyle/>
          <a:p>
            <a:pPr>
              <a:lnSpc>
                <a:spcPct val="90000"/>
              </a:lnSpc>
            </a:pPr>
            <a:r>
              <a:rPr lang="en-US" dirty="0"/>
              <a:t>Develop and follow a requirements management process</a:t>
            </a:r>
          </a:p>
          <a:p>
            <a:pPr>
              <a:lnSpc>
                <a:spcPct val="90000"/>
              </a:lnSpc>
            </a:pPr>
            <a:r>
              <a:rPr lang="en-US" dirty="0"/>
              <a:t>Use techniques such as prototyping, use case modeling, and JAD to get more user involvement</a:t>
            </a:r>
          </a:p>
          <a:p>
            <a:pPr>
              <a:lnSpc>
                <a:spcPct val="90000"/>
              </a:lnSpc>
            </a:pPr>
            <a:r>
              <a:rPr lang="en-US" dirty="0"/>
              <a:t>Put requirements in writing and keep them current</a:t>
            </a:r>
          </a:p>
          <a:p>
            <a:pPr>
              <a:lnSpc>
                <a:spcPct val="90000"/>
              </a:lnSpc>
            </a:pPr>
            <a:r>
              <a:rPr lang="en-US" dirty="0"/>
              <a:t>Create a requirements management database for documenting and controlling requirements</a:t>
            </a:r>
          </a:p>
        </p:txBody>
      </p:sp>
      <p:sp>
        <p:nvSpPr>
          <p:cNvPr id="39938" name="Rectangle 2"/>
          <p:cNvSpPr>
            <a:spLocks noGrp="1" noChangeArrowheads="1"/>
          </p:cNvSpPr>
          <p:nvPr>
            <p:ph type="title"/>
          </p:nvPr>
        </p:nvSpPr>
        <p:spPr>
          <a:xfrm>
            <a:off x="304800" y="0"/>
            <a:ext cx="8458200" cy="1311275"/>
          </a:xfrm>
        </p:spPr>
        <p:txBody>
          <a:bodyPr/>
          <a:lstStyle/>
          <a:p>
            <a:r>
              <a:rPr lang="en-US" sz="3600" dirty="0"/>
              <a:t>Suggestions for Reducing Incomplete and Changing Requirements</a:t>
            </a:r>
          </a:p>
        </p:txBody>
      </p:sp>
      <p:sp>
        <p:nvSpPr>
          <p:cNvPr id="39940"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86E3A240-C080-4FF8-AF08-5F5AF592E99F}"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r>
              <a:rPr lang="en-US" dirty="0"/>
              <a:t>Provide adequate testing and conduct testing throughout the project life cycle</a:t>
            </a:r>
          </a:p>
          <a:p>
            <a:r>
              <a:rPr lang="en-US" dirty="0"/>
              <a:t>Review changes from a systems perspective</a:t>
            </a:r>
          </a:p>
          <a:p>
            <a:r>
              <a:rPr lang="en-US" dirty="0"/>
              <a:t>Emphasize completion dates to help focus on what’s most important</a:t>
            </a:r>
          </a:p>
          <a:p>
            <a:r>
              <a:rPr lang="en-US" dirty="0"/>
              <a:t>Allocate resources specifically for handling change requests/enhancements like NWA did with ResNet</a:t>
            </a:r>
          </a:p>
          <a:p>
            <a:pPr>
              <a:buFontTx/>
              <a:buNone/>
            </a:pPr>
            <a:endParaRPr lang="en-US" dirty="0"/>
          </a:p>
        </p:txBody>
      </p:sp>
      <p:sp>
        <p:nvSpPr>
          <p:cNvPr id="40962" name="Rectangle 2"/>
          <p:cNvSpPr>
            <a:spLocks noGrp="1" noChangeArrowheads="1"/>
          </p:cNvSpPr>
          <p:nvPr>
            <p:ph type="title"/>
          </p:nvPr>
        </p:nvSpPr>
        <p:spPr/>
        <p:txBody>
          <a:bodyPr>
            <a:normAutofit fontScale="90000"/>
          </a:bodyPr>
          <a:lstStyle/>
          <a:p>
            <a:r>
              <a:rPr lang="en-US" sz="3600" dirty="0"/>
              <a:t>Suggestions for Reducing Incomplete and Changing Requirements (cont’d)</a:t>
            </a:r>
          </a:p>
        </p:txBody>
      </p:sp>
      <p:sp>
        <p:nvSpPr>
          <p:cNvPr id="40964"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AB3DB899-9DAE-4E06-9164-E573618AC31A}"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p:txBody>
          <a:bodyPr/>
          <a:lstStyle/>
          <a:p>
            <a:pPr>
              <a:lnSpc>
                <a:spcPct val="90000"/>
              </a:lnSpc>
            </a:pPr>
            <a:r>
              <a:rPr lang="en-US" dirty="0"/>
              <a:t>Word-processing software helps create several scope-related documents</a:t>
            </a:r>
          </a:p>
          <a:p>
            <a:pPr>
              <a:lnSpc>
                <a:spcPct val="90000"/>
              </a:lnSpc>
            </a:pPr>
            <a:r>
              <a:rPr lang="en-US" dirty="0"/>
              <a:t>Spreadsheets help to perform financial calculations, weighed scoring models, and develop charts and graphs</a:t>
            </a:r>
          </a:p>
          <a:p>
            <a:pPr>
              <a:lnSpc>
                <a:spcPct val="90000"/>
              </a:lnSpc>
            </a:pPr>
            <a:r>
              <a:rPr lang="en-US" dirty="0"/>
              <a:t>Communication software like e-mail and the Web help clarify and communicate scope information</a:t>
            </a:r>
          </a:p>
          <a:p>
            <a:pPr>
              <a:lnSpc>
                <a:spcPct val="90000"/>
              </a:lnSpc>
            </a:pPr>
            <a:r>
              <a:rPr lang="en-US" dirty="0"/>
              <a:t>Project management software helps in creating a WBS, the basis for tasks on a Gantt chart</a:t>
            </a:r>
          </a:p>
          <a:p>
            <a:pPr>
              <a:lnSpc>
                <a:spcPct val="90000"/>
              </a:lnSpc>
            </a:pPr>
            <a:r>
              <a:rPr lang="en-US" dirty="0"/>
              <a:t>Specialized software is available to assist in project scope management</a:t>
            </a:r>
          </a:p>
        </p:txBody>
      </p:sp>
      <p:sp>
        <p:nvSpPr>
          <p:cNvPr id="41986" name="Rectangle 2"/>
          <p:cNvSpPr>
            <a:spLocks noGrp="1" noChangeArrowheads="1"/>
          </p:cNvSpPr>
          <p:nvPr>
            <p:ph type="title"/>
          </p:nvPr>
        </p:nvSpPr>
        <p:spPr/>
        <p:txBody>
          <a:bodyPr>
            <a:normAutofit fontScale="90000"/>
          </a:bodyPr>
          <a:lstStyle/>
          <a:p>
            <a:r>
              <a:rPr lang="en-US" dirty="0"/>
              <a:t>Using Software to Assist in Project Scope Management</a:t>
            </a:r>
          </a:p>
        </p:txBody>
      </p:sp>
      <p:sp>
        <p:nvSpPr>
          <p:cNvPr id="41988"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47E216C4-EF62-4EFC-A55E-A4A4892C98D9}"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a:lstStyle/>
          <a:p>
            <a:r>
              <a:rPr lang="en-US" dirty="0"/>
              <a:t>Project scope management includes the processes required to ensure that the project addresses all the work required, and only the work required, to complete the project successfully</a:t>
            </a:r>
          </a:p>
          <a:p>
            <a:r>
              <a:rPr lang="en-US" dirty="0"/>
              <a:t>Main processes include</a:t>
            </a:r>
          </a:p>
          <a:p>
            <a:pPr lvl="1"/>
            <a:r>
              <a:rPr lang="en-US" dirty="0"/>
              <a:t>Define scope management</a:t>
            </a:r>
          </a:p>
          <a:p>
            <a:pPr lvl="1"/>
            <a:r>
              <a:rPr lang="en-US" dirty="0"/>
              <a:t>Collect requirements</a:t>
            </a:r>
          </a:p>
          <a:p>
            <a:pPr lvl="1"/>
            <a:r>
              <a:rPr lang="en-US" dirty="0"/>
              <a:t>Define scope</a:t>
            </a:r>
          </a:p>
          <a:p>
            <a:pPr lvl="1"/>
            <a:r>
              <a:rPr lang="en-US" dirty="0"/>
              <a:t>Create WBS</a:t>
            </a:r>
          </a:p>
          <a:p>
            <a:pPr lvl="1"/>
            <a:r>
              <a:rPr lang="en-US" dirty="0"/>
              <a:t>Validate scope</a:t>
            </a:r>
          </a:p>
          <a:p>
            <a:pPr lvl="1"/>
            <a:r>
              <a:rPr lang="en-US" dirty="0"/>
              <a:t>Control scope</a:t>
            </a:r>
          </a:p>
        </p:txBody>
      </p:sp>
      <p:sp>
        <p:nvSpPr>
          <p:cNvPr id="43010" name="Rectangle 2"/>
          <p:cNvSpPr>
            <a:spLocks noGrp="1" noChangeArrowheads="1"/>
          </p:cNvSpPr>
          <p:nvPr>
            <p:ph type="title"/>
          </p:nvPr>
        </p:nvSpPr>
        <p:spPr/>
        <p:txBody>
          <a:bodyPr/>
          <a:lstStyle/>
          <a:p>
            <a:r>
              <a:rPr lang="en-US" dirty="0"/>
              <a:t>Chapter Summary</a:t>
            </a:r>
          </a:p>
        </p:txBody>
      </p:sp>
      <p:sp>
        <p:nvSpPr>
          <p:cNvPr id="43012"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5B88E6DB-F3C7-46D8-83C9-70FD224F3622}"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1</a:t>
            </a:r>
            <a:r>
              <a:rPr lang="zh-CN" altLang="en-US" sz="2400" dirty="0"/>
              <a:t>、</a:t>
            </a:r>
            <a:r>
              <a:rPr lang="en-US" altLang="zh-CN" sz="2400" dirty="0"/>
              <a:t>___</a:t>
            </a:r>
            <a:r>
              <a:rPr lang="zh-CN" altLang="en-US" sz="2400" dirty="0"/>
              <a:t>是指包括生产项目产品及应用生产产品的过程的所有工作。</a:t>
            </a:r>
            <a:endParaRPr lang="en-US" altLang="zh-CN" sz="2400" dirty="0"/>
          </a:p>
          <a:p>
            <a:pPr marL="109728" indent="0">
              <a:buNone/>
            </a:pPr>
            <a:r>
              <a:rPr lang="en-US" altLang="zh-CN" sz="2400" dirty="0"/>
              <a:t>  A.</a:t>
            </a:r>
            <a:r>
              <a:rPr lang="zh-CN" altLang="en-US" sz="2400" dirty="0"/>
              <a:t>可交付成果</a:t>
            </a:r>
          </a:p>
          <a:p>
            <a:pPr marL="109728" indent="0">
              <a:buNone/>
            </a:pPr>
            <a:r>
              <a:rPr lang="en-US" altLang="zh-CN" sz="2400" dirty="0"/>
              <a:t>  B.</a:t>
            </a:r>
            <a:r>
              <a:rPr lang="zh-CN" altLang="en-US" sz="2400" dirty="0"/>
              <a:t>里程碑</a:t>
            </a:r>
          </a:p>
          <a:p>
            <a:pPr marL="109728" indent="0">
              <a:buNone/>
            </a:pPr>
            <a:r>
              <a:rPr lang="en-US" altLang="zh-CN" sz="2400" dirty="0"/>
              <a:t>  C.</a:t>
            </a:r>
            <a:r>
              <a:rPr lang="zh-CN" altLang="en-US" sz="2400" dirty="0"/>
              <a:t>范围 </a:t>
            </a:r>
          </a:p>
          <a:p>
            <a:pPr marL="109728" indent="0">
              <a:buNone/>
            </a:pPr>
            <a:r>
              <a:rPr lang="zh-CN" altLang="en-US" sz="2400" dirty="0"/>
              <a:t>  </a:t>
            </a:r>
            <a:r>
              <a:rPr lang="en-US" altLang="zh-CN" sz="2400" dirty="0"/>
              <a:t>D.</a:t>
            </a:r>
            <a:r>
              <a:rPr lang="zh-CN" altLang="en-US" sz="2400" dirty="0"/>
              <a:t>产品开发</a:t>
            </a:r>
            <a:endParaRPr lang="en-US" altLang="zh-CN" sz="2400" dirty="0"/>
          </a:p>
          <a:p>
            <a:r>
              <a:rPr lang="zh-CN" altLang="en-US" sz="2400" dirty="0"/>
              <a:t>‎</a:t>
            </a:r>
            <a:r>
              <a:rPr lang="en-US" altLang="zh-CN" sz="2400" dirty="0"/>
              <a:t>2</a:t>
            </a:r>
            <a:r>
              <a:rPr lang="zh-CN" altLang="en-US" sz="2400" dirty="0"/>
              <a:t>、在需求收集阶段，</a:t>
            </a:r>
            <a:r>
              <a:rPr lang="en-US" altLang="zh-CN" sz="2400" dirty="0"/>
              <a:t>___</a:t>
            </a:r>
            <a:r>
              <a:rPr lang="zh-CN" altLang="en-US" sz="2400" dirty="0"/>
              <a:t>成本最高且耗时最长。</a:t>
            </a:r>
            <a:endParaRPr lang="en-US" altLang="zh-CN" sz="2400" dirty="0"/>
          </a:p>
          <a:p>
            <a:pPr marL="109728" indent="0">
              <a:buNone/>
            </a:pPr>
            <a:r>
              <a:rPr lang="en-US" altLang="zh-CN" sz="2400" dirty="0"/>
              <a:t>  A.</a:t>
            </a:r>
            <a:r>
              <a:rPr lang="zh-CN" altLang="en-US" sz="2400" dirty="0"/>
              <a:t>访谈 </a:t>
            </a:r>
          </a:p>
          <a:p>
            <a:pPr marL="109728" indent="0">
              <a:buNone/>
            </a:pPr>
            <a:r>
              <a:rPr lang="en-US" altLang="zh-CN" sz="2400" dirty="0"/>
              <a:t>  B.</a:t>
            </a:r>
            <a:r>
              <a:rPr lang="zh-CN" altLang="en-US" sz="2400" dirty="0"/>
              <a:t>焦点小组会议</a:t>
            </a:r>
          </a:p>
          <a:p>
            <a:pPr marL="109728" indent="0">
              <a:buNone/>
            </a:pPr>
            <a:r>
              <a:rPr lang="en-US" altLang="zh-CN" sz="2400" dirty="0"/>
              <a:t>  C.</a:t>
            </a:r>
            <a:r>
              <a:rPr lang="zh-CN" altLang="en-US" sz="2400" dirty="0"/>
              <a:t>问卷调查</a:t>
            </a:r>
          </a:p>
          <a:p>
            <a:pPr marL="109728" indent="0">
              <a:buNone/>
            </a:pPr>
            <a:r>
              <a:rPr lang="en-US" altLang="zh-CN" sz="2400" dirty="0"/>
              <a:t>  D.</a:t>
            </a:r>
            <a:r>
              <a:rPr lang="zh-CN" altLang="en-US" sz="2400" dirty="0"/>
              <a:t>观察</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1335437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3</a:t>
            </a:r>
            <a:r>
              <a:rPr lang="zh-CN" altLang="en-US" sz="2400" dirty="0"/>
              <a:t>、</a:t>
            </a:r>
            <a:r>
              <a:rPr lang="en-US" altLang="zh-CN" sz="2400" dirty="0"/>
              <a:t>___</a:t>
            </a:r>
            <a:r>
              <a:rPr lang="zh-CN" altLang="en-US" sz="2400" dirty="0"/>
              <a:t>是一个项目中以可交付成果为导向的涉及所有工作的一种分组，它定义了项目的整体范围。</a:t>
            </a:r>
            <a:endParaRPr lang="en-US" altLang="zh-CN" sz="2400" dirty="0"/>
          </a:p>
          <a:p>
            <a:pPr marL="109728" indent="0">
              <a:buNone/>
            </a:pPr>
            <a:r>
              <a:rPr lang="en-US" altLang="zh-CN" sz="2400" dirty="0"/>
              <a:t>  A.</a:t>
            </a:r>
            <a:r>
              <a:rPr lang="zh-CN" altLang="en-US" sz="2400" dirty="0"/>
              <a:t>范围说明书</a:t>
            </a:r>
          </a:p>
          <a:p>
            <a:pPr marL="109728" indent="0">
              <a:buNone/>
            </a:pPr>
            <a:r>
              <a:rPr lang="en-US" altLang="zh-CN" sz="2400" dirty="0"/>
              <a:t>  B.WBS</a:t>
            </a:r>
            <a:endParaRPr lang="zh-CN" altLang="en-US" sz="2400" dirty="0"/>
          </a:p>
          <a:p>
            <a:pPr marL="109728" indent="0">
              <a:buNone/>
            </a:pPr>
            <a:r>
              <a:rPr lang="en-US" altLang="zh-CN" sz="2400" dirty="0"/>
              <a:t>  C.WBS</a:t>
            </a:r>
            <a:r>
              <a:rPr lang="zh-CN" altLang="en-US" sz="2400" dirty="0"/>
              <a:t>字典</a:t>
            </a:r>
          </a:p>
          <a:p>
            <a:pPr marL="109728" indent="0">
              <a:buNone/>
            </a:pPr>
            <a:r>
              <a:rPr lang="en-US" altLang="zh-CN" sz="2400" dirty="0"/>
              <a:t>  D.</a:t>
            </a:r>
            <a:r>
              <a:rPr lang="zh-CN" altLang="en-US" sz="2400" dirty="0"/>
              <a:t>工作包</a:t>
            </a:r>
            <a:endParaRPr lang="en-US" altLang="zh-CN" sz="2400" dirty="0"/>
          </a:p>
          <a:p>
            <a:r>
              <a:rPr lang="zh-CN" altLang="en-US" sz="2400" dirty="0"/>
              <a:t>‎</a:t>
            </a:r>
            <a:r>
              <a:rPr lang="en-US" altLang="zh-CN" sz="2400" dirty="0"/>
              <a:t>4</a:t>
            </a:r>
            <a:r>
              <a:rPr lang="zh-CN" altLang="en-US" sz="2400" dirty="0"/>
              <a:t>、创建</a:t>
            </a:r>
            <a:r>
              <a:rPr lang="en-US" altLang="zh-CN" sz="2400" dirty="0"/>
              <a:t>WBS</a:t>
            </a:r>
            <a:r>
              <a:rPr lang="zh-CN" altLang="en-US" sz="2400" dirty="0"/>
              <a:t>时，</a:t>
            </a:r>
            <a:r>
              <a:rPr lang="en-US" altLang="zh-CN" sz="2400" dirty="0"/>
              <a:t>___</a:t>
            </a:r>
            <a:r>
              <a:rPr lang="zh-CN" altLang="en-US" sz="2400" dirty="0"/>
              <a:t>是以非线性形式将想法写出或画出。</a:t>
            </a:r>
            <a:endParaRPr lang="en-US" altLang="zh-CN" sz="2400" dirty="0"/>
          </a:p>
          <a:p>
            <a:pPr marL="109728" indent="0">
              <a:buNone/>
            </a:pPr>
            <a:r>
              <a:rPr lang="en-US" altLang="zh-CN" sz="2400" b="1" dirty="0"/>
              <a:t>  </a:t>
            </a:r>
            <a:r>
              <a:rPr lang="en-US" altLang="zh-CN" sz="2400" dirty="0"/>
              <a:t>A.</a:t>
            </a:r>
            <a:r>
              <a:rPr lang="zh-CN" altLang="en-US" sz="2400" dirty="0"/>
              <a:t>自上而下法</a:t>
            </a:r>
          </a:p>
          <a:p>
            <a:pPr marL="109728" indent="0">
              <a:buNone/>
            </a:pPr>
            <a:r>
              <a:rPr lang="en-US" altLang="zh-CN" sz="2400" dirty="0"/>
              <a:t>  B.</a:t>
            </a:r>
            <a:r>
              <a:rPr lang="zh-CN" altLang="en-US" sz="2400" dirty="0"/>
              <a:t>自下而上法</a:t>
            </a:r>
          </a:p>
          <a:p>
            <a:pPr marL="109728" indent="0">
              <a:buNone/>
            </a:pPr>
            <a:r>
              <a:rPr lang="en-US" altLang="zh-CN" sz="2400" dirty="0"/>
              <a:t>  C.</a:t>
            </a:r>
            <a:r>
              <a:rPr lang="zh-CN" altLang="en-US" sz="2400" dirty="0"/>
              <a:t>类比法</a:t>
            </a:r>
          </a:p>
          <a:p>
            <a:pPr marL="109728" indent="0">
              <a:buNone/>
            </a:pPr>
            <a:r>
              <a:rPr lang="en-US" altLang="zh-CN" sz="2400" dirty="0"/>
              <a:t>  D.</a:t>
            </a:r>
            <a:r>
              <a:rPr lang="zh-CN" altLang="en-US" sz="2400" dirty="0"/>
              <a:t>思维导图法</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972952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a:t>、假定你有一个项目，该项目的主要条目为计划、分析、设计、测试。那么这些事项位于</a:t>
            </a:r>
            <a:r>
              <a:rPr lang="en-US" altLang="zh-CN" sz="2400" dirty="0"/>
              <a:t>WBS</a:t>
            </a:r>
            <a:r>
              <a:rPr lang="zh-CN" altLang="en-US" sz="2400" dirty="0"/>
              <a:t>中的层级</a:t>
            </a:r>
            <a:r>
              <a:rPr lang="en-US" altLang="zh-CN" sz="2400" dirty="0"/>
              <a:t>___</a:t>
            </a:r>
            <a:r>
              <a:rPr lang="zh-CN" altLang="en-US" sz="2400" dirty="0"/>
              <a:t>。</a:t>
            </a:r>
          </a:p>
          <a:p>
            <a:pPr marL="109728" indent="0">
              <a:buNone/>
            </a:pPr>
            <a:r>
              <a:rPr lang="en-US" altLang="zh-CN" sz="2400" dirty="0"/>
              <a:t>A.0</a:t>
            </a:r>
            <a:endParaRPr lang="zh-CN" altLang="en-US" sz="2400" dirty="0"/>
          </a:p>
          <a:p>
            <a:pPr marL="109728" indent="0">
              <a:buNone/>
            </a:pPr>
            <a:r>
              <a:rPr lang="en-US" altLang="zh-CN" sz="2400" dirty="0"/>
              <a:t>B.1</a:t>
            </a:r>
            <a:endParaRPr lang="zh-CN" altLang="en-US" sz="2400" dirty="0"/>
          </a:p>
          <a:p>
            <a:pPr marL="109728" indent="0">
              <a:buNone/>
            </a:pPr>
            <a:r>
              <a:rPr lang="en-US" altLang="zh-CN" sz="2400" dirty="0"/>
              <a:t>C.2</a:t>
            </a:r>
            <a:endParaRPr lang="zh-CN" altLang="en-US" sz="2400" dirty="0"/>
          </a:p>
          <a:p>
            <a:pPr marL="109728" indent="0">
              <a:buNone/>
            </a:pPr>
            <a:r>
              <a:rPr lang="en-US" altLang="zh-CN" sz="2400" dirty="0"/>
              <a:t>D.3</a:t>
            </a:r>
          </a:p>
          <a:p>
            <a:r>
              <a:rPr lang="en-US" altLang="zh-CN" sz="2400" dirty="0"/>
              <a:t>6</a:t>
            </a:r>
            <a:r>
              <a:rPr lang="zh-CN" altLang="en-US" sz="2400" dirty="0"/>
              <a:t>、</a:t>
            </a:r>
            <a:r>
              <a:rPr lang="en-US" altLang="zh-CN" sz="2400" dirty="0"/>
              <a:t>___</a:t>
            </a:r>
            <a:r>
              <a:rPr lang="zh-CN" altLang="en-US" sz="2400" dirty="0"/>
              <a:t>下列哪一项不是能够避免</a:t>
            </a:r>
            <a:r>
              <a:rPr lang="en-US" altLang="zh-CN" sz="2400" dirty="0"/>
              <a:t>IT</a:t>
            </a:r>
            <a:r>
              <a:rPr lang="zh-CN" altLang="en-US" sz="2400" dirty="0"/>
              <a:t>项目范围问题的最佳实践。</a:t>
            </a:r>
            <a:endParaRPr lang="en-US" altLang="zh-CN" sz="2400" dirty="0"/>
          </a:p>
          <a:p>
            <a:pPr marL="109728" indent="0">
              <a:buNone/>
            </a:pPr>
            <a:r>
              <a:rPr lang="en-US" altLang="zh-CN" sz="2400" dirty="0"/>
              <a:t>A.</a:t>
            </a:r>
            <a:r>
              <a:rPr lang="zh-CN" altLang="en-US" sz="2400" dirty="0"/>
              <a:t>范围要符合实际   </a:t>
            </a:r>
          </a:p>
          <a:p>
            <a:pPr marL="109728" indent="0">
              <a:buNone/>
            </a:pPr>
            <a:r>
              <a:rPr lang="en-US" altLang="zh-CN" sz="2400" dirty="0"/>
              <a:t>B.</a:t>
            </a:r>
            <a:r>
              <a:rPr lang="zh-CN" altLang="en-US" sz="2400" dirty="0"/>
              <a:t>如果可能，利用现有的硬件和软件</a:t>
            </a:r>
          </a:p>
          <a:p>
            <a:pPr marL="109728" indent="0">
              <a:buNone/>
            </a:pPr>
            <a:r>
              <a:rPr lang="en-US" altLang="zh-CN" sz="2400" dirty="0"/>
              <a:t>C.</a:t>
            </a:r>
            <a:r>
              <a:rPr lang="zh-CN" altLang="en-US" sz="2400" dirty="0"/>
              <a:t>遵循有效的项目管理过程</a:t>
            </a:r>
          </a:p>
          <a:p>
            <a:pPr marL="109728" indent="0">
              <a:buNone/>
            </a:pPr>
            <a:r>
              <a:rPr lang="en-US" altLang="zh-CN" sz="2400" dirty="0"/>
              <a:t>D.</a:t>
            </a:r>
            <a:r>
              <a:rPr lang="zh-CN" altLang="en-US" sz="2400" dirty="0"/>
              <a:t>不要太多的用户参与范围管理</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420770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7</a:t>
            </a:r>
            <a:r>
              <a:rPr lang="zh-CN" altLang="en-US" sz="2400" dirty="0"/>
              <a:t>、为什么麦当劳终止了一个已经投资</a:t>
            </a:r>
            <a:r>
              <a:rPr lang="en-US" altLang="zh-CN" sz="2400" dirty="0"/>
              <a:t>1.7</a:t>
            </a:r>
            <a:r>
              <a:rPr lang="zh-CN" altLang="en-US" sz="2400" dirty="0"/>
              <a:t>亿美元的大型项目？</a:t>
            </a:r>
            <a:endParaRPr lang="en-US" altLang="zh-CN" sz="2400" dirty="0"/>
          </a:p>
          <a:p>
            <a:pPr marL="109728" indent="0">
              <a:buNone/>
            </a:pPr>
            <a:r>
              <a:rPr lang="en-US" altLang="zh-CN" sz="2400" dirty="0"/>
              <a:t>A.</a:t>
            </a:r>
            <a:r>
              <a:rPr lang="zh-CN" altLang="en-US" sz="2400" dirty="0"/>
              <a:t>该公司发现了一个更好的技术</a:t>
            </a:r>
            <a:endParaRPr lang="en-US" altLang="zh-CN" sz="2400" dirty="0"/>
          </a:p>
          <a:p>
            <a:pPr marL="109728" indent="0">
              <a:buNone/>
            </a:pPr>
            <a:r>
              <a:rPr lang="en-US" altLang="zh-CN" sz="2400" dirty="0"/>
              <a:t>B.</a:t>
            </a:r>
            <a:r>
              <a:rPr lang="zh-CN" altLang="en-US" sz="2400" dirty="0"/>
              <a:t>该公司决定外包工作</a:t>
            </a:r>
          </a:p>
          <a:p>
            <a:pPr marL="109728" indent="0">
              <a:buNone/>
            </a:pPr>
            <a:r>
              <a:rPr lang="en-US" altLang="zh-CN" sz="2400" dirty="0"/>
              <a:t>C.</a:t>
            </a:r>
            <a:r>
              <a:rPr lang="zh-CN" altLang="en-US" sz="2400" dirty="0"/>
              <a:t>范围太广而不能处理</a:t>
            </a:r>
          </a:p>
          <a:p>
            <a:pPr marL="109728" indent="0">
              <a:buNone/>
            </a:pPr>
            <a:r>
              <a:rPr lang="en-US" altLang="zh-CN" sz="2400" dirty="0"/>
              <a:t>D.</a:t>
            </a:r>
            <a:r>
              <a:rPr lang="zh-CN" altLang="en-US" sz="2400" dirty="0"/>
              <a:t>政府要求促使了项目被废除</a:t>
            </a:r>
            <a:endParaRPr lang="en-US" altLang="zh-CN" sz="2400" dirty="0"/>
          </a:p>
          <a:p>
            <a:r>
              <a:rPr lang="en-US" altLang="zh-CN" sz="2400" dirty="0"/>
              <a:t>8</a:t>
            </a:r>
            <a:r>
              <a:rPr lang="zh-CN" altLang="en-US" sz="2400" dirty="0"/>
              <a:t>、范围</a:t>
            </a:r>
            <a:r>
              <a:rPr lang="en-US" altLang="zh-CN" sz="2400" dirty="0"/>
              <a:t>___</a:t>
            </a:r>
            <a:r>
              <a:rPr lang="zh-CN" altLang="en-US" sz="2400" dirty="0"/>
              <a:t>通常是通过客户检查来完成的，然后以关键的可交付成果收尾。</a:t>
            </a:r>
            <a:endParaRPr lang="en-US" altLang="zh-CN" sz="2400" dirty="0"/>
          </a:p>
          <a:p>
            <a:pPr marL="109728" indent="0">
              <a:buNone/>
            </a:pPr>
            <a:r>
              <a:rPr lang="en-US" altLang="zh-CN" sz="2400" dirty="0"/>
              <a:t>A.</a:t>
            </a:r>
            <a:r>
              <a:rPr lang="zh-CN" altLang="en-US" sz="2400" dirty="0"/>
              <a:t>核实</a:t>
            </a:r>
          </a:p>
          <a:p>
            <a:pPr marL="109728" indent="0">
              <a:buNone/>
            </a:pPr>
            <a:r>
              <a:rPr lang="en-US" altLang="zh-CN" sz="2400" dirty="0"/>
              <a:t>B.</a:t>
            </a:r>
            <a:r>
              <a:rPr lang="zh-CN" altLang="en-US" sz="2400" dirty="0"/>
              <a:t>验证</a:t>
            </a:r>
          </a:p>
          <a:p>
            <a:pPr marL="109728" indent="0">
              <a:buNone/>
            </a:pPr>
            <a:r>
              <a:rPr lang="en-US" altLang="zh-CN" sz="2400" dirty="0"/>
              <a:t>C.</a:t>
            </a:r>
            <a:r>
              <a:rPr lang="zh-CN" altLang="en-US" sz="2400" dirty="0"/>
              <a:t>完成</a:t>
            </a:r>
          </a:p>
          <a:p>
            <a:pPr marL="109728" indent="0">
              <a:buNone/>
            </a:pPr>
            <a:r>
              <a:rPr lang="en-US" altLang="zh-CN" sz="2400" dirty="0"/>
              <a:t>D.</a:t>
            </a:r>
            <a:r>
              <a:rPr lang="zh-CN" altLang="en-US" sz="2400" dirty="0"/>
              <a:t>结束淘汰</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419643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、下面</a:t>
            </a:r>
            <a:r>
              <a:rPr lang="en-US" altLang="zh-CN" sz="2400" dirty="0"/>
              <a:t>___</a:t>
            </a:r>
            <a:r>
              <a:rPr lang="zh-CN" altLang="en-US" sz="2400" dirty="0"/>
              <a:t>不是改善用户输入的建议。</a:t>
            </a:r>
          </a:p>
          <a:p>
            <a:pPr marL="109728" indent="0">
              <a:buNone/>
            </a:pPr>
            <a:r>
              <a:rPr lang="en-US" altLang="zh-CN" sz="2400" dirty="0"/>
              <a:t>A.</a:t>
            </a:r>
            <a:r>
              <a:rPr lang="zh-CN" altLang="en-US" sz="2400" dirty="0"/>
              <a:t>为</a:t>
            </a:r>
            <a:r>
              <a:rPr lang="en-US" altLang="zh-CN" sz="2400" dirty="0"/>
              <a:t>IT</a:t>
            </a:r>
            <a:r>
              <a:rPr lang="zh-CN" altLang="en-US" sz="2400" dirty="0"/>
              <a:t>项目开发一个有效的项目选择过程</a:t>
            </a:r>
          </a:p>
          <a:p>
            <a:pPr marL="109728" indent="0">
              <a:buNone/>
            </a:pPr>
            <a:r>
              <a:rPr lang="en-US" altLang="zh-CN" sz="2400" dirty="0"/>
              <a:t>B.</a:t>
            </a:r>
            <a:r>
              <a:rPr lang="zh-CN" altLang="en-US" sz="2400" dirty="0"/>
              <a:t>用户参与项目团队</a:t>
            </a:r>
          </a:p>
          <a:p>
            <a:pPr marL="109728" indent="0">
              <a:buNone/>
            </a:pPr>
            <a:r>
              <a:rPr lang="en-US" altLang="zh-CN" sz="2400" dirty="0"/>
              <a:t>C.</a:t>
            </a:r>
            <a:r>
              <a:rPr lang="zh-CN" altLang="en-US" sz="2400" dirty="0"/>
              <a:t>用户与开发人员共处一处</a:t>
            </a:r>
          </a:p>
          <a:p>
            <a:pPr marL="109728" indent="0">
              <a:buNone/>
            </a:pPr>
            <a:r>
              <a:rPr lang="en-US" altLang="zh-CN" sz="2400" dirty="0"/>
              <a:t>D.</a:t>
            </a:r>
            <a:r>
              <a:rPr lang="zh-CN" altLang="en-US" sz="2400" dirty="0"/>
              <a:t>仅在需要时开会而非定期</a:t>
            </a:r>
            <a:endParaRPr lang="en-US" altLang="zh-CN" sz="2400" dirty="0"/>
          </a:p>
          <a:p>
            <a:r>
              <a:rPr lang="en-US" altLang="zh-CN" sz="2400" dirty="0"/>
              <a:t>10</a:t>
            </a:r>
            <a:r>
              <a:rPr lang="zh-CN" altLang="en-US" sz="2400" dirty="0"/>
              <a:t>、项目管理软件可以帮助构建</a:t>
            </a:r>
            <a:r>
              <a:rPr lang="en-US" altLang="zh-CN" sz="2400" dirty="0"/>
              <a:t>___</a:t>
            </a:r>
            <a:r>
              <a:rPr lang="zh-CN" altLang="en-US" sz="2400" dirty="0"/>
              <a:t>，它可为制作甘特图、分配资源以及分摊成本打下基础。</a:t>
            </a:r>
            <a:endParaRPr lang="en-US" altLang="zh-CN" sz="2400" dirty="0"/>
          </a:p>
          <a:p>
            <a:pPr marL="109728" indent="0">
              <a:buNone/>
            </a:pPr>
            <a:r>
              <a:rPr lang="en-US" altLang="zh-CN" sz="2400" dirty="0"/>
              <a:t>A.</a:t>
            </a:r>
            <a:r>
              <a:rPr lang="zh-CN" altLang="en-US" sz="2400" dirty="0"/>
              <a:t>项目计划</a:t>
            </a:r>
          </a:p>
          <a:p>
            <a:pPr marL="109728" indent="0">
              <a:buNone/>
            </a:pPr>
            <a:r>
              <a:rPr lang="en-US" altLang="zh-CN" sz="2400" dirty="0"/>
              <a:t>B.</a:t>
            </a:r>
            <a:r>
              <a:rPr lang="zh-CN" altLang="en-US" sz="2400" dirty="0"/>
              <a:t>进度</a:t>
            </a:r>
          </a:p>
          <a:p>
            <a:pPr marL="109728" indent="0">
              <a:buNone/>
            </a:pPr>
            <a:r>
              <a:rPr lang="en-US" altLang="zh-CN" sz="2400" dirty="0"/>
              <a:t>C.WBS</a:t>
            </a:r>
            <a:endParaRPr lang="zh-CN" altLang="en-US" sz="2400" dirty="0"/>
          </a:p>
          <a:p>
            <a:pPr marL="109728" indent="0">
              <a:buNone/>
            </a:pPr>
            <a:r>
              <a:rPr lang="en-US" altLang="zh-CN" sz="2400" dirty="0"/>
              <a:t>D.</a:t>
            </a:r>
            <a:r>
              <a:rPr lang="zh-CN" altLang="en-US" sz="2400" dirty="0"/>
              <a:t>可交付成果</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027587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、项目范围管理涉及的</a:t>
            </a:r>
            <a:r>
              <a:rPr lang="en-US" altLang="zh-CN" b="1" dirty="0"/>
              <a:t>6</a:t>
            </a:r>
            <a:r>
              <a:rPr lang="zh-CN" altLang="en-US" b="1" dirty="0"/>
              <a:t>个主要过程</a:t>
            </a:r>
            <a:endParaRPr lang="en-US" altLang="zh-CN" b="1" dirty="0"/>
          </a:p>
          <a:p>
            <a:r>
              <a:rPr lang="en-US" altLang="zh-CN" b="1" dirty="0"/>
              <a:t>2</a:t>
            </a:r>
            <a:r>
              <a:rPr lang="zh-CN" altLang="en-US" b="1" dirty="0"/>
              <a:t>、范围管理计划包括哪些信息？</a:t>
            </a:r>
            <a:endParaRPr lang="en-US" altLang="zh-CN" b="1" dirty="0"/>
          </a:p>
          <a:p>
            <a:r>
              <a:rPr lang="en-US" altLang="zh-CN" b="1" dirty="0"/>
              <a:t>3</a:t>
            </a:r>
            <a:r>
              <a:rPr lang="zh-CN" altLang="en-US" b="1" dirty="0"/>
              <a:t>、收集需求的常用方法</a:t>
            </a:r>
            <a:endParaRPr lang="en-US" altLang="zh-CN" b="1" dirty="0"/>
          </a:p>
          <a:p>
            <a:r>
              <a:rPr lang="en-US" altLang="zh-CN" b="1" dirty="0"/>
              <a:t>4</a:t>
            </a:r>
            <a:r>
              <a:rPr lang="zh-CN" altLang="en-US" b="1" dirty="0"/>
              <a:t>、制定工作分解结构（</a:t>
            </a:r>
            <a:r>
              <a:rPr lang="en-US" altLang="zh-CN" b="1" dirty="0"/>
              <a:t>WBS</a:t>
            </a:r>
            <a:r>
              <a:rPr lang="zh-CN" altLang="en-US" b="1" dirty="0"/>
              <a:t>）的方法</a:t>
            </a:r>
            <a:endParaRPr lang="en-US" altLang="zh-CN" b="1" dirty="0"/>
          </a:p>
          <a:p>
            <a:r>
              <a:rPr lang="en-US" altLang="zh-CN" b="1" dirty="0"/>
              <a:t>5</a:t>
            </a:r>
            <a:r>
              <a:rPr lang="zh-CN" altLang="en-US" b="1" dirty="0"/>
              <a:t>、范围控制的目标</a:t>
            </a:r>
            <a:endParaRPr lang="en-US" altLang="zh-CN" b="1" dirty="0"/>
          </a:p>
          <a:p>
            <a:r>
              <a:rPr lang="en-US" altLang="zh-CN" b="1" dirty="0"/>
              <a:t>6</a:t>
            </a:r>
            <a:r>
              <a:rPr lang="zh-CN" altLang="en-US" b="1" dirty="0"/>
              <a:t>、公司应遵循哪些最佳实践来避免出现主要的范围问题？</a:t>
            </a:r>
            <a:endParaRPr lang="en-US" altLang="zh-CN" b="1" dirty="0"/>
          </a:p>
          <a:p>
            <a:r>
              <a:rPr lang="en-US" altLang="zh-CN" dirty="0"/>
              <a:t>7</a:t>
            </a:r>
            <a:r>
              <a:rPr lang="zh-CN" altLang="en-US" dirty="0"/>
              <a:t>、范围蔓延产生的原因？是否可以避免？如何预防范围蔓延的产生？</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865829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、项目范围管理涉及的</a:t>
            </a:r>
            <a:r>
              <a:rPr lang="en-US" altLang="zh-CN" b="1" dirty="0"/>
              <a:t>6</a:t>
            </a:r>
            <a:r>
              <a:rPr lang="zh-CN" altLang="en-US" b="1" dirty="0"/>
              <a:t>个主要过程</a:t>
            </a:r>
            <a:endParaRPr lang="en-US" altLang="zh-CN" b="1" dirty="0"/>
          </a:p>
          <a:p>
            <a:pPr marL="109728" indent="0">
              <a:buNone/>
            </a:pPr>
            <a:r>
              <a:rPr lang="zh-CN" altLang="en-US" dirty="0"/>
              <a:t>制定范围管理计划</a:t>
            </a:r>
            <a:endParaRPr lang="en-US" altLang="zh-CN" dirty="0"/>
          </a:p>
          <a:p>
            <a:pPr marL="109728" indent="0">
              <a:buNone/>
            </a:pPr>
            <a:r>
              <a:rPr lang="zh-CN" altLang="en-US" dirty="0"/>
              <a:t>收集需求</a:t>
            </a:r>
            <a:endParaRPr lang="en-US" altLang="zh-CN" dirty="0"/>
          </a:p>
          <a:p>
            <a:pPr marL="109728" indent="0">
              <a:buNone/>
            </a:pPr>
            <a:r>
              <a:rPr lang="zh-CN" altLang="en-US" dirty="0"/>
              <a:t>定义范围</a:t>
            </a:r>
            <a:endParaRPr lang="en-US" altLang="zh-CN" dirty="0"/>
          </a:p>
          <a:p>
            <a:pPr marL="109728" indent="0">
              <a:buNone/>
            </a:pPr>
            <a:r>
              <a:rPr lang="zh-CN" altLang="en-US" dirty="0"/>
              <a:t>创建工作分解结构</a:t>
            </a:r>
            <a:endParaRPr lang="en-US" altLang="zh-CN" dirty="0"/>
          </a:p>
          <a:p>
            <a:pPr marL="109728" indent="0">
              <a:buNone/>
            </a:pPr>
            <a:r>
              <a:rPr lang="zh-CN" altLang="en-US" dirty="0"/>
              <a:t>验证范围</a:t>
            </a:r>
            <a:endParaRPr lang="en-US" altLang="zh-CN" dirty="0"/>
          </a:p>
          <a:p>
            <a:pPr marL="109728" indent="0">
              <a:buNone/>
            </a:pPr>
            <a:r>
              <a:rPr lang="zh-CN" altLang="en-US" dirty="0"/>
              <a:t>控制范围</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85349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2</a:t>
            </a:r>
            <a:r>
              <a:rPr lang="zh-CN" altLang="en-US" b="1" dirty="0"/>
              <a:t>、范围管理计划包括哪些信息？</a:t>
            </a:r>
            <a:endParaRPr lang="en-US" altLang="zh-CN" b="1" dirty="0"/>
          </a:p>
          <a:p>
            <a:pPr marL="109728" indent="0">
              <a:buNone/>
            </a:pPr>
            <a:r>
              <a:rPr lang="zh-CN" altLang="en-US" dirty="0"/>
              <a:t>如何准备一个详细的范围说明书</a:t>
            </a:r>
            <a:endParaRPr lang="en-US" altLang="zh-CN" dirty="0"/>
          </a:p>
          <a:p>
            <a:pPr marL="109728" indent="0">
              <a:buNone/>
            </a:pPr>
            <a:r>
              <a:rPr lang="zh-CN" altLang="en-US" dirty="0"/>
              <a:t>如何创建一个</a:t>
            </a:r>
            <a:r>
              <a:rPr lang="en-US" altLang="zh-CN" dirty="0"/>
              <a:t>WBS</a:t>
            </a:r>
          </a:p>
          <a:p>
            <a:pPr marL="109728" indent="0">
              <a:buNone/>
            </a:pPr>
            <a:r>
              <a:rPr lang="zh-CN" altLang="en-US" dirty="0"/>
              <a:t>如何维护和批准</a:t>
            </a:r>
            <a:r>
              <a:rPr lang="en-US" altLang="zh-CN" dirty="0"/>
              <a:t>WBS</a:t>
            </a:r>
          </a:p>
          <a:p>
            <a:pPr marL="109728" indent="0">
              <a:buNone/>
            </a:pPr>
            <a:r>
              <a:rPr lang="zh-CN" altLang="en-US" dirty="0"/>
              <a:t>如何获得正式验收已完成的项目可交付成果</a:t>
            </a:r>
            <a:endParaRPr lang="en-US" altLang="zh-CN" dirty="0"/>
          </a:p>
          <a:p>
            <a:pPr marL="109728" indent="0">
              <a:buNone/>
            </a:pPr>
            <a:r>
              <a:rPr lang="zh-CN" altLang="en-US" dirty="0"/>
              <a:t>如何控制项目范围变更的请求</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44952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3</a:t>
            </a:r>
            <a:r>
              <a:rPr lang="zh-CN" altLang="en-US" b="1" dirty="0"/>
              <a:t>、收集需求的常用方法</a:t>
            </a:r>
            <a:endParaRPr lang="en-US" altLang="zh-CN" b="1" dirty="0"/>
          </a:p>
          <a:p>
            <a:pPr marL="109728" indent="0">
              <a:buNone/>
            </a:pPr>
            <a:r>
              <a:rPr lang="zh-CN" altLang="en-US" sz="2400" dirty="0"/>
              <a:t>与项目干系人一对一访谈</a:t>
            </a:r>
            <a:endParaRPr lang="en-US" altLang="zh-CN" sz="2400" dirty="0"/>
          </a:p>
          <a:p>
            <a:pPr marL="109728" indent="0">
              <a:buNone/>
            </a:pPr>
            <a:r>
              <a:rPr lang="zh-CN" altLang="en-US" sz="2400" dirty="0"/>
              <a:t>使用焦点小组会议、引导式研讨会、群体创新和决策技术</a:t>
            </a:r>
            <a:endParaRPr lang="en-US" altLang="zh-CN" sz="2400" dirty="0"/>
          </a:p>
          <a:p>
            <a:pPr marL="109728" indent="0">
              <a:buNone/>
            </a:pPr>
            <a:r>
              <a:rPr lang="zh-CN" altLang="en-US" sz="2400" dirty="0"/>
              <a:t>问卷调查法</a:t>
            </a:r>
            <a:endParaRPr lang="en-US" altLang="zh-CN" sz="2400" dirty="0"/>
          </a:p>
          <a:p>
            <a:pPr marL="109728" indent="0">
              <a:buNone/>
            </a:pPr>
            <a:r>
              <a:rPr lang="zh-CN" altLang="en-US" sz="2400" dirty="0"/>
              <a:t>观察法</a:t>
            </a:r>
            <a:endParaRPr lang="en-US" altLang="zh-CN" sz="2400" dirty="0"/>
          </a:p>
          <a:p>
            <a:pPr marL="109728" indent="0">
              <a:buNone/>
            </a:pPr>
            <a:r>
              <a:rPr lang="zh-CN" altLang="en-US" sz="2400" dirty="0"/>
              <a:t>原型法和文档分析法</a:t>
            </a:r>
            <a:endParaRPr lang="en-US" altLang="zh-CN" sz="2400" dirty="0"/>
          </a:p>
          <a:p>
            <a:pPr marL="109728" indent="0">
              <a:buNone/>
            </a:pPr>
            <a:r>
              <a:rPr lang="zh-CN" altLang="en-US" sz="2400" dirty="0"/>
              <a:t>基准测试</a:t>
            </a:r>
            <a:endParaRPr lang="en-US" altLang="zh-CN" sz="2400"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17270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4</a:t>
            </a:r>
            <a:r>
              <a:rPr lang="zh-CN" altLang="en-US" b="1" dirty="0"/>
              <a:t>、制定工作分解结构（</a:t>
            </a:r>
            <a:r>
              <a:rPr lang="en-US" altLang="zh-CN" b="1" dirty="0"/>
              <a:t>WBS</a:t>
            </a:r>
            <a:r>
              <a:rPr lang="zh-CN" altLang="en-US" b="1" dirty="0"/>
              <a:t>）的方法</a:t>
            </a:r>
            <a:endParaRPr lang="en-US" altLang="zh-CN" b="1" dirty="0"/>
          </a:p>
          <a:p>
            <a:pPr marL="109728" indent="0">
              <a:buNone/>
            </a:pPr>
            <a:r>
              <a:rPr lang="zh-CN" altLang="en-US" dirty="0"/>
              <a:t>使用指南</a:t>
            </a:r>
            <a:endParaRPr lang="en-US" altLang="zh-CN" dirty="0"/>
          </a:p>
          <a:p>
            <a:pPr marL="109728" indent="0">
              <a:buNone/>
            </a:pPr>
            <a:r>
              <a:rPr lang="zh-CN" altLang="en-US" dirty="0"/>
              <a:t>类比法</a:t>
            </a:r>
            <a:endParaRPr lang="en-US" altLang="zh-CN" dirty="0"/>
          </a:p>
          <a:p>
            <a:pPr marL="109728" indent="0">
              <a:buNone/>
            </a:pPr>
            <a:r>
              <a:rPr lang="zh-CN" altLang="en-US" dirty="0"/>
              <a:t>自上而下法</a:t>
            </a:r>
            <a:endParaRPr lang="en-US" altLang="zh-CN" dirty="0"/>
          </a:p>
          <a:p>
            <a:pPr marL="109728" indent="0">
              <a:buNone/>
            </a:pPr>
            <a:r>
              <a:rPr lang="zh-CN" altLang="en-US" dirty="0"/>
              <a:t>自下而上法</a:t>
            </a:r>
            <a:endParaRPr lang="en-US" altLang="zh-CN" dirty="0"/>
          </a:p>
          <a:p>
            <a:pPr marL="109728" indent="0">
              <a:buNone/>
            </a:pPr>
            <a:r>
              <a:rPr lang="zh-CN" altLang="en-US" dirty="0"/>
              <a:t>思维导图法</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67854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5</a:t>
            </a:r>
            <a:r>
              <a:rPr lang="zh-CN" altLang="en-US" b="1" dirty="0"/>
              <a:t>、范围控制的目标</a:t>
            </a:r>
            <a:endParaRPr lang="en-US" altLang="zh-CN" b="1" dirty="0"/>
          </a:p>
          <a:p>
            <a:pPr marL="109728" indent="0">
              <a:buNone/>
            </a:pPr>
            <a:r>
              <a:rPr lang="zh-CN" altLang="en-US" dirty="0"/>
              <a:t>影响那些导致范围变更的因素</a:t>
            </a:r>
            <a:endParaRPr lang="en-US" altLang="zh-CN" dirty="0"/>
          </a:p>
          <a:p>
            <a:pPr marL="109728" indent="0">
              <a:buNone/>
            </a:pPr>
            <a:r>
              <a:rPr lang="zh-CN" altLang="en-US" dirty="0"/>
              <a:t>确保变更是按照综合变更控制中开发的过程来处理的</a:t>
            </a:r>
            <a:endParaRPr lang="en-US" altLang="zh-CN" dirty="0"/>
          </a:p>
          <a:p>
            <a:pPr marL="109728" indent="0">
              <a:buNone/>
            </a:pPr>
            <a:r>
              <a:rPr lang="zh-CN" altLang="en-US" dirty="0"/>
              <a:t>当变更出现的时候对其进行管理 </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94892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6</a:t>
            </a:r>
            <a:r>
              <a:rPr lang="zh-CN" altLang="en-US" b="1" dirty="0"/>
              <a:t>、公司应遵循哪些最佳实践来避免出现主要的范围问题？</a:t>
            </a:r>
            <a:endParaRPr lang="en-US" altLang="zh-CN" b="1" dirty="0"/>
          </a:p>
          <a:p>
            <a:pPr marL="109728" indent="0">
              <a:buNone/>
            </a:pPr>
            <a:r>
              <a:rPr lang="zh-CN" altLang="en-US" dirty="0"/>
              <a:t>范围要符合实际</a:t>
            </a:r>
            <a:endParaRPr lang="en-US" altLang="zh-CN" dirty="0"/>
          </a:p>
          <a:p>
            <a:pPr marL="109728" indent="0">
              <a:buNone/>
            </a:pPr>
            <a:r>
              <a:rPr lang="zh-CN" altLang="en-US" dirty="0"/>
              <a:t>使用户参与项目范围管理</a:t>
            </a:r>
            <a:endParaRPr lang="en-US" altLang="zh-CN" dirty="0"/>
          </a:p>
          <a:p>
            <a:pPr marL="109728" indent="0">
              <a:buNone/>
            </a:pPr>
            <a:r>
              <a:rPr lang="zh-CN" altLang="en-US" dirty="0"/>
              <a:t>如果可能，使用现有的硬件和软件</a:t>
            </a:r>
            <a:endParaRPr lang="en-US" altLang="zh-CN" dirty="0"/>
          </a:p>
          <a:p>
            <a:pPr marL="109728" indent="0">
              <a:buNone/>
            </a:pPr>
            <a:r>
              <a:rPr lang="zh-CN" altLang="en-US" dirty="0"/>
              <a:t>遵守良好的项目管理过程</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12987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20000"/>
          </a:bodyPr>
          <a:lstStyle/>
          <a:p>
            <a:r>
              <a:rPr lang="en-US" altLang="zh-CN" dirty="0"/>
              <a:t>7</a:t>
            </a:r>
            <a:r>
              <a:rPr lang="zh-CN" altLang="en-US" dirty="0"/>
              <a:t>、范围蔓延产生的原因？是否可以避免？如何预防范围蔓延的产生？</a:t>
            </a:r>
            <a:endParaRPr lang="en-US" altLang="zh-CN" dirty="0"/>
          </a:p>
          <a:p>
            <a:pPr marL="109728" indent="0">
              <a:buNone/>
            </a:pPr>
            <a:r>
              <a:rPr lang="en-US" altLang="zh-CN" dirty="0"/>
              <a:t>1</a:t>
            </a:r>
            <a:r>
              <a:rPr lang="zh-CN" altLang="en-US" dirty="0"/>
              <a:t>）确保自己明白项目的范围；</a:t>
            </a:r>
          </a:p>
          <a:p>
            <a:pPr marL="109728" indent="0">
              <a:buNone/>
            </a:pPr>
            <a:r>
              <a:rPr lang="en-US" altLang="zh-CN" dirty="0"/>
              <a:t>2</a:t>
            </a:r>
            <a:r>
              <a:rPr lang="zh-CN" altLang="en-US" dirty="0"/>
              <a:t>）了解你自己认为重要的东西和项目主管认为重要的东西； </a:t>
            </a:r>
          </a:p>
          <a:p>
            <a:pPr marL="109728" indent="0">
              <a:buNone/>
            </a:pPr>
            <a:r>
              <a:rPr lang="en-US" altLang="zh-CN" dirty="0"/>
              <a:t>3</a:t>
            </a:r>
            <a:r>
              <a:rPr lang="zh-CN" altLang="en-US" dirty="0"/>
              <a:t>）定义你的项目发布目标并让项目主管同意它们； </a:t>
            </a:r>
          </a:p>
          <a:p>
            <a:pPr marL="109728" indent="0">
              <a:buNone/>
            </a:pPr>
            <a:r>
              <a:rPr lang="en-US" altLang="zh-CN" dirty="0"/>
              <a:t>4</a:t>
            </a:r>
            <a:r>
              <a:rPr lang="zh-CN" altLang="en-US" dirty="0"/>
              <a:t>）把经过同意的项目发布目标细化成具体的工作要求；</a:t>
            </a:r>
          </a:p>
          <a:p>
            <a:pPr marL="109728" indent="0">
              <a:buNone/>
            </a:pPr>
            <a:r>
              <a:rPr lang="en-US" altLang="zh-CN" dirty="0"/>
              <a:t>5</a:t>
            </a:r>
            <a:r>
              <a:rPr lang="zh-CN" altLang="en-US" dirty="0"/>
              <a:t>）将项目分解成大的和小的里程碑并编写一个大概的项目时间表以获得项目主管的同意； </a:t>
            </a:r>
          </a:p>
          <a:p>
            <a:pPr marL="109728" indent="0">
              <a:buNone/>
            </a:pPr>
            <a:r>
              <a:rPr lang="en-US" altLang="zh-CN" dirty="0"/>
              <a:t>6</a:t>
            </a:r>
            <a:r>
              <a:rPr lang="zh-CN" altLang="en-US" dirty="0"/>
              <a:t>）一旦时间表已经创立，那么你就需要使用一个 </a:t>
            </a:r>
            <a:r>
              <a:rPr lang="en-US" altLang="zh-CN" dirty="0"/>
              <a:t>PERT</a:t>
            </a:r>
            <a:r>
              <a:rPr lang="zh-CN" altLang="en-US" dirty="0"/>
              <a:t>图表或者任务分配表来分配资源和确定项目的关键路径；</a:t>
            </a:r>
          </a:p>
          <a:p>
            <a:pPr marL="109728" indent="0">
              <a:buNone/>
            </a:pPr>
            <a:r>
              <a:rPr lang="en-US" altLang="zh-CN" dirty="0"/>
              <a:t>7</a:t>
            </a:r>
            <a:r>
              <a:rPr lang="zh-CN" altLang="en-US" dirty="0"/>
              <a:t>）意识到会出现项目范围蔓延。尽早填写项目范围改变要求表格并在开发的过程中说服项目主管。</a:t>
            </a:r>
          </a:p>
          <a:p>
            <a:pPr marL="109728" indent="0">
              <a:buNone/>
            </a:pPr>
            <a:endParaRPr lang="zh-CN" altLang="en-US" dirty="0"/>
          </a:p>
          <a:p>
            <a:pPr marL="109728" indent="0">
              <a:buNone/>
            </a:pP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417604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1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4553</TotalTime>
  <Words>3536</Words>
  <Application>Microsoft Office PowerPoint</Application>
  <PresentationFormat>全屏显示(4:3)</PresentationFormat>
  <Paragraphs>393</Paragraphs>
  <Slides>56</Slides>
  <Notes>1</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56</vt:i4>
      </vt:variant>
    </vt:vector>
  </HeadingPairs>
  <TitlesOfParts>
    <vt:vector size="69" baseType="lpstr">
      <vt:lpstr>Arial</vt:lpstr>
      <vt:lpstr>Arial Rounded MT Bold</vt:lpstr>
      <vt:lpstr>Calibri</vt:lpstr>
      <vt:lpstr>Lucida Sans Unicode</vt:lpstr>
      <vt:lpstr>Times New Roman</vt:lpstr>
      <vt:lpstr>Verdana</vt:lpstr>
      <vt:lpstr>Wingdings</vt:lpstr>
      <vt:lpstr>Wingdings 2</vt:lpstr>
      <vt:lpstr>Wingdings 3</vt:lpstr>
      <vt:lpstr>Custom Design</vt:lpstr>
      <vt:lpstr>Theme1</vt:lpstr>
      <vt:lpstr>Concourse</vt:lpstr>
      <vt:lpstr>1_Concourse</vt:lpstr>
      <vt:lpstr>Chapter 5: Project Scope Management</vt:lpstr>
      <vt:lpstr>讨论问题</vt:lpstr>
      <vt:lpstr>Learning Objectives</vt:lpstr>
      <vt:lpstr>Learning Objectives</vt:lpstr>
      <vt:lpstr>What is Project Scope Management?</vt:lpstr>
      <vt:lpstr>Project Scope Management Processes</vt:lpstr>
      <vt:lpstr>Figure 5-1. Project Scope Management Summary</vt:lpstr>
      <vt:lpstr>Planning Scope Management</vt:lpstr>
      <vt:lpstr>Scope Management Plan Contents</vt:lpstr>
      <vt:lpstr>Requirements Management Plan</vt:lpstr>
      <vt:lpstr>Collecting Requirements</vt:lpstr>
      <vt:lpstr>Figure 5-2. Relative Cost to Correct a Software Requirement Defect </vt:lpstr>
      <vt:lpstr>Methods for Collecting Requirements</vt:lpstr>
      <vt:lpstr>Statistics on Requirements for  Software Projects (2011 Survey)*</vt:lpstr>
      <vt:lpstr>What Went Right?</vt:lpstr>
      <vt:lpstr>Requirements Traceability Matrix</vt:lpstr>
      <vt:lpstr>Defining Scope</vt:lpstr>
      <vt:lpstr>Table 5-2. Sample Project Charter (partial)</vt:lpstr>
      <vt:lpstr>Table 5-3: Further Defining Project Scope</vt:lpstr>
      <vt:lpstr>Media Snapshot</vt:lpstr>
      <vt:lpstr>Creating the Work Breakdown Structure (WBS)</vt:lpstr>
      <vt:lpstr>Figure 5-3. Sample Intranet WBS Organized by Product </vt:lpstr>
      <vt:lpstr>Figure 5-4. Sample Intranet WBS Organized by Phase</vt:lpstr>
      <vt:lpstr>Figure 5-5. Intranet WBS and Gantt Chart in Microsoft Project</vt:lpstr>
      <vt:lpstr>Figure 5-6.  Intranet Gantt Chart Organized by Project Management Process Groups</vt:lpstr>
      <vt:lpstr>Table 5-4: Executing Tasks for JWD Consulting’s WBS</vt:lpstr>
      <vt:lpstr>Approaches to Developing WBSs</vt:lpstr>
      <vt:lpstr>Figure 5-7. Sample Mind-Mapping Approach for Creating a WBS</vt:lpstr>
      <vt:lpstr>Figure 5-8. Gantt Charts With WBS Generated From a Mind Map </vt:lpstr>
      <vt:lpstr>The WBS Dictionary and Scope Baseline</vt:lpstr>
      <vt:lpstr>Table 5-5. Sample WBS Dictionary Entry</vt:lpstr>
      <vt:lpstr>Advice for Creating a WBS and WBS Dictionary</vt:lpstr>
      <vt:lpstr>Advice for Creating a WBS and WBS Dictionary (cont’d)</vt:lpstr>
      <vt:lpstr>Validating Scope</vt:lpstr>
      <vt:lpstr>What Went Wrong?</vt:lpstr>
      <vt:lpstr>Global Issues</vt:lpstr>
      <vt:lpstr>Controlling Scope</vt:lpstr>
      <vt:lpstr>Best Practices for Avoiding Scope Problems</vt:lpstr>
      <vt:lpstr>Suggestions for Improving User Input</vt:lpstr>
      <vt:lpstr>Suggestions for Reducing Incomplete and Changing Requirements</vt:lpstr>
      <vt:lpstr>Suggestions for Reducing Incomplete and Changing Requirements (cont’d)</vt:lpstr>
      <vt:lpstr>Using Software to Assist in Project Scope Management</vt:lpstr>
      <vt:lpstr>Chapter Summary</vt:lpstr>
      <vt:lpstr>练习</vt:lpstr>
      <vt:lpstr>练习</vt:lpstr>
      <vt:lpstr>练习</vt:lpstr>
      <vt:lpstr>练习</vt:lpstr>
      <vt:lpstr>练习</vt:lpstr>
      <vt:lpstr>讨论问题</vt:lpstr>
      <vt:lpstr>讨论问题</vt:lpstr>
      <vt:lpstr>讨论问题</vt:lpstr>
      <vt:lpstr>讨论问题</vt:lpstr>
      <vt:lpstr>讨论问题</vt:lpstr>
      <vt:lpstr>讨论问题</vt:lpstr>
      <vt:lpstr>讨论问题</vt:lpstr>
      <vt:lpstr>讨论问题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187</cp:revision>
  <dcterms:created xsi:type="dcterms:W3CDTF">2001-07-05T23:10:12Z</dcterms:created>
  <dcterms:modified xsi:type="dcterms:W3CDTF">2025-09-09T14:44:06Z</dcterms:modified>
</cp:coreProperties>
</file>